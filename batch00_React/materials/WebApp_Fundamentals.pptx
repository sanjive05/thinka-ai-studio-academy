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Today we'll go on a journey to understand how web applications actually work — from the moment you type a URL to seeing a page on your screen. No prior deep knowledge needed. Just curiosity!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our agenda. We'll go through 8 major topics, each building on the previous. Think of it like building a house — foundation first, then walls, then the roof. Each module is about 5–7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A regular website is like a brochure — it just displays info. A web application is interactive: you log in, it knows who you are, it shows YOU your data. Examples: Gmail shows YOUR emails, Amazon shows YOUR cart. These run in a browser but behave like full-fledged applications.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Think of a newspaper online. You read it but can't change what others see. Web App: Think of a bank account. You log in, see YOUR balance, and can transfer money. The key difference is INTERACTIVITY and PERSONALIZATION.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Analogy: When you order pizza — you call a number (DNS lookup), they find your address (IP), send a delivery person (HTTP request), and you get pizza (response). The internet works the same way! Your browser is constantly having mini-conversations with servers.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Client = the person asking (your browser). Server = the one who does the work and answers. This is like a restaurant: you (client) place an order (request), kitchen (server) cooks it and sends back food (response). They communicate over the internet using HTTP protocol.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time you click a button or visit a page, this 9-step dance happens in milliseconds. Step 1-5 is the REQUEST journey. Step 6-9 is the RESPONSE journey back. The browser then paints what the server sent. This is the heartbeat of every web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server isn't magic — it's just a computer with one job: wait for requests and respond. What makes it different from your laptop? It runs 24/7, has high memory and processing power, and is connected to the internet with high-speed links. Cloud servers are virtual servers rented from AWS, Azure, etc.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Monolithic = one big app where all features are bundled together. Think of early-stage startups — they usually start with a monolith because it's fast to build. The problem comes at scale: if the Payments module crashes, the whole app goes down. Netflix and Amazon started as monoliths before splitting into microservices.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Microservices = split the monolith into small, independent services. Like Amazon: User Service handles accounts, Order Service handles purchases, Payment Service handles billing — each can be updated/scaled independently. Netflix runs 700+ microservices! This is the modern industry standard for large apps.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Load balancing is why Amazon doesn't crash during Prime Day with millions of users shopping at once. Instead of one server dying, multiple servers share the load. The load balancer is the traffic cop. If one server fails, the balancer stops sending traffic to it automatically — users don't even notice.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API = a contract between two systems. You don't need to know how Google Maps works internally — you just call their API and get map data. APIs are everywhere: your weather app uses a Weather API, Ola uses Maps API, Zomato uses Restaurant APIs. They're the glue connecting the digital world.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REST is an architectural style (not a technology) for building APIs over HTTP. Think of it as a set of rules: every resource has a URL (/users, /products), you use verbs to act on them (GET, POST, DELETE), and requests are stateless (no memory of previous calls). It's the most popular API style in the industry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CRUD = Create, Read, Update, Delete — these are the four basic operations of any data-driven system. REST maps each to an HTTP verb. Memory trick: GET = Go get it, POST = Post a new letter, PUT = Put it in the right place, DELETE = Delete it. Every API you use follows this pattern.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Status codes are like the server's way of texting back. '200 OK' = everything worked. '404 Not Found' = the page you're looking for doesn't exist (like a wrong address). '500 Internal Server Error' = the server itself broke. You've seen 404 pages on websites — now you know what that code means!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frontend collects data (like a login form), sends a JSON request to the backend via HTTP. The backend (your Java Spring Boot service) validates the data, queries the database, then sends back a JSON response. The frontend then reads that response and updates what the user sees. This 3-tier cycle is the backbone of every web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HTML is the skeleton — the structure. CSS is the skin and clothes — makes it look good. JavaScript is the brain and muscles — makes it move and react. Every website you've ever visited is built with these three. Modern frameworks like React (JS) and Tailwind (CSS) are built on top of these basics.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full picture! The user's browser sends a request, it hits a CDN for static files, then the Load Balancer routes it to one of the App Servers. The App Server queries the Database. Supporting services like Cache (Redis), Message Queue, and Email run in the background. Monitoring watches everything 24/7.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8-step flow happens every time you visit a website. The whole cycle typically completes in 200-500ms. Step 1-2 is network-level, 3-5 is the server, 6 is database, 7-8 is the return journey. When Google serves results in under 200ms, they've optimised every single one of these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exact flow that runs when you log in to ANY modern web app — Gmail, LinkedIn, your bank. Notice: passwords are NEVER stored in plain text (they're hashed). JWT tokens are used to keep you logged in without re-entering passwords every page. This is industry-standard authentication.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slide as a quick cheatsheet. Each term appears constantly in industry. If you remember just these 10 concepts, you have a solid foundation to build upon. In interviews, being able to explain these with examples (like I've shown today) will impress any interviewer.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is a journey. Start with the basics — don't jump straight to Kubernetes! Build a simple to-do app, then add a login system, then a database. Each project teaches you more than any course. Roadmap.sh has great visual learning paths for Backend, Frontend, and DevOps. Check it out after this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Great session! Encourage questions using the three prompts on screen. These are designed to check understanding at different levels. Good sign-off question: Ask each student to explain ONE thing they learned to the person next to them — peer teaching is the fastest way to solidify knowledge.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B2A"/>
        </a:solidFill>
      </p:bgPr>
    </p:bg>
    <p:spTree>
      <p:nvGrpSpPr>
        <p:cNvPr id="1" name=""/>
        <p:cNvGrpSpPr/>
        <p:nvPr/>
      </p:nvGrpSpPr>
      <p:grpSpPr>
        <a:xfrm>
          <a:off x="0" y="0"/>
          <a:ext cx="0" cy="0"/>
          <a:chOff x="0" y="0"/>
          <a:chExt cx="0" cy="0"/>
        </a:xfrm>
      </p:grpSpPr>
      <p:sp>
        <p:nvSpPr>
          <p:cNvPr id="2" name="Shape 0"/>
          <p:cNvSpPr/>
          <p:nvPr/>
        </p:nvSpPr>
        <p:spPr>
          <a:xfrm>
            <a:off x="6583680" y="-914400"/>
            <a:ext cx="4114800" cy="4114800"/>
          </a:xfrm>
          <a:prstGeom prst="ellipse">
            <a:avLst/>
          </a:prstGeom>
          <a:solidFill>
            <a:srgbClr val="112240"/>
          </a:solidFill>
          <a:ln w="12700">
            <a:solidFill>
              <a:srgbClr val="1E3A5F"/>
            </a:solidFill>
            <a:prstDash val="solid"/>
          </a:ln>
        </p:spPr>
      </p:sp>
      <p:sp>
        <p:nvSpPr>
          <p:cNvPr id="3" name="Shape 1"/>
          <p:cNvSpPr/>
          <p:nvPr/>
        </p:nvSpPr>
        <p:spPr>
          <a:xfrm>
            <a:off x="7132320" y="-365760"/>
            <a:ext cx="2926080" cy="2926080"/>
          </a:xfrm>
          <a:prstGeom prst="ellipse">
            <a:avLst/>
          </a:prstGeom>
          <a:solidFill>
            <a:srgbClr val="1E3A5F"/>
          </a:solidFill>
          <a:ln w="12700">
            <a:solidFill>
              <a:srgbClr val="0EA5E9"/>
            </a:solidFill>
            <a:prstDash val="solid"/>
          </a:ln>
        </p:spPr>
      </p:sp>
      <p:sp>
        <p:nvSpPr>
          <p:cNvPr id="4" name="Shape 2"/>
          <p:cNvSpPr/>
          <p:nvPr/>
        </p:nvSpPr>
        <p:spPr>
          <a:xfrm>
            <a:off x="0" y="0"/>
            <a:ext cx="9144000" cy="73152"/>
          </a:xfrm>
          <a:prstGeom prst="rect">
            <a:avLst/>
          </a:prstGeom>
          <a:solidFill>
            <a:srgbClr val="00D4FF"/>
          </a:solidFill>
          <a:ln w="12700">
            <a:solidFill>
              <a:srgbClr val="00D4FF"/>
            </a:solidFill>
            <a:prstDash val="solid"/>
          </a:ln>
        </p:spPr>
      </p:sp>
      <p:sp>
        <p:nvSpPr>
          <p:cNvPr id="5" name="Shape 3"/>
          <p:cNvSpPr/>
          <p:nvPr/>
        </p:nvSpPr>
        <p:spPr>
          <a:xfrm>
            <a:off x="457200" y="914400"/>
            <a:ext cx="73152" cy="2926080"/>
          </a:xfrm>
          <a:prstGeom prst="rect">
            <a:avLst/>
          </a:prstGeom>
          <a:solidFill>
            <a:srgbClr val="00D4FF"/>
          </a:solidFill>
          <a:ln w="12700">
            <a:solidFill>
              <a:srgbClr val="00D4FF"/>
            </a:solidFill>
            <a:prstDash val="solid"/>
          </a:ln>
        </p:spPr>
      </p:sp>
      <p:sp>
        <p:nvSpPr>
          <p:cNvPr id="6" name="Text 4"/>
          <p:cNvSpPr/>
          <p:nvPr/>
        </p:nvSpPr>
        <p:spPr>
          <a:xfrm>
            <a:off x="685800" y="914400"/>
            <a:ext cx="6400800" cy="91440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Web Application</a:t>
            </a:r>
            <a:endParaRPr lang="en-US" sz="4400" dirty="0"/>
          </a:p>
        </p:txBody>
      </p:sp>
      <p:sp>
        <p:nvSpPr>
          <p:cNvPr id="7" name="Text 5"/>
          <p:cNvSpPr/>
          <p:nvPr/>
        </p:nvSpPr>
        <p:spPr>
          <a:xfrm>
            <a:off x="685800" y="1737360"/>
            <a:ext cx="6400800" cy="777240"/>
          </a:xfrm>
          <a:prstGeom prst="rect">
            <a:avLst/>
          </a:prstGeom>
          <a:noFill/>
          <a:ln/>
        </p:spPr>
        <p:txBody>
          <a:bodyPr wrap="square" lIns="0" tIns="0" rIns="0" bIns="0" rtlCol="0" anchor="ctr"/>
          <a:lstStyle/>
          <a:p>
            <a:pPr indent="0" marL="0">
              <a:buNone/>
            </a:pPr>
            <a:r>
              <a:rPr lang="en-US" sz="4400" b="1" dirty="0">
                <a:solidFill>
                  <a:srgbClr val="00D4FF"/>
                </a:solidFill>
                <a:latin typeface="Calibri" pitchFamily="34" charset="0"/>
                <a:ea typeface="Calibri" pitchFamily="34" charset="-122"/>
                <a:cs typeface="Calibri" pitchFamily="34" charset="-120"/>
              </a:rPr>
              <a:t>Fundamentals &amp;</a:t>
            </a:r>
            <a:endParaRPr lang="en-US" sz="4400" dirty="0"/>
          </a:p>
        </p:txBody>
      </p:sp>
      <p:sp>
        <p:nvSpPr>
          <p:cNvPr id="8" name="Text 6"/>
          <p:cNvSpPr/>
          <p:nvPr/>
        </p:nvSpPr>
        <p:spPr>
          <a:xfrm>
            <a:off x="685800" y="2468880"/>
            <a:ext cx="6858000" cy="77724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Server Architecture</a:t>
            </a:r>
            <a:endParaRPr lang="en-US" sz="4400" dirty="0"/>
          </a:p>
        </p:txBody>
      </p:sp>
      <p:sp>
        <p:nvSpPr>
          <p:cNvPr id="9" name="Text 7"/>
          <p:cNvSpPr/>
          <p:nvPr/>
        </p:nvSpPr>
        <p:spPr>
          <a:xfrm>
            <a:off x="685800" y="3337560"/>
            <a:ext cx="7315200" cy="365760"/>
          </a:xfrm>
          <a:prstGeom prst="rect">
            <a:avLst/>
          </a:prstGeom>
          <a:noFill/>
          <a:ln/>
        </p:spPr>
        <p:txBody>
          <a:bodyPr wrap="square" lIns="0" tIns="0" rIns="0" bIns="0" rtlCol="0" anchor="ctr"/>
          <a:lstStyle/>
          <a:p>
            <a:pPr indent="0" marL="0">
              <a:buNone/>
            </a:pPr>
            <a:r>
              <a:rPr lang="en-US" sz="1600" i="1" dirty="0">
                <a:solidFill>
                  <a:srgbClr val="94A3B8"/>
                </a:solidFill>
                <a:latin typeface="Calibri" pitchFamily="34" charset="0"/>
                <a:ea typeface="Calibri" pitchFamily="34" charset="-122"/>
                <a:cs typeface="Calibri" pitchFamily="34" charset="-120"/>
              </a:rPr>
              <a:t>A Beginner-Friendly Guide to How the Web Works</a:t>
            </a:r>
            <a:endParaRPr lang="en-US" sz="1600" dirty="0"/>
          </a:p>
        </p:txBody>
      </p:sp>
      <p:sp>
        <p:nvSpPr>
          <p:cNvPr id="10" name="Shape 8"/>
          <p:cNvSpPr/>
          <p:nvPr/>
        </p:nvSpPr>
        <p:spPr>
          <a:xfrm>
            <a:off x="685800" y="3840480"/>
            <a:ext cx="1920240" cy="384048"/>
          </a:xfrm>
          <a:prstGeom prst="roundRect">
            <a:avLst>
              <a:gd name="adj" fmla="val 23810"/>
            </a:avLst>
          </a:prstGeom>
          <a:solidFill>
            <a:srgbClr val="1E3A5F"/>
          </a:solidFill>
          <a:ln w="12700">
            <a:solidFill>
              <a:srgbClr val="00D4FF"/>
            </a:solidFill>
            <a:prstDash val="solid"/>
          </a:ln>
        </p:spPr>
      </p:sp>
      <p:sp>
        <p:nvSpPr>
          <p:cNvPr id="11" name="Text 9"/>
          <p:cNvSpPr/>
          <p:nvPr/>
        </p:nvSpPr>
        <p:spPr>
          <a:xfrm>
            <a:off x="685800" y="3840480"/>
            <a:ext cx="1920240" cy="384048"/>
          </a:xfrm>
          <a:prstGeom prst="rect">
            <a:avLst/>
          </a:prstGeom>
          <a:noFill/>
          <a:ln/>
        </p:spPr>
        <p:txBody>
          <a:bodyPr wrap="square" lIns="0" tIns="0" rIns="0" bIns="0" rtlCol="0" anchor="ctr"/>
          <a:lstStyle/>
          <a:p>
            <a:pPr algn="ctr" indent="0" marL="0">
              <a:buNone/>
            </a:pPr>
            <a:r>
              <a:rPr lang="en-US" sz="1100" dirty="0">
                <a:solidFill>
                  <a:srgbClr val="00D4FF"/>
                </a:solidFill>
                <a:latin typeface="Calibri" pitchFamily="34" charset="0"/>
                <a:ea typeface="Calibri" pitchFamily="34" charset="-122"/>
                <a:cs typeface="Calibri" pitchFamily="34" charset="-120"/>
              </a:rPr>
              <a:t>🌐 Client-Server</a:t>
            </a:r>
            <a:endParaRPr lang="en-US" sz="1100" dirty="0"/>
          </a:p>
        </p:txBody>
      </p:sp>
      <p:sp>
        <p:nvSpPr>
          <p:cNvPr id="12" name="Shape 10"/>
          <p:cNvSpPr/>
          <p:nvPr/>
        </p:nvSpPr>
        <p:spPr>
          <a:xfrm>
            <a:off x="2743200" y="3840480"/>
            <a:ext cx="1920240" cy="384048"/>
          </a:xfrm>
          <a:prstGeom prst="roundRect">
            <a:avLst>
              <a:gd name="adj" fmla="val 23810"/>
            </a:avLst>
          </a:prstGeom>
          <a:solidFill>
            <a:srgbClr val="1E3A5F"/>
          </a:solidFill>
          <a:ln w="12700">
            <a:solidFill>
              <a:srgbClr val="00D4FF"/>
            </a:solidFill>
            <a:prstDash val="solid"/>
          </a:ln>
        </p:spPr>
      </p:sp>
      <p:sp>
        <p:nvSpPr>
          <p:cNvPr id="13" name="Text 11"/>
          <p:cNvSpPr/>
          <p:nvPr/>
        </p:nvSpPr>
        <p:spPr>
          <a:xfrm>
            <a:off x="2743200" y="3840480"/>
            <a:ext cx="1920240" cy="384048"/>
          </a:xfrm>
          <a:prstGeom prst="rect">
            <a:avLst/>
          </a:prstGeom>
          <a:noFill/>
          <a:ln/>
        </p:spPr>
        <p:txBody>
          <a:bodyPr wrap="square" lIns="0" tIns="0" rIns="0" bIns="0" rtlCol="0" anchor="ctr"/>
          <a:lstStyle/>
          <a:p>
            <a:pPr algn="ctr" indent="0" marL="0">
              <a:buNone/>
            </a:pPr>
            <a:r>
              <a:rPr lang="en-US" sz="1100" dirty="0">
                <a:solidFill>
                  <a:srgbClr val="00D4FF"/>
                </a:solidFill>
                <a:latin typeface="Calibri" pitchFamily="34" charset="0"/>
                <a:ea typeface="Calibri" pitchFamily="34" charset="-122"/>
                <a:cs typeface="Calibri" pitchFamily="34" charset="-120"/>
              </a:rPr>
              <a:t>🔗 REST APIs</a:t>
            </a:r>
            <a:endParaRPr lang="en-US" sz="1100" dirty="0"/>
          </a:p>
        </p:txBody>
      </p:sp>
      <p:sp>
        <p:nvSpPr>
          <p:cNvPr id="14" name="Shape 12"/>
          <p:cNvSpPr/>
          <p:nvPr/>
        </p:nvSpPr>
        <p:spPr>
          <a:xfrm>
            <a:off x="4800600" y="3840480"/>
            <a:ext cx="1920240" cy="384048"/>
          </a:xfrm>
          <a:prstGeom prst="roundRect">
            <a:avLst>
              <a:gd name="adj" fmla="val 23810"/>
            </a:avLst>
          </a:prstGeom>
          <a:solidFill>
            <a:srgbClr val="1E3A5F"/>
          </a:solidFill>
          <a:ln w="12700">
            <a:solidFill>
              <a:srgbClr val="00D4FF"/>
            </a:solidFill>
            <a:prstDash val="solid"/>
          </a:ln>
        </p:spPr>
      </p:sp>
      <p:sp>
        <p:nvSpPr>
          <p:cNvPr id="15" name="Text 13"/>
          <p:cNvSpPr/>
          <p:nvPr/>
        </p:nvSpPr>
        <p:spPr>
          <a:xfrm>
            <a:off x="4800600" y="3840480"/>
            <a:ext cx="1920240" cy="384048"/>
          </a:xfrm>
          <a:prstGeom prst="rect">
            <a:avLst/>
          </a:prstGeom>
          <a:noFill/>
          <a:ln/>
        </p:spPr>
        <p:txBody>
          <a:bodyPr wrap="square" lIns="0" tIns="0" rIns="0" bIns="0" rtlCol="0" anchor="ctr"/>
          <a:lstStyle/>
          <a:p>
            <a:pPr algn="ctr" indent="0" marL="0">
              <a:buNone/>
            </a:pPr>
            <a:r>
              <a:rPr lang="en-US" sz="1100" dirty="0">
                <a:solidFill>
                  <a:srgbClr val="00D4FF"/>
                </a:solidFill>
                <a:latin typeface="Calibri" pitchFamily="34" charset="0"/>
                <a:ea typeface="Calibri" pitchFamily="34" charset="-122"/>
                <a:cs typeface="Calibri" pitchFamily="34" charset="-120"/>
              </a:rPr>
              <a:t>⚙️ Architecture</a:t>
            </a:r>
            <a:endParaRPr lang="en-US" sz="1100" dirty="0"/>
          </a:p>
        </p:txBody>
      </p:sp>
      <p:sp>
        <p:nvSpPr>
          <p:cNvPr id="16" name="Shape 14"/>
          <p:cNvSpPr/>
          <p:nvPr/>
        </p:nvSpPr>
        <p:spPr>
          <a:xfrm>
            <a:off x="6858000" y="3840480"/>
            <a:ext cx="1920240" cy="384048"/>
          </a:xfrm>
          <a:prstGeom prst="roundRect">
            <a:avLst>
              <a:gd name="adj" fmla="val 23810"/>
            </a:avLst>
          </a:prstGeom>
          <a:solidFill>
            <a:srgbClr val="1E3A5F"/>
          </a:solidFill>
          <a:ln w="12700">
            <a:solidFill>
              <a:srgbClr val="00D4FF"/>
            </a:solidFill>
            <a:prstDash val="solid"/>
          </a:ln>
        </p:spPr>
      </p:sp>
      <p:sp>
        <p:nvSpPr>
          <p:cNvPr id="17" name="Text 15"/>
          <p:cNvSpPr/>
          <p:nvPr/>
        </p:nvSpPr>
        <p:spPr>
          <a:xfrm>
            <a:off x="6858000" y="3840480"/>
            <a:ext cx="1920240" cy="384048"/>
          </a:xfrm>
          <a:prstGeom prst="rect">
            <a:avLst/>
          </a:prstGeom>
          <a:noFill/>
          <a:ln/>
        </p:spPr>
        <p:txBody>
          <a:bodyPr wrap="square" lIns="0" tIns="0" rIns="0" bIns="0" rtlCol="0" anchor="ctr"/>
          <a:lstStyle/>
          <a:p>
            <a:pPr algn="ctr" indent="0" marL="0">
              <a:buNone/>
            </a:pPr>
            <a:r>
              <a:rPr lang="en-US" sz="1100" dirty="0">
                <a:solidFill>
                  <a:srgbClr val="00D4FF"/>
                </a:solidFill>
                <a:latin typeface="Calibri" pitchFamily="34" charset="0"/>
                <a:ea typeface="Calibri" pitchFamily="34" charset="-122"/>
                <a:cs typeface="Calibri" pitchFamily="34" charset="-120"/>
              </a:rPr>
              <a:t>💻 Frontend Tech</a:t>
            </a:r>
            <a:endParaRPr lang="en-US" sz="1100" dirty="0"/>
          </a:p>
        </p:txBody>
      </p:sp>
      <p:sp>
        <p:nvSpPr>
          <p:cNvPr id="18" name="Shape 16"/>
          <p:cNvSpPr/>
          <p:nvPr/>
        </p:nvSpPr>
        <p:spPr>
          <a:xfrm>
            <a:off x="0" y="4892040"/>
            <a:ext cx="9144000" cy="251460"/>
          </a:xfrm>
          <a:prstGeom prst="rect">
            <a:avLst/>
          </a:prstGeom>
          <a:solidFill>
            <a:srgbClr val="1E3A5F"/>
          </a:solidFill>
          <a:ln w="12700">
            <a:solidFill>
              <a:srgbClr val="1E3A5F"/>
            </a:solidFill>
            <a:prstDash val="solid"/>
          </a:ln>
        </p:spPr>
      </p:sp>
      <p:sp>
        <p:nvSpPr>
          <p:cNvPr id="19" name="Text 17"/>
          <p:cNvSpPr/>
          <p:nvPr/>
        </p:nvSpPr>
        <p:spPr>
          <a:xfrm>
            <a:off x="0" y="4892040"/>
            <a:ext cx="9144000" cy="251460"/>
          </a:xfrm>
          <a:prstGeom prst="rect">
            <a:avLst/>
          </a:prstGeom>
          <a:noFill/>
          <a:ln/>
        </p:spPr>
        <p:txBody>
          <a:bodyPr wrap="square" lIns="0" tIns="0" rIns="0" bIns="0" rtlCol="0" anchor="ctr"/>
          <a:lstStyle/>
          <a:p>
            <a:pPr algn="ctr" indent="0" marL="0">
              <a:buNone/>
            </a:pPr>
            <a:r>
              <a:rPr lang="en-US" sz="1100" dirty="0">
                <a:solidFill>
                  <a:srgbClr val="94A3B8"/>
                </a:solidFill>
                <a:latin typeface="Calibri" pitchFamily="34" charset="0"/>
                <a:ea typeface="Calibri" pitchFamily="34" charset="-122"/>
                <a:cs typeface="Calibri" pitchFamily="34" charset="-120"/>
              </a:rPr>
              <a:t>Tech Education Series  |  Beginner Track  |  20 Slides</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D1B2A"/>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D4FF"/>
          </a:solidFill>
          <a:ln w="12700">
            <a:solidFill>
              <a:srgbClr val="00D4FF"/>
            </a:solidFill>
            <a:prstDash val="solid"/>
          </a:ln>
        </p:spPr>
      </p:sp>
      <p:sp>
        <p:nvSpPr>
          <p:cNvPr id="3" name="Text 1"/>
          <p:cNvSpPr/>
          <p:nvPr/>
        </p:nvSpPr>
        <p:spPr>
          <a:xfrm>
            <a:off x="457200" y="137160"/>
            <a:ext cx="8229600" cy="640080"/>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What We'll Cover Today</a:t>
            </a:r>
            <a:endParaRPr lang="en-US" sz="3200" dirty="0"/>
          </a:p>
        </p:txBody>
      </p:sp>
      <p:sp>
        <p:nvSpPr>
          <p:cNvPr id="4" name="Text 2"/>
          <p:cNvSpPr/>
          <p:nvPr/>
        </p:nvSpPr>
        <p:spPr>
          <a:xfrm>
            <a:off x="457200" y="749808"/>
            <a:ext cx="8229600" cy="320040"/>
          </a:xfrm>
          <a:prstGeom prst="rect">
            <a:avLst/>
          </a:prstGeom>
          <a:noFill/>
          <a:ln/>
        </p:spPr>
        <p:txBody>
          <a:bodyPr wrap="square" lIns="0" tIns="0" rIns="0" bIns="0" rtlCol="0" anchor="ctr"/>
          <a:lstStyle/>
          <a:p>
            <a:pPr indent="0" marL="0">
              <a:buNone/>
            </a:pPr>
            <a:r>
              <a:rPr lang="en-US" sz="1400" i="1" dirty="0">
                <a:solidFill>
                  <a:srgbClr val="00D4FF"/>
                </a:solidFill>
                <a:latin typeface="Calibri" pitchFamily="34" charset="0"/>
                <a:ea typeface="Calibri" pitchFamily="34" charset="-122"/>
                <a:cs typeface="Calibri" pitchFamily="34" charset="-120"/>
              </a:rPr>
              <a:t>Your Learning Roadmap</a:t>
            </a:r>
            <a:endParaRPr lang="en-US" sz="1400" dirty="0"/>
          </a:p>
        </p:txBody>
      </p:sp>
      <p:sp>
        <p:nvSpPr>
          <p:cNvPr id="5" name="Shape 3"/>
          <p:cNvSpPr/>
          <p:nvPr/>
        </p:nvSpPr>
        <p:spPr>
          <a:xfrm>
            <a:off x="365760" y="1234440"/>
            <a:ext cx="4206240" cy="777240"/>
          </a:xfrm>
          <a:prstGeom prst="rect">
            <a:avLst/>
          </a:prstGeom>
          <a:solidFill>
            <a:srgbClr val="1E3A5F"/>
          </a:solidFill>
          <a:ln w="12700">
            <a:solidFill>
              <a:srgbClr val="1E3A5F"/>
            </a:solidFill>
            <a:prstDash val="solid"/>
          </a:ln>
          <a:effectLst>
            <a:outerShdw sx="100000" sy="100000" kx="0" ky="0" algn="bl" rotWithShape="0" blurRad="101600" dist="38100" dir="8100000">
              <a:srgbClr val="000000">
                <a:alpha val="25000"/>
              </a:srgbClr>
            </a:outerShdw>
          </a:effectLst>
        </p:spPr>
      </p:sp>
      <p:sp>
        <p:nvSpPr>
          <p:cNvPr id="6" name="Shape 4"/>
          <p:cNvSpPr/>
          <p:nvPr/>
        </p:nvSpPr>
        <p:spPr>
          <a:xfrm>
            <a:off x="365760" y="1234440"/>
            <a:ext cx="411480" cy="777240"/>
          </a:xfrm>
          <a:prstGeom prst="rect">
            <a:avLst/>
          </a:prstGeom>
          <a:solidFill>
            <a:srgbClr val="00D4FF"/>
          </a:solidFill>
          <a:ln w="12700">
            <a:solidFill>
              <a:srgbClr val="00D4FF"/>
            </a:solidFill>
            <a:prstDash val="solid"/>
          </a:ln>
        </p:spPr>
      </p:sp>
      <p:sp>
        <p:nvSpPr>
          <p:cNvPr id="7" name="Text 5"/>
          <p:cNvSpPr/>
          <p:nvPr/>
        </p:nvSpPr>
        <p:spPr>
          <a:xfrm>
            <a:off x="365760" y="1234440"/>
            <a:ext cx="411480" cy="777240"/>
          </a:xfrm>
          <a:prstGeom prst="rect">
            <a:avLst/>
          </a:prstGeom>
          <a:noFill/>
          <a:ln/>
        </p:spPr>
        <p:txBody>
          <a:bodyPr wrap="square" lIns="0" tIns="0" rIns="0" bIns="0" rtlCol="0" anchor="ctr"/>
          <a:lstStyle/>
          <a:p>
            <a:pPr algn="ctr" indent="0" marL="0">
              <a:buNone/>
            </a:pPr>
            <a:r>
              <a:rPr lang="en-US" sz="1300" b="1" dirty="0">
                <a:solidFill>
                  <a:srgbClr val="0D1B2A"/>
                </a:solidFill>
                <a:latin typeface="Calibri" pitchFamily="34" charset="0"/>
                <a:ea typeface="Calibri" pitchFamily="34" charset="-122"/>
                <a:cs typeface="Calibri" pitchFamily="34" charset="-120"/>
              </a:rPr>
              <a:t>01</a:t>
            </a:r>
            <a:endParaRPr lang="en-US" sz="1300" dirty="0"/>
          </a:p>
        </p:txBody>
      </p:sp>
      <p:sp>
        <p:nvSpPr>
          <p:cNvPr id="8" name="Text 6"/>
          <p:cNvSpPr/>
          <p:nvPr/>
        </p:nvSpPr>
        <p:spPr>
          <a:xfrm>
            <a:off x="841248" y="1280160"/>
            <a:ext cx="3657600" cy="68580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Introduction to Web Applications</a:t>
            </a:r>
            <a:endParaRPr lang="en-US" sz="1300" dirty="0"/>
          </a:p>
        </p:txBody>
      </p:sp>
      <p:sp>
        <p:nvSpPr>
          <p:cNvPr id="9" name="Shape 7"/>
          <p:cNvSpPr/>
          <p:nvPr/>
        </p:nvSpPr>
        <p:spPr>
          <a:xfrm>
            <a:off x="365760" y="2167128"/>
            <a:ext cx="4206240" cy="777240"/>
          </a:xfrm>
          <a:prstGeom prst="rect">
            <a:avLst/>
          </a:prstGeom>
          <a:solidFill>
            <a:srgbClr val="1E3A5F"/>
          </a:solidFill>
          <a:ln w="12700">
            <a:solidFill>
              <a:srgbClr val="1E3A5F"/>
            </a:solidFill>
            <a:prstDash val="solid"/>
          </a:ln>
          <a:effectLst>
            <a:outerShdw sx="100000" sy="100000" kx="0" ky="0" algn="bl" rotWithShape="0" blurRad="101600" dist="38100" dir="8100000">
              <a:srgbClr val="000000">
                <a:alpha val="25000"/>
              </a:srgbClr>
            </a:outerShdw>
          </a:effectLst>
        </p:spPr>
      </p:sp>
      <p:sp>
        <p:nvSpPr>
          <p:cNvPr id="10" name="Shape 8"/>
          <p:cNvSpPr/>
          <p:nvPr/>
        </p:nvSpPr>
        <p:spPr>
          <a:xfrm>
            <a:off x="365760" y="2167128"/>
            <a:ext cx="411480" cy="777240"/>
          </a:xfrm>
          <a:prstGeom prst="rect">
            <a:avLst/>
          </a:prstGeom>
          <a:solidFill>
            <a:srgbClr val="0EA5E9"/>
          </a:solidFill>
          <a:ln w="12700">
            <a:solidFill>
              <a:srgbClr val="0EA5E9"/>
            </a:solidFill>
            <a:prstDash val="solid"/>
          </a:ln>
        </p:spPr>
      </p:sp>
      <p:sp>
        <p:nvSpPr>
          <p:cNvPr id="11" name="Text 9"/>
          <p:cNvSpPr/>
          <p:nvPr/>
        </p:nvSpPr>
        <p:spPr>
          <a:xfrm>
            <a:off x="365760" y="2167128"/>
            <a:ext cx="411480" cy="777240"/>
          </a:xfrm>
          <a:prstGeom prst="rect">
            <a:avLst/>
          </a:prstGeom>
          <a:noFill/>
          <a:ln/>
        </p:spPr>
        <p:txBody>
          <a:bodyPr wrap="square" lIns="0" tIns="0" rIns="0" bIns="0" rtlCol="0" anchor="ctr"/>
          <a:lstStyle/>
          <a:p>
            <a:pPr algn="ctr" indent="0" marL="0">
              <a:buNone/>
            </a:pPr>
            <a:r>
              <a:rPr lang="en-US" sz="1300" b="1" dirty="0">
                <a:solidFill>
                  <a:srgbClr val="0D1B2A"/>
                </a:solidFill>
                <a:latin typeface="Calibri" pitchFamily="34" charset="0"/>
                <a:ea typeface="Calibri" pitchFamily="34" charset="-122"/>
                <a:cs typeface="Calibri" pitchFamily="34" charset="-120"/>
              </a:rPr>
              <a:t>02</a:t>
            </a:r>
            <a:endParaRPr lang="en-US" sz="1300" dirty="0"/>
          </a:p>
        </p:txBody>
      </p:sp>
      <p:sp>
        <p:nvSpPr>
          <p:cNvPr id="12" name="Text 10"/>
          <p:cNvSpPr/>
          <p:nvPr/>
        </p:nvSpPr>
        <p:spPr>
          <a:xfrm>
            <a:off x="841248" y="2212848"/>
            <a:ext cx="3657600" cy="68580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How the Internet Works</a:t>
            </a:r>
            <a:endParaRPr lang="en-US" sz="1300" dirty="0"/>
          </a:p>
        </p:txBody>
      </p:sp>
      <p:sp>
        <p:nvSpPr>
          <p:cNvPr id="13" name="Shape 11"/>
          <p:cNvSpPr/>
          <p:nvPr/>
        </p:nvSpPr>
        <p:spPr>
          <a:xfrm>
            <a:off x="365760" y="3099816"/>
            <a:ext cx="4206240" cy="777240"/>
          </a:xfrm>
          <a:prstGeom prst="rect">
            <a:avLst/>
          </a:prstGeom>
          <a:solidFill>
            <a:srgbClr val="1E3A5F"/>
          </a:solidFill>
          <a:ln w="12700">
            <a:solidFill>
              <a:srgbClr val="1E3A5F"/>
            </a:solidFill>
            <a:prstDash val="solid"/>
          </a:ln>
          <a:effectLst>
            <a:outerShdw sx="100000" sy="100000" kx="0" ky="0" algn="bl" rotWithShape="0" blurRad="101600" dist="38100" dir="8100000">
              <a:srgbClr val="000000">
                <a:alpha val="25000"/>
              </a:srgbClr>
            </a:outerShdw>
          </a:effectLst>
        </p:spPr>
      </p:sp>
      <p:sp>
        <p:nvSpPr>
          <p:cNvPr id="14" name="Shape 12"/>
          <p:cNvSpPr/>
          <p:nvPr/>
        </p:nvSpPr>
        <p:spPr>
          <a:xfrm>
            <a:off x="365760" y="3099816"/>
            <a:ext cx="411480" cy="777240"/>
          </a:xfrm>
          <a:prstGeom prst="rect">
            <a:avLst/>
          </a:prstGeom>
          <a:solidFill>
            <a:srgbClr val="7C3AED"/>
          </a:solidFill>
          <a:ln w="12700">
            <a:solidFill>
              <a:srgbClr val="7C3AED"/>
            </a:solidFill>
            <a:prstDash val="solid"/>
          </a:ln>
        </p:spPr>
      </p:sp>
      <p:sp>
        <p:nvSpPr>
          <p:cNvPr id="15" name="Text 13"/>
          <p:cNvSpPr/>
          <p:nvPr/>
        </p:nvSpPr>
        <p:spPr>
          <a:xfrm>
            <a:off x="365760" y="3099816"/>
            <a:ext cx="411480" cy="777240"/>
          </a:xfrm>
          <a:prstGeom prst="rect">
            <a:avLst/>
          </a:prstGeom>
          <a:noFill/>
          <a:ln/>
        </p:spPr>
        <p:txBody>
          <a:bodyPr wrap="square" lIns="0" tIns="0" rIns="0" bIns="0" rtlCol="0" anchor="ctr"/>
          <a:lstStyle/>
          <a:p>
            <a:pPr algn="ctr" indent="0" marL="0">
              <a:buNone/>
            </a:pPr>
            <a:r>
              <a:rPr lang="en-US" sz="1300" b="1" dirty="0">
                <a:solidFill>
                  <a:srgbClr val="0D1B2A"/>
                </a:solidFill>
                <a:latin typeface="Calibri" pitchFamily="34" charset="0"/>
                <a:ea typeface="Calibri" pitchFamily="34" charset="-122"/>
                <a:cs typeface="Calibri" pitchFamily="34" charset="-120"/>
              </a:rPr>
              <a:t>03</a:t>
            </a:r>
            <a:endParaRPr lang="en-US" sz="1300" dirty="0"/>
          </a:p>
        </p:txBody>
      </p:sp>
      <p:sp>
        <p:nvSpPr>
          <p:cNvPr id="16" name="Text 14"/>
          <p:cNvSpPr/>
          <p:nvPr/>
        </p:nvSpPr>
        <p:spPr>
          <a:xfrm>
            <a:off x="841248" y="3145536"/>
            <a:ext cx="3657600" cy="68580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Server Architecture</a:t>
            </a:r>
            <a:endParaRPr lang="en-US" sz="1300" dirty="0"/>
          </a:p>
        </p:txBody>
      </p:sp>
      <p:sp>
        <p:nvSpPr>
          <p:cNvPr id="17" name="Shape 15"/>
          <p:cNvSpPr/>
          <p:nvPr/>
        </p:nvSpPr>
        <p:spPr>
          <a:xfrm>
            <a:off x="365760" y="4032504"/>
            <a:ext cx="4206240" cy="777240"/>
          </a:xfrm>
          <a:prstGeom prst="rect">
            <a:avLst/>
          </a:prstGeom>
          <a:solidFill>
            <a:srgbClr val="1E3A5F"/>
          </a:solidFill>
          <a:ln w="12700">
            <a:solidFill>
              <a:srgbClr val="1E3A5F"/>
            </a:solidFill>
            <a:prstDash val="solid"/>
          </a:ln>
          <a:effectLst>
            <a:outerShdw sx="100000" sy="100000" kx="0" ky="0" algn="bl" rotWithShape="0" blurRad="101600" dist="38100" dir="8100000">
              <a:srgbClr val="000000">
                <a:alpha val="25000"/>
              </a:srgbClr>
            </a:outerShdw>
          </a:effectLst>
        </p:spPr>
      </p:sp>
      <p:sp>
        <p:nvSpPr>
          <p:cNvPr id="18" name="Shape 16"/>
          <p:cNvSpPr/>
          <p:nvPr/>
        </p:nvSpPr>
        <p:spPr>
          <a:xfrm>
            <a:off x="365760" y="4032504"/>
            <a:ext cx="411480" cy="777240"/>
          </a:xfrm>
          <a:prstGeom prst="rect">
            <a:avLst/>
          </a:prstGeom>
          <a:solidFill>
            <a:srgbClr val="10B981"/>
          </a:solidFill>
          <a:ln w="12700">
            <a:solidFill>
              <a:srgbClr val="10B981"/>
            </a:solidFill>
            <a:prstDash val="solid"/>
          </a:ln>
        </p:spPr>
      </p:sp>
      <p:sp>
        <p:nvSpPr>
          <p:cNvPr id="19" name="Text 17"/>
          <p:cNvSpPr/>
          <p:nvPr/>
        </p:nvSpPr>
        <p:spPr>
          <a:xfrm>
            <a:off x="365760" y="4032504"/>
            <a:ext cx="411480" cy="777240"/>
          </a:xfrm>
          <a:prstGeom prst="rect">
            <a:avLst/>
          </a:prstGeom>
          <a:noFill/>
          <a:ln/>
        </p:spPr>
        <p:txBody>
          <a:bodyPr wrap="square" lIns="0" tIns="0" rIns="0" bIns="0" rtlCol="0" anchor="ctr"/>
          <a:lstStyle/>
          <a:p>
            <a:pPr algn="ctr" indent="0" marL="0">
              <a:buNone/>
            </a:pPr>
            <a:r>
              <a:rPr lang="en-US" sz="1300" b="1" dirty="0">
                <a:solidFill>
                  <a:srgbClr val="0D1B2A"/>
                </a:solidFill>
                <a:latin typeface="Calibri" pitchFamily="34" charset="0"/>
                <a:ea typeface="Calibri" pitchFamily="34" charset="-122"/>
                <a:cs typeface="Calibri" pitchFamily="34" charset="-120"/>
              </a:rPr>
              <a:t>04</a:t>
            </a:r>
            <a:endParaRPr lang="en-US" sz="1300" dirty="0"/>
          </a:p>
        </p:txBody>
      </p:sp>
      <p:sp>
        <p:nvSpPr>
          <p:cNvPr id="20" name="Text 18"/>
          <p:cNvSpPr/>
          <p:nvPr/>
        </p:nvSpPr>
        <p:spPr>
          <a:xfrm>
            <a:off x="841248" y="4078224"/>
            <a:ext cx="3657600" cy="68580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REST API Concepts</a:t>
            </a:r>
            <a:endParaRPr lang="en-US" sz="1300" dirty="0"/>
          </a:p>
        </p:txBody>
      </p:sp>
      <p:sp>
        <p:nvSpPr>
          <p:cNvPr id="21" name="Shape 19"/>
          <p:cNvSpPr/>
          <p:nvPr/>
        </p:nvSpPr>
        <p:spPr>
          <a:xfrm>
            <a:off x="4800600" y="1234440"/>
            <a:ext cx="4206240" cy="777240"/>
          </a:xfrm>
          <a:prstGeom prst="rect">
            <a:avLst/>
          </a:prstGeom>
          <a:solidFill>
            <a:srgbClr val="1E3A5F"/>
          </a:solidFill>
          <a:ln w="12700">
            <a:solidFill>
              <a:srgbClr val="1E3A5F"/>
            </a:solidFill>
            <a:prstDash val="solid"/>
          </a:ln>
          <a:effectLst>
            <a:outerShdw sx="100000" sy="100000" kx="0" ky="0" algn="bl" rotWithShape="0" blurRad="101600" dist="38100" dir="8100000">
              <a:srgbClr val="000000">
                <a:alpha val="25000"/>
              </a:srgbClr>
            </a:outerShdw>
          </a:effectLst>
        </p:spPr>
      </p:sp>
      <p:sp>
        <p:nvSpPr>
          <p:cNvPr id="22" name="Shape 20"/>
          <p:cNvSpPr/>
          <p:nvPr/>
        </p:nvSpPr>
        <p:spPr>
          <a:xfrm>
            <a:off x="4800600" y="1234440"/>
            <a:ext cx="411480" cy="777240"/>
          </a:xfrm>
          <a:prstGeom prst="rect">
            <a:avLst/>
          </a:prstGeom>
          <a:solidFill>
            <a:srgbClr val="F59E0B"/>
          </a:solidFill>
          <a:ln w="12700">
            <a:solidFill>
              <a:srgbClr val="F59E0B"/>
            </a:solidFill>
            <a:prstDash val="solid"/>
          </a:ln>
        </p:spPr>
      </p:sp>
      <p:sp>
        <p:nvSpPr>
          <p:cNvPr id="23" name="Text 21"/>
          <p:cNvSpPr/>
          <p:nvPr/>
        </p:nvSpPr>
        <p:spPr>
          <a:xfrm>
            <a:off x="4800600" y="1234440"/>
            <a:ext cx="411480" cy="777240"/>
          </a:xfrm>
          <a:prstGeom prst="rect">
            <a:avLst/>
          </a:prstGeom>
          <a:noFill/>
          <a:ln/>
        </p:spPr>
        <p:txBody>
          <a:bodyPr wrap="square" lIns="0" tIns="0" rIns="0" bIns="0" rtlCol="0" anchor="ctr"/>
          <a:lstStyle/>
          <a:p>
            <a:pPr algn="ctr" indent="0" marL="0">
              <a:buNone/>
            </a:pPr>
            <a:r>
              <a:rPr lang="en-US" sz="1300" b="1" dirty="0">
                <a:solidFill>
                  <a:srgbClr val="0D1B2A"/>
                </a:solidFill>
                <a:latin typeface="Calibri" pitchFamily="34" charset="0"/>
                <a:ea typeface="Calibri" pitchFamily="34" charset="-122"/>
                <a:cs typeface="Calibri" pitchFamily="34" charset="-120"/>
              </a:rPr>
              <a:t>05</a:t>
            </a:r>
            <a:endParaRPr lang="en-US" sz="1300" dirty="0"/>
          </a:p>
        </p:txBody>
      </p:sp>
      <p:sp>
        <p:nvSpPr>
          <p:cNvPr id="24" name="Text 22"/>
          <p:cNvSpPr/>
          <p:nvPr/>
        </p:nvSpPr>
        <p:spPr>
          <a:xfrm>
            <a:off x="5276088" y="1280160"/>
            <a:ext cx="3657600" cy="68580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How API Calls Work</a:t>
            </a:r>
            <a:endParaRPr lang="en-US" sz="1300" dirty="0"/>
          </a:p>
        </p:txBody>
      </p:sp>
      <p:sp>
        <p:nvSpPr>
          <p:cNvPr id="25" name="Shape 23"/>
          <p:cNvSpPr/>
          <p:nvPr/>
        </p:nvSpPr>
        <p:spPr>
          <a:xfrm>
            <a:off x="4800600" y="2167128"/>
            <a:ext cx="4206240" cy="777240"/>
          </a:xfrm>
          <a:prstGeom prst="rect">
            <a:avLst/>
          </a:prstGeom>
          <a:solidFill>
            <a:srgbClr val="1E3A5F"/>
          </a:solidFill>
          <a:ln w="12700">
            <a:solidFill>
              <a:srgbClr val="1E3A5F"/>
            </a:solidFill>
            <a:prstDash val="solid"/>
          </a:ln>
          <a:effectLst>
            <a:outerShdw sx="100000" sy="100000" kx="0" ky="0" algn="bl" rotWithShape="0" blurRad="101600" dist="38100" dir="8100000">
              <a:srgbClr val="000000">
                <a:alpha val="25000"/>
              </a:srgbClr>
            </a:outerShdw>
          </a:effectLst>
        </p:spPr>
      </p:sp>
      <p:sp>
        <p:nvSpPr>
          <p:cNvPr id="26" name="Shape 24"/>
          <p:cNvSpPr/>
          <p:nvPr/>
        </p:nvSpPr>
        <p:spPr>
          <a:xfrm>
            <a:off x="4800600" y="2167128"/>
            <a:ext cx="411480" cy="777240"/>
          </a:xfrm>
          <a:prstGeom prst="rect">
            <a:avLst/>
          </a:prstGeom>
          <a:solidFill>
            <a:srgbClr val="EF4444"/>
          </a:solidFill>
          <a:ln w="12700">
            <a:solidFill>
              <a:srgbClr val="EF4444"/>
            </a:solidFill>
            <a:prstDash val="solid"/>
          </a:ln>
        </p:spPr>
      </p:sp>
      <p:sp>
        <p:nvSpPr>
          <p:cNvPr id="27" name="Text 25"/>
          <p:cNvSpPr/>
          <p:nvPr/>
        </p:nvSpPr>
        <p:spPr>
          <a:xfrm>
            <a:off x="4800600" y="2167128"/>
            <a:ext cx="411480" cy="777240"/>
          </a:xfrm>
          <a:prstGeom prst="rect">
            <a:avLst/>
          </a:prstGeom>
          <a:noFill/>
          <a:ln/>
        </p:spPr>
        <p:txBody>
          <a:bodyPr wrap="square" lIns="0" tIns="0" rIns="0" bIns="0" rtlCol="0" anchor="ctr"/>
          <a:lstStyle/>
          <a:p>
            <a:pPr algn="ctr" indent="0" marL="0">
              <a:buNone/>
            </a:pPr>
            <a:r>
              <a:rPr lang="en-US" sz="1300" b="1" dirty="0">
                <a:solidFill>
                  <a:srgbClr val="0D1B2A"/>
                </a:solidFill>
                <a:latin typeface="Calibri" pitchFamily="34" charset="0"/>
                <a:ea typeface="Calibri" pitchFamily="34" charset="-122"/>
                <a:cs typeface="Calibri" pitchFamily="34" charset="-120"/>
              </a:rPr>
              <a:t>06</a:t>
            </a:r>
            <a:endParaRPr lang="en-US" sz="1300" dirty="0"/>
          </a:p>
        </p:txBody>
      </p:sp>
      <p:sp>
        <p:nvSpPr>
          <p:cNvPr id="28" name="Text 26"/>
          <p:cNvSpPr/>
          <p:nvPr/>
        </p:nvSpPr>
        <p:spPr>
          <a:xfrm>
            <a:off x="5276088" y="2212848"/>
            <a:ext cx="3657600" cy="68580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Frontend Technologies (HTML/CSS/JS)</a:t>
            </a:r>
            <a:endParaRPr lang="en-US" sz="1300" dirty="0"/>
          </a:p>
        </p:txBody>
      </p:sp>
      <p:sp>
        <p:nvSpPr>
          <p:cNvPr id="29" name="Shape 27"/>
          <p:cNvSpPr/>
          <p:nvPr/>
        </p:nvSpPr>
        <p:spPr>
          <a:xfrm>
            <a:off x="4800600" y="3099816"/>
            <a:ext cx="4206240" cy="777240"/>
          </a:xfrm>
          <a:prstGeom prst="rect">
            <a:avLst/>
          </a:prstGeom>
          <a:solidFill>
            <a:srgbClr val="1E3A5F"/>
          </a:solidFill>
          <a:ln w="12700">
            <a:solidFill>
              <a:srgbClr val="1E3A5F"/>
            </a:solidFill>
            <a:prstDash val="solid"/>
          </a:ln>
          <a:effectLst>
            <a:outerShdw sx="100000" sy="100000" kx="0" ky="0" algn="bl" rotWithShape="0" blurRad="101600" dist="38100" dir="8100000">
              <a:srgbClr val="000000">
                <a:alpha val="25000"/>
              </a:srgbClr>
            </a:outerShdw>
          </a:effectLst>
        </p:spPr>
      </p:sp>
      <p:sp>
        <p:nvSpPr>
          <p:cNvPr id="30" name="Shape 28"/>
          <p:cNvSpPr/>
          <p:nvPr/>
        </p:nvSpPr>
        <p:spPr>
          <a:xfrm>
            <a:off x="4800600" y="3099816"/>
            <a:ext cx="411480" cy="777240"/>
          </a:xfrm>
          <a:prstGeom prst="rect">
            <a:avLst/>
          </a:prstGeom>
          <a:solidFill>
            <a:srgbClr val="00D4FF"/>
          </a:solidFill>
          <a:ln w="12700">
            <a:solidFill>
              <a:srgbClr val="00D4FF"/>
            </a:solidFill>
            <a:prstDash val="solid"/>
          </a:ln>
        </p:spPr>
      </p:sp>
      <p:sp>
        <p:nvSpPr>
          <p:cNvPr id="31" name="Text 29"/>
          <p:cNvSpPr/>
          <p:nvPr/>
        </p:nvSpPr>
        <p:spPr>
          <a:xfrm>
            <a:off x="4800600" y="3099816"/>
            <a:ext cx="411480" cy="777240"/>
          </a:xfrm>
          <a:prstGeom prst="rect">
            <a:avLst/>
          </a:prstGeom>
          <a:noFill/>
          <a:ln/>
        </p:spPr>
        <p:txBody>
          <a:bodyPr wrap="square" lIns="0" tIns="0" rIns="0" bIns="0" rtlCol="0" anchor="ctr"/>
          <a:lstStyle/>
          <a:p>
            <a:pPr algn="ctr" indent="0" marL="0">
              <a:buNone/>
            </a:pPr>
            <a:r>
              <a:rPr lang="en-US" sz="1300" b="1" dirty="0">
                <a:solidFill>
                  <a:srgbClr val="0D1B2A"/>
                </a:solidFill>
                <a:latin typeface="Calibri" pitchFamily="34" charset="0"/>
                <a:ea typeface="Calibri" pitchFamily="34" charset="-122"/>
                <a:cs typeface="Calibri" pitchFamily="34" charset="-120"/>
              </a:rPr>
              <a:t>07</a:t>
            </a:r>
            <a:endParaRPr lang="en-US" sz="1300" dirty="0"/>
          </a:p>
        </p:txBody>
      </p:sp>
      <p:sp>
        <p:nvSpPr>
          <p:cNvPr id="32" name="Text 30"/>
          <p:cNvSpPr/>
          <p:nvPr/>
        </p:nvSpPr>
        <p:spPr>
          <a:xfrm>
            <a:off x="5276088" y="3145536"/>
            <a:ext cx="3657600" cy="68580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End-to-End Flow</a:t>
            </a:r>
            <a:endParaRPr lang="en-US" sz="1300" dirty="0"/>
          </a:p>
        </p:txBody>
      </p:sp>
      <p:sp>
        <p:nvSpPr>
          <p:cNvPr id="33" name="Shape 31"/>
          <p:cNvSpPr/>
          <p:nvPr/>
        </p:nvSpPr>
        <p:spPr>
          <a:xfrm>
            <a:off x="4800600" y="4032504"/>
            <a:ext cx="4206240" cy="777240"/>
          </a:xfrm>
          <a:prstGeom prst="rect">
            <a:avLst/>
          </a:prstGeom>
          <a:solidFill>
            <a:srgbClr val="1E3A5F"/>
          </a:solidFill>
          <a:ln w="12700">
            <a:solidFill>
              <a:srgbClr val="1E3A5F"/>
            </a:solidFill>
            <a:prstDash val="solid"/>
          </a:ln>
          <a:effectLst>
            <a:outerShdw sx="100000" sy="100000" kx="0" ky="0" algn="bl" rotWithShape="0" blurRad="101600" dist="38100" dir="8100000">
              <a:srgbClr val="000000">
                <a:alpha val="25000"/>
              </a:srgbClr>
            </a:outerShdw>
          </a:effectLst>
        </p:spPr>
      </p:sp>
      <p:sp>
        <p:nvSpPr>
          <p:cNvPr id="34" name="Shape 32"/>
          <p:cNvSpPr/>
          <p:nvPr/>
        </p:nvSpPr>
        <p:spPr>
          <a:xfrm>
            <a:off x="4800600" y="4032504"/>
            <a:ext cx="411480" cy="777240"/>
          </a:xfrm>
          <a:prstGeom prst="rect">
            <a:avLst/>
          </a:prstGeom>
          <a:solidFill>
            <a:srgbClr val="0EA5E9"/>
          </a:solidFill>
          <a:ln w="12700">
            <a:solidFill>
              <a:srgbClr val="0EA5E9"/>
            </a:solidFill>
            <a:prstDash val="solid"/>
          </a:ln>
        </p:spPr>
      </p:sp>
      <p:sp>
        <p:nvSpPr>
          <p:cNvPr id="35" name="Text 33"/>
          <p:cNvSpPr/>
          <p:nvPr/>
        </p:nvSpPr>
        <p:spPr>
          <a:xfrm>
            <a:off x="4800600" y="4032504"/>
            <a:ext cx="411480" cy="777240"/>
          </a:xfrm>
          <a:prstGeom prst="rect">
            <a:avLst/>
          </a:prstGeom>
          <a:noFill/>
          <a:ln/>
        </p:spPr>
        <p:txBody>
          <a:bodyPr wrap="square" lIns="0" tIns="0" rIns="0" bIns="0" rtlCol="0" anchor="ctr"/>
          <a:lstStyle/>
          <a:p>
            <a:pPr algn="ctr" indent="0" marL="0">
              <a:buNone/>
            </a:pPr>
            <a:r>
              <a:rPr lang="en-US" sz="1300" b="1" dirty="0">
                <a:solidFill>
                  <a:srgbClr val="0D1B2A"/>
                </a:solidFill>
                <a:latin typeface="Calibri" pitchFamily="34" charset="0"/>
                <a:ea typeface="Calibri" pitchFamily="34" charset="-122"/>
                <a:cs typeface="Calibri" pitchFamily="34" charset="-120"/>
              </a:rPr>
              <a:t>08</a:t>
            </a:r>
            <a:endParaRPr lang="en-US" sz="1300" dirty="0"/>
          </a:p>
        </p:txBody>
      </p:sp>
      <p:sp>
        <p:nvSpPr>
          <p:cNvPr id="36" name="Text 34"/>
          <p:cNvSpPr/>
          <p:nvPr/>
        </p:nvSpPr>
        <p:spPr>
          <a:xfrm>
            <a:off x="5276088" y="4078224"/>
            <a:ext cx="3657600" cy="68580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Live Example: Login System</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D1B2A"/>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D4FF"/>
          </a:solidFill>
          <a:ln w="12700">
            <a:solidFill>
              <a:srgbClr val="00D4FF"/>
            </a:solidFill>
            <a:prstDash val="solid"/>
          </a:ln>
        </p:spPr>
      </p:sp>
      <p:sp>
        <p:nvSpPr>
          <p:cNvPr id="3" name="Text 1"/>
          <p:cNvSpPr/>
          <p:nvPr/>
        </p:nvSpPr>
        <p:spPr>
          <a:xfrm>
            <a:off x="457200" y="137160"/>
            <a:ext cx="8229600" cy="640080"/>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What is a Web Application?</a:t>
            </a:r>
            <a:endParaRPr lang="en-US" sz="3200" dirty="0"/>
          </a:p>
        </p:txBody>
      </p:sp>
      <p:sp>
        <p:nvSpPr>
          <p:cNvPr id="4" name="Text 2"/>
          <p:cNvSpPr/>
          <p:nvPr/>
        </p:nvSpPr>
        <p:spPr>
          <a:xfrm>
            <a:off x="457200" y="749808"/>
            <a:ext cx="8229600" cy="320040"/>
          </a:xfrm>
          <a:prstGeom prst="rect">
            <a:avLst/>
          </a:prstGeom>
          <a:noFill/>
          <a:ln/>
        </p:spPr>
        <p:txBody>
          <a:bodyPr wrap="square" lIns="0" tIns="0" rIns="0" bIns="0" rtlCol="0" anchor="ctr"/>
          <a:lstStyle/>
          <a:p>
            <a:pPr indent="0" marL="0">
              <a:buNone/>
            </a:pPr>
            <a:r>
              <a:rPr lang="en-US" sz="1400" i="1" dirty="0">
                <a:solidFill>
                  <a:srgbClr val="00D4FF"/>
                </a:solidFill>
                <a:latin typeface="Calibri" pitchFamily="34" charset="0"/>
                <a:ea typeface="Calibri" pitchFamily="34" charset="-122"/>
                <a:cs typeface="Calibri" pitchFamily="34" charset="-120"/>
              </a:rPr>
              <a:t>Section 01 · Introduction</a:t>
            </a:r>
            <a:endParaRPr lang="en-US" sz="1400" dirty="0"/>
          </a:p>
        </p:txBody>
      </p:sp>
      <p:sp>
        <p:nvSpPr>
          <p:cNvPr id="5" name="Shape 3"/>
          <p:cNvSpPr/>
          <p:nvPr/>
        </p:nvSpPr>
        <p:spPr>
          <a:xfrm>
            <a:off x="365760" y="1234440"/>
            <a:ext cx="4572000" cy="1920240"/>
          </a:xfrm>
          <a:prstGeom prst="rect">
            <a:avLst/>
          </a:prstGeom>
          <a:solidFill>
            <a:srgbClr val="1E3A5F"/>
          </a:solidFill>
          <a:ln w="12700">
            <a:solidFill>
              <a:srgbClr val="1E3A5F"/>
            </a:solidFill>
            <a:prstDash val="solid"/>
          </a:ln>
          <a:effectLst>
            <a:outerShdw sx="100000" sy="100000" kx="0" ky="0" algn="bl" rotWithShape="0" blurRad="101600" dist="38100" dir="8100000">
              <a:srgbClr val="000000">
                <a:alpha val="25000"/>
              </a:srgbClr>
            </a:outerShdw>
          </a:effectLst>
        </p:spPr>
      </p:sp>
      <p:sp>
        <p:nvSpPr>
          <p:cNvPr id="6" name="Text 4"/>
          <p:cNvSpPr/>
          <p:nvPr/>
        </p:nvSpPr>
        <p:spPr>
          <a:xfrm>
            <a:off x="457200" y="1280160"/>
            <a:ext cx="4389120" cy="365760"/>
          </a:xfrm>
          <a:prstGeom prst="rect">
            <a:avLst/>
          </a:prstGeom>
          <a:noFill/>
          <a:ln/>
        </p:spPr>
        <p:txBody>
          <a:bodyPr wrap="square" lIns="0" tIns="0" rIns="0" bIns="0" rtlCol="0" anchor="ctr"/>
          <a:lstStyle/>
          <a:p>
            <a:pPr indent="0" marL="0">
              <a:buNone/>
            </a:pPr>
            <a:r>
              <a:rPr lang="en-US" sz="1500" b="1" dirty="0">
                <a:solidFill>
                  <a:srgbClr val="00D4FF"/>
                </a:solidFill>
                <a:latin typeface="Calibri" pitchFamily="34" charset="0"/>
                <a:ea typeface="Calibri" pitchFamily="34" charset="-122"/>
                <a:cs typeface="Calibri" pitchFamily="34" charset="-120"/>
              </a:rPr>
              <a:t>Definition</a:t>
            </a:r>
            <a:endParaRPr lang="en-US" sz="1500" dirty="0"/>
          </a:p>
        </p:txBody>
      </p:sp>
      <p:sp>
        <p:nvSpPr>
          <p:cNvPr id="7" name="Text 5"/>
          <p:cNvSpPr/>
          <p:nvPr/>
        </p:nvSpPr>
        <p:spPr>
          <a:xfrm>
            <a:off x="457200" y="1664208"/>
            <a:ext cx="4389120" cy="1417320"/>
          </a:xfrm>
          <a:prstGeom prst="rect">
            <a:avLst/>
          </a:prstGeom>
          <a:noFill/>
          <a:ln/>
        </p:spPr>
        <p:txBody>
          <a:bodyPr wrap="square" rtlCol="0" anchor="t"/>
          <a:lstStyle/>
          <a:p>
            <a:pPr indent="0" marL="0">
              <a:buNone/>
            </a:pPr>
            <a:r>
              <a:rPr lang="en-US" sz="1350" dirty="0">
                <a:solidFill>
                  <a:srgbClr val="FFFFFF"/>
                </a:solidFill>
                <a:latin typeface="Calibri" pitchFamily="34" charset="0"/>
                <a:ea typeface="Calibri" pitchFamily="34" charset="-122"/>
                <a:cs typeface="Calibri" pitchFamily="34" charset="-120"/>
              </a:rPr>
              <a:t>A web application is software that </a:t>
            </a:r>
            <a:pPr indent="0" marL="0">
              <a:buNone/>
            </a:pPr>
            <a:r>
              <a:rPr lang="en-US" sz="1350" b="1" dirty="0">
                <a:solidFill>
                  <a:srgbClr val="00D4FF"/>
                </a:solidFill>
                <a:latin typeface="Calibri" pitchFamily="34" charset="0"/>
                <a:ea typeface="Calibri" pitchFamily="34" charset="-122"/>
                <a:cs typeface="Calibri" pitchFamily="34" charset="-120"/>
              </a:rPr>
              <a:t>runs in a browser</a:t>
            </a:r>
            <a:pPr indent="0" marL="0">
              <a:buNone/>
            </a:pPr>
            <a:r>
              <a:rPr lang="en-US" sz="1350" dirty="0">
                <a:solidFill>
                  <a:srgbClr val="FFFFFF"/>
                </a:solidFill>
                <a:latin typeface="Calibri" pitchFamily="34" charset="0"/>
                <a:ea typeface="Calibri" pitchFamily="34" charset="-122"/>
                <a:cs typeface="Calibri" pitchFamily="34" charset="-120"/>
              </a:rPr>
              <a:t> and delivers </a:t>
            </a:r>
            <a:pPr indent="0" marL="0">
              <a:buNone/>
            </a:pPr>
            <a:r>
              <a:rPr lang="en-US" sz="1350" b="1" dirty="0">
                <a:solidFill>
                  <a:srgbClr val="10B981"/>
                </a:solidFill>
                <a:latin typeface="Calibri" pitchFamily="34" charset="0"/>
                <a:ea typeface="Calibri" pitchFamily="34" charset="-122"/>
                <a:cs typeface="Calibri" pitchFamily="34" charset="-120"/>
              </a:rPr>
              <a:t>dynamic, interactive experiences</a:t>
            </a:r>
            <a:pPr indent="0" marL="0">
              <a:buNone/>
            </a:pPr>
            <a:r>
              <a:rPr lang="en-US" sz="1350" dirty="0">
                <a:solidFill>
                  <a:srgbClr val="FFFFFF"/>
                </a:solidFill>
                <a:latin typeface="Calibri" pitchFamily="34" charset="0"/>
                <a:ea typeface="Calibri" pitchFamily="34" charset="-122"/>
                <a:cs typeface="Calibri" pitchFamily="34" charset="-120"/>
              </a:rPr>
              <a:t> to users — unlike a simple static webpage.</a:t>
            </a:r>
            <a:endParaRPr lang="en-US" sz="1350" dirty="0"/>
          </a:p>
        </p:txBody>
      </p:sp>
      <p:sp>
        <p:nvSpPr>
          <p:cNvPr id="8" name="Shape 6"/>
          <p:cNvSpPr/>
          <p:nvPr/>
        </p:nvSpPr>
        <p:spPr>
          <a:xfrm>
            <a:off x="5120640" y="1234440"/>
            <a:ext cx="3657600" cy="1920240"/>
          </a:xfrm>
          <a:prstGeom prst="rect">
            <a:avLst/>
          </a:prstGeom>
          <a:solidFill>
            <a:srgbClr val="1E3A5F"/>
          </a:solidFill>
          <a:ln w="12700">
            <a:solidFill>
              <a:srgbClr val="1E3A5F"/>
            </a:solidFill>
            <a:prstDash val="solid"/>
          </a:ln>
          <a:effectLst>
            <a:outerShdw sx="100000" sy="100000" kx="0" ky="0" algn="bl" rotWithShape="0" blurRad="101600" dist="38100" dir="8100000">
              <a:srgbClr val="000000">
                <a:alpha val="25000"/>
              </a:srgbClr>
            </a:outerShdw>
          </a:effectLst>
        </p:spPr>
      </p:sp>
      <p:sp>
        <p:nvSpPr>
          <p:cNvPr id="9" name="Text 7"/>
          <p:cNvSpPr/>
          <p:nvPr/>
        </p:nvSpPr>
        <p:spPr>
          <a:xfrm>
            <a:off x="5212080" y="1280160"/>
            <a:ext cx="3474720" cy="365760"/>
          </a:xfrm>
          <a:prstGeom prst="rect">
            <a:avLst/>
          </a:prstGeom>
          <a:noFill/>
          <a:ln/>
        </p:spPr>
        <p:txBody>
          <a:bodyPr wrap="square" lIns="0" tIns="0" rIns="0" bIns="0" rtlCol="0" anchor="ctr"/>
          <a:lstStyle/>
          <a:p>
            <a:pPr indent="0" marL="0">
              <a:buNone/>
            </a:pPr>
            <a:r>
              <a:rPr lang="en-US" sz="1500" b="1" dirty="0">
                <a:solidFill>
                  <a:srgbClr val="F59E0B"/>
                </a:solidFill>
                <a:latin typeface="Calibri" pitchFamily="34" charset="0"/>
                <a:ea typeface="Calibri" pitchFamily="34" charset="-122"/>
                <a:cs typeface="Calibri" pitchFamily="34" charset="-120"/>
              </a:rPr>
              <a:t>🌐 Real-World Examples</a:t>
            </a:r>
            <a:endParaRPr lang="en-US" sz="1500" dirty="0"/>
          </a:p>
        </p:txBody>
      </p:sp>
      <p:sp>
        <p:nvSpPr>
          <p:cNvPr id="10" name="Text 8"/>
          <p:cNvSpPr/>
          <p:nvPr/>
        </p:nvSpPr>
        <p:spPr>
          <a:xfrm>
            <a:off x="5257800" y="1691640"/>
            <a:ext cx="3429000" cy="32918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 Amazon  — E-commerce</a:t>
            </a:r>
            <a:endParaRPr lang="en-US" sz="1300" dirty="0"/>
          </a:p>
        </p:txBody>
      </p:sp>
      <p:sp>
        <p:nvSpPr>
          <p:cNvPr id="11" name="Text 9"/>
          <p:cNvSpPr/>
          <p:nvPr/>
        </p:nvSpPr>
        <p:spPr>
          <a:xfrm>
            <a:off x="5257800" y="2039112"/>
            <a:ext cx="3429000" cy="32918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 Netflix  — Video Streaming</a:t>
            </a:r>
            <a:endParaRPr lang="en-US" sz="1300" dirty="0"/>
          </a:p>
        </p:txBody>
      </p:sp>
      <p:sp>
        <p:nvSpPr>
          <p:cNvPr id="12" name="Text 10"/>
          <p:cNvSpPr/>
          <p:nvPr/>
        </p:nvSpPr>
        <p:spPr>
          <a:xfrm>
            <a:off x="5257800" y="2386584"/>
            <a:ext cx="3429000" cy="32918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 Google  — Search Engine</a:t>
            </a:r>
            <a:endParaRPr lang="en-US" sz="1300" dirty="0"/>
          </a:p>
        </p:txBody>
      </p:sp>
      <p:sp>
        <p:nvSpPr>
          <p:cNvPr id="13" name="Text 11"/>
          <p:cNvSpPr/>
          <p:nvPr/>
        </p:nvSpPr>
        <p:spPr>
          <a:xfrm>
            <a:off x="5257800" y="2734056"/>
            <a:ext cx="3429000" cy="32918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 WhatsApp Web  — Messaging</a:t>
            </a:r>
            <a:endParaRPr lang="en-US" sz="1300" dirty="0"/>
          </a:p>
        </p:txBody>
      </p:sp>
      <p:sp>
        <p:nvSpPr>
          <p:cNvPr id="14" name="Shape 12"/>
          <p:cNvSpPr/>
          <p:nvPr/>
        </p:nvSpPr>
        <p:spPr>
          <a:xfrm>
            <a:off x="365760" y="3291840"/>
            <a:ext cx="8412480" cy="1051560"/>
          </a:xfrm>
          <a:prstGeom prst="rect">
            <a:avLst/>
          </a:prstGeom>
          <a:solidFill>
            <a:srgbClr val="172554"/>
          </a:solidFill>
          <a:ln w="12700">
            <a:solidFill>
              <a:srgbClr val="1E3A5F"/>
            </a:solidFill>
            <a:prstDash val="solid"/>
          </a:ln>
          <a:effectLst>
            <a:outerShdw sx="100000" sy="100000" kx="0" ky="0" algn="bl" rotWithShape="0" blurRad="101600" dist="38100" dir="8100000">
              <a:srgbClr val="000000">
                <a:alpha val="25000"/>
              </a:srgbClr>
            </a:outerShdw>
          </a:effectLst>
        </p:spPr>
      </p:sp>
      <p:sp>
        <p:nvSpPr>
          <p:cNvPr id="15" name="Shape 13"/>
          <p:cNvSpPr/>
          <p:nvPr/>
        </p:nvSpPr>
        <p:spPr>
          <a:xfrm>
            <a:off x="365760" y="3291840"/>
            <a:ext cx="54864" cy="1051560"/>
          </a:xfrm>
          <a:prstGeom prst="rect">
            <a:avLst/>
          </a:prstGeom>
          <a:solidFill>
            <a:srgbClr val="F59E0B"/>
          </a:solidFill>
          <a:ln w="12700">
            <a:solidFill>
              <a:srgbClr val="F59E0B"/>
            </a:solidFill>
            <a:prstDash val="solid"/>
          </a:ln>
        </p:spPr>
      </p:sp>
      <p:sp>
        <p:nvSpPr>
          <p:cNvPr id="16" name="Text 14"/>
          <p:cNvSpPr/>
          <p:nvPr/>
        </p:nvSpPr>
        <p:spPr>
          <a:xfrm>
            <a:off x="502920" y="3337560"/>
            <a:ext cx="1371600" cy="347472"/>
          </a:xfrm>
          <a:prstGeom prst="rect">
            <a:avLst/>
          </a:prstGeom>
          <a:noFill/>
          <a:ln/>
        </p:spPr>
        <p:txBody>
          <a:bodyPr wrap="square" lIns="0" tIns="0" rIns="0" bIns="0" rtlCol="0" anchor="ctr"/>
          <a:lstStyle/>
          <a:p>
            <a:pPr indent="0" marL="0">
              <a:buNone/>
            </a:pPr>
            <a:r>
              <a:rPr lang="en-US" sz="1300" b="1" dirty="0">
                <a:solidFill>
                  <a:srgbClr val="F59E0B"/>
                </a:solidFill>
                <a:latin typeface="Calibri" pitchFamily="34" charset="0"/>
                <a:ea typeface="Calibri" pitchFamily="34" charset="-122"/>
                <a:cs typeface="Calibri" pitchFamily="34" charset="-120"/>
              </a:rPr>
              <a:t>💡 Analogy</a:t>
            </a:r>
            <a:endParaRPr lang="en-US" sz="1300" dirty="0"/>
          </a:p>
        </p:txBody>
      </p:sp>
      <p:sp>
        <p:nvSpPr>
          <p:cNvPr id="17" name="Text 15"/>
          <p:cNvSpPr/>
          <p:nvPr/>
        </p:nvSpPr>
        <p:spPr>
          <a:xfrm>
            <a:off x="502920" y="3657600"/>
            <a:ext cx="8183880" cy="594360"/>
          </a:xfrm>
          <a:prstGeom prst="rect">
            <a:avLst/>
          </a:prstGeom>
          <a:noFill/>
          <a:ln/>
        </p:spPr>
        <p:txBody>
          <a:bodyPr wrap="square" lIns="0" tIns="0" rIns="0" bIns="0" rtlCol="0" anchor="ctr"/>
          <a:lstStyle/>
          <a:p>
            <a:pPr indent="0" marL="0">
              <a:buNone/>
            </a:pPr>
            <a:r>
              <a:rPr lang="en-US" sz="1300" dirty="0">
                <a:solidFill>
                  <a:srgbClr val="94A3B8"/>
                </a:solidFill>
                <a:latin typeface="Calibri" pitchFamily="34" charset="0"/>
                <a:ea typeface="Calibri" pitchFamily="34" charset="-122"/>
                <a:cs typeface="Calibri" pitchFamily="34" charset="-120"/>
              </a:rPr>
              <a:t>Think of a web app like a TV channel on-demand (Netflix). You don't install a channel — you open a browser, tune in, and it streams content tailored to YOU in real time.</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D1B2A"/>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D4FF"/>
          </a:solidFill>
          <a:ln w="12700">
            <a:solidFill>
              <a:srgbClr val="00D4FF"/>
            </a:solidFill>
            <a:prstDash val="solid"/>
          </a:ln>
        </p:spPr>
      </p:sp>
      <p:sp>
        <p:nvSpPr>
          <p:cNvPr id="3" name="Text 1"/>
          <p:cNvSpPr/>
          <p:nvPr/>
        </p:nvSpPr>
        <p:spPr>
          <a:xfrm>
            <a:off x="457200" y="137160"/>
            <a:ext cx="8229600" cy="640080"/>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Website vs Web Application</a:t>
            </a:r>
            <a:endParaRPr lang="en-US" sz="3200" dirty="0"/>
          </a:p>
        </p:txBody>
      </p:sp>
      <p:sp>
        <p:nvSpPr>
          <p:cNvPr id="4" name="Text 2"/>
          <p:cNvSpPr/>
          <p:nvPr/>
        </p:nvSpPr>
        <p:spPr>
          <a:xfrm>
            <a:off x="457200" y="749808"/>
            <a:ext cx="8229600" cy="320040"/>
          </a:xfrm>
          <a:prstGeom prst="rect">
            <a:avLst/>
          </a:prstGeom>
          <a:noFill/>
          <a:ln/>
        </p:spPr>
        <p:txBody>
          <a:bodyPr wrap="square" lIns="0" tIns="0" rIns="0" bIns="0" rtlCol="0" anchor="ctr"/>
          <a:lstStyle/>
          <a:p>
            <a:pPr indent="0" marL="0">
              <a:buNone/>
            </a:pPr>
            <a:r>
              <a:rPr lang="en-US" sz="1400" i="1" dirty="0">
                <a:solidFill>
                  <a:srgbClr val="00D4FF"/>
                </a:solidFill>
                <a:latin typeface="Calibri" pitchFamily="34" charset="0"/>
                <a:ea typeface="Calibri" pitchFamily="34" charset="-122"/>
                <a:cs typeface="Calibri" pitchFamily="34" charset="-120"/>
              </a:rPr>
              <a:t>Section 01 · What's the Difference?</a:t>
            </a:r>
            <a:endParaRPr lang="en-US" sz="1400" dirty="0"/>
          </a:p>
        </p:txBody>
      </p:sp>
      <p:sp>
        <p:nvSpPr>
          <p:cNvPr id="5" name="Shape 3"/>
          <p:cNvSpPr/>
          <p:nvPr/>
        </p:nvSpPr>
        <p:spPr>
          <a:xfrm>
            <a:off x="365760" y="1234440"/>
            <a:ext cx="3977640" cy="502920"/>
          </a:xfrm>
          <a:prstGeom prst="rect">
            <a:avLst/>
          </a:prstGeom>
          <a:solidFill>
            <a:srgbClr val="0EA5E9"/>
          </a:solidFill>
          <a:ln w="12700">
            <a:solidFill>
              <a:srgbClr val="1E3A5F"/>
            </a:solidFill>
            <a:prstDash val="solid"/>
          </a:ln>
          <a:effectLst>
            <a:outerShdw sx="100000" sy="100000" kx="0" ky="0" algn="bl" rotWithShape="0" blurRad="101600" dist="38100" dir="8100000">
              <a:srgbClr val="000000">
                <a:alpha val="25000"/>
              </a:srgbClr>
            </a:outerShdw>
          </a:effectLst>
        </p:spPr>
      </p:sp>
      <p:sp>
        <p:nvSpPr>
          <p:cNvPr id="6" name="Text 4"/>
          <p:cNvSpPr/>
          <p:nvPr/>
        </p:nvSpPr>
        <p:spPr>
          <a:xfrm>
            <a:off x="365760" y="1234440"/>
            <a:ext cx="3977640" cy="502920"/>
          </a:xfrm>
          <a:prstGeom prst="rect">
            <a:avLst/>
          </a:prstGeom>
          <a:noFill/>
          <a:ln/>
        </p:spPr>
        <p:txBody>
          <a:bodyPr wrap="square" lIns="0" tIns="0" rIns="0" bIns="0" rtlCol="0" anchor="ctr"/>
          <a:lstStyle/>
          <a:p>
            <a:pPr algn="ctr" indent="0" marL="0">
              <a:buNone/>
            </a:pPr>
            <a:r>
              <a:rPr lang="en-US" sz="1700" b="1" dirty="0">
                <a:solidFill>
                  <a:srgbClr val="0D1B2A"/>
                </a:solidFill>
                <a:latin typeface="Calibri" pitchFamily="34" charset="0"/>
                <a:ea typeface="Calibri" pitchFamily="34" charset="-122"/>
                <a:cs typeface="Calibri" pitchFamily="34" charset="-120"/>
              </a:rPr>
              <a:t>📄  WEBSITE</a:t>
            </a:r>
            <a:endParaRPr lang="en-US" sz="1700" dirty="0"/>
          </a:p>
        </p:txBody>
      </p:sp>
      <p:sp>
        <p:nvSpPr>
          <p:cNvPr id="7" name="Shape 5"/>
          <p:cNvSpPr/>
          <p:nvPr/>
        </p:nvSpPr>
        <p:spPr>
          <a:xfrm>
            <a:off x="4800600" y="1234440"/>
            <a:ext cx="3977640" cy="502920"/>
          </a:xfrm>
          <a:prstGeom prst="rect">
            <a:avLst/>
          </a:prstGeom>
          <a:solidFill>
            <a:srgbClr val="7C3AED"/>
          </a:solidFill>
          <a:ln w="12700">
            <a:solidFill>
              <a:srgbClr val="1E3A5F"/>
            </a:solidFill>
            <a:prstDash val="solid"/>
          </a:ln>
          <a:effectLst>
            <a:outerShdw sx="100000" sy="100000" kx="0" ky="0" algn="bl" rotWithShape="0" blurRad="101600" dist="38100" dir="8100000">
              <a:srgbClr val="000000">
                <a:alpha val="25000"/>
              </a:srgbClr>
            </a:outerShdw>
          </a:effectLst>
        </p:spPr>
      </p:sp>
      <p:sp>
        <p:nvSpPr>
          <p:cNvPr id="8" name="Text 6"/>
          <p:cNvSpPr/>
          <p:nvPr/>
        </p:nvSpPr>
        <p:spPr>
          <a:xfrm>
            <a:off x="4800600" y="1234440"/>
            <a:ext cx="3977640" cy="50292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  WEB APPLICATION</a:t>
            </a:r>
            <a:endParaRPr lang="en-US" sz="1700" dirty="0"/>
          </a:p>
        </p:txBody>
      </p:sp>
      <p:sp>
        <p:nvSpPr>
          <p:cNvPr id="9" name="Shape 7"/>
          <p:cNvSpPr/>
          <p:nvPr/>
        </p:nvSpPr>
        <p:spPr>
          <a:xfrm>
            <a:off x="365760" y="1847088"/>
            <a:ext cx="3977640" cy="502920"/>
          </a:xfrm>
          <a:prstGeom prst="rect">
            <a:avLst/>
          </a:prstGeom>
          <a:solidFill>
            <a:srgbClr val="1E3A5F"/>
          </a:solidFill>
          <a:ln w="12700">
            <a:solidFill>
              <a:srgbClr val="1E3A5F"/>
            </a:solidFill>
            <a:prstDash val="solid"/>
          </a:ln>
          <a:effectLst>
            <a:outerShdw sx="100000" sy="100000" kx="0" ky="0" algn="bl" rotWithShape="0" blurRad="101600" dist="38100" dir="8100000">
              <a:srgbClr val="000000">
                <a:alpha val="25000"/>
              </a:srgbClr>
            </a:outerShdw>
          </a:effectLst>
        </p:spPr>
      </p:sp>
      <p:sp>
        <p:nvSpPr>
          <p:cNvPr id="10" name="Text 8"/>
          <p:cNvSpPr/>
          <p:nvPr/>
        </p:nvSpPr>
        <p:spPr>
          <a:xfrm>
            <a:off x="457200" y="1847088"/>
            <a:ext cx="3794760" cy="50292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Static content</a:t>
            </a:r>
            <a:endParaRPr lang="en-US" sz="1350" dirty="0"/>
          </a:p>
        </p:txBody>
      </p:sp>
      <p:sp>
        <p:nvSpPr>
          <p:cNvPr id="11" name="Shape 9"/>
          <p:cNvSpPr/>
          <p:nvPr/>
        </p:nvSpPr>
        <p:spPr>
          <a:xfrm>
            <a:off x="4800600" y="1847088"/>
            <a:ext cx="3977640" cy="502920"/>
          </a:xfrm>
          <a:prstGeom prst="rect">
            <a:avLst/>
          </a:prstGeom>
          <a:solidFill>
            <a:srgbClr val="1E3A5F"/>
          </a:solidFill>
          <a:ln w="12700">
            <a:solidFill>
              <a:srgbClr val="1E3A5F"/>
            </a:solidFill>
            <a:prstDash val="solid"/>
          </a:ln>
          <a:effectLst>
            <a:outerShdw sx="100000" sy="100000" kx="0" ky="0" algn="bl" rotWithShape="0" blurRad="101600" dist="38100" dir="8100000">
              <a:srgbClr val="000000">
                <a:alpha val="25000"/>
              </a:srgbClr>
            </a:outerShdw>
          </a:effectLst>
        </p:spPr>
      </p:sp>
      <p:sp>
        <p:nvSpPr>
          <p:cNvPr id="12" name="Text 10"/>
          <p:cNvSpPr/>
          <p:nvPr/>
        </p:nvSpPr>
        <p:spPr>
          <a:xfrm>
            <a:off x="4892040" y="1847088"/>
            <a:ext cx="3794760" cy="50292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Dynamic, personalised content</a:t>
            </a:r>
            <a:endParaRPr lang="en-US" sz="1350" dirty="0"/>
          </a:p>
        </p:txBody>
      </p:sp>
      <p:sp>
        <p:nvSpPr>
          <p:cNvPr id="13" name="Shape 11"/>
          <p:cNvSpPr/>
          <p:nvPr/>
        </p:nvSpPr>
        <p:spPr>
          <a:xfrm>
            <a:off x="4389120" y="2011680"/>
            <a:ext cx="201168" cy="201168"/>
          </a:xfrm>
          <a:prstGeom prst="ellipse">
            <a:avLst/>
          </a:prstGeom>
          <a:solidFill>
            <a:srgbClr val="00D4FF"/>
          </a:solidFill>
          <a:ln w="12700">
            <a:solidFill>
              <a:srgbClr val="00D4FF"/>
            </a:solidFill>
            <a:prstDash val="solid"/>
          </a:ln>
        </p:spPr>
      </p:sp>
      <p:sp>
        <p:nvSpPr>
          <p:cNvPr id="14" name="Shape 12"/>
          <p:cNvSpPr/>
          <p:nvPr/>
        </p:nvSpPr>
        <p:spPr>
          <a:xfrm>
            <a:off x="365760" y="2414016"/>
            <a:ext cx="3977640" cy="502920"/>
          </a:xfrm>
          <a:prstGeom prst="rect">
            <a:avLst/>
          </a:prstGeom>
          <a:solidFill>
            <a:srgbClr val="172554"/>
          </a:solidFill>
          <a:ln w="12700">
            <a:solidFill>
              <a:srgbClr val="1E3A5F"/>
            </a:solidFill>
            <a:prstDash val="solid"/>
          </a:ln>
          <a:effectLst>
            <a:outerShdw sx="100000" sy="100000" kx="0" ky="0" algn="bl" rotWithShape="0" blurRad="101600" dist="38100" dir="8100000">
              <a:srgbClr val="000000">
                <a:alpha val="25000"/>
              </a:srgbClr>
            </a:outerShdw>
          </a:effectLst>
        </p:spPr>
      </p:sp>
      <p:sp>
        <p:nvSpPr>
          <p:cNvPr id="15" name="Text 13"/>
          <p:cNvSpPr/>
          <p:nvPr/>
        </p:nvSpPr>
        <p:spPr>
          <a:xfrm>
            <a:off x="457200" y="2414016"/>
            <a:ext cx="3794760" cy="50292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No user login needed</a:t>
            </a:r>
            <a:endParaRPr lang="en-US" sz="1350" dirty="0"/>
          </a:p>
        </p:txBody>
      </p:sp>
      <p:sp>
        <p:nvSpPr>
          <p:cNvPr id="16" name="Shape 14"/>
          <p:cNvSpPr/>
          <p:nvPr/>
        </p:nvSpPr>
        <p:spPr>
          <a:xfrm>
            <a:off x="4800600" y="2414016"/>
            <a:ext cx="3977640" cy="502920"/>
          </a:xfrm>
          <a:prstGeom prst="rect">
            <a:avLst/>
          </a:prstGeom>
          <a:solidFill>
            <a:srgbClr val="172554"/>
          </a:solidFill>
          <a:ln w="12700">
            <a:solidFill>
              <a:srgbClr val="1E3A5F"/>
            </a:solidFill>
            <a:prstDash val="solid"/>
          </a:ln>
          <a:effectLst>
            <a:outerShdw sx="100000" sy="100000" kx="0" ky="0" algn="bl" rotWithShape="0" blurRad="101600" dist="38100" dir="8100000">
              <a:srgbClr val="000000">
                <a:alpha val="25000"/>
              </a:srgbClr>
            </a:outerShdw>
          </a:effectLst>
        </p:spPr>
      </p:sp>
      <p:sp>
        <p:nvSpPr>
          <p:cNvPr id="17" name="Text 15"/>
          <p:cNvSpPr/>
          <p:nvPr/>
        </p:nvSpPr>
        <p:spPr>
          <a:xfrm>
            <a:off x="4892040" y="2414016"/>
            <a:ext cx="3794760" cy="50292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Login &amp; user sessions</a:t>
            </a:r>
            <a:endParaRPr lang="en-US" sz="1350" dirty="0"/>
          </a:p>
        </p:txBody>
      </p:sp>
      <p:sp>
        <p:nvSpPr>
          <p:cNvPr id="18" name="Shape 16"/>
          <p:cNvSpPr/>
          <p:nvPr/>
        </p:nvSpPr>
        <p:spPr>
          <a:xfrm>
            <a:off x="4389120" y="2578608"/>
            <a:ext cx="201168" cy="201168"/>
          </a:xfrm>
          <a:prstGeom prst="ellipse">
            <a:avLst/>
          </a:prstGeom>
          <a:solidFill>
            <a:srgbClr val="00D4FF"/>
          </a:solidFill>
          <a:ln w="12700">
            <a:solidFill>
              <a:srgbClr val="00D4FF"/>
            </a:solidFill>
            <a:prstDash val="solid"/>
          </a:ln>
        </p:spPr>
      </p:sp>
      <p:sp>
        <p:nvSpPr>
          <p:cNvPr id="19" name="Shape 17"/>
          <p:cNvSpPr/>
          <p:nvPr/>
        </p:nvSpPr>
        <p:spPr>
          <a:xfrm>
            <a:off x="365760" y="2980944"/>
            <a:ext cx="3977640" cy="502920"/>
          </a:xfrm>
          <a:prstGeom prst="rect">
            <a:avLst/>
          </a:prstGeom>
          <a:solidFill>
            <a:srgbClr val="1E3A5F"/>
          </a:solidFill>
          <a:ln w="12700">
            <a:solidFill>
              <a:srgbClr val="1E3A5F"/>
            </a:solidFill>
            <a:prstDash val="solid"/>
          </a:ln>
          <a:effectLst>
            <a:outerShdw sx="100000" sy="100000" kx="0" ky="0" algn="bl" rotWithShape="0" blurRad="101600" dist="38100" dir="8100000">
              <a:srgbClr val="000000">
                <a:alpha val="25000"/>
              </a:srgbClr>
            </a:outerShdw>
          </a:effectLst>
        </p:spPr>
      </p:sp>
      <p:sp>
        <p:nvSpPr>
          <p:cNvPr id="20" name="Text 18"/>
          <p:cNvSpPr/>
          <p:nvPr/>
        </p:nvSpPr>
        <p:spPr>
          <a:xfrm>
            <a:off x="457200" y="2980944"/>
            <a:ext cx="3794760" cy="50292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Same for everyone</a:t>
            </a:r>
            <a:endParaRPr lang="en-US" sz="1350" dirty="0"/>
          </a:p>
        </p:txBody>
      </p:sp>
      <p:sp>
        <p:nvSpPr>
          <p:cNvPr id="21" name="Shape 19"/>
          <p:cNvSpPr/>
          <p:nvPr/>
        </p:nvSpPr>
        <p:spPr>
          <a:xfrm>
            <a:off x="4800600" y="2980944"/>
            <a:ext cx="3977640" cy="502920"/>
          </a:xfrm>
          <a:prstGeom prst="rect">
            <a:avLst/>
          </a:prstGeom>
          <a:solidFill>
            <a:srgbClr val="1E3A5F"/>
          </a:solidFill>
          <a:ln w="12700">
            <a:solidFill>
              <a:srgbClr val="1E3A5F"/>
            </a:solidFill>
            <a:prstDash val="solid"/>
          </a:ln>
          <a:effectLst>
            <a:outerShdw sx="100000" sy="100000" kx="0" ky="0" algn="bl" rotWithShape="0" blurRad="101600" dist="38100" dir="8100000">
              <a:srgbClr val="000000">
                <a:alpha val="25000"/>
              </a:srgbClr>
            </a:outerShdw>
          </a:effectLst>
        </p:spPr>
      </p:sp>
      <p:sp>
        <p:nvSpPr>
          <p:cNvPr id="22" name="Text 20"/>
          <p:cNvSpPr/>
          <p:nvPr/>
        </p:nvSpPr>
        <p:spPr>
          <a:xfrm>
            <a:off x="4892040" y="2980944"/>
            <a:ext cx="3794760" cy="50292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Different per user</a:t>
            </a:r>
            <a:endParaRPr lang="en-US" sz="1350" dirty="0"/>
          </a:p>
        </p:txBody>
      </p:sp>
      <p:sp>
        <p:nvSpPr>
          <p:cNvPr id="23" name="Shape 21"/>
          <p:cNvSpPr/>
          <p:nvPr/>
        </p:nvSpPr>
        <p:spPr>
          <a:xfrm>
            <a:off x="4389120" y="3145536"/>
            <a:ext cx="201168" cy="201168"/>
          </a:xfrm>
          <a:prstGeom prst="ellipse">
            <a:avLst/>
          </a:prstGeom>
          <a:solidFill>
            <a:srgbClr val="00D4FF"/>
          </a:solidFill>
          <a:ln w="12700">
            <a:solidFill>
              <a:srgbClr val="00D4FF"/>
            </a:solidFill>
            <a:prstDash val="solid"/>
          </a:ln>
        </p:spPr>
      </p:sp>
      <p:sp>
        <p:nvSpPr>
          <p:cNvPr id="24" name="Shape 22"/>
          <p:cNvSpPr/>
          <p:nvPr/>
        </p:nvSpPr>
        <p:spPr>
          <a:xfrm>
            <a:off x="365760" y="3547872"/>
            <a:ext cx="3977640" cy="502920"/>
          </a:xfrm>
          <a:prstGeom prst="rect">
            <a:avLst/>
          </a:prstGeom>
          <a:solidFill>
            <a:srgbClr val="172554"/>
          </a:solidFill>
          <a:ln w="12700">
            <a:solidFill>
              <a:srgbClr val="1E3A5F"/>
            </a:solidFill>
            <a:prstDash val="solid"/>
          </a:ln>
          <a:effectLst>
            <a:outerShdw sx="100000" sy="100000" kx="0" ky="0" algn="bl" rotWithShape="0" blurRad="101600" dist="38100" dir="8100000">
              <a:srgbClr val="000000">
                <a:alpha val="25000"/>
              </a:srgbClr>
            </a:outerShdw>
          </a:effectLst>
        </p:spPr>
      </p:sp>
      <p:sp>
        <p:nvSpPr>
          <p:cNvPr id="25" name="Text 23"/>
          <p:cNvSpPr/>
          <p:nvPr/>
        </p:nvSpPr>
        <p:spPr>
          <a:xfrm>
            <a:off x="457200" y="3547872"/>
            <a:ext cx="3794760" cy="50292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Example: Wikipedia</a:t>
            </a:r>
            <a:endParaRPr lang="en-US" sz="1350" dirty="0"/>
          </a:p>
        </p:txBody>
      </p:sp>
      <p:sp>
        <p:nvSpPr>
          <p:cNvPr id="26" name="Shape 24"/>
          <p:cNvSpPr/>
          <p:nvPr/>
        </p:nvSpPr>
        <p:spPr>
          <a:xfrm>
            <a:off x="4800600" y="3547872"/>
            <a:ext cx="3977640" cy="502920"/>
          </a:xfrm>
          <a:prstGeom prst="rect">
            <a:avLst/>
          </a:prstGeom>
          <a:solidFill>
            <a:srgbClr val="172554"/>
          </a:solidFill>
          <a:ln w="12700">
            <a:solidFill>
              <a:srgbClr val="1E3A5F"/>
            </a:solidFill>
            <a:prstDash val="solid"/>
          </a:ln>
          <a:effectLst>
            <a:outerShdw sx="100000" sy="100000" kx="0" ky="0" algn="bl" rotWithShape="0" blurRad="101600" dist="38100" dir="8100000">
              <a:srgbClr val="000000">
                <a:alpha val="25000"/>
              </a:srgbClr>
            </a:outerShdw>
          </a:effectLst>
        </p:spPr>
      </p:sp>
      <p:sp>
        <p:nvSpPr>
          <p:cNvPr id="27" name="Text 25"/>
          <p:cNvSpPr/>
          <p:nvPr/>
        </p:nvSpPr>
        <p:spPr>
          <a:xfrm>
            <a:off x="4892040" y="3547872"/>
            <a:ext cx="3794760" cy="50292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Example: Gmail, Spotify</a:t>
            </a:r>
            <a:endParaRPr lang="en-US" sz="1350" dirty="0"/>
          </a:p>
        </p:txBody>
      </p:sp>
      <p:sp>
        <p:nvSpPr>
          <p:cNvPr id="28" name="Shape 26"/>
          <p:cNvSpPr/>
          <p:nvPr/>
        </p:nvSpPr>
        <p:spPr>
          <a:xfrm>
            <a:off x="4389120" y="3712464"/>
            <a:ext cx="201168" cy="201168"/>
          </a:xfrm>
          <a:prstGeom prst="ellipse">
            <a:avLst/>
          </a:prstGeom>
          <a:solidFill>
            <a:srgbClr val="00D4FF"/>
          </a:solidFill>
          <a:ln w="12700">
            <a:solidFill>
              <a:srgbClr val="00D4FF"/>
            </a:solidFill>
            <a:prstDash val="solid"/>
          </a:ln>
        </p:spPr>
      </p:sp>
      <p:sp>
        <p:nvSpPr>
          <p:cNvPr id="29" name="Shape 27"/>
          <p:cNvSpPr/>
          <p:nvPr/>
        </p:nvSpPr>
        <p:spPr>
          <a:xfrm>
            <a:off x="365760" y="4114800"/>
            <a:ext cx="3977640" cy="502920"/>
          </a:xfrm>
          <a:prstGeom prst="rect">
            <a:avLst/>
          </a:prstGeom>
          <a:solidFill>
            <a:srgbClr val="1E3A5F"/>
          </a:solidFill>
          <a:ln w="12700">
            <a:solidFill>
              <a:srgbClr val="1E3A5F"/>
            </a:solidFill>
            <a:prstDash val="solid"/>
          </a:ln>
          <a:effectLst>
            <a:outerShdw sx="100000" sy="100000" kx="0" ky="0" algn="bl" rotWithShape="0" blurRad="101600" dist="38100" dir="8100000">
              <a:srgbClr val="000000">
                <a:alpha val="25000"/>
              </a:srgbClr>
            </a:outerShdw>
          </a:effectLst>
        </p:spPr>
      </p:sp>
      <p:sp>
        <p:nvSpPr>
          <p:cNvPr id="30" name="Text 28"/>
          <p:cNvSpPr/>
          <p:nvPr/>
        </p:nvSpPr>
        <p:spPr>
          <a:xfrm>
            <a:off x="457200" y="4114800"/>
            <a:ext cx="3794760" cy="50292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Read-only</a:t>
            </a:r>
            <a:endParaRPr lang="en-US" sz="1350" dirty="0"/>
          </a:p>
        </p:txBody>
      </p:sp>
      <p:sp>
        <p:nvSpPr>
          <p:cNvPr id="31" name="Shape 29"/>
          <p:cNvSpPr/>
          <p:nvPr/>
        </p:nvSpPr>
        <p:spPr>
          <a:xfrm>
            <a:off x="4800600" y="4114800"/>
            <a:ext cx="3977640" cy="502920"/>
          </a:xfrm>
          <a:prstGeom prst="rect">
            <a:avLst/>
          </a:prstGeom>
          <a:solidFill>
            <a:srgbClr val="1E3A5F"/>
          </a:solidFill>
          <a:ln w="12700">
            <a:solidFill>
              <a:srgbClr val="1E3A5F"/>
            </a:solidFill>
            <a:prstDash val="solid"/>
          </a:ln>
          <a:effectLst>
            <a:outerShdw sx="100000" sy="100000" kx="0" ky="0" algn="bl" rotWithShape="0" blurRad="101600" dist="38100" dir="8100000">
              <a:srgbClr val="000000">
                <a:alpha val="25000"/>
              </a:srgbClr>
            </a:outerShdw>
          </a:effectLst>
        </p:spPr>
      </p:sp>
      <p:sp>
        <p:nvSpPr>
          <p:cNvPr id="32" name="Text 30"/>
          <p:cNvSpPr/>
          <p:nvPr/>
        </p:nvSpPr>
        <p:spPr>
          <a:xfrm>
            <a:off x="4892040" y="4114800"/>
            <a:ext cx="3794760" cy="50292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Read + Write</a:t>
            </a:r>
            <a:endParaRPr lang="en-US" sz="1350" dirty="0"/>
          </a:p>
        </p:txBody>
      </p:sp>
      <p:sp>
        <p:nvSpPr>
          <p:cNvPr id="33" name="Shape 31"/>
          <p:cNvSpPr/>
          <p:nvPr/>
        </p:nvSpPr>
        <p:spPr>
          <a:xfrm>
            <a:off x="4389120" y="4279392"/>
            <a:ext cx="201168" cy="201168"/>
          </a:xfrm>
          <a:prstGeom prst="ellipse">
            <a:avLst/>
          </a:prstGeom>
          <a:solidFill>
            <a:srgbClr val="00D4FF"/>
          </a:solidFill>
          <a:ln w="12700">
            <a:solidFill>
              <a:srgbClr val="00D4FF"/>
            </a:solidFill>
            <a:prstDash val="solid"/>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D1B2A"/>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D4FF"/>
          </a:solidFill>
          <a:ln w="12700">
            <a:solidFill>
              <a:srgbClr val="00D4FF"/>
            </a:solidFill>
            <a:prstDash val="solid"/>
          </a:ln>
        </p:spPr>
      </p:sp>
      <p:sp>
        <p:nvSpPr>
          <p:cNvPr id="3" name="Text 1"/>
          <p:cNvSpPr/>
          <p:nvPr/>
        </p:nvSpPr>
        <p:spPr>
          <a:xfrm>
            <a:off x="457200" y="137160"/>
            <a:ext cx="8229600" cy="640080"/>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How the Internet Works</a:t>
            </a:r>
            <a:endParaRPr lang="en-US" sz="3200" dirty="0"/>
          </a:p>
        </p:txBody>
      </p:sp>
      <p:sp>
        <p:nvSpPr>
          <p:cNvPr id="4" name="Text 2"/>
          <p:cNvSpPr/>
          <p:nvPr/>
        </p:nvSpPr>
        <p:spPr>
          <a:xfrm>
            <a:off x="457200" y="749808"/>
            <a:ext cx="8229600" cy="320040"/>
          </a:xfrm>
          <a:prstGeom prst="rect">
            <a:avLst/>
          </a:prstGeom>
          <a:noFill/>
          <a:ln/>
        </p:spPr>
        <p:txBody>
          <a:bodyPr wrap="square" lIns="0" tIns="0" rIns="0" bIns="0" rtlCol="0" anchor="ctr"/>
          <a:lstStyle/>
          <a:p>
            <a:pPr indent="0" marL="0">
              <a:buNone/>
            </a:pPr>
            <a:r>
              <a:rPr lang="en-US" sz="1400" i="1" dirty="0">
                <a:solidFill>
                  <a:srgbClr val="00D4FF"/>
                </a:solidFill>
                <a:latin typeface="Calibri" pitchFamily="34" charset="0"/>
                <a:ea typeface="Calibri" pitchFamily="34" charset="-122"/>
                <a:cs typeface="Calibri" pitchFamily="34" charset="-120"/>
              </a:rPr>
              <a:t>Section 02 · The Big Picture</a:t>
            </a:r>
            <a:endParaRPr lang="en-US" sz="1400" dirty="0"/>
          </a:p>
        </p:txBody>
      </p:sp>
      <p:sp>
        <p:nvSpPr>
          <p:cNvPr id="5" name="Shape 3"/>
          <p:cNvSpPr/>
          <p:nvPr/>
        </p:nvSpPr>
        <p:spPr>
          <a:xfrm>
            <a:off x="274320" y="1234440"/>
            <a:ext cx="1572768" cy="1371600"/>
          </a:xfrm>
          <a:prstGeom prst="rect">
            <a:avLst/>
          </a:prstGeom>
          <a:solidFill>
            <a:srgbClr val="1E3A5F"/>
          </a:solidFill>
          <a:ln w="12700">
            <a:solidFill>
              <a:srgbClr val="1E3A5F"/>
            </a:solidFill>
            <a:prstDash val="solid"/>
          </a:ln>
          <a:effectLst>
            <a:outerShdw sx="100000" sy="100000" kx="0" ky="0" algn="bl" rotWithShape="0" blurRad="101600" dist="38100" dir="8100000">
              <a:srgbClr val="000000">
                <a:alpha val="25000"/>
              </a:srgbClr>
            </a:outerShdw>
          </a:effectLst>
        </p:spPr>
      </p:sp>
      <p:sp>
        <p:nvSpPr>
          <p:cNvPr id="6" name="Text 4"/>
          <p:cNvSpPr/>
          <p:nvPr/>
        </p:nvSpPr>
        <p:spPr>
          <a:xfrm>
            <a:off x="274320" y="1298448"/>
            <a:ext cx="1572768" cy="502920"/>
          </a:xfrm>
          <a:prstGeom prst="rect">
            <a:avLst/>
          </a:prstGeom>
          <a:noFill/>
          <a:ln/>
        </p:spPr>
        <p:txBody>
          <a:bodyPr wrap="square" lIns="0" tIns="0" rIns="0" bIns="0" rtlCol="0" anchor="ctr"/>
          <a:lstStyle/>
          <a:p>
            <a:pPr algn="ctr" indent="0" marL="0">
              <a:buNone/>
            </a:pPr>
            <a:r>
              <a:rPr lang="en-US" sz="2600" dirty="0">
                <a:solidFill>
                  <a:srgbClr val="000000"/>
                </a:solidFill>
              </a:rPr>
              <a:t>🖥️</a:t>
            </a:r>
            <a:endParaRPr lang="en-US" sz="2600" dirty="0"/>
          </a:p>
        </p:txBody>
      </p:sp>
      <p:sp>
        <p:nvSpPr>
          <p:cNvPr id="7" name="Text 5"/>
          <p:cNvSpPr/>
          <p:nvPr/>
        </p:nvSpPr>
        <p:spPr>
          <a:xfrm>
            <a:off x="274320" y="1801368"/>
            <a:ext cx="1572768" cy="320040"/>
          </a:xfrm>
          <a:prstGeom prst="rect">
            <a:avLst/>
          </a:prstGeom>
          <a:noFill/>
          <a:ln/>
        </p:spPr>
        <p:txBody>
          <a:bodyPr wrap="square" lIns="0" tIns="0" rIns="0" bIns="0" rtlCol="0" anchor="ctr"/>
          <a:lstStyle/>
          <a:p>
            <a:pPr algn="ctr" indent="0" marL="0">
              <a:buNone/>
            </a:pPr>
            <a:r>
              <a:rPr lang="en-US" sz="1200" b="1" dirty="0">
                <a:solidFill>
                  <a:srgbClr val="0EA5E9"/>
                </a:solidFill>
                <a:latin typeface="Calibri" pitchFamily="34" charset="0"/>
                <a:ea typeface="Calibri" pitchFamily="34" charset="-122"/>
                <a:cs typeface="Calibri" pitchFamily="34" charset="-120"/>
              </a:rPr>
              <a:t>Your Device</a:t>
            </a:r>
            <a:endParaRPr lang="en-US" sz="1200" dirty="0"/>
          </a:p>
        </p:txBody>
      </p:sp>
      <p:sp>
        <p:nvSpPr>
          <p:cNvPr id="8" name="Text 6"/>
          <p:cNvSpPr/>
          <p:nvPr/>
        </p:nvSpPr>
        <p:spPr>
          <a:xfrm>
            <a:off x="274320" y="2103120"/>
            <a:ext cx="1572768" cy="411480"/>
          </a:xfrm>
          <a:prstGeom prst="rect">
            <a:avLst/>
          </a:prstGeom>
          <a:noFill/>
          <a:ln/>
        </p:spPr>
        <p:txBody>
          <a:bodyPr wrap="square" lIns="0" tIns="0" rIns="0" bIns="0" rtlCol="0" anchor="ctr"/>
          <a:lstStyle/>
          <a:p>
            <a:pPr algn="ctr" indent="0" marL="0">
              <a:buNone/>
            </a:pPr>
            <a:r>
              <a:rPr lang="en-US" sz="1100" dirty="0">
                <a:solidFill>
                  <a:srgbClr val="94A3B8"/>
                </a:solidFill>
                <a:latin typeface="Calibri" pitchFamily="34" charset="0"/>
                <a:ea typeface="Calibri" pitchFamily="34" charset="-122"/>
                <a:cs typeface="Calibri" pitchFamily="34" charset="-120"/>
              </a:rPr>
              <a:t>Browser / App</a:t>
            </a:r>
            <a:endParaRPr lang="en-US" sz="1100" dirty="0"/>
          </a:p>
        </p:txBody>
      </p:sp>
      <p:sp>
        <p:nvSpPr>
          <p:cNvPr id="9" name="Shape 7"/>
          <p:cNvSpPr/>
          <p:nvPr/>
        </p:nvSpPr>
        <p:spPr>
          <a:xfrm>
            <a:off x="1883664" y="1901952"/>
            <a:ext cx="73152" cy="0"/>
          </a:xfrm>
          <a:prstGeom prst="line">
            <a:avLst/>
          </a:prstGeom>
          <a:noFill/>
          <a:ln w="31750">
            <a:solidFill>
              <a:srgbClr val="00D4FF"/>
            </a:solidFill>
            <a:prstDash val="solid"/>
            <a:tailEnd type="open"/>
          </a:ln>
        </p:spPr>
      </p:sp>
      <p:sp>
        <p:nvSpPr>
          <p:cNvPr id="10" name="Shape 8"/>
          <p:cNvSpPr/>
          <p:nvPr/>
        </p:nvSpPr>
        <p:spPr>
          <a:xfrm>
            <a:off x="1993392" y="1234440"/>
            <a:ext cx="1572768" cy="1371600"/>
          </a:xfrm>
          <a:prstGeom prst="rect">
            <a:avLst/>
          </a:prstGeom>
          <a:solidFill>
            <a:srgbClr val="1E3A5F"/>
          </a:solidFill>
          <a:ln w="12700">
            <a:solidFill>
              <a:srgbClr val="1E3A5F"/>
            </a:solidFill>
            <a:prstDash val="solid"/>
          </a:ln>
          <a:effectLst>
            <a:outerShdw sx="100000" sy="100000" kx="0" ky="0" algn="bl" rotWithShape="0" blurRad="101600" dist="38100" dir="8100000">
              <a:srgbClr val="000000">
                <a:alpha val="25000"/>
              </a:srgbClr>
            </a:outerShdw>
          </a:effectLst>
        </p:spPr>
      </p:sp>
      <p:sp>
        <p:nvSpPr>
          <p:cNvPr id="11" name="Text 9"/>
          <p:cNvSpPr/>
          <p:nvPr/>
        </p:nvSpPr>
        <p:spPr>
          <a:xfrm>
            <a:off x="1993392" y="1298448"/>
            <a:ext cx="1572768" cy="502920"/>
          </a:xfrm>
          <a:prstGeom prst="rect">
            <a:avLst/>
          </a:prstGeom>
          <a:noFill/>
          <a:ln/>
        </p:spPr>
        <p:txBody>
          <a:bodyPr wrap="square" lIns="0" tIns="0" rIns="0" bIns="0" rtlCol="0" anchor="ctr"/>
          <a:lstStyle/>
          <a:p>
            <a:pPr algn="ctr" indent="0" marL="0">
              <a:buNone/>
            </a:pPr>
            <a:r>
              <a:rPr lang="en-US" sz="2600" dirty="0">
                <a:solidFill>
                  <a:srgbClr val="000000"/>
                </a:solidFill>
              </a:rPr>
              <a:t>📡</a:t>
            </a:r>
            <a:endParaRPr lang="en-US" sz="2600" dirty="0"/>
          </a:p>
        </p:txBody>
      </p:sp>
      <p:sp>
        <p:nvSpPr>
          <p:cNvPr id="12" name="Text 10"/>
          <p:cNvSpPr/>
          <p:nvPr/>
        </p:nvSpPr>
        <p:spPr>
          <a:xfrm>
            <a:off x="1993392" y="1801368"/>
            <a:ext cx="1572768" cy="320040"/>
          </a:xfrm>
          <a:prstGeom prst="rect">
            <a:avLst/>
          </a:prstGeom>
          <a:noFill/>
          <a:ln/>
        </p:spPr>
        <p:txBody>
          <a:bodyPr wrap="square" lIns="0" tIns="0" rIns="0" bIns="0" rtlCol="0" anchor="ctr"/>
          <a:lstStyle/>
          <a:p>
            <a:pPr algn="ctr" indent="0" marL="0">
              <a:buNone/>
            </a:pPr>
            <a:r>
              <a:rPr lang="en-US" sz="1200" b="1" dirty="0">
                <a:solidFill>
                  <a:srgbClr val="00D4FF"/>
                </a:solidFill>
                <a:latin typeface="Calibri" pitchFamily="34" charset="0"/>
                <a:ea typeface="Calibri" pitchFamily="34" charset="-122"/>
                <a:cs typeface="Calibri" pitchFamily="34" charset="-120"/>
              </a:rPr>
              <a:t>ISP</a:t>
            </a:r>
            <a:endParaRPr lang="en-US" sz="1200" dirty="0"/>
          </a:p>
        </p:txBody>
      </p:sp>
      <p:sp>
        <p:nvSpPr>
          <p:cNvPr id="13" name="Text 11"/>
          <p:cNvSpPr/>
          <p:nvPr/>
        </p:nvSpPr>
        <p:spPr>
          <a:xfrm>
            <a:off x="1993392" y="2103120"/>
            <a:ext cx="1572768" cy="411480"/>
          </a:xfrm>
          <a:prstGeom prst="rect">
            <a:avLst/>
          </a:prstGeom>
          <a:noFill/>
          <a:ln/>
        </p:spPr>
        <p:txBody>
          <a:bodyPr wrap="square" lIns="0" tIns="0" rIns="0" bIns="0" rtlCol="0" anchor="ctr"/>
          <a:lstStyle/>
          <a:p>
            <a:pPr algn="ctr" indent="0" marL="0">
              <a:buNone/>
            </a:pPr>
            <a:r>
              <a:rPr lang="en-US" sz="1100" dirty="0">
                <a:solidFill>
                  <a:srgbClr val="94A3B8"/>
                </a:solidFill>
                <a:latin typeface="Calibri" pitchFamily="34" charset="0"/>
                <a:ea typeface="Calibri" pitchFamily="34" charset="-122"/>
                <a:cs typeface="Calibri" pitchFamily="34" charset="-120"/>
              </a:rPr>
              <a:t>Internet Provider</a:t>
            </a:r>
            <a:endParaRPr lang="en-US" sz="1100" dirty="0"/>
          </a:p>
        </p:txBody>
      </p:sp>
      <p:sp>
        <p:nvSpPr>
          <p:cNvPr id="14" name="Shape 12"/>
          <p:cNvSpPr/>
          <p:nvPr/>
        </p:nvSpPr>
        <p:spPr>
          <a:xfrm>
            <a:off x="3602736" y="1901952"/>
            <a:ext cx="73152" cy="0"/>
          </a:xfrm>
          <a:prstGeom prst="line">
            <a:avLst/>
          </a:prstGeom>
          <a:noFill/>
          <a:ln w="31750">
            <a:solidFill>
              <a:srgbClr val="00D4FF"/>
            </a:solidFill>
            <a:prstDash val="solid"/>
            <a:tailEnd type="open"/>
          </a:ln>
        </p:spPr>
      </p:sp>
      <p:sp>
        <p:nvSpPr>
          <p:cNvPr id="15" name="Shape 13"/>
          <p:cNvSpPr/>
          <p:nvPr/>
        </p:nvSpPr>
        <p:spPr>
          <a:xfrm>
            <a:off x="3712464" y="1234440"/>
            <a:ext cx="1572768" cy="1371600"/>
          </a:xfrm>
          <a:prstGeom prst="rect">
            <a:avLst/>
          </a:prstGeom>
          <a:solidFill>
            <a:srgbClr val="1E3A5F"/>
          </a:solidFill>
          <a:ln w="12700">
            <a:solidFill>
              <a:srgbClr val="1E3A5F"/>
            </a:solidFill>
            <a:prstDash val="solid"/>
          </a:ln>
          <a:effectLst>
            <a:outerShdw sx="100000" sy="100000" kx="0" ky="0" algn="bl" rotWithShape="0" blurRad="101600" dist="38100" dir="8100000">
              <a:srgbClr val="000000">
                <a:alpha val="25000"/>
              </a:srgbClr>
            </a:outerShdw>
          </a:effectLst>
        </p:spPr>
      </p:sp>
      <p:sp>
        <p:nvSpPr>
          <p:cNvPr id="16" name="Text 14"/>
          <p:cNvSpPr/>
          <p:nvPr/>
        </p:nvSpPr>
        <p:spPr>
          <a:xfrm>
            <a:off x="3712464" y="1298448"/>
            <a:ext cx="1572768" cy="502920"/>
          </a:xfrm>
          <a:prstGeom prst="rect">
            <a:avLst/>
          </a:prstGeom>
          <a:noFill/>
          <a:ln/>
        </p:spPr>
        <p:txBody>
          <a:bodyPr wrap="square" lIns="0" tIns="0" rIns="0" bIns="0" rtlCol="0" anchor="ctr"/>
          <a:lstStyle/>
          <a:p>
            <a:pPr algn="ctr" indent="0" marL="0">
              <a:buNone/>
            </a:pPr>
            <a:r>
              <a:rPr lang="en-US" sz="2600" dirty="0">
                <a:solidFill>
                  <a:srgbClr val="000000"/>
                </a:solidFill>
              </a:rPr>
              <a:t>🔍</a:t>
            </a:r>
            <a:endParaRPr lang="en-US" sz="2600" dirty="0"/>
          </a:p>
        </p:txBody>
      </p:sp>
      <p:sp>
        <p:nvSpPr>
          <p:cNvPr id="17" name="Text 15"/>
          <p:cNvSpPr/>
          <p:nvPr/>
        </p:nvSpPr>
        <p:spPr>
          <a:xfrm>
            <a:off x="3712464" y="1801368"/>
            <a:ext cx="1572768" cy="320040"/>
          </a:xfrm>
          <a:prstGeom prst="rect">
            <a:avLst/>
          </a:prstGeom>
          <a:noFill/>
          <a:ln/>
        </p:spPr>
        <p:txBody>
          <a:bodyPr wrap="square" lIns="0" tIns="0" rIns="0" bIns="0" rtlCol="0" anchor="ctr"/>
          <a:lstStyle/>
          <a:p>
            <a:pPr algn="ctr" indent="0" marL="0">
              <a:buNone/>
            </a:pPr>
            <a:r>
              <a:rPr lang="en-US" sz="1200" b="1" dirty="0">
                <a:solidFill>
                  <a:srgbClr val="7C3AED"/>
                </a:solidFill>
                <a:latin typeface="Calibri" pitchFamily="34" charset="0"/>
                <a:ea typeface="Calibri" pitchFamily="34" charset="-122"/>
                <a:cs typeface="Calibri" pitchFamily="34" charset="-120"/>
              </a:rPr>
              <a:t>DNS Server</a:t>
            </a:r>
            <a:endParaRPr lang="en-US" sz="1200" dirty="0"/>
          </a:p>
        </p:txBody>
      </p:sp>
      <p:sp>
        <p:nvSpPr>
          <p:cNvPr id="18" name="Text 16"/>
          <p:cNvSpPr/>
          <p:nvPr/>
        </p:nvSpPr>
        <p:spPr>
          <a:xfrm>
            <a:off x="3712464" y="2103120"/>
            <a:ext cx="1572768" cy="411480"/>
          </a:xfrm>
          <a:prstGeom prst="rect">
            <a:avLst/>
          </a:prstGeom>
          <a:noFill/>
          <a:ln/>
        </p:spPr>
        <p:txBody>
          <a:bodyPr wrap="square" lIns="0" tIns="0" rIns="0" bIns="0" rtlCol="0" anchor="ctr"/>
          <a:lstStyle/>
          <a:p>
            <a:pPr algn="ctr" indent="0" marL="0">
              <a:buNone/>
            </a:pPr>
            <a:r>
              <a:rPr lang="en-US" sz="1100" dirty="0">
                <a:solidFill>
                  <a:srgbClr val="94A3B8"/>
                </a:solidFill>
                <a:latin typeface="Calibri" pitchFamily="34" charset="0"/>
                <a:ea typeface="Calibri" pitchFamily="34" charset="-122"/>
                <a:cs typeface="Calibri" pitchFamily="34" charset="-120"/>
              </a:rPr>
              <a:t>Phone Book of Web</a:t>
            </a:r>
            <a:endParaRPr lang="en-US" sz="1100" dirty="0"/>
          </a:p>
        </p:txBody>
      </p:sp>
      <p:sp>
        <p:nvSpPr>
          <p:cNvPr id="19" name="Shape 17"/>
          <p:cNvSpPr/>
          <p:nvPr/>
        </p:nvSpPr>
        <p:spPr>
          <a:xfrm>
            <a:off x="5321808" y="1901952"/>
            <a:ext cx="73152" cy="0"/>
          </a:xfrm>
          <a:prstGeom prst="line">
            <a:avLst/>
          </a:prstGeom>
          <a:noFill/>
          <a:ln w="31750">
            <a:solidFill>
              <a:srgbClr val="00D4FF"/>
            </a:solidFill>
            <a:prstDash val="solid"/>
            <a:tailEnd type="open"/>
          </a:ln>
        </p:spPr>
      </p:sp>
      <p:sp>
        <p:nvSpPr>
          <p:cNvPr id="20" name="Shape 18"/>
          <p:cNvSpPr/>
          <p:nvPr/>
        </p:nvSpPr>
        <p:spPr>
          <a:xfrm>
            <a:off x="5431536" y="1234440"/>
            <a:ext cx="1572768" cy="1371600"/>
          </a:xfrm>
          <a:prstGeom prst="rect">
            <a:avLst/>
          </a:prstGeom>
          <a:solidFill>
            <a:srgbClr val="1E3A5F"/>
          </a:solidFill>
          <a:ln w="12700">
            <a:solidFill>
              <a:srgbClr val="1E3A5F"/>
            </a:solidFill>
            <a:prstDash val="solid"/>
          </a:ln>
          <a:effectLst>
            <a:outerShdw sx="100000" sy="100000" kx="0" ky="0" algn="bl" rotWithShape="0" blurRad="101600" dist="38100" dir="8100000">
              <a:srgbClr val="000000">
                <a:alpha val="25000"/>
              </a:srgbClr>
            </a:outerShdw>
          </a:effectLst>
        </p:spPr>
      </p:sp>
      <p:sp>
        <p:nvSpPr>
          <p:cNvPr id="21" name="Text 19"/>
          <p:cNvSpPr/>
          <p:nvPr/>
        </p:nvSpPr>
        <p:spPr>
          <a:xfrm>
            <a:off x="5431536" y="1298448"/>
            <a:ext cx="1572768" cy="502920"/>
          </a:xfrm>
          <a:prstGeom prst="rect">
            <a:avLst/>
          </a:prstGeom>
          <a:noFill/>
          <a:ln/>
        </p:spPr>
        <p:txBody>
          <a:bodyPr wrap="square" lIns="0" tIns="0" rIns="0" bIns="0" rtlCol="0" anchor="ctr"/>
          <a:lstStyle/>
          <a:p>
            <a:pPr algn="ctr" indent="0" marL="0">
              <a:buNone/>
            </a:pPr>
            <a:r>
              <a:rPr lang="en-US" sz="2600" dirty="0">
                <a:solidFill>
                  <a:srgbClr val="000000"/>
                </a:solidFill>
              </a:rPr>
              <a:t>🌍</a:t>
            </a:r>
            <a:endParaRPr lang="en-US" sz="2600" dirty="0"/>
          </a:p>
        </p:txBody>
      </p:sp>
      <p:sp>
        <p:nvSpPr>
          <p:cNvPr id="22" name="Text 20"/>
          <p:cNvSpPr/>
          <p:nvPr/>
        </p:nvSpPr>
        <p:spPr>
          <a:xfrm>
            <a:off x="5431536" y="1801368"/>
            <a:ext cx="1572768" cy="320040"/>
          </a:xfrm>
          <a:prstGeom prst="rect">
            <a:avLst/>
          </a:prstGeom>
          <a:noFill/>
          <a:ln/>
        </p:spPr>
        <p:txBody>
          <a:bodyPr wrap="square" lIns="0" tIns="0" rIns="0" bIns="0" rtlCol="0" anchor="ctr"/>
          <a:lstStyle/>
          <a:p>
            <a:pPr algn="ctr" indent="0" marL="0">
              <a:buNone/>
            </a:pPr>
            <a:r>
              <a:rPr lang="en-US" sz="1200" b="1" dirty="0">
                <a:solidFill>
                  <a:srgbClr val="F59E0B"/>
                </a:solidFill>
                <a:latin typeface="Calibri" pitchFamily="34" charset="0"/>
                <a:ea typeface="Calibri" pitchFamily="34" charset="-122"/>
                <a:cs typeface="Calibri" pitchFamily="34" charset="-120"/>
              </a:rPr>
              <a:t>IP Address</a:t>
            </a:r>
            <a:endParaRPr lang="en-US" sz="1200" dirty="0"/>
          </a:p>
        </p:txBody>
      </p:sp>
      <p:sp>
        <p:nvSpPr>
          <p:cNvPr id="23" name="Text 21"/>
          <p:cNvSpPr/>
          <p:nvPr/>
        </p:nvSpPr>
        <p:spPr>
          <a:xfrm>
            <a:off x="5431536" y="2103120"/>
            <a:ext cx="1572768" cy="411480"/>
          </a:xfrm>
          <a:prstGeom prst="rect">
            <a:avLst/>
          </a:prstGeom>
          <a:noFill/>
          <a:ln/>
        </p:spPr>
        <p:txBody>
          <a:bodyPr wrap="square" lIns="0" tIns="0" rIns="0" bIns="0" rtlCol="0" anchor="ctr"/>
          <a:lstStyle/>
          <a:p>
            <a:pPr algn="ctr" indent="0" marL="0">
              <a:buNone/>
            </a:pPr>
            <a:r>
              <a:rPr lang="en-US" sz="1100" dirty="0">
                <a:solidFill>
                  <a:srgbClr val="94A3B8"/>
                </a:solidFill>
                <a:latin typeface="Calibri" pitchFamily="34" charset="0"/>
                <a:ea typeface="Calibri" pitchFamily="34" charset="-122"/>
                <a:cs typeface="Calibri" pitchFamily="34" charset="-120"/>
              </a:rPr>
              <a:t>Finds the Server</a:t>
            </a:r>
            <a:endParaRPr lang="en-US" sz="1100" dirty="0"/>
          </a:p>
        </p:txBody>
      </p:sp>
      <p:sp>
        <p:nvSpPr>
          <p:cNvPr id="24" name="Shape 22"/>
          <p:cNvSpPr/>
          <p:nvPr/>
        </p:nvSpPr>
        <p:spPr>
          <a:xfrm>
            <a:off x="7040880" y="1901952"/>
            <a:ext cx="73152" cy="0"/>
          </a:xfrm>
          <a:prstGeom prst="line">
            <a:avLst/>
          </a:prstGeom>
          <a:noFill/>
          <a:ln w="31750">
            <a:solidFill>
              <a:srgbClr val="00D4FF"/>
            </a:solidFill>
            <a:prstDash val="solid"/>
            <a:tailEnd type="open"/>
          </a:ln>
        </p:spPr>
      </p:sp>
      <p:sp>
        <p:nvSpPr>
          <p:cNvPr id="25" name="Shape 23"/>
          <p:cNvSpPr/>
          <p:nvPr/>
        </p:nvSpPr>
        <p:spPr>
          <a:xfrm>
            <a:off x="7150608" y="1234440"/>
            <a:ext cx="1572768" cy="1371600"/>
          </a:xfrm>
          <a:prstGeom prst="rect">
            <a:avLst/>
          </a:prstGeom>
          <a:solidFill>
            <a:srgbClr val="1E3A5F"/>
          </a:solidFill>
          <a:ln w="12700">
            <a:solidFill>
              <a:srgbClr val="1E3A5F"/>
            </a:solidFill>
            <a:prstDash val="solid"/>
          </a:ln>
          <a:effectLst>
            <a:outerShdw sx="100000" sy="100000" kx="0" ky="0" algn="bl" rotWithShape="0" blurRad="101600" dist="38100" dir="8100000">
              <a:srgbClr val="000000">
                <a:alpha val="25000"/>
              </a:srgbClr>
            </a:outerShdw>
          </a:effectLst>
        </p:spPr>
      </p:sp>
      <p:sp>
        <p:nvSpPr>
          <p:cNvPr id="26" name="Text 24"/>
          <p:cNvSpPr/>
          <p:nvPr/>
        </p:nvSpPr>
        <p:spPr>
          <a:xfrm>
            <a:off x="7150608" y="1298448"/>
            <a:ext cx="1572768" cy="502920"/>
          </a:xfrm>
          <a:prstGeom prst="rect">
            <a:avLst/>
          </a:prstGeom>
          <a:noFill/>
          <a:ln/>
        </p:spPr>
        <p:txBody>
          <a:bodyPr wrap="square" lIns="0" tIns="0" rIns="0" bIns="0" rtlCol="0" anchor="ctr"/>
          <a:lstStyle/>
          <a:p>
            <a:pPr algn="ctr" indent="0" marL="0">
              <a:buNone/>
            </a:pPr>
            <a:r>
              <a:rPr lang="en-US" sz="2600" dirty="0">
                <a:solidFill>
                  <a:srgbClr val="000000"/>
                </a:solidFill>
              </a:rPr>
              <a:t>🖧</a:t>
            </a:r>
            <a:endParaRPr lang="en-US" sz="2600" dirty="0"/>
          </a:p>
        </p:txBody>
      </p:sp>
      <p:sp>
        <p:nvSpPr>
          <p:cNvPr id="27" name="Text 25"/>
          <p:cNvSpPr/>
          <p:nvPr/>
        </p:nvSpPr>
        <p:spPr>
          <a:xfrm>
            <a:off x="7150608" y="1801368"/>
            <a:ext cx="1572768" cy="320040"/>
          </a:xfrm>
          <a:prstGeom prst="rect">
            <a:avLst/>
          </a:prstGeom>
          <a:noFill/>
          <a:ln/>
        </p:spPr>
        <p:txBody>
          <a:bodyPr wrap="square" lIns="0" tIns="0" rIns="0" bIns="0" rtlCol="0" anchor="ctr"/>
          <a:lstStyle/>
          <a:p>
            <a:pPr algn="ctr" indent="0" marL="0">
              <a:buNone/>
            </a:pPr>
            <a:r>
              <a:rPr lang="en-US" sz="1200" b="1" dirty="0">
                <a:solidFill>
                  <a:srgbClr val="10B981"/>
                </a:solidFill>
                <a:latin typeface="Calibri" pitchFamily="34" charset="0"/>
                <a:ea typeface="Calibri" pitchFamily="34" charset="-122"/>
                <a:cs typeface="Calibri" pitchFamily="34" charset="-120"/>
              </a:rPr>
              <a:t>Web Server</a:t>
            </a:r>
            <a:endParaRPr lang="en-US" sz="1200" dirty="0"/>
          </a:p>
        </p:txBody>
      </p:sp>
      <p:sp>
        <p:nvSpPr>
          <p:cNvPr id="28" name="Text 26"/>
          <p:cNvSpPr/>
          <p:nvPr/>
        </p:nvSpPr>
        <p:spPr>
          <a:xfrm>
            <a:off x="7150608" y="2103120"/>
            <a:ext cx="1572768" cy="411480"/>
          </a:xfrm>
          <a:prstGeom prst="rect">
            <a:avLst/>
          </a:prstGeom>
          <a:noFill/>
          <a:ln/>
        </p:spPr>
        <p:txBody>
          <a:bodyPr wrap="square" lIns="0" tIns="0" rIns="0" bIns="0" rtlCol="0" anchor="ctr"/>
          <a:lstStyle/>
          <a:p>
            <a:pPr algn="ctr" indent="0" marL="0">
              <a:buNone/>
            </a:pPr>
            <a:r>
              <a:rPr lang="en-US" sz="1100" dirty="0">
                <a:solidFill>
                  <a:srgbClr val="94A3B8"/>
                </a:solidFill>
                <a:latin typeface="Calibri" pitchFamily="34" charset="0"/>
                <a:ea typeface="Calibri" pitchFamily="34" charset="-122"/>
                <a:cs typeface="Calibri" pitchFamily="34" charset="-120"/>
              </a:rPr>
              <a:t>Sends Response</a:t>
            </a:r>
            <a:endParaRPr lang="en-US" sz="1100" dirty="0"/>
          </a:p>
        </p:txBody>
      </p:sp>
      <p:sp>
        <p:nvSpPr>
          <p:cNvPr id="29" name="Shape 27"/>
          <p:cNvSpPr/>
          <p:nvPr/>
        </p:nvSpPr>
        <p:spPr>
          <a:xfrm>
            <a:off x="365760" y="2834640"/>
            <a:ext cx="2651760" cy="1280160"/>
          </a:xfrm>
          <a:prstGeom prst="rect">
            <a:avLst/>
          </a:prstGeom>
          <a:solidFill>
            <a:srgbClr val="172554"/>
          </a:solidFill>
          <a:ln w="12700">
            <a:solidFill>
              <a:srgbClr val="1E3A5F"/>
            </a:solidFill>
            <a:prstDash val="solid"/>
          </a:ln>
          <a:effectLst>
            <a:outerShdw sx="100000" sy="100000" kx="0" ky="0" algn="bl" rotWithShape="0" blurRad="101600" dist="38100" dir="8100000">
              <a:srgbClr val="000000">
                <a:alpha val="25000"/>
              </a:srgbClr>
            </a:outerShdw>
          </a:effectLst>
        </p:spPr>
      </p:sp>
      <p:sp>
        <p:nvSpPr>
          <p:cNvPr id="30" name="Shape 28"/>
          <p:cNvSpPr/>
          <p:nvPr/>
        </p:nvSpPr>
        <p:spPr>
          <a:xfrm>
            <a:off x="365760" y="2834640"/>
            <a:ext cx="2651760" cy="64008"/>
          </a:xfrm>
          <a:prstGeom prst="rect">
            <a:avLst/>
          </a:prstGeom>
          <a:solidFill>
            <a:srgbClr val="00D4FF"/>
          </a:solidFill>
          <a:ln w="12700">
            <a:solidFill>
              <a:srgbClr val="00D4FF"/>
            </a:solidFill>
            <a:prstDash val="solid"/>
          </a:ln>
        </p:spPr>
      </p:sp>
      <p:sp>
        <p:nvSpPr>
          <p:cNvPr id="31" name="Text 29"/>
          <p:cNvSpPr/>
          <p:nvPr/>
        </p:nvSpPr>
        <p:spPr>
          <a:xfrm>
            <a:off x="457200" y="2907792"/>
            <a:ext cx="2468880" cy="347472"/>
          </a:xfrm>
          <a:prstGeom prst="rect">
            <a:avLst/>
          </a:prstGeom>
          <a:noFill/>
          <a:ln/>
        </p:spPr>
        <p:txBody>
          <a:bodyPr wrap="square" lIns="0" tIns="0" rIns="0" bIns="0" rtlCol="0" anchor="ctr"/>
          <a:lstStyle/>
          <a:p>
            <a:pPr indent="0" marL="0">
              <a:buNone/>
            </a:pPr>
            <a:r>
              <a:rPr lang="en-US" sz="1300" b="1" dirty="0">
                <a:solidFill>
                  <a:srgbClr val="00D4FF"/>
                </a:solidFill>
                <a:latin typeface="Calibri" pitchFamily="34" charset="0"/>
                <a:ea typeface="Calibri" pitchFamily="34" charset="-122"/>
                <a:cs typeface="Calibri" pitchFamily="34" charset="-120"/>
              </a:rPr>
              <a:t>DNS (Domain Name System)</a:t>
            </a:r>
            <a:endParaRPr lang="en-US" sz="1300" dirty="0"/>
          </a:p>
        </p:txBody>
      </p:sp>
      <p:sp>
        <p:nvSpPr>
          <p:cNvPr id="32" name="Text 30"/>
          <p:cNvSpPr/>
          <p:nvPr/>
        </p:nvSpPr>
        <p:spPr>
          <a:xfrm>
            <a:off x="457200" y="3255264"/>
            <a:ext cx="2468880" cy="777240"/>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Translates 'google.com' → 142.250.x.x</a:t>
            </a:r>
            <a:endParaRPr lang="en-US" sz="1200" dirty="0"/>
          </a:p>
          <a:p>
            <a:pPr indent="0" marL="0">
              <a:buNone/>
            </a:pPr>
            <a:r>
              <a:rPr lang="en-US" sz="1200" dirty="0">
                <a:solidFill>
                  <a:srgbClr val="FFFFFF"/>
                </a:solidFill>
                <a:latin typeface="Calibri" pitchFamily="34" charset="0"/>
                <a:ea typeface="Calibri" pitchFamily="34" charset="-122"/>
                <a:cs typeface="Calibri" pitchFamily="34" charset="-120"/>
              </a:rPr>
              <a:t>Like a phonebook for the internet</a:t>
            </a:r>
            <a:endParaRPr lang="en-US" sz="1200" dirty="0"/>
          </a:p>
        </p:txBody>
      </p:sp>
      <p:sp>
        <p:nvSpPr>
          <p:cNvPr id="33" name="Shape 31"/>
          <p:cNvSpPr/>
          <p:nvPr/>
        </p:nvSpPr>
        <p:spPr>
          <a:xfrm>
            <a:off x="3218688" y="2834640"/>
            <a:ext cx="2651760" cy="1280160"/>
          </a:xfrm>
          <a:prstGeom prst="rect">
            <a:avLst/>
          </a:prstGeom>
          <a:solidFill>
            <a:srgbClr val="172554"/>
          </a:solidFill>
          <a:ln w="12700">
            <a:solidFill>
              <a:srgbClr val="1E3A5F"/>
            </a:solidFill>
            <a:prstDash val="solid"/>
          </a:ln>
          <a:effectLst>
            <a:outerShdw sx="100000" sy="100000" kx="0" ky="0" algn="bl" rotWithShape="0" blurRad="101600" dist="38100" dir="8100000">
              <a:srgbClr val="000000">
                <a:alpha val="25000"/>
              </a:srgbClr>
            </a:outerShdw>
          </a:effectLst>
        </p:spPr>
      </p:sp>
      <p:sp>
        <p:nvSpPr>
          <p:cNvPr id="34" name="Shape 32"/>
          <p:cNvSpPr/>
          <p:nvPr/>
        </p:nvSpPr>
        <p:spPr>
          <a:xfrm>
            <a:off x="3218688" y="2834640"/>
            <a:ext cx="2651760" cy="64008"/>
          </a:xfrm>
          <a:prstGeom prst="rect">
            <a:avLst/>
          </a:prstGeom>
          <a:solidFill>
            <a:srgbClr val="00D4FF"/>
          </a:solidFill>
          <a:ln w="12700">
            <a:solidFill>
              <a:srgbClr val="00D4FF"/>
            </a:solidFill>
            <a:prstDash val="solid"/>
          </a:ln>
        </p:spPr>
      </p:sp>
      <p:sp>
        <p:nvSpPr>
          <p:cNvPr id="35" name="Text 33"/>
          <p:cNvSpPr/>
          <p:nvPr/>
        </p:nvSpPr>
        <p:spPr>
          <a:xfrm>
            <a:off x="3310128" y="2907792"/>
            <a:ext cx="2468880" cy="347472"/>
          </a:xfrm>
          <a:prstGeom prst="rect">
            <a:avLst/>
          </a:prstGeom>
          <a:noFill/>
          <a:ln/>
        </p:spPr>
        <p:txBody>
          <a:bodyPr wrap="square" lIns="0" tIns="0" rIns="0" bIns="0" rtlCol="0" anchor="ctr"/>
          <a:lstStyle/>
          <a:p>
            <a:pPr indent="0" marL="0">
              <a:buNone/>
            </a:pPr>
            <a:r>
              <a:rPr lang="en-US" sz="1300" b="1" dirty="0">
                <a:solidFill>
                  <a:srgbClr val="00D4FF"/>
                </a:solidFill>
                <a:latin typeface="Calibri" pitchFamily="34" charset="0"/>
                <a:ea typeface="Calibri" pitchFamily="34" charset="-122"/>
                <a:cs typeface="Calibri" pitchFamily="34" charset="-120"/>
              </a:rPr>
              <a:t>IP Address</a:t>
            </a:r>
            <a:endParaRPr lang="en-US" sz="1300" dirty="0"/>
          </a:p>
        </p:txBody>
      </p:sp>
      <p:sp>
        <p:nvSpPr>
          <p:cNvPr id="36" name="Text 34"/>
          <p:cNvSpPr/>
          <p:nvPr/>
        </p:nvSpPr>
        <p:spPr>
          <a:xfrm>
            <a:off x="3310128" y="3255264"/>
            <a:ext cx="2468880" cy="777240"/>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Unique ID for every device/server</a:t>
            </a:r>
            <a:endParaRPr lang="en-US" sz="1200" dirty="0"/>
          </a:p>
          <a:p>
            <a:pPr indent="0" marL="0">
              <a:buNone/>
            </a:pPr>
            <a:r>
              <a:rPr lang="en-US" sz="1200" dirty="0">
                <a:solidFill>
                  <a:srgbClr val="FFFFFF"/>
                </a:solidFill>
                <a:latin typeface="Calibri" pitchFamily="34" charset="0"/>
                <a:ea typeface="Calibri" pitchFamily="34" charset="-122"/>
                <a:cs typeface="Calibri" pitchFamily="34" charset="-120"/>
              </a:rPr>
              <a:t>Like a home address for computers</a:t>
            </a:r>
            <a:endParaRPr lang="en-US" sz="1200" dirty="0"/>
          </a:p>
        </p:txBody>
      </p:sp>
      <p:sp>
        <p:nvSpPr>
          <p:cNvPr id="37" name="Shape 35"/>
          <p:cNvSpPr/>
          <p:nvPr/>
        </p:nvSpPr>
        <p:spPr>
          <a:xfrm>
            <a:off x="6071616" y="2834640"/>
            <a:ext cx="2651760" cy="1280160"/>
          </a:xfrm>
          <a:prstGeom prst="rect">
            <a:avLst/>
          </a:prstGeom>
          <a:solidFill>
            <a:srgbClr val="172554"/>
          </a:solidFill>
          <a:ln w="12700">
            <a:solidFill>
              <a:srgbClr val="1E3A5F"/>
            </a:solidFill>
            <a:prstDash val="solid"/>
          </a:ln>
          <a:effectLst>
            <a:outerShdw sx="100000" sy="100000" kx="0" ky="0" algn="bl" rotWithShape="0" blurRad="101600" dist="38100" dir="8100000">
              <a:srgbClr val="000000">
                <a:alpha val="25000"/>
              </a:srgbClr>
            </a:outerShdw>
          </a:effectLst>
        </p:spPr>
      </p:sp>
      <p:sp>
        <p:nvSpPr>
          <p:cNvPr id="38" name="Shape 36"/>
          <p:cNvSpPr/>
          <p:nvPr/>
        </p:nvSpPr>
        <p:spPr>
          <a:xfrm>
            <a:off x="6071616" y="2834640"/>
            <a:ext cx="2651760" cy="64008"/>
          </a:xfrm>
          <a:prstGeom prst="rect">
            <a:avLst/>
          </a:prstGeom>
          <a:solidFill>
            <a:srgbClr val="00D4FF"/>
          </a:solidFill>
          <a:ln w="12700">
            <a:solidFill>
              <a:srgbClr val="00D4FF"/>
            </a:solidFill>
            <a:prstDash val="solid"/>
          </a:ln>
        </p:spPr>
      </p:sp>
      <p:sp>
        <p:nvSpPr>
          <p:cNvPr id="39" name="Text 37"/>
          <p:cNvSpPr/>
          <p:nvPr/>
        </p:nvSpPr>
        <p:spPr>
          <a:xfrm>
            <a:off x="6163056" y="2907792"/>
            <a:ext cx="2468880" cy="347472"/>
          </a:xfrm>
          <a:prstGeom prst="rect">
            <a:avLst/>
          </a:prstGeom>
          <a:noFill/>
          <a:ln/>
        </p:spPr>
        <p:txBody>
          <a:bodyPr wrap="square" lIns="0" tIns="0" rIns="0" bIns="0" rtlCol="0" anchor="ctr"/>
          <a:lstStyle/>
          <a:p>
            <a:pPr indent="0" marL="0">
              <a:buNone/>
            </a:pPr>
            <a:r>
              <a:rPr lang="en-US" sz="1300" b="1" dirty="0">
                <a:solidFill>
                  <a:srgbClr val="00D4FF"/>
                </a:solidFill>
                <a:latin typeface="Calibri" pitchFamily="34" charset="0"/>
                <a:ea typeface="Calibri" pitchFamily="34" charset="-122"/>
                <a:cs typeface="Calibri" pitchFamily="34" charset="-120"/>
              </a:rPr>
              <a:t>HTTP/HTTPS</a:t>
            </a:r>
            <a:endParaRPr lang="en-US" sz="1300" dirty="0"/>
          </a:p>
        </p:txBody>
      </p:sp>
      <p:sp>
        <p:nvSpPr>
          <p:cNvPr id="40" name="Text 38"/>
          <p:cNvSpPr/>
          <p:nvPr/>
        </p:nvSpPr>
        <p:spPr>
          <a:xfrm>
            <a:off x="6163056" y="3255264"/>
            <a:ext cx="2468880" cy="777240"/>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Protocol for browser↔server communication</a:t>
            </a:r>
            <a:endParaRPr lang="en-US" sz="1200" dirty="0"/>
          </a:p>
          <a:p>
            <a:pPr indent="0" marL="0">
              <a:buNone/>
            </a:pPr>
            <a:r>
              <a:rPr lang="en-US" sz="1200" dirty="0">
                <a:solidFill>
                  <a:srgbClr val="FFFFFF"/>
                </a:solidFill>
                <a:latin typeface="Calibri" pitchFamily="34" charset="0"/>
                <a:ea typeface="Calibri" pitchFamily="34" charset="-122"/>
                <a:cs typeface="Calibri" pitchFamily="34" charset="-120"/>
              </a:rPr>
              <a:t>HTTPS = encrypted (secure)</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D1B2A"/>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D4FF"/>
          </a:solidFill>
          <a:ln w="12700">
            <a:solidFill>
              <a:srgbClr val="00D4FF"/>
            </a:solidFill>
            <a:prstDash val="solid"/>
          </a:ln>
        </p:spPr>
      </p:sp>
      <p:sp>
        <p:nvSpPr>
          <p:cNvPr id="3" name="Text 1"/>
          <p:cNvSpPr/>
          <p:nvPr/>
        </p:nvSpPr>
        <p:spPr>
          <a:xfrm>
            <a:off x="457200" y="137160"/>
            <a:ext cx="8229600" cy="640080"/>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Client vs Server</a:t>
            </a:r>
            <a:endParaRPr lang="en-US" sz="3200" dirty="0"/>
          </a:p>
        </p:txBody>
      </p:sp>
      <p:sp>
        <p:nvSpPr>
          <p:cNvPr id="4" name="Text 2"/>
          <p:cNvSpPr/>
          <p:nvPr/>
        </p:nvSpPr>
        <p:spPr>
          <a:xfrm>
            <a:off x="457200" y="749808"/>
            <a:ext cx="8229600" cy="320040"/>
          </a:xfrm>
          <a:prstGeom prst="rect">
            <a:avLst/>
          </a:prstGeom>
          <a:noFill/>
          <a:ln/>
        </p:spPr>
        <p:txBody>
          <a:bodyPr wrap="square" lIns="0" tIns="0" rIns="0" bIns="0" rtlCol="0" anchor="ctr"/>
          <a:lstStyle/>
          <a:p>
            <a:pPr indent="0" marL="0">
              <a:buNone/>
            </a:pPr>
            <a:r>
              <a:rPr lang="en-US" sz="1400" i="1" dirty="0">
                <a:solidFill>
                  <a:srgbClr val="00D4FF"/>
                </a:solidFill>
                <a:latin typeface="Calibri" pitchFamily="34" charset="0"/>
                <a:ea typeface="Calibri" pitchFamily="34" charset="-122"/>
                <a:cs typeface="Calibri" pitchFamily="34" charset="-120"/>
              </a:rPr>
              <a:t>Section 02 · The Two-Side Model</a:t>
            </a:r>
            <a:endParaRPr lang="en-US" sz="1400" dirty="0"/>
          </a:p>
        </p:txBody>
      </p:sp>
      <p:sp>
        <p:nvSpPr>
          <p:cNvPr id="5" name="Shape 3"/>
          <p:cNvSpPr/>
          <p:nvPr/>
        </p:nvSpPr>
        <p:spPr>
          <a:xfrm>
            <a:off x="320040" y="1234440"/>
            <a:ext cx="3840480" cy="3200400"/>
          </a:xfrm>
          <a:prstGeom prst="rect">
            <a:avLst/>
          </a:prstGeom>
          <a:solidFill>
            <a:srgbClr val="1E3A5F"/>
          </a:solidFill>
          <a:ln w="12700">
            <a:solidFill>
              <a:srgbClr val="1E3A5F"/>
            </a:solidFill>
            <a:prstDash val="solid"/>
          </a:ln>
          <a:effectLst>
            <a:outerShdw sx="100000" sy="100000" kx="0" ky="0" algn="bl" rotWithShape="0" blurRad="101600" dist="38100" dir="8100000">
              <a:srgbClr val="000000">
                <a:alpha val="25000"/>
              </a:srgbClr>
            </a:outerShdw>
          </a:effectLst>
        </p:spPr>
      </p:sp>
      <p:sp>
        <p:nvSpPr>
          <p:cNvPr id="6" name="Shape 4"/>
          <p:cNvSpPr/>
          <p:nvPr/>
        </p:nvSpPr>
        <p:spPr>
          <a:xfrm>
            <a:off x="320040" y="1234440"/>
            <a:ext cx="3840480" cy="64008"/>
          </a:xfrm>
          <a:prstGeom prst="rect">
            <a:avLst/>
          </a:prstGeom>
          <a:solidFill>
            <a:srgbClr val="0EA5E9"/>
          </a:solidFill>
          <a:ln w="12700">
            <a:solidFill>
              <a:srgbClr val="0EA5E9"/>
            </a:solidFill>
            <a:prstDash val="solid"/>
          </a:ln>
        </p:spPr>
      </p:sp>
      <p:sp>
        <p:nvSpPr>
          <p:cNvPr id="7" name="Text 5"/>
          <p:cNvSpPr/>
          <p:nvPr/>
        </p:nvSpPr>
        <p:spPr>
          <a:xfrm>
            <a:off x="411480" y="1298448"/>
            <a:ext cx="3657600" cy="457200"/>
          </a:xfrm>
          <a:prstGeom prst="rect">
            <a:avLst/>
          </a:prstGeom>
          <a:noFill/>
          <a:ln/>
        </p:spPr>
        <p:txBody>
          <a:bodyPr wrap="square" lIns="0" tIns="0" rIns="0" bIns="0" rtlCol="0" anchor="ctr"/>
          <a:lstStyle/>
          <a:p>
            <a:pPr indent="0" marL="0">
              <a:buNone/>
            </a:pPr>
            <a:r>
              <a:rPr lang="en-US" sz="2000" b="1" dirty="0">
                <a:solidFill>
                  <a:srgbClr val="0EA5E9"/>
                </a:solidFill>
                <a:latin typeface="Calibri" pitchFamily="34" charset="0"/>
                <a:ea typeface="Calibri" pitchFamily="34" charset="-122"/>
                <a:cs typeface="Calibri" pitchFamily="34" charset="-120"/>
              </a:rPr>
              <a:t>CLIENT (You)</a:t>
            </a:r>
            <a:endParaRPr lang="en-US" sz="2000" dirty="0"/>
          </a:p>
        </p:txBody>
      </p:sp>
      <p:sp>
        <p:nvSpPr>
          <p:cNvPr id="8" name="Text 6"/>
          <p:cNvSpPr/>
          <p:nvPr/>
        </p:nvSpPr>
        <p:spPr>
          <a:xfrm>
            <a:off x="411480" y="1783080"/>
            <a:ext cx="3566160" cy="8229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  Desktop Browser</a:t>
            </a:r>
            <a:endParaRPr lang="en-US" sz="1300" dirty="0"/>
          </a:p>
          <a:p>
            <a:pPr indent="0" marL="0">
              <a:buNone/>
            </a:pPr>
            <a:r>
              <a:rPr lang="en-US" sz="1300" dirty="0">
                <a:solidFill>
                  <a:srgbClr val="FFFFFF"/>
                </a:solidFill>
                <a:latin typeface="Calibri" pitchFamily="34" charset="0"/>
                <a:ea typeface="Calibri" pitchFamily="34" charset="-122"/>
                <a:cs typeface="Calibri" pitchFamily="34" charset="-120"/>
              </a:rPr>
              <a:t>📱  Mobile App</a:t>
            </a:r>
            <a:endParaRPr lang="en-US" sz="1300" dirty="0"/>
          </a:p>
          <a:p>
            <a:pPr indent="0" marL="0">
              <a:buNone/>
            </a:pPr>
            <a:r>
              <a:rPr lang="en-US" sz="1300" dirty="0">
                <a:solidFill>
                  <a:srgbClr val="FFFFFF"/>
                </a:solidFill>
                <a:latin typeface="Calibri" pitchFamily="34" charset="0"/>
                <a:ea typeface="Calibri" pitchFamily="34" charset="-122"/>
                <a:cs typeface="Calibri" pitchFamily="34" charset="-120"/>
              </a:rPr>
              <a:t>💻  Laptop / Tablet</a:t>
            </a:r>
            <a:endParaRPr lang="en-US" sz="1300" dirty="0"/>
          </a:p>
        </p:txBody>
      </p:sp>
      <p:sp>
        <p:nvSpPr>
          <p:cNvPr id="9" name="Shape 7"/>
          <p:cNvSpPr/>
          <p:nvPr/>
        </p:nvSpPr>
        <p:spPr>
          <a:xfrm>
            <a:off x="457200" y="2724912"/>
            <a:ext cx="164592" cy="164592"/>
          </a:xfrm>
          <a:prstGeom prst="ellipse">
            <a:avLst/>
          </a:prstGeom>
          <a:solidFill>
            <a:srgbClr val="0EA5E9"/>
          </a:solidFill>
          <a:ln w="12700">
            <a:solidFill>
              <a:srgbClr val="0EA5E9"/>
            </a:solidFill>
            <a:prstDash val="solid"/>
          </a:ln>
        </p:spPr>
      </p:sp>
      <p:sp>
        <p:nvSpPr>
          <p:cNvPr id="10" name="Text 8"/>
          <p:cNvSpPr/>
          <p:nvPr/>
        </p:nvSpPr>
        <p:spPr>
          <a:xfrm>
            <a:off x="713232" y="2697480"/>
            <a:ext cx="3200400" cy="27432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Sends REQUESTS</a:t>
            </a:r>
            <a:endParaRPr lang="en-US" sz="1250" dirty="0"/>
          </a:p>
        </p:txBody>
      </p:sp>
      <p:sp>
        <p:nvSpPr>
          <p:cNvPr id="11" name="Shape 9"/>
          <p:cNvSpPr/>
          <p:nvPr/>
        </p:nvSpPr>
        <p:spPr>
          <a:xfrm>
            <a:off x="457200" y="3127248"/>
            <a:ext cx="164592" cy="164592"/>
          </a:xfrm>
          <a:prstGeom prst="ellipse">
            <a:avLst/>
          </a:prstGeom>
          <a:solidFill>
            <a:srgbClr val="0EA5E9"/>
          </a:solidFill>
          <a:ln w="12700">
            <a:solidFill>
              <a:srgbClr val="0EA5E9"/>
            </a:solidFill>
            <a:prstDash val="solid"/>
          </a:ln>
        </p:spPr>
      </p:sp>
      <p:sp>
        <p:nvSpPr>
          <p:cNvPr id="12" name="Text 10"/>
          <p:cNvSpPr/>
          <p:nvPr/>
        </p:nvSpPr>
        <p:spPr>
          <a:xfrm>
            <a:off x="713232" y="3099816"/>
            <a:ext cx="3200400" cy="27432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Displays responses in UI</a:t>
            </a:r>
            <a:endParaRPr lang="en-US" sz="1250" dirty="0"/>
          </a:p>
        </p:txBody>
      </p:sp>
      <p:sp>
        <p:nvSpPr>
          <p:cNvPr id="13" name="Shape 11"/>
          <p:cNvSpPr/>
          <p:nvPr/>
        </p:nvSpPr>
        <p:spPr>
          <a:xfrm>
            <a:off x="457200" y="3529584"/>
            <a:ext cx="164592" cy="164592"/>
          </a:xfrm>
          <a:prstGeom prst="ellipse">
            <a:avLst/>
          </a:prstGeom>
          <a:solidFill>
            <a:srgbClr val="0EA5E9"/>
          </a:solidFill>
          <a:ln w="12700">
            <a:solidFill>
              <a:srgbClr val="0EA5E9"/>
            </a:solidFill>
            <a:prstDash val="solid"/>
          </a:ln>
        </p:spPr>
      </p:sp>
      <p:sp>
        <p:nvSpPr>
          <p:cNvPr id="14" name="Text 12"/>
          <p:cNvSpPr/>
          <p:nvPr/>
        </p:nvSpPr>
        <p:spPr>
          <a:xfrm>
            <a:off x="713232" y="3502152"/>
            <a:ext cx="3200400" cy="27432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Runs HTML, CSS, JavaScript</a:t>
            </a:r>
            <a:endParaRPr lang="en-US" sz="1250" dirty="0"/>
          </a:p>
        </p:txBody>
      </p:sp>
      <p:sp>
        <p:nvSpPr>
          <p:cNvPr id="15" name="Shape 13"/>
          <p:cNvSpPr/>
          <p:nvPr/>
        </p:nvSpPr>
        <p:spPr>
          <a:xfrm>
            <a:off x="457200" y="3931920"/>
            <a:ext cx="164592" cy="164592"/>
          </a:xfrm>
          <a:prstGeom prst="ellipse">
            <a:avLst/>
          </a:prstGeom>
          <a:solidFill>
            <a:srgbClr val="0EA5E9"/>
          </a:solidFill>
          <a:ln w="12700">
            <a:solidFill>
              <a:srgbClr val="0EA5E9"/>
            </a:solidFill>
            <a:prstDash val="solid"/>
          </a:ln>
        </p:spPr>
      </p:sp>
      <p:sp>
        <p:nvSpPr>
          <p:cNvPr id="16" name="Text 14"/>
          <p:cNvSpPr/>
          <p:nvPr/>
        </p:nvSpPr>
        <p:spPr>
          <a:xfrm>
            <a:off x="713232" y="3904488"/>
            <a:ext cx="3200400" cy="27432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Never holds raw database</a:t>
            </a:r>
            <a:endParaRPr lang="en-US" sz="1250" dirty="0"/>
          </a:p>
        </p:txBody>
      </p:sp>
      <p:sp>
        <p:nvSpPr>
          <p:cNvPr id="17" name="Text 15"/>
          <p:cNvSpPr/>
          <p:nvPr/>
        </p:nvSpPr>
        <p:spPr>
          <a:xfrm>
            <a:off x="4160520" y="2331720"/>
            <a:ext cx="822960" cy="274320"/>
          </a:xfrm>
          <a:prstGeom prst="rect">
            <a:avLst/>
          </a:prstGeom>
          <a:noFill/>
          <a:ln/>
        </p:spPr>
        <p:txBody>
          <a:bodyPr wrap="square" lIns="0" tIns="0" rIns="0" bIns="0" rtlCol="0" anchor="ctr"/>
          <a:lstStyle/>
          <a:p>
            <a:pPr algn="ctr" indent="0" marL="0">
              <a:buNone/>
            </a:pPr>
            <a:r>
              <a:rPr lang="en-US" sz="1000" b="1" dirty="0">
                <a:solidFill>
                  <a:srgbClr val="00D4FF"/>
                </a:solidFill>
                <a:latin typeface="Calibri" pitchFamily="34" charset="0"/>
                <a:ea typeface="Calibri" pitchFamily="34" charset="-122"/>
                <a:cs typeface="Calibri" pitchFamily="34" charset="-120"/>
              </a:rPr>
              <a:t>REQ →</a:t>
            </a:r>
            <a:endParaRPr lang="en-US" sz="1000" dirty="0"/>
          </a:p>
        </p:txBody>
      </p:sp>
      <p:sp>
        <p:nvSpPr>
          <p:cNvPr id="18" name="Shape 16"/>
          <p:cNvSpPr/>
          <p:nvPr/>
        </p:nvSpPr>
        <p:spPr>
          <a:xfrm>
            <a:off x="4178808" y="2633472"/>
            <a:ext cx="749808" cy="0"/>
          </a:xfrm>
          <a:prstGeom prst="line">
            <a:avLst/>
          </a:prstGeom>
          <a:noFill/>
          <a:ln w="25400">
            <a:solidFill>
              <a:srgbClr val="00D4FF"/>
            </a:solidFill>
            <a:prstDash val="solid"/>
            <a:tailEnd type="open"/>
          </a:ln>
        </p:spPr>
      </p:sp>
      <p:sp>
        <p:nvSpPr>
          <p:cNvPr id="19" name="Text 17"/>
          <p:cNvSpPr/>
          <p:nvPr/>
        </p:nvSpPr>
        <p:spPr>
          <a:xfrm>
            <a:off x="4160520" y="2834640"/>
            <a:ext cx="822960" cy="274320"/>
          </a:xfrm>
          <a:prstGeom prst="rect">
            <a:avLst/>
          </a:prstGeom>
          <a:noFill/>
          <a:ln/>
        </p:spPr>
        <p:txBody>
          <a:bodyPr wrap="square" lIns="0" tIns="0" rIns="0" bIns="0" rtlCol="0" anchor="ctr"/>
          <a:lstStyle/>
          <a:p>
            <a:pPr algn="ctr" indent="0" marL="0">
              <a:buNone/>
            </a:pPr>
            <a:r>
              <a:rPr lang="en-US" sz="1000" b="1" dirty="0">
                <a:solidFill>
                  <a:srgbClr val="10B981"/>
                </a:solidFill>
                <a:latin typeface="Calibri" pitchFamily="34" charset="0"/>
                <a:ea typeface="Calibri" pitchFamily="34" charset="-122"/>
                <a:cs typeface="Calibri" pitchFamily="34" charset="-120"/>
              </a:rPr>
              <a:t>← RESP</a:t>
            </a:r>
            <a:endParaRPr lang="en-US" sz="1000" dirty="0"/>
          </a:p>
        </p:txBody>
      </p:sp>
      <p:sp>
        <p:nvSpPr>
          <p:cNvPr id="20" name="Shape 18"/>
          <p:cNvSpPr/>
          <p:nvPr/>
        </p:nvSpPr>
        <p:spPr>
          <a:xfrm>
            <a:off x="4937760" y="2944368"/>
            <a:ext cx="-749808" cy="0"/>
          </a:xfrm>
          <a:prstGeom prst="line">
            <a:avLst/>
          </a:prstGeom>
          <a:noFill/>
          <a:ln w="25400">
            <a:solidFill>
              <a:srgbClr val="10B981"/>
            </a:solidFill>
            <a:prstDash val="solid"/>
            <a:tailEnd type="open"/>
          </a:ln>
        </p:spPr>
      </p:sp>
      <p:sp>
        <p:nvSpPr>
          <p:cNvPr id="21" name="Shape 19"/>
          <p:cNvSpPr/>
          <p:nvPr/>
        </p:nvSpPr>
        <p:spPr>
          <a:xfrm>
            <a:off x="4983480" y="1234440"/>
            <a:ext cx="3840480" cy="3200400"/>
          </a:xfrm>
          <a:prstGeom prst="rect">
            <a:avLst/>
          </a:prstGeom>
          <a:solidFill>
            <a:srgbClr val="1E3A5F"/>
          </a:solidFill>
          <a:ln w="12700">
            <a:solidFill>
              <a:srgbClr val="1E3A5F"/>
            </a:solidFill>
            <a:prstDash val="solid"/>
          </a:ln>
          <a:effectLst>
            <a:outerShdw sx="100000" sy="100000" kx="0" ky="0" algn="bl" rotWithShape="0" blurRad="101600" dist="38100" dir="8100000">
              <a:srgbClr val="000000">
                <a:alpha val="25000"/>
              </a:srgbClr>
            </a:outerShdw>
          </a:effectLst>
        </p:spPr>
      </p:sp>
      <p:sp>
        <p:nvSpPr>
          <p:cNvPr id="22" name="Shape 20"/>
          <p:cNvSpPr/>
          <p:nvPr/>
        </p:nvSpPr>
        <p:spPr>
          <a:xfrm>
            <a:off x="4983480" y="1234440"/>
            <a:ext cx="3840480" cy="64008"/>
          </a:xfrm>
          <a:prstGeom prst="rect">
            <a:avLst/>
          </a:prstGeom>
          <a:solidFill>
            <a:srgbClr val="10B981"/>
          </a:solidFill>
          <a:ln w="12700">
            <a:solidFill>
              <a:srgbClr val="10B981"/>
            </a:solidFill>
            <a:prstDash val="solid"/>
          </a:ln>
        </p:spPr>
      </p:sp>
      <p:sp>
        <p:nvSpPr>
          <p:cNvPr id="23" name="Text 21"/>
          <p:cNvSpPr/>
          <p:nvPr/>
        </p:nvSpPr>
        <p:spPr>
          <a:xfrm>
            <a:off x="5074920" y="1298448"/>
            <a:ext cx="3657600" cy="457200"/>
          </a:xfrm>
          <a:prstGeom prst="rect">
            <a:avLst/>
          </a:prstGeom>
          <a:noFill/>
          <a:ln/>
        </p:spPr>
        <p:txBody>
          <a:bodyPr wrap="square" lIns="0" tIns="0" rIns="0" bIns="0" rtlCol="0" anchor="ctr"/>
          <a:lstStyle/>
          <a:p>
            <a:pPr indent="0" marL="0">
              <a:buNone/>
            </a:pPr>
            <a:r>
              <a:rPr lang="en-US" sz="2000" b="1" dirty="0">
                <a:solidFill>
                  <a:srgbClr val="10B981"/>
                </a:solidFill>
                <a:latin typeface="Calibri" pitchFamily="34" charset="0"/>
                <a:ea typeface="Calibri" pitchFamily="34" charset="-122"/>
                <a:cs typeface="Calibri" pitchFamily="34" charset="-120"/>
              </a:rPr>
              <a:t>SERVER (Remote)</a:t>
            </a:r>
            <a:endParaRPr lang="en-US" sz="2000" dirty="0"/>
          </a:p>
        </p:txBody>
      </p:sp>
      <p:sp>
        <p:nvSpPr>
          <p:cNvPr id="24" name="Text 22"/>
          <p:cNvSpPr/>
          <p:nvPr/>
        </p:nvSpPr>
        <p:spPr>
          <a:xfrm>
            <a:off x="5074920" y="1783080"/>
            <a:ext cx="3657600" cy="8229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  Web Server  (Apache, Nginx)</a:t>
            </a:r>
            <a:endParaRPr lang="en-US" sz="1300" dirty="0"/>
          </a:p>
          <a:p>
            <a:pPr indent="0" marL="0">
              <a:buNone/>
            </a:pPr>
            <a:r>
              <a:rPr lang="en-US" sz="1300" dirty="0">
                <a:solidFill>
                  <a:srgbClr val="FFFFFF"/>
                </a:solidFill>
                <a:latin typeface="Calibri" pitchFamily="34" charset="0"/>
                <a:ea typeface="Calibri" pitchFamily="34" charset="-122"/>
                <a:cs typeface="Calibri" pitchFamily="34" charset="-120"/>
              </a:rPr>
              <a:t>⚙️  App Server  (Java, Node.js)</a:t>
            </a:r>
            <a:endParaRPr lang="en-US" sz="1300" dirty="0"/>
          </a:p>
          <a:p>
            <a:pPr indent="0" marL="0">
              <a:buNone/>
            </a:pPr>
            <a:r>
              <a:rPr lang="en-US" sz="1300" dirty="0">
                <a:solidFill>
                  <a:srgbClr val="FFFFFF"/>
                </a:solidFill>
                <a:latin typeface="Calibri" pitchFamily="34" charset="0"/>
                <a:ea typeface="Calibri" pitchFamily="34" charset="-122"/>
                <a:cs typeface="Calibri" pitchFamily="34" charset="-120"/>
              </a:rPr>
              <a:t>🗄️  Database  (MySQL, MongoDB)</a:t>
            </a:r>
            <a:endParaRPr lang="en-US" sz="1300" dirty="0"/>
          </a:p>
        </p:txBody>
      </p:sp>
      <p:sp>
        <p:nvSpPr>
          <p:cNvPr id="25" name="Shape 23"/>
          <p:cNvSpPr/>
          <p:nvPr/>
        </p:nvSpPr>
        <p:spPr>
          <a:xfrm>
            <a:off x="5120640" y="2724912"/>
            <a:ext cx="164592" cy="164592"/>
          </a:xfrm>
          <a:prstGeom prst="ellipse">
            <a:avLst/>
          </a:prstGeom>
          <a:solidFill>
            <a:srgbClr val="10B981"/>
          </a:solidFill>
          <a:ln w="12700">
            <a:solidFill>
              <a:srgbClr val="10B981"/>
            </a:solidFill>
            <a:prstDash val="solid"/>
          </a:ln>
        </p:spPr>
      </p:sp>
      <p:sp>
        <p:nvSpPr>
          <p:cNvPr id="26" name="Text 24"/>
          <p:cNvSpPr/>
          <p:nvPr/>
        </p:nvSpPr>
        <p:spPr>
          <a:xfrm>
            <a:off x="5376672" y="2697480"/>
            <a:ext cx="3200400" cy="27432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Receives &amp; processes REQUESTS</a:t>
            </a:r>
            <a:endParaRPr lang="en-US" sz="1250" dirty="0"/>
          </a:p>
        </p:txBody>
      </p:sp>
      <p:sp>
        <p:nvSpPr>
          <p:cNvPr id="27" name="Shape 25"/>
          <p:cNvSpPr/>
          <p:nvPr/>
        </p:nvSpPr>
        <p:spPr>
          <a:xfrm>
            <a:off x="5120640" y="3127248"/>
            <a:ext cx="164592" cy="164592"/>
          </a:xfrm>
          <a:prstGeom prst="ellipse">
            <a:avLst/>
          </a:prstGeom>
          <a:solidFill>
            <a:srgbClr val="10B981"/>
          </a:solidFill>
          <a:ln w="12700">
            <a:solidFill>
              <a:srgbClr val="10B981"/>
            </a:solidFill>
            <a:prstDash val="solid"/>
          </a:ln>
        </p:spPr>
      </p:sp>
      <p:sp>
        <p:nvSpPr>
          <p:cNvPr id="28" name="Text 26"/>
          <p:cNvSpPr/>
          <p:nvPr/>
        </p:nvSpPr>
        <p:spPr>
          <a:xfrm>
            <a:off x="5376672" y="3099816"/>
            <a:ext cx="3200400" cy="27432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Runs business logic</a:t>
            </a:r>
            <a:endParaRPr lang="en-US" sz="1250" dirty="0"/>
          </a:p>
        </p:txBody>
      </p:sp>
      <p:sp>
        <p:nvSpPr>
          <p:cNvPr id="29" name="Shape 27"/>
          <p:cNvSpPr/>
          <p:nvPr/>
        </p:nvSpPr>
        <p:spPr>
          <a:xfrm>
            <a:off x="5120640" y="3529584"/>
            <a:ext cx="164592" cy="164592"/>
          </a:xfrm>
          <a:prstGeom prst="ellipse">
            <a:avLst/>
          </a:prstGeom>
          <a:solidFill>
            <a:srgbClr val="10B981"/>
          </a:solidFill>
          <a:ln w="12700">
            <a:solidFill>
              <a:srgbClr val="10B981"/>
            </a:solidFill>
            <a:prstDash val="solid"/>
          </a:ln>
        </p:spPr>
      </p:sp>
      <p:sp>
        <p:nvSpPr>
          <p:cNvPr id="30" name="Text 28"/>
          <p:cNvSpPr/>
          <p:nvPr/>
        </p:nvSpPr>
        <p:spPr>
          <a:xfrm>
            <a:off x="5376672" y="3502152"/>
            <a:ext cx="3200400" cy="27432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Reads/writes the database</a:t>
            </a:r>
            <a:endParaRPr lang="en-US" sz="1250" dirty="0"/>
          </a:p>
        </p:txBody>
      </p:sp>
      <p:sp>
        <p:nvSpPr>
          <p:cNvPr id="31" name="Shape 29"/>
          <p:cNvSpPr/>
          <p:nvPr/>
        </p:nvSpPr>
        <p:spPr>
          <a:xfrm>
            <a:off x="5120640" y="3931920"/>
            <a:ext cx="164592" cy="164592"/>
          </a:xfrm>
          <a:prstGeom prst="ellipse">
            <a:avLst/>
          </a:prstGeom>
          <a:solidFill>
            <a:srgbClr val="10B981"/>
          </a:solidFill>
          <a:ln w="12700">
            <a:solidFill>
              <a:srgbClr val="10B981"/>
            </a:solidFill>
            <a:prstDash val="solid"/>
          </a:ln>
        </p:spPr>
      </p:sp>
      <p:sp>
        <p:nvSpPr>
          <p:cNvPr id="32" name="Text 30"/>
          <p:cNvSpPr/>
          <p:nvPr/>
        </p:nvSpPr>
        <p:spPr>
          <a:xfrm>
            <a:off x="5376672" y="3904488"/>
            <a:ext cx="3200400" cy="27432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Sends back responses</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B2A"/>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D4FF"/>
          </a:solidFill>
          <a:ln w="12700">
            <a:solidFill>
              <a:srgbClr val="00D4FF"/>
            </a:solidFill>
            <a:prstDash val="solid"/>
          </a:ln>
        </p:spPr>
      </p:sp>
      <p:sp>
        <p:nvSpPr>
          <p:cNvPr id="3" name="Text 1"/>
          <p:cNvSpPr/>
          <p:nvPr/>
        </p:nvSpPr>
        <p:spPr>
          <a:xfrm>
            <a:off x="457200" y="137160"/>
            <a:ext cx="8229600" cy="640080"/>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The Request–Response Cycle</a:t>
            </a:r>
            <a:endParaRPr lang="en-US" sz="3200" dirty="0"/>
          </a:p>
        </p:txBody>
      </p:sp>
      <p:sp>
        <p:nvSpPr>
          <p:cNvPr id="4" name="Text 2"/>
          <p:cNvSpPr/>
          <p:nvPr/>
        </p:nvSpPr>
        <p:spPr>
          <a:xfrm>
            <a:off x="457200" y="749808"/>
            <a:ext cx="8229600" cy="320040"/>
          </a:xfrm>
          <a:prstGeom prst="rect">
            <a:avLst/>
          </a:prstGeom>
          <a:noFill/>
          <a:ln/>
        </p:spPr>
        <p:txBody>
          <a:bodyPr wrap="square" lIns="0" tIns="0" rIns="0" bIns="0" rtlCol="0" anchor="ctr"/>
          <a:lstStyle/>
          <a:p>
            <a:pPr indent="0" marL="0">
              <a:buNone/>
            </a:pPr>
            <a:r>
              <a:rPr lang="en-US" sz="1400" i="1" dirty="0">
                <a:solidFill>
                  <a:srgbClr val="00D4FF"/>
                </a:solidFill>
                <a:latin typeface="Calibri" pitchFamily="34" charset="0"/>
                <a:ea typeface="Calibri" pitchFamily="34" charset="-122"/>
                <a:cs typeface="Calibri" pitchFamily="34" charset="-120"/>
              </a:rPr>
              <a:t>Section 02 · How Every Web Interaction Works</a:t>
            </a:r>
            <a:endParaRPr lang="en-US" sz="1400" dirty="0"/>
          </a:p>
        </p:txBody>
      </p:sp>
      <p:sp>
        <p:nvSpPr>
          <p:cNvPr id="5" name="Shape 3"/>
          <p:cNvSpPr/>
          <p:nvPr/>
        </p:nvSpPr>
        <p:spPr>
          <a:xfrm>
            <a:off x="274320" y="1417320"/>
            <a:ext cx="1481328" cy="1325880"/>
          </a:xfrm>
          <a:prstGeom prst="rect">
            <a:avLst/>
          </a:prstGeom>
          <a:solidFill>
            <a:srgbClr val="1E3A5F"/>
          </a:solidFill>
          <a:ln w="12700">
            <a:solidFill>
              <a:srgbClr val="1E3A5F"/>
            </a:solidFill>
            <a:prstDash val="solid"/>
          </a:ln>
          <a:effectLst>
            <a:outerShdw sx="100000" sy="100000" kx="0" ky="0" algn="bl" rotWithShape="0" blurRad="101600" dist="38100" dir="8100000">
              <a:srgbClr val="000000">
                <a:alpha val="25000"/>
              </a:srgbClr>
            </a:outerShdw>
          </a:effectLst>
        </p:spPr>
      </p:sp>
      <p:sp>
        <p:nvSpPr>
          <p:cNvPr id="6" name="Shape 4"/>
          <p:cNvSpPr/>
          <p:nvPr/>
        </p:nvSpPr>
        <p:spPr>
          <a:xfrm>
            <a:off x="804672" y="1527048"/>
            <a:ext cx="420624" cy="420624"/>
          </a:xfrm>
          <a:prstGeom prst="ellipse">
            <a:avLst/>
          </a:prstGeom>
          <a:solidFill>
            <a:srgbClr val="0EA5E9"/>
          </a:solidFill>
          <a:ln w="12700">
            <a:solidFill>
              <a:srgbClr val="0EA5E9"/>
            </a:solidFill>
            <a:prstDash val="solid"/>
          </a:ln>
        </p:spPr>
      </p:sp>
      <p:sp>
        <p:nvSpPr>
          <p:cNvPr id="7" name="Text 5"/>
          <p:cNvSpPr/>
          <p:nvPr/>
        </p:nvSpPr>
        <p:spPr>
          <a:xfrm>
            <a:off x="804672" y="1527048"/>
            <a:ext cx="420624" cy="420624"/>
          </a:xfrm>
          <a:prstGeom prst="rect">
            <a:avLst/>
          </a:prstGeom>
          <a:noFill/>
          <a:ln/>
        </p:spPr>
        <p:txBody>
          <a:bodyPr wrap="square" lIns="0" tIns="0" rIns="0" bIns="0" rtlCol="0" anchor="ctr"/>
          <a:lstStyle/>
          <a:p>
            <a:pPr algn="ctr" indent="0" marL="0">
              <a:buNone/>
            </a:pPr>
            <a:r>
              <a:rPr lang="en-US" sz="1400" b="1" dirty="0">
                <a:solidFill>
                  <a:srgbClr val="0D1B2A"/>
                </a:solidFill>
                <a:latin typeface="Calibri" pitchFamily="34" charset="0"/>
                <a:ea typeface="Calibri" pitchFamily="34" charset="-122"/>
                <a:cs typeface="Calibri" pitchFamily="34" charset="-120"/>
              </a:rPr>
              <a:t>1</a:t>
            </a:r>
            <a:endParaRPr lang="en-US" sz="1400" dirty="0"/>
          </a:p>
        </p:txBody>
      </p:sp>
      <p:sp>
        <p:nvSpPr>
          <p:cNvPr id="8" name="Text 6"/>
          <p:cNvSpPr/>
          <p:nvPr/>
        </p:nvSpPr>
        <p:spPr>
          <a:xfrm>
            <a:off x="329184" y="2029968"/>
            <a:ext cx="1371600" cy="640080"/>
          </a:xfrm>
          <a:prstGeom prst="rect">
            <a:avLst/>
          </a:prstGeom>
          <a:noFill/>
          <a:ln/>
        </p:spPr>
        <p:txBody>
          <a:bodyPr wrap="square" lIns="0" tIns="0" rIns="0" bIns="0" rtlCol="0" anchor="ctr"/>
          <a:lstStyle/>
          <a:p>
            <a:pPr algn="ctr" indent="0" marL="0">
              <a:buNone/>
            </a:pPr>
            <a:r>
              <a:rPr lang="en-US" sz="1150" dirty="0">
                <a:solidFill>
                  <a:srgbClr val="FFFFFF"/>
                </a:solidFill>
                <a:latin typeface="Calibri" pitchFamily="34" charset="0"/>
                <a:ea typeface="Calibri" pitchFamily="34" charset="-122"/>
                <a:cs typeface="Calibri" pitchFamily="34" charset="-120"/>
              </a:rPr>
              <a:t>User types URL</a:t>
            </a:r>
            <a:endParaRPr lang="en-US" sz="1150" dirty="0"/>
          </a:p>
          <a:p>
            <a:pPr algn="ctr" indent="0" marL="0">
              <a:buNone/>
            </a:pPr>
            <a:r>
              <a:rPr lang="en-US" sz="1150" dirty="0">
                <a:solidFill>
                  <a:srgbClr val="FFFFFF"/>
                </a:solidFill>
                <a:latin typeface="Calibri" pitchFamily="34" charset="0"/>
                <a:ea typeface="Calibri" pitchFamily="34" charset="-122"/>
                <a:cs typeface="Calibri" pitchFamily="34" charset="-120"/>
              </a:rPr>
              <a:t>in browser</a:t>
            </a:r>
            <a:endParaRPr lang="en-US" sz="1150" dirty="0"/>
          </a:p>
        </p:txBody>
      </p:sp>
      <p:sp>
        <p:nvSpPr>
          <p:cNvPr id="9" name="Shape 7"/>
          <p:cNvSpPr/>
          <p:nvPr/>
        </p:nvSpPr>
        <p:spPr>
          <a:xfrm>
            <a:off x="1783080" y="2057400"/>
            <a:ext cx="338328" cy="0"/>
          </a:xfrm>
          <a:prstGeom prst="line">
            <a:avLst/>
          </a:prstGeom>
          <a:noFill/>
          <a:ln w="25400">
            <a:solidFill>
              <a:srgbClr val="00D4FF"/>
            </a:solidFill>
            <a:prstDash val="solid"/>
            <a:tailEnd type="open"/>
          </a:ln>
        </p:spPr>
      </p:sp>
      <p:sp>
        <p:nvSpPr>
          <p:cNvPr id="10" name="Shape 8"/>
          <p:cNvSpPr/>
          <p:nvPr/>
        </p:nvSpPr>
        <p:spPr>
          <a:xfrm>
            <a:off x="1874520" y="1417320"/>
            <a:ext cx="1481328" cy="1325880"/>
          </a:xfrm>
          <a:prstGeom prst="rect">
            <a:avLst/>
          </a:prstGeom>
          <a:solidFill>
            <a:srgbClr val="1E3A5F"/>
          </a:solidFill>
          <a:ln w="12700">
            <a:solidFill>
              <a:srgbClr val="1E3A5F"/>
            </a:solidFill>
            <a:prstDash val="solid"/>
          </a:ln>
          <a:effectLst>
            <a:outerShdw sx="100000" sy="100000" kx="0" ky="0" algn="bl" rotWithShape="0" blurRad="101600" dist="38100" dir="8100000">
              <a:srgbClr val="000000">
                <a:alpha val="25000"/>
              </a:srgbClr>
            </a:outerShdw>
          </a:effectLst>
        </p:spPr>
      </p:sp>
      <p:sp>
        <p:nvSpPr>
          <p:cNvPr id="11" name="Shape 9"/>
          <p:cNvSpPr/>
          <p:nvPr/>
        </p:nvSpPr>
        <p:spPr>
          <a:xfrm>
            <a:off x="2404872" y="1527048"/>
            <a:ext cx="420624" cy="420624"/>
          </a:xfrm>
          <a:prstGeom prst="ellipse">
            <a:avLst/>
          </a:prstGeom>
          <a:solidFill>
            <a:srgbClr val="00D4FF"/>
          </a:solidFill>
          <a:ln w="12700">
            <a:solidFill>
              <a:srgbClr val="00D4FF"/>
            </a:solidFill>
            <a:prstDash val="solid"/>
          </a:ln>
        </p:spPr>
      </p:sp>
      <p:sp>
        <p:nvSpPr>
          <p:cNvPr id="12" name="Text 10"/>
          <p:cNvSpPr/>
          <p:nvPr/>
        </p:nvSpPr>
        <p:spPr>
          <a:xfrm>
            <a:off x="2404872" y="1527048"/>
            <a:ext cx="420624" cy="420624"/>
          </a:xfrm>
          <a:prstGeom prst="rect">
            <a:avLst/>
          </a:prstGeom>
          <a:noFill/>
          <a:ln/>
        </p:spPr>
        <p:txBody>
          <a:bodyPr wrap="square" lIns="0" tIns="0" rIns="0" bIns="0" rtlCol="0" anchor="ctr"/>
          <a:lstStyle/>
          <a:p>
            <a:pPr algn="ctr" indent="0" marL="0">
              <a:buNone/>
            </a:pPr>
            <a:r>
              <a:rPr lang="en-US" sz="1400" b="1" dirty="0">
                <a:solidFill>
                  <a:srgbClr val="0D1B2A"/>
                </a:solidFill>
                <a:latin typeface="Calibri" pitchFamily="34" charset="0"/>
                <a:ea typeface="Calibri" pitchFamily="34" charset="-122"/>
                <a:cs typeface="Calibri" pitchFamily="34" charset="-120"/>
              </a:rPr>
              <a:t>2</a:t>
            </a:r>
            <a:endParaRPr lang="en-US" sz="1400" dirty="0"/>
          </a:p>
        </p:txBody>
      </p:sp>
      <p:sp>
        <p:nvSpPr>
          <p:cNvPr id="13" name="Text 11"/>
          <p:cNvSpPr/>
          <p:nvPr/>
        </p:nvSpPr>
        <p:spPr>
          <a:xfrm>
            <a:off x="1929384" y="2029968"/>
            <a:ext cx="1371600" cy="640080"/>
          </a:xfrm>
          <a:prstGeom prst="rect">
            <a:avLst/>
          </a:prstGeom>
          <a:noFill/>
          <a:ln/>
        </p:spPr>
        <p:txBody>
          <a:bodyPr wrap="square" lIns="0" tIns="0" rIns="0" bIns="0" rtlCol="0" anchor="ctr"/>
          <a:lstStyle/>
          <a:p>
            <a:pPr algn="ctr" indent="0" marL="0">
              <a:buNone/>
            </a:pPr>
            <a:r>
              <a:rPr lang="en-US" sz="1150" dirty="0">
                <a:solidFill>
                  <a:srgbClr val="FFFFFF"/>
                </a:solidFill>
                <a:latin typeface="Calibri" pitchFamily="34" charset="0"/>
                <a:ea typeface="Calibri" pitchFamily="34" charset="-122"/>
                <a:cs typeface="Calibri" pitchFamily="34" charset="-120"/>
              </a:rPr>
              <a:t>DNS resolves</a:t>
            </a:r>
            <a:endParaRPr lang="en-US" sz="1150" dirty="0"/>
          </a:p>
          <a:p>
            <a:pPr algn="ctr" indent="0" marL="0">
              <a:buNone/>
            </a:pPr>
            <a:r>
              <a:rPr lang="en-US" sz="1150" dirty="0">
                <a:solidFill>
                  <a:srgbClr val="FFFFFF"/>
                </a:solidFill>
                <a:latin typeface="Calibri" pitchFamily="34" charset="0"/>
                <a:ea typeface="Calibri" pitchFamily="34" charset="-122"/>
                <a:cs typeface="Calibri" pitchFamily="34" charset="-120"/>
              </a:rPr>
              <a:t>domain → IP</a:t>
            </a:r>
            <a:endParaRPr lang="en-US" sz="1150" dirty="0"/>
          </a:p>
        </p:txBody>
      </p:sp>
      <p:sp>
        <p:nvSpPr>
          <p:cNvPr id="14" name="Shape 12"/>
          <p:cNvSpPr/>
          <p:nvPr/>
        </p:nvSpPr>
        <p:spPr>
          <a:xfrm>
            <a:off x="3383280" y="2057400"/>
            <a:ext cx="338328" cy="0"/>
          </a:xfrm>
          <a:prstGeom prst="line">
            <a:avLst/>
          </a:prstGeom>
          <a:noFill/>
          <a:ln w="25400">
            <a:solidFill>
              <a:srgbClr val="00D4FF"/>
            </a:solidFill>
            <a:prstDash val="solid"/>
            <a:tailEnd type="open"/>
          </a:ln>
        </p:spPr>
      </p:sp>
      <p:sp>
        <p:nvSpPr>
          <p:cNvPr id="15" name="Shape 13"/>
          <p:cNvSpPr/>
          <p:nvPr/>
        </p:nvSpPr>
        <p:spPr>
          <a:xfrm>
            <a:off x="3474720" y="1417320"/>
            <a:ext cx="1481328" cy="1325880"/>
          </a:xfrm>
          <a:prstGeom prst="rect">
            <a:avLst/>
          </a:prstGeom>
          <a:solidFill>
            <a:srgbClr val="1E3A5F"/>
          </a:solidFill>
          <a:ln w="12700">
            <a:solidFill>
              <a:srgbClr val="1E3A5F"/>
            </a:solidFill>
            <a:prstDash val="solid"/>
          </a:ln>
          <a:effectLst>
            <a:outerShdw sx="100000" sy="100000" kx="0" ky="0" algn="bl" rotWithShape="0" blurRad="101600" dist="38100" dir="8100000">
              <a:srgbClr val="000000">
                <a:alpha val="25000"/>
              </a:srgbClr>
            </a:outerShdw>
          </a:effectLst>
        </p:spPr>
      </p:sp>
      <p:sp>
        <p:nvSpPr>
          <p:cNvPr id="16" name="Shape 14"/>
          <p:cNvSpPr/>
          <p:nvPr/>
        </p:nvSpPr>
        <p:spPr>
          <a:xfrm>
            <a:off x="4005072" y="1527048"/>
            <a:ext cx="420624" cy="420624"/>
          </a:xfrm>
          <a:prstGeom prst="ellipse">
            <a:avLst/>
          </a:prstGeom>
          <a:solidFill>
            <a:srgbClr val="7C3AED"/>
          </a:solidFill>
          <a:ln w="12700">
            <a:solidFill>
              <a:srgbClr val="7C3AED"/>
            </a:solidFill>
            <a:prstDash val="solid"/>
          </a:ln>
        </p:spPr>
      </p:sp>
      <p:sp>
        <p:nvSpPr>
          <p:cNvPr id="17" name="Text 15"/>
          <p:cNvSpPr/>
          <p:nvPr/>
        </p:nvSpPr>
        <p:spPr>
          <a:xfrm>
            <a:off x="4005072" y="1527048"/>
            <a:ext cx="420624" cy="420624"/>
          </a:xfrm>
          <a:prstGeom prst="rect">
            <a:avLst/>
          </a:prstGeom>
          <a:noFill/>
          <a:ln/>
        </p:spPr>
        <p:txBody>
          <a:bodyPr wrap="square" lIns="0" tIns="0" rIns="0" bIns="0" rtlCol="0" anchor="ctr"/>
          <a:lstStyle/>
          <a:p>
            <a:pPr algn="ctr" indent="0" marL="0">
              <a:buNone/>
            </a:pPr>
            <a:r>
              <a:rPr lang="en-US" sz="1400" b="1" dirty="0">
                <a:solidFill>
                  <a:srgbClr val="0D1B2A"/>
                </a:solidFill>
                <a:latin typeface="Calibri" pitchFamily="34" charset="0"/>
                <a:ea typeface="Calibri" pitchFamily="34" charset="-122"/>
                <a:cs typeface="Calibri" pitchFamily="34" charset="-120"/>
              </a:rPr>
              <a:t>3</a:t>
            </a:r>
            <a:endParaRPr lang="en-US" sz="1400" dirty="0"/>
          </a:p>
        </p:txBody>
      </p:sp>
      <p:sp>
        <p:nvSpPr>
          <p:cNvPr id="18" name="Text 16"/>
          <p:cNvSpPr/>
          <p:nvPr/>
        </p:nvSpPr>
        <p:spPr>
          <a:xfrm>
            <a:off x="3529584" y="2029968"/>
            <a:ext cx="1371600" cy="640080"/>
          </a:xfrm>
          <a:prstGeom prst="rect">
            <a:avLst/>
          </a:prstGeom>
          <a:noFill/>
          <a:ln/>
        </p:spPr>
        <p:txBody>
          <a:bodyPr wrap="square" lIns="0" tIns="0" rIns="0" bIns="0" rtlCol="0" anchor="ctr"/>
          <a:lstStyle/>
          <a:p>
            <a:pPr algn="ctr" indent="0" marL="0">
              <a:buNone/>
            </a:pPr>
            <a:r>
              <a:rPr lang="en-US" sz="1150" dirty="0">
                <a:solidFill>
                  <a:srgbClr val="FFFFFF"/>
                </a:solidFill>
                <a:latin typeface="Calibri" pitchFamily="34" charset="0"/>
                <a:ea typeface="Calibri" pitchFamily="34" charset="-122"/>
                <a:cs typeface="Calibri" pitchFamily="34" charset="-120"/>
              </a:rPr>
              <a:t>Browser sends</a:t>
            </a:r>
            <a:endParaRPr lang="en-US" sz="1150" dirty="0"/>
          </a:p>
          <a:p>
            <a:pPr algn="ctr" indent="0" marL="0">
              <a:buNone/>
            </a:pPr>
            <a:r>
              <a:rPr lang="en-US" sz="1150" dirty="0">
                <a:solidFill>
                  <a:srgbClr val="FFFFFF"/>
                </a:solidFill>
                <a:latin typeface="Calibri" pitchFamily="34" charset="0"/>
                <a:ea typeface="Calibri" pitchFamily="34" charset="-122"/>
                <a:cs typeface="Calibri" pitchFamily="34" charset="-120"/>
              </a:rPr>
              <a:t>HTTP Request</a:t>
            </a:r>
            <a:endParaRPr lang="en-US" sz="1150" dirty="0"/>
          </a:p>
        </p:txBody>
      </p:sp>
      <p:sp>
        <p:nvSpPr>
          <p:cNvPr id="19" name="Shape 17"/>
          <p:cNvSpPr/>
          <p:nvPr/>
        </p:nvSpPr>
        <p:spPr>
          <a:xfrm>
            <a:off x="4983480" y="2057400"/>
            <a:ext cx="338328" cy="0"/>
          </a:xfrm>
          <a:prstGeom prst="line">
            <a:avLst/>
          </a:prstGeom>
          <a:noFill/>
          <a:ln w="25400">
            <a:solidFill>
              <a:srgbClr val="00D4FF"/>
            </a:solidFill>
            <a:prstDash val="solid"/>
            <a:tailEnd type="open"/>
          </a:ln>
        </p:spPr>
      </p:sp>
      <p:sp>
        <p:nvSpPr>
          <p:cNvPr id="20" name="Shape 18"/>
          <p:cNvSpPr/>
          <p:nvPr/>
        </p:nvSpPr>
        <p:spPr>
          <a:xfrm>
            <a:off x="5074920" y="1417320"/>
            <a:ext cx="1481328" cy="1325880"/>
          </a:xfrm>
          <a:prstGeom prst="rect">
            <a:avLst/>
          </a:prstGeom>
          <a:solidFill>
            <a:srgbClr val="1E3A5F"/>
          </a:solidFill>
          <a:ln w="12700">
            <a:solidFill>
              <a:srgbClr val="1E3A5F"/>
            </a:solidFill>
            <a:prstDash val="solid"/>
          </a:ln>
          <a:effectLst>
            <a:outerShdw sx="100000" sy="100000" kx="0" ky="0" algn="bl" rotWithShape="0" blurRad="101600" dist="38100" dir="8100000">
              <a:srgbClr val="000000">
                <a:alpha val="25000"/>
              </a:srgbClr>
            </a:outerShdw>
          </a:effectLst>
        </p:spPr>
      </p:sp>
      <p:sp>
        <p:nvSpPr>
          <p:cNvPr id="21" name="Shape 19"/>
          <p:cNvSpPr/>
          <p:nvPr/>
        </p:nvSpPr>
        <p:spPr>
          <a:xfrm>
            <a:off x="5605272" y="1527048"/>
            <a:ext cx="420624" cy="420624"/>
          </a:xfrm>
          <a:prstGeom prst="ellipse">
            <a:avLst/>
          </a:prstGeom>
          <a:solidFill>
            <a:srgbClr val="F59E0B"/>
          </a:solidFill>
          <a:ln w="12700">
            <a:solidFill>
              <a:srgbClr val="F59E0B"/>
            </a:solidFill>
            <a:prstDash val="solid"/>
          </a:ln>
        </p:spPr>
      </p:sp>
      <p:sp>
        <p:nvSpPr>
          <p:cNvPr id="22" name="Text 20"/>
          <p:cNvSpPr/>
          <p:nvPr/>
        </p:nvSpPr>
        <p:spPr>
          <a:xfrm>
            <a:off x="5605272" y="1527048"/>
            <a:ext cx="420624" cy="420624"/>
          </a:xfrm>
          <a:prstGeom prst="rect">
            <a:avLst/>
          </a:prstGeom>
          <a:noFill/>
          <a:ln/>
        </p:spPr>
        <p:txBody>
          <a:bodyPr wrap="square" lIns="0" tIns="0" rIns="0" bIns="0" rtlCol="0" anchor="ctr"/>
          <a:lstStyle/>
          <a:p>
            <a:pPr algn="ctr" indent="0" marL="0">
              <a:buNone/>
            </a:pPr>
            <a:r>
              <a:rPr lang="en-US" sz="1400" b="1" dirty="0">
                <a:solidFill>
                  <a:srgbClr val="0D1B2A"/>
                </a:solidFill>
                <a:latin typeface="Calibri" pitchFamily="34" charset="0"/>
                <a:ea typeface="Calibri" pitchFamily="34" charset="-122"/>
                <a:cs typeface="Calibri" pitchFamily="34" charset="-120"/>
              </a:rPr>
              <a:t>4</a:t>
            </a:r>
            <a:endParaRPr lang="en-US" sz="1400" dirty="0"/>
          </a:p>
        </p:txBody>
      </p:sp>
      <p:sp>
        <p:nvSpPr>
          <p:cNvPr id="23" name="Text 21"/>
          <p:cNvSpPr/>
          <p:nvPr/>
        </p:nvSpPr>
        <p:spPr>
          <a:xfrm>
            <a:off x="5129784" y="2029968"/>
            <a:ext cx="1371600" cy="640080"/>
          </a:xfrm>
          <a:prstGeom prst="rect">
            <a:avLst/>
          </a:prstGeom>
          <a:noFill/>
          <a:ln/>
        </p:spPr>
        <p:txBody>
          <a:bodyPr wrap="square" lIns="0" tIns="0" rIns="0" bIns="0" rtlCol="0" anchor="ctr"/>
          <a:lstStyle/>
          <a:p>
            <a:pPr algn="ctr" indent="0" marL="0">
              <a:buNone/>
            </a:pPr>
            <a:r>
              <a:rPr lang="en-US" sz="1150" dirty="0">
                <a:solidFill>
                  <a:srgbClr val="FFFFFF"/>
                </a:solidFill>
                <a:latin typeface="Calibri" pitchFamily="34" charset="0"/>
                <a:ea typeface="Calibri" pitchFamily="34" charset="-122"/>
                <a:cs typeface="Calibri" pitchFamily="34" charset="-120"/>
              </a:rPr>
              <a:t>Server processes</a:t>
            </a:r>
            <a:endParaRPr lang="en-US" sz="1150" dirty="0"/>
          </a:p>
          <a:p>
            <a:pPr algn="ctr" indent="0" marL="0">
              <a:buNone/>
            </a:pPr>
            <a:r>
              <a:rPr lang="en-US" sz="1150" dirty="0">
                <a:solidFill>
                  <a:srgbClr val="FFFFFF"/>
                </a:solidFill>
                <a:latin typeface="Calibri" pitchFamily="34" charset="0"/>
                <a:ea typeface="Calibri" pitchFamily="34" charset="-122"/>
                <a:cs typeface="Calibri" pitchFamily="34" charset="-120"/>
              </a:rPr>
              <a:t>the request</a:t>
            </a:r>
            <a:endParaRPr lang="en-US" sz="1150" dirty="0"/>
          </a:p>
        </p:txBody>
      </p:sp>
      <p:sp>
        <p:nvSpPr>
          <p:cNvPr id="24" name="Shape 22"/>
          <p:cNvSpPr/>
          <p:nvPr/>
        </p:nvSpPr>
        <p:spPr>
          <a:xfrm>
            <a:off x="6583680" y="2057400"/>
            <a:ext cx="338328" cy="0"/>
          </a:xfrm>
          <a:prstGeom prst="line">
            <a:avLst/>
          </a:prstGeom>
          <a:noFill/>
          <a:ln w="25400">
            <a:solidFill>
              <a:srgbClr val="00D4FF"/>
            </a:solidFill>
            <a:prstDash val="solid"/>
            <a:tailEnd type="open"/>
          </a:ln>
        </p:spPr>
      </p:sp>
      <p:sp>
        <p:nvSpPr>
          <p:cNvPr id="25" name="Shape 23"/>
          <p:cNvSpPr/>
          <p:nvPr/>
        </p:nvSpPr>
        <p:spPr>
          <a:xfrm>
            <a:off x="6675120" y="1417320"/>
            <a:ext cx="1481328" cy="1325880"/>
          </a:xfrm>
          <a:prstGeom prst="rect">
            <a:avLst/>
          </a:prstGeom>
          <a:solidFill>
            <a:srgbClr val="1E3A5F"/>
          </a:solidFill>
          <a:ln w="12700">
            <a:solidFill>
              <a:srgbClr val="1E3A5F"/>
            </a:solidFill>
            <a:prstDash val="solid"/>
          </a:ln>
          <a:effectLst>
            <a:outerShdw sx="100000" sy="100000" kx="0" ky="0" algn="bl" rotWithShape="0" blurRad="101600" dist="38100" dir="8100000">
              <a:srgbClr val="000000">
                <a:alpha val="25000"/>
              </a:srgbClr>
            </a:outerShdw>
          </a:effectLst>
        </p:spPr>
      </p:sp>
      <p:sp>
        <p:nvSpPr>
          <p:cNvPr id="26" name="Shape 24"/>
          <p:cNvSpPr/>
          <p:nvPr/>
        </p:nvSpPr>
        <p:spPr>
          <a:xfrm>
            <a:off x="7205472" y="1527048"/>
            <a:ext cx="420624" cy="420624"/>
          </a:xfrm>
          <a:prstGeom prst="ellipse">
            <a:avLst/>
          </a:prstGeom>
          <a:solidFill>
            <a:srgbClr val="10B981"/>
          </a:solidFill>
          <a:ln w="12700">
            <a:solidFill>
              <a:srgbClr val="10B981"/>
            </a:solidFill>
            <a:prstDash val="solid"/>
          </a:ln>
        </p:spPr>
      </p:sp>
      <p:sp>
        <p:nvSpPr>
          <p:cNvPr id="27" name="Text 25"/>
          <p:cNvSpPr/>
          <p:nvPr/>
        </p:nvSpPr>
        <p:spPr>
          <a:xfrm>
            <a:off x="7205472" y="1527048"/>
            <a:ext cx="420624" cy="420624"/>
          </a:xfrm>
          <a:prstGeom prst="rect">
            <a:avLst/>
          </a:prstGeom>
          <a:noFill/>
          <a:ln/>
        </p:spPr>
        <p:txBody>
          <a:bodyPr wrap="square" lIns="0" tIns="0" rIns="0" bIns="0" rtlCol="0" anchor="ctr"/>
          <a:lstStyle/>
          <a:p>
            <a:pPr algn="ctr" indent="0" marL="0">
              <a:buNone/>
            </a:pPr>
            <a:r>
              <a:rPr lang="en-US" sz="1400" b="1" dirty="0">
                <a:solidFill>
                  <a:srgbClr val="0D1B2A"/>
                </a:solidFill>
                <a:latin typeface="Calibri" pitchFamily="34" charset="0"/>
                <a:ea typeface="Calibri" pitchFamily="34" charset="-122"/>
                <a:cs typeface="Calibri" pitchFamily="34" charset="-120"/>
              </a:rPr>
              <a:t>5</a:t>
            </a:r>
            <a:endParaRPr lang="en-US" sz="1400" dirty="0"/>
          </a:p>
        </p:txBody>
      </p:sp>
      <p:sp>
        <p:nvSpPr>
          <p:cNvPr id="28" name="Text 26"/>
          <p:cNvSpPr/>
          <p:nvPr/>
        </p:nvSpPr>
        <p:spPr>
          <a:xfrm>
            <a:off x="6729984" y="2029968"/>
            <a:ext cx="1371600" cy="640080"/>
          </a:xfrm>
          <a:prstGeom prst="rect">
            <a:avLst/>
          </a:prstGeom>
          <a:noFill/>
          <a:ln/>
        </p:spPr>
        <p:txBody>
          <a:bodyPr wrap="square" lIns="0" tIns="0" rIns="0" bIns="0" rtlCol="0" anchor="ctr"/>
          <a:lstStyle/>
          <a:p>
            <a:pPr algn="ctr" indent="0" marL="0">
              <a:buNone/>
            </a:pPr>
            <a:r>
              <a:rPr lang="en-US" sz="1150" dirty="0">
                <a:solidFill>
                  <a:srgbClr val="FFFFFF"/>
                </a:solidFill>
                <a:latin typeface="Calibri" pitchFamily="34" charset="0"/>
                <a:ea typeface="Calibri" pitchFamily="34" charset="-122"/>
                <a:cs typeface="Calibri" pitchFamily="34" charset="-120"/>
              </a:rPr>
              <a:t>Server queries</a:t>
            </a:r>
            <a:endParaRPr lang="en-US" sz="1150" dirty="0"/>
          </a:p>
          <a:p>
            <a:pPr algn="ctr" indent="0" marL="0">
              <a:buNone/>
            </a:pPr>
            <a:r>
              <a:rPr lang="en-US" sz="1150" dirty="0">
                <a:solidFill>
                  <a:srgbClr val="FFFFFF"/>
                </a:solidFill>
                <a:latin typeface="Calibri" pitchFamily="34" charset="0"/>
                <a:ea typeface="Calibri" pitchFamily="34" charset="-122"/>
                <a:cs typeface="Calibri" pitchFamily="34" charset="-120"/>
              </a:rPr>
              <a:t>Database</a:t>
            </a:r>
            <a:endParaRPr lang="en-US" sz="1150" dirty="0"/>
          </a:p>
        </p:txBody>
      </p:sp>
      <p:sp>
        <p:nvSpPr>
          <p:cNvPr id="29" name="Shape 27"/>
          <p:cNvSpPr/>
          <p:nvPr/>
        </p:nvSpPr>
        <p:spPr>
          <a:xfrm>
            <a:off x="274320" y="3017520"/>
            <a:ext cx="8595360" cy="1234440"/>
          </a:xfrm>
          <a:prstGeom prst="rect">
            <a:avLst/>
          </a:prstGeom>
          <a:solidFill>
            <a:srgbClr val="172554"/>
          </a:solidFill>
          <a:ln w="12700">
            <a:solidFill>
              <a:srgbClr val="1E3A5F"/>
            </a:solidFill>
            <a:prstDash val="solid"/>
          </a:ln>
          <a:effectLst>
            <a:outerShdw sx="100000" sy="100000" kx="0" ky="0" algn="bl" rotWithShape="0" blurRad="101600" dist="38100" dir="8100000">
              <a:srgbClr val="000000">
                <a:alpha val="25000"/>
              </a:srgbClr>
            </a:outerShdw>
          </a:effectLst>
        </p:spPr>
      </p:sp>
      <p:sp>
        <p:nvSpPr>
          <p:cNvPr id="30" name="Shape 28"/>
          <p:cNvSpPr/>
          <p:nvPr/>
        </p:nvSpPr>
        <p:spPr>
          <a:xfrm>
            <a:off x="274320" y="3017520"/>
            <a:ext cx="8595360" cy="54864"/>
          </a:xfrm>
          <a:prstGeom prst="rect">
            <a:avLst/>
          </a:prstGeom>
          <a:solidFill>
            <a:srgbClr val="10B981"/>
          </a:solidFill>
          <a:ln w="12700">
            <a:solidFill>
              <a:srgbClr val="10B981"/>
            </a:solidFill>
            <a:prstDash val="solid"/>
          </a:ln>
        </p:spPr>
      </p:sp>
      <p:sp>
        <p:nvSpPr>
          <p:cNvPr id="31" name="Text 29"/>
          <p:cNvSpPr/>
          <p:nvPr/>
        </p:nvSpPr>
        <p:spPr>
          <a:xfrm>
            <a:off x="365760" y="3072384"/>
            <a:ext cx="8412480" cy="347472"/>
          </a:xfrm>
          <a:prstGeom prst="rect">
            <a:avLst/>
          </a:prstGeom>
          <a:noFill/>
          <a:ln/>
        </p:spPr>
        <p:txBody>
          <a:bodyPr wrap="square" lIns="0" tIns="0" rIns="0" bIns="0" rtlCol="0" anchor="ctr"/>
          <a:lstStyle/>
          <a:p>
            <a:pPr indent="0" marL="0">
              <a:buNone/>
            </a:pPr>
            <a:r>
              <a:rPr lang="en-US" sz="1400" b="1" dirty="0">
                <a:solidFill>
                  <a:srgbClr val="10B981"/>
                </a:solidFill>
                <a:latin typeface="Calibri" pitchFamily="34" charset="0"/>
                <a:ea typeface="Calibri" pitchFamily="34" charset="-122"/>
                <a:cs typeface="Calibri" pitchFamily="34" charset="-120"/>
              </a:rPr>
              <a:t>↩  RESPONSE PATH  (Server → Browser)</a:t>
            </a:r>
            <a:endParaRPr lang="en-US" sz="1400" dirty="0"/>
          </a:p>
        </p:txBody>
      </p:sp>
      <p:sp>
        <p:nvSpPr>
          <p:cNvPr id="32" name="Shape 30"/>
          <p:cNvSpPr/>
          <p:nvPr/>
        </p:nvSpPr>
        <p:spPr>
          <a:xfrm>
            <a:off x="457200" y="3493008"/>
            <a:ext cx="1965960" cy="621792"/>
          </a:xfrm>
          <a:prstGeom prst="roundRect">
            <a:avLst>
              <a:gd name="adj" fmla="val 8824"/>
            </a:avLst>
          </a:prstGeom>
          <a:solidFill>
            <a:srgbClr val="10B981"/>
          </a:solidFill>
          <a:ln w="12700">
            <a:solidFill>
              <a:srgbClr val="10B981"/>
            </a:solidFill>
            <a:prstDash val="solid"/>
          </a:ln>
        </p:spPr>
      </p:sp>
      <p:sp>
        <p:nvSpPr>
          <p:cNvPr id="33" name="Text 31"/>
          <p:cNvSpPr/>
          <p:nvPr/>
        </p:nvSpPr>
        <p:spPr>
          <a:xfrm>
            <a:off x="457200" y="3493008"/>
            <a:ext cx="1965960" cy="621792"/>
          </a:xfrm>
          <a:prstGeom prst="rect">
            <a:avLst/>
          </a:prstGeom>
          <a:noFill/>
          <a:ln/>
        </p:spPr>
        <p:txBody>
          <a:bodyPr wrap="square" lIns="0" tIns="0" rIns="0" bIns="0" rtlCol="0" anchor="ctr"/>
          <a:lstStyle/>
          <a:p>
            <a:pPr algn="ctr" indent="0" marL="0">
              <a:buNone/>
            </a:pPr>
            <a:r>
              <a:rPr lang="en-US" sz="1200" b="1" dirty="0">
                <a:solidFill>
                  <a:srgbClr val="0D1B2A"/>
                </a:solidFill>
                <a:latin typeface="Calibri" pitchFamily="34" charset="0"/>
                <a:ea typeface="Calibri" pitchFamily="34" charset="-122"/>
                <a:cs typeface="Calibri" pitchFamily="34" charset="-120"/>
              </a:rPr>
              <a:t>6. DB returns data</a:t>
            </a:r>
            <a:endParaRPr lang="en-US" sz="1200" dirty="0"/>
          </a:p>
        </p:txBody>
      </p:sp>
      <p:sp>
        <p:nvSpPr>
          <p:cNvPr id="34" name="Shape 32"/>
          <p:cNvSpPr/>
          <p:nvPr/>
        </p:nvSpPr>
        <p:spPr>
          <a:xfrm>
            <a:off x="2560320" y="3493008"/>
            <a:ext cx="1965960" cy="621792"/>
          </a:xfrm>
          <a:prstGeom prst="roundRect">
            <a:avLst>
              <a:gd name="adj" fmla="val 8824"/>
            </a:avLst>
          </a:prstGeom>
          <a:solidFill>
            <a:srgbClr val="F59E0B"/>
          </a:solidFill>
          <a:ln w="12700">
            <a:solidFill>
              <a:srgbClr val="F59E0B"/>
            </a:solidFill>
            <a:prstDash val="solid"/>
          </a:ln>
        </p:spPr>
      </p:sp>
      <p:sp>
        <p:nvSpPr>
          <p:cNvPr id="35" name="Text 33"/>
          <p:cNvSpPr/>
          <p:nvPr/>
        </p:nvSpPr>
        <p:spPr>
          <a:xfrm>
            <a:off x="2560320" y="3493008"/>
            <a:ext cx="1965960" cy="621792"/>
          </a:xfrm>
          <a:prstGeom prst="rect">
            <a:avLst/>
          </a:prstGeom>
          <a:noFill/>
          <a:ln/>
        </p:spPr>
        <p:txBody>
          <a:bodyPr wrap="square" lIns="0" tIns="0" rIns="0" bIns="0" rtlCol="0" anchor="ctr"/>
          <a:lstStyle/>
          <a:p>
            <a:pPr algn="ctr" indent="0" marL="0">
              <a:buNone/>
            </a:pPr>
            <a:r>
              <a:rPr lang="en-US" sz="1200" b="1" dirty="0">
                <a:solidFill>
                  <a:srgbClr val="0D1B2A"/>
                </a:solidFill>
                <a:latin typeface="Calibri" pitchFamily="34" charset="0"/>
                <a:ea typeface="Calibri" pitchFamily="34" charset="-122"/>
                <a:cs typeface="Calibri" pitchFamily="34" charset="-120"/>
              </a:rPr>
              <a:t>7. Server builds HTML/JSON</a:t>
            </a:r>
            <a:endParaRPr lang="en-US" sz="1200" dirty="0"/>
          </a:p>
        </p:txBody>
      </p:sp>
      <p:sp>
        <p:nvSpPr>
          <p:cNvPr id="36" name="Shape 34"/>
          <p:cNvSpPr/>
          <p:nvPr/>
        </p:nvSpPr>
        <p:spPr>
          <a:xfrm>
            <a:off x="2450592" y="3803904"/>
            <a:ext cx="-137160" cy="0"/>
          </a:xfrm>
          <a:prstGeom prst="line">
            <a:avLst/>
          </a:prstGeom>
          <a:noFill/>
          <a:ln w="19050">
            <a:solidFill>
              <a:srgbClr val="FFFFFF"/>
            </a:solidFill>
            <a:prstDash val="solid"/>
            <a:tailEnd type="open"/>
          </a:ln>
        </p:spPr>
      </p:sp>
      <p:sp>
        <p:nvSpPr>
          <p:cNvPr id="37" name="Shape 35"/>
          <p:cNvSpPr/>
          <p:nvPr/>
        </p:nvSpPr>
        <p:spPr>
          <a:xfrm>
            <a:off x="4663440" y="3493008"/>
            <a:ext cx="1965960" cy="621792"/>
          </a:xfrm>
          <a:prstGeom prst="roundRect">
            <a:avLst>
              <a:gd name="adj" fmla="val 8824"/>
            </a:avLst>
          </a:prstGeom>
          <a:solidFill>
            <a:srgbClr val="7C3AED"/>
          </a:solidFill>
          <a:ln w="12700">
            <a:solidFill>
              <a:srgbClr val="7C3AED"/>
            </a:solidFill>
            <a:prstDash val="solid"/>
          </a:ln>
        </p:spPr>
      </p:sp>
      <p:sp>
        <p:nvSpPr>
          <p:cNvPr id="38" name="Text 36"/>
          <p:cNvSpPr/>
          <p:nvPr/>
        </p:nvSpPr>
        <p:spPr>
          <a:xfrm>
            <a:off x="4663440" y="3493008"/>
            <a:ext cx="1965960" cy="621792"/>
          </a:xfrm>
          <a:prstGeom prst="rect">
            <a:avLst/>
          </a:prstGeom>
          <a:noFill/>
          <a:ln/>
        </p:spPr>
        <p:txBody>
          <a:bodyPr wrap="square" lIns="0" tIns="0" rIns="0" bIns="0" rtlCol="0" anchor="ctr"/>
          <a:lstStyle/>
          <a:p>
            <a:pPr algn="ctr" indent="0" marL="0">
              <a:buNone/>
            </a:pPr>
            <a:r>
              <a:rPr lang="en-US" sz="1200" b="1" dirty="0">
                <a:solidFill>
                  <a:srgbClr val="0D1B2A"/>
                </a:solidFill>
                <a:latin typeface="Calibri" pitchFamily="34" charset="0"/>
                <a:ea typeface="Calibri" pitchFamily="34" charset="-122"/>
                <a:cs typeface="Calibri" pitchFamily="34" charset="-120"/>
              </a:rPr>
              <a:t>8. HTTP Response sent</a:t>
            </a:r>
            <a:endParaRPr lang="en-US" sz="1200" dirty="0"/>
          </a:p>
        </p:txBody>
      </p:sp>
      <p:sp>
        <p:nvSpPr>
          <p:cNvPr id="39" name="Shape 37"/>
          <p:cNvSpPr/>
          <p:nvPr/>
        </p:nvSpPr>
        <p:spPr>
          <a:xfrm>
            <a:off x="4553712" y="3803904"/>
            <a:ext cx="-137160" cy="0"/>
          </a:xfrm>
          <a:prstGeom prst="line">
            <a:avLst/>
          </a:prstGeom>
          <a:noFill/>
          <a:ln w="19050">
            <a:solidFill>
              <a:srgbClr val="FFFFFF"/>
            </a:solidFill>
            <a:prstDash val="solid"/>
            <a:tailEnd type="open"/>
          </a:ln>
        </p:spPr>
      </p:sp>
      <p:sp>
        <p:nvSpPr>
          <p:cNvPr id="40" name="Shape 38"/>
          <p:cNvSpPr/>
          <p:nvPr/>
        </p:nvSpPr>
        <p:spPr>
          <a:xfrm>
            <a:off x="6766560" y="3493008"/>
            <a:ext cx="1965960" cy="621792"/>
          </a:xfrm>
          <a:prstGeom prst="roundRect">
            <a:avLst>
              <a:gd name="adj" fmla="val 8824"/>
            </a:avLst>
          </a:prstGeom>
          <a:solidFill>
            <a:srgbClr val="0EA5E9"/>
          </a:solidFill>
          <a:ln w="12700">
            <a:solidFill>
              <a:srgbClr val="0EA5E9"/>
            </a:solidFill>
            <a:prstDash val="solid"/>
          </a:ln>
        </p:spPr>
      </p:sp>
      <p:sp>
        <p:nvSpPr>
          <p:cNvPr id="41" name="Text 39"/>
          <p:cNvSpPr/>
          <p:nvPr/>
        </p:nvSpPr>
        <p:spPr>
          <a:xfrm>
            <a:off x="6766560" y="3493008"/>
            <a:ext cx="1965960" cy="621792"/>
          </a:xfrm>
          <a:prstGeom prst="rect">
            <a:avLst/>
          </a:prstGeom>
          <a:noFill/>
          <a:ln/>
        </p:spPr>
        <p:txBody>
          <a:bodyPr wrap="square" lIns="0" tIns="0" rIns="0" bIns="0" rtlCol="0" anchor="ctr"/>
          <a:lstStyle/>
          <a:p>
            <a:pPr algn="ctr" indent="0" marL="0">
              <a:buNone/>
            </a:pPr>
            <a:r>
              <a:rPr lang="en-US" sz="1200" b="1" dirty="0">
                <a:solidFill>
                  <a:srgbClr val="0D1B2A"/>
                </a:solidFill>
                <a:latin typeface="Calibri" pitchFamily="34" charset="0"/>
                <a:ea typeface="Calibri" pitchFamily="34" charset="-122"/>
                <a:cs typeface="Calibri" pitchFamily="34" charset="-120"/>
              </a:rPr>
              <a:t>9. Browser renders page</a:t>
            </a:r>
            <a:endParaRPr lang="en-US" sz="1200" dirty="0"/>
          </a:p>
        </p:txBody>
      </p:sp>
      <p:sp>
        <p:nvSpPr>
          <p:cNvPr id="42" name="Shape 40"/>
          <p:cNvSpPr/>
          <p:nvPr/>
        </p:nvSpPr>
        <p:spPr>
          <a:xfrm>
            <a:off x="6656832" y="3803904"/>
            <a:ext cx="-137160" cy="0"/>
          </a:xfrm>
          <a:prstGeom prst="line">
            <a:avLst/>
          </a:prstGeom>
          <a:noFill/>
          <a:ln w="19050">
            <a:solidFill>
              <a:srgbClr val="FFFFFF"/>
            </a:solidFill>
            <a:prstDash val="solid"/>
            <a:tailEnd type="open"/>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D1B2A"/>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D4FF"/>
          </a:solidFill>
          <a:ln w="12700">
            <a:solidFill>
              <a:srgbClr val="00D4FF"/>
            </a:solidFill>
            <a:prstDash val="solid"/>
          </a:ln>
        </p:spPr>
      </p:sp>
      <p:sp>
        <p:nvSpPr>
          <p:cNvPr id="3" name="Text 1"/>
          <p:cNvSpPr/>
          <p:nvPr/>
        </p:nvSpPr>
        <p:spPr>
          <a:xfrm>
            <a:off x="457200" y="137160"/>
            <a:ext cx="8229600" cy="640080"/>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What is a Server?</a:t>
            </a:r>
            <a:endParaRPr lang="en-US" sz="3200" dirty="0"/>
          </a:p>
        </p:txBody>
      </p:sp>
      <p:sp>
        <p:nvSpPr>
          <p:cNvPr id="4" name="Text 2"/>
          <p:cNvSpPr/>
          <p:nvPr/>
        </p:nvSpPr>
        <p:spPr>
          <a:xfrm>
            <a:off x="457200" y="749808"/>
            <a:ext cx="8229600" cy="320040"/>
          </a:xfrm>
          <a:prstGeom prst="rect">
            <a:avLst/>
          </a:prstGeom>
          <a:noFill/>
          <a:ln/>
        </p:spPr>
        <p:txBody>
          <a:bodyPr wrap="square" lIns="0" tIns="0" rIns="0" bIns="0" rtlCol="0" anchor="ctr"/>
          <a:lstStyle/>
          <a:p>
            <a:pPr indent="0" marL="0">
              <a:buNone/>
            </a:pPr>
            <a:r>
              <a:rPr lang="en-US" sz="1400" i="1" dirty="0">
                <a:solidFill>
                  <a:srgbClr val="00D4FF"/>
                </a:solidFill>
                <a:latin typeface="Calibri" pitchFamily="34" charset="0"/>
                <a:ea typeface="Calibri" pitchFamily="34" charset="-122"/>
                <a:cs typeface="Calibri" pitchFamily="34" charset="-120"/>
              </a:rPr>
              <a:t>Section 03 · Server Architecture Basics</a:t>
            </a:r>
            <a:endParaRPr lang="en-US" sz="1400" dirty="0"/>
          </a:p>
        </p:txBody>
      </p:sp>
      <p:sp>
        <p:nvSpPr>
          <p:cNvPr id="5" name="Shape 3"/>
          <p:cNvSpPr/>
          <p:nvPr/>
        </p:nvSpPr>
        <p:spPr>
          <a:xfrm>
            <a:off x="320040" y="1234440"/>
            <a:ext cx="2011680" cy="3108960"/>
          </a:xfrm>
          <a:prstGeom prst="rect">
            <a:avLst/>
          </a:prstGeom>
          <a:solidFill>
            <a:srgbClr val="0A1628"/>
          </a:solidFill>
          <a:ln w="12700">
            <a:solidFill>
              <a:srgbClr val="1E3A5F"/>
            </a:solidFill>
            <a:prstDash val="solid"/>
          </a:ln>
          <a:effectLst>
            <a:outerShdw sx="100000" sy="100000" kx="0" ky="0" algn="bl" rotWithShape="0" blurRad="101600" dist="38100" dir="8100000">
              <a:srgbClr val="000000">
                <a:alpha val="25000"/>
              </a:srgbClr>
            </a:outerShdw>
          </a:effectLst>
        </p:spPr>
      </p:sp>
      <p:sp>
        <p:nvSpPr>
          <p:cNvPr id="6" name="Shape 4"/>
          <p:cNvSpPr/>
          <p:nvPr/>
        </p:nvSpPr>
        <p:spPr>
          <a:xfrm>
            <a:off x="411480" y="1417320"/>
            <a:ext cx="1828800" cy="365760"/>
          </a:xfrm>
          <a:prstGeom prst="rect">
            <a:avLst/>
          </a:prstGeom>
          <a:solidFill>
            <a:srgbClr val="1E3A5F"/>
          </a:solidFill>
          <a:ln w="12700">
            <a:solidFill>
              <a:srgbClr val="2D4A6E"/>
            </a:solidFill>
            <a:prstDash val="solid"/>
          </a:ln>
        </p:spPr>
      </p:sp>
      <p:sp>
        <p:nvSpPr>
          <p:cNvPr id="7" name="Shape 5"/>
          <p:cNvSpPr/>
          <p:nvPr/>
        </p:nvSpPr>
        <p:spPr>
          <a:xfrm>
            <a:off x="1783080" y="1508760"/>
            <a:ext cx="182880" cy="182880"/>
          </a:xfrm>
          <a:prstGeom prst="ellipse">
            <a:avLst/>
          </a:prstGeom>
          <a:solidFill>
            <a:srgbClr val="10B981"/>
          </a:solidFill>
          <a:ln w="12700">
            <a:solidFill>
              <a:srgbClr val="10B981"/>
            </a:solidFill>
            <a:prstDash val="solid"/>
          </a:ln>
        </p:spPr>
      </p:sp>
      <p:sp>
        <p:nvSpPr>
          <p:cNvPr id="8" name="Shape 6"/>
          <p:cNvSpPr/>
          <p:nvPr/>
        </p:nvSpPr>
        <p:spPr>
          <a:xfrm>
            <a:off x="411480" y="1920240"/>
            <a:ext cx="1828800" cy="310896"/>
          </a:xfrm>
          <a:prstGeom prst="rect">
            <a:avLst/>
          </a:prstGeom>
          <a:solidFill>
            <a:srgbClr val="172554"/>
          </a:solidFill>
          <a:ln w="12700">
            <a:solidFill>
              <a:srgbClr val="2D4A6E"/>
            </a:solidFill>
            <a:prstDash val="solid"/>
          </a:ln>
        </p:spPr>
      </p:sp>
      <p:sp>
        <p:nvSpPr>
          <p:cNvPr id="9" name="Shape 7"/>
          <p:cNvSpPr/>
          <p:nvPr/>
        </p:nvSpPr>
        <p:spPr>
          <a:xfrm>
            <a:off x="1783080" y="1993392"/>
            <a:ext cx="146304" cy="146304"/>
          </a:xfrm>
          <a:prstGeom prst="ellipse">
            <a:avLst/>
          </a:prstGeom>
          <a:solidFill>
            <a:srgbClr val="0EA5E9"/>
          </a:solidFill>
          <a:ln w="12700">
            <a:solidFill>
              <a:srgbClr val="0EA5E9"/>
            </a:solidFill>
            <a:prstDash val="solid"/>
          </a:ln>
        </p:spPr>
      </p:sp>
      <p:sp>
        <p:nvSpPr>
          <p:cNvPr id="10" name="Shape 8"/>
          <p:cNvSpPr/>
          <p:nvPr/>
        </p:nvSpPr>
        <p:spPr>
          <a:xfrm>
            <a:off x="411480" y="2331720"/>
            <a:ext cx="1828800" cy="310896"/>
          </a:xfrm>
          <a:prstGeom prst="rect">
            <a:avLst/>
          </a:prstGeom>
          <a:solidFill>
            <a:srgbClr val="172554"/>
          </a:solidFill>
          <a:ln w="12700">
            <a:solidFill>
              <a:srgbClr val="2D4A6E"/>
            </a:solidFill>
            <a:prstDash val="solid"/>
          </a:ln>
        </p:spPr>
      </p:sp>
      <p:sp>
        <p:nvSpPr>
          <p:cNvPr id="11" name="Shape 9"/>
          <p:cNvSpPr/>
          <p:nvPr/>
        </p:nvSpPr>
        <p:spPr>
          <a:xfrm>
            <a:off x="1783080" y="2404872"/>
            <a:ext cx="146304" cy="146304"/>
          </a:xfrm>
          <a:prstGeom prst="ellipse">
            <a:avLst/>
          </a:prstGeom>
          <a:solidFill>
            <a:srgbClr val="0EA5E9"/>
          </a:solidFill>
          <a:ln w="12700">
            <a:solidFill>
              <a:srgbClr val="0EA5E9"/>
            </a:solidFill>
            <a:prstDash val="solid"/>
          </a:ln>
        </p:spPr>
      </p:sp>
      <p:sp>
        <p:nvSpPr>
          <p:cNvPr id="12" name="Shape 10"/>
          <p:cNvSpPr/>
          <p:nvPr/>
        </p:nvSpPr>
        <p:spPr>
          <a:xfrm>
            <a:off x="411480" y="2743200"/>
            <a:ext cx="1828800" cy="310896"/>
          </a:xfrm>
          <a:prstGeom prst="rect">
            <a:avLst/>
          </a:prstGeom>
          <a:solidFill>
            <a:srgbClr val="172554"/>
          </a:solidFill>
          <a:ln w="12700">
            <a:solidFill>
              <a:srgbClr val="2D4A6E"/>
            </a:solidFill>
            <a:prstDash val="solid"/>
          </a:ln>
        </p:spPr>
      </p:sp>
      <p:sp>
        <p:nvSpPr>
          <p:cNvPr id="13" name="Shape 11"/>
          <p:cNvSpPr/>
          <p:nvPr/>
        </p:nvSpPr>
        <p:spPr>
          <a:xfrm>
            <a:off x="1783080" y="2816352"/>
            <a:ext cx="146304" cy="146304"/>
          </a:xfrm>
          <a:prstGeom prst="ellipse">
            <a:avLst/>
          </a:prstGeom>
          <a:solidFill>
            <a:srgbClr val="0EA5E9"/>
          </a:solidFill>
          <a:ln w="12700">
            <a:solidFill>
              <a:srgbClr val="0EA5E9"/>
            </a:solidFill>
            <a:prstDash val="solid"/>
          </a:ln>
        </p:spPr>
      </p:sp>
      <p:sp>
        <p:nvSpPr>
          <p:cNvPr id="14" name="Shape 12"/>
          <p:cNvSpPr/>
          <p:nvPr/>
        </p:nvSpPr>
        <p:spPr>
          <a:xfrm>
            <a:off x="411480" y="3154680"/>
            <a:ext cx="1828800" cy="310896"/>
          </a:xfrm>
          <a:prstGeom prst="rect">
            <a:avLst/>
          </a:prstGeom>
          <a:solidFill>
            <a:srgbClr val="172554"/>
          </a:solidFill>
          <a:ln w="12700">
            <a:solidFill>
              <a:srgbClr val="2D4A6E"/>
            </a:solidFill>
            <a:prstDash val="solid"/>
          </a:ln>
        </p:spPr>
      </p:sp>
      <p:sp>
        <p:nvSpPr>
          <p:cNvPr id="15" name="Shape 13"/>
          <p:cNvSpPr/>
          <p:nvPr/>
        </p:nvSpPr>
        <p:spPr>
          <a:xfrm>
            <a:off x="1783080" y="3227832"/>
            <a:ext cx="146304" cy="146304"/>
          </a:xfrm>
          <a:prstGeom prst="ellipse">
            <a:avLst/>
          </a:prstGeom>
          <a:solidFill>
            <a:srgbClr val="0EA5E9"/>
          </a:solidFill>
          <a:ln w="12700">
            <a:solidFill>
              <a:srgbClr val="0EA5E9"/>
            </a:solidFill>
            <a:prstDash val="solid"/>
          </a:ln>
        </p:spPr>
      </p:sp>
      <p:sp>
        <p:nvSpPr>
          <p:cNvPr id="16" name="Shape 14"/>
          <p:cNvSpPr/>
          <p:nvPr/>
        </p:nvSpPr>
        <p:spPr>
          <a:xfrm>
            <a:off x="411480" y="3566160"/>
            <a:ext cx="1828800" cy="310896"/>
          </a:xfrm>
          <a:prstGeom prst="rect">
            <a:avLst/>
          </a:prstGeom>
          <a:solidFill>
            <a:srgbClr val="172554"/>
          </a:solidFill>
          <a:ln w="12700">
            <a:solidFill>
              <a:srgbClr val="2D4A6E"/>
            </a:solidFill>
            <a:prstDash val="solid"/>
          </a:ln>
        </p:spPr>
      </p:sp>
      <p:sp>
        <p:nvSpPr>
          <p:cNvPr id="17" name="Shape 15"/>
          <p:cNvSpPr/>
          <p:nvPr/>
        </p:nvSpPr>
        <p:spPr>
          <a:xfrm>
            <a:off x="1783080" y="3639312"/>
            <a:ext cx="146304" cy="146304"/>
          </a:xfrm>
          <a:prstGeom prst="ellipse">
            <a:avLst/>
          </a:prstGeom>
          <a:solidFill>
            <a:srgbClr val="0EA5E9"/>
          </a:solidFill>
          <a:ln w="12700">
            <a:solidFill>
              <a:srgbClr val="0EA5E9"/>
            </a:solidFill>
            <a:prstDash val="solid"/>
          </a:ln>
        </p:spPr>
      </p:sp>
      <p:sp>
        <p:nvSpPr>
          <p:cNvPr id="18" name="Text 16"/>
          <p:cNvSpPr/>
          <p:nvPr/>
        </p:nvSpPr>
        <p:spPr>
          <a:xfrm>
            <a:off x="320040" y="4050792"/>
            <a:ext cx="2011680" cy="256032"/>
          </a:xfrm>
          <a:prstGeom prst="rect">
            <a:avLst/>
          </a:prstGeom>
          <a:noFill/>
          <a:ln/>
        </p:spPr>
        <p:txBody>
          <a:bodyPr wrap="square" lIns="0" tIns="0" rIns="0" bIns="0" rtlCol="0" anchor="ctr"/>
          <a:lstStyle/>
          <a:p>
            <a:pPr algn="ctr" indent="0" marL="0">
              <a:buNone/>
            </a:pPr>
            <a:r>
              <a:rPr lang="en-US" sz="1100" b="1" dirty="0">
                <a:solidFill>
                  <a:srgbClr val="94A3B8"/>
                </a:solidFill>
                <a:latin typeface="Calibri" pitchFamily="34" charset="0"/>
                <a:ea typeface="Calibri" pitchFamily="34" charset="-122"/>
                <a:cs typeface="Calibri" pitchFamily="34" charset="-120"/>
              </a:rPr>
              <a:t>SERVER</a:t>
            </a:r>
            <a:endParaRPr lang="en-US" sz="1100" dirty="0"/>
          </a:p>
          <a:p>
            <a:pPr algn="ctr" indent="0" marL="0">
              <a:buNone/>
            </a:pPr>
            <a:r>
              <a:rPr lang="en-US" sz="1100" b="1" dirty="0">
                <a:solidFill>
                  <a:srgbClr val="94A3B8"/>
                </a:solidFill>
                <a:latin typeface="Calibri" pitchFamily="34" charset="0"/>
                <a:ea typeface="Calibri" pitchFamily="34" charset="-122"/>
                <a:cs typeface="Calibri" pitchFamily="34" charset="-120"/>
              </a:rPr>
              <a:t>HARDWARE</a:t>
            </a:r>
            <a:endParaRPr lang="en-US" sz="1100" dirty="0"/>
          </a:p>
        </p:txBody>
      </p:sp>
      <p:sp>
        <p:nvSpPr>
          <p:cNvPr id="19" name="Shape 17"/>
          <p:cNvSpPr/>
          <p:nvPr/>
        </p:nvSpPr>
        <p:spPr>
          <a:xfrm>
            <a:off x="2560320" y="1261872"/>
            <a:ext cx="6217920" cy="722376"/>
          </a:xfrm>
          <a:prstGeom prst="rect">
            <a:avLst/>
          </a:prstGeom>
          <a:solidFill>
            <a:srgbClr val="1E3A5F"/>
          </a:solidFill>
          <a:ln w="12700">
            <a:solidFill>
              <a:srgbClr val="1E3A5F"/>
            </a:solidFill>
            <a:prstDash val="solid"/>
          </a:ln>
          <a:effectLst>
            <a:outerShdw sx="100000" sy="100000" kx="0" ky="0" algn="bl" rotWithShape="0" blurRad="101600" dist="38100" dir="8100000">
              <a:srgbClr val="000000">
                <a:alpha val="25000"/>
              </a:srgbClr>
            </a:outerShdw>
          </a:effectLst>
        </p:spPr>
      </p:sp>
      <p:sp>
        <p:nvSpPr>
          <p:cNvPr id="20" name="Text 18"/>
          <p:cNvSpPr/>
          <p:nvPr/>
        </p:nvSpPr>
        <p:spPr>
          <a:xfrm>
            <a:off x="2633472" y="1261872"/>
            <a:ext cx="594360" cy="722376"/>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Text 19"/>
          <p:cNvSpPr/>
          <p:nvPr/>
        </p:nvSpPr>
        <p:spPr>
          <a:xfrm>
            <a:off x="3246120" y="1316736"/>
            <a:ext cx="5394960" cy="274320"/>
          </a:xfrm>
          <a:prstGeom prst="rect">
            <a:avLst/>
          </a:prstGeom>
          <a:noFill/>
          <a:ln/>
        </p:spPr>
        <p:txBody>
          <a:bodyPr wrap="square" lIns="0" tIns="0" rIns="0" bIns="0" rtlCol="0" anchor="ctr"/>
          <a:lstStyle/>
          <a:p>
            <a:pPr indent="0" marL="0">
              <a:buNone/>
            </a:pPr>
            <a:r>
              <a:rPr lang="en-US" sz="1400" b="1" dirty="0">
                <a:solidFill>
                  <a:srgbClr val="00D4FF"/>
                </a:solidFill>
                <a:latin typeface="Calibri" pitchFamily="34" charset="0"/>
                <a:ea typeface="Calibri" pitchFamily="34" charset="-122"/>
                <a:cs typeface="Calibri" pitchFamily="34" charset="-120"/>
              </a:rPr>
              <a:t>A server is just a computer</a:t>
            </a:r>
            <a:endParaRPr lang="en-US" sz="1400" dirty="0"/>
          </a:p>
        </p:txBody>
      </p:sp>
      <p:sp>
        <p:nvSpPr>
          <p:cNvPr id="22" name="Text 20"/>
          <p:cNvSpPr/>
          <p:nvPr/>
        </p:nvSpPr>
        <p:spPr>
          <a:xfrm>
            <a:off x="3246120" y="1581912"/>
            <a:ext cx="5394960" cy="274320"/>
          </a:xfrm>
          <a:prstGeom prst="rect">
            <a:avLst/>
          </a:prstGeom>
          <a:noFill/>
          <a:ln/>
        </p:spPr>
        <p:txBody>
          <a:bodyPr wrap="square" lIns="0" tIns="0" rIns="0" bIns="0" rtlCol="0" anchor="ctr"/>
          <a:lstStyle/>
          <a:p>
            <a:pPr indent="0" marL="0">
              <a:buNone/>
            </a:pPr>
            <a:r>
              <a:rPr lang="en-US" sz="1250" dirty="0">
                <a:solidFill>
                  <a:srgbClr val="94A3B8"/>
                </a:solidFill>
                <a:latin typeface="Calibri" pitchFamily="34" charset="0"/>
                <a:ea typeface="Calibri" pitchFamily="34" charset="-122"/>
                <a:cs typeface="Calibri" pitchFamily="34" charset="-120"/>
              </a:rPr>
              <a:t>That runs 24/7 to answer requests</a:t>
            </a:r>
            <a:endParaRPr lang="en-US" sz="1250" dirty="0"/>
          </a:p>
        </p:txBody>
      </p:sp>
      <p:sp>
        <p:nvSpPr>
          <p:cNvPr id="23" name="Shape 21"/>
          <p:cNvSpPr/>
          <p:nvPr/>
        </p:nvSpPr>
        <p:spPr>
          <a:xfrm>
            <a:off x="2560320" y="2057400"/>
            <a:ext cx="6217920" cy="722376"/>
          </a:xfrm>
          <a:prstGeom prst="rect">
            <a:avLst/>
          </a:prstGeom>
          <a:solidFill>
            <a:srgbClr val="1E3A5F"/>
          </a:solidFill>
          <a:ln w="12700">
            <a:solidFill>
              <a:srgbClr val="1E3A5F"/>
            </a:solidFill>
            <a:prstDash val="solid"/>
          </a:ln>
          <a:effectLst>
            <a:outerShdw sx="100000" sy="100000" kx="0" ky="0" algn="bl" rotWithShape="0" blurRad="101600" dist="38100" dir="8100000">
              <a:srgbClr val="000000">
                <a:alpha val="25000"/>
              </a:srgbClr>
            </a:outerShdw>
          </a:effectLst>
        </p:spPr>
      </p:sp>
      <p:sp>
        <p:nvSpPr>
          <p:cNvPr id="24" name="Text 22"/>
          <p:cNvSpPr/>
          <p:nvPr/>
        </p:nvSpPr>
        <p:spPr>
          <a:xfrm>
            <a:off x="2633472" y="2057400"/>
            <a:ext cx="594360" cy="722376"/>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5" name="Text 23"/>
          <p:cNvSpPr/>
          <p:nvPr/>
        </p:nvSpPr>
        <p:spPr>
          <a:xfrm>
            <a:off x="3246120" y="2112264"/>
            <a:ext cx="5394960" cy="274320"/>
          </a:xfrm>
          <a:prstGeom prst="rect">
            <a:avLst/>
          </a:prstGeom>
          <a:noFill/>
          <a:ln/>
        </p:spPr>
        <p:txBody>
          <a:bodyPr wrap="square" lIns="0" tIns="0" rIns="0" bIns="0" rtlCol="0" anchor="ctr"/>
          <a:lstStyle/>
          <a:p>
            <a:pPr indent="0" marL="0">
              <a:buNone/>
            </a:pPr>
            <a:r>
              <a:rPr lang="en-US" sz="1400" b="1" dirty="0">
                <a:solidFill>
                  <a:srgbClr val="0EA5E9"/>
                </a:solidFill>
                <a:latin typeface="Calibri" pitchFamily="34" charset="0"/>
                <a:ea typeface="Calibri" pitchFamily="34" charset="-122"/>
                <a:cs typeface="Calibri" pitchFamily="34" charset="-120"/>
              </a:rPr>
              <a:t>Can be physical hardware</a:t>
            </a:r>
            <a:endParaRPr lang="en-US" sz="1400" dirty="0"/>
          </a:p>
        </p:txBody>
      </p:sp>
      <p:sp>
        <p:nvSpPr>
          <p:cNvPr id="26" name="Text 24"/>
          <p:cNvSpPr/>
          <p:nvPr/>
        </p:nvSpPr>
        <p:spPr>
          <a:xfrm>
            <a:off x="3246120" y="2377440"/>
            <a:ext cx="5394960" cy="274320"/>
          </a:xfrm>
          <a:prstGeom prst="rect">
            <a:avLst/>
          </a:prstGeom>
          <a:noFill/>
          <a:ln/>
        </p:spPr>
        <p:txBody>
          <a:bodyPr wrap="square" lIns="0" tIns="0" rIns="0" bIns="0" rtlCol="0" anchor="ctr"/>
          <a:lstStyle/>
          <a:p>
            <a:pPr indent="0" marL="0">
              <a:buNone/>
            </a:pPr>
            <a:r>
              <a:rPr lang="en-US" sz="1250" dirty="0">
                <a:solidFill>
                  <a:srgbClr val="94A3B8"/>
                </a:solidFill>
                <a:latin typeface="Calibri" pitchFamily="34" charset="0"/>
                <a:ea typeface="Calibri" pitchFamily="34" charset="-122"/>
                <a:cs typeface="Calibri" pitchFamily="34" charset="-120"/>
              </a:rPr>
              <a:t>Or a virtual machine in the cloud</a:t>
            </a:r>
            <a:endParaRPr lang="en-US" sz="1250" dirty="0"/>
          </a:p>
        </p:txBody>
      </p:sp>
      <p:sp>
        <p:nvSpPr>
          <p:cNvPr id="27" name="Shape 25"/>
          <p:cNvSpPr/>
          <p:nvPr/>
        </p:nvSpPr>
        <p:spPr>
          <a:xfrm>
            <a:off x="2560320" y="2852928"/>
            <a:ext cx="6217920" cy="722376"/>
          </a:xfrm>
          <a:prstGeom prst="rect">
            <a:avLst/>
          </a:prstGeom>
          <a:solidFill>
            <a:srgbClr val="1E3A5F"/>
          </a:solidFill>
          <a:ln w="12700">
            <a:solidFill>
              <a:srgbClr val="1E3A5F"/>
            </a:solidFill>
            <a:prstDash val="solid"/>
          </a:ln>
          <a:effectLst>
            <a:outerShdw sx="100000" sy="100000" kx="0" ky="0" algn="bl" rotWithShape="0" blurRad="101600" dist="38100" dir="8100000">
              <a:srgbClr val="000000">
                <a:alpha val="25000"/>
              </a:srgbClr>
            </a:outerShdw>
          </a:effectLst>
        </p:spPr>
      </p:sp>
      <p:sp>
        <p:nvSpPr>
          <p:cNvPr id="28" name="Text 26"/>
          <p:cNvSpPr/>
          <p:nvPr/>
        </p:nvSpPr>
        <p:spPr>
          <a:xfrm>
            <a:off x="2633472" y="2852928"/>
            <a:ext cx="594360" cy="722376"/>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9" name="Text 27"/>
          <p:cNvSpPr/>
          <p:nvPr/>
        </p:nvSpPr>
        <p:spPr>
          <a:xfrm>
            <a:off x="3246120" y="2907792"/>
            <a:ext cx="5394960" cy="274320"/>
          </a:xfrm>
          <a:prstGeom prst="rect">
            <a:avLst/>
          </a:prstGeom>
          <a:noFill/>
          <a:ln/>
        </p:spPr>
        <p:txBody>
          <a:bodyPr wrap="square" lIns="0" tIns="0" rIns="0" bIns="0" rtlCol="0" anchor="ctr"/>
          <a:lstStyle/>
          <a:p>
            <a:pPr indent="0" marL="0">
              <a:buNone/>
            </a:pPr>
            <a:r>
              <a:rPr lang="en-US" sz="1400" b="1" dirty="0">
                <a:solidFill>
                  <a:srgbClr val="7C3AED"/>
                </a:solidFill>
                <a:latin typeface="Calibri" pitchFamily="34" charset="0"/>
                <a:ea typeface="Calibri" pitchFamily="34" charset="-122"/>
                <a:cs typeface="Calibri" pitchFamily="34" charset="-120"/>
              </a:rPr>
              <a:t>Cloud = servers you rent</a:t>
            </a:r>
            <a:endParaRPr lang="en-US" sz="1400" dirty="0"/>
          </a:p>
        </p:txBody>
      </p:sp>
      <p:sp>
        <p:nvSpPr>
          <p:cNvPr id="30" name="Text 28"/>
          <p:cNvSpPr/>
          <p:nvPr/>
        </p:nvSpPr>
        <p:spPr>
          <a:xfrm>
            <a:off x="3246120" y="3172968"/>
            <a:ext cx="5394960" cy="274320"/>
          </a:xfrm>
          <a:prstGeom prst="rect">
            <a:avLst/>
          </a:prstGeom>
          <a:noFill/>
          <a:ln/>
        </p:spPr>
        <p:txBody>
          <a:bodyPr wrap="square" lIns="0" tIns="0" rIns="0" bIns="0" rtlCol="0" anchor="ctr"/>
          <a:lstStyle/>
          <a:p>
            <a:pPr indent="0" marL="0">
              <a:buNone/>
            </a:pPr>
            <a:r>
              <a:rPr lang="en-US" sz="1250" dirty="0">
                <a:solidFill>
                  <a:srgbClr val="94A3B8"/>
                </a:solidFill>
                <a:latin typeface="Calibri" pitchFamily="34" charset="0"/>
                <a:ea typeface="Calibri" pitchFamily="34" charset="-122"/>
                <a:cs typeface="Calibri" pitchFamily="34" charset="-120"/>
              </a:rPr>
              <a:t>AWS, Azure, Google Cloud Platform</a:t>
            </a:r>
            <a:endParaRPr lang="en-US" sz="1250" dirty="0"/>
          </a:p>
        </p:txBody>
      </p:sp>
      <p:sp>
        <p:nvSpPr>
          <p:cNvPr id="31" name="Shape 29"/>
          <p:cNvSpPr/>
          <p:nvPr/>
        </p:nvSpPr>
        <p:spPr>
          <a:xfrm>
            <a:off x="2560320" y="3648456"/>
            <a:ext cx="6217920" cy="722376"/>
          </a:xfrm>
          <a:prstGeom prst="rect">
            <a:avLst/>
          </a:prstGeom>
          <a:solidFill>
            <a:srgbClr val="1E3A5F"/>
          </a:solidFill>
          <a:ln w="12700">
            <a:solidFill>
              <a:srgbClr val="1E3A5F"/>
            </a:solidFill>
            <a:prstDash val="solid"/>
          </a:ln>
          <a:effectLst>
            <a:outerShdw sx="100000" sy="100000" kx="0" ky="0" algn="bl" rotWithShape="0" blurRad="101600" dist="38100" dir="8100000">
              <a:srgbClr val="000000">
                <a:alpha val="25000"/>
              </a:srgbClr>
            </a:outerShdw>
          </a:effectLst>
        </p:spPr>
      </p:sp>
      <p:sp>
        <p:nvSpPr>
          <p:cNvPr id="32" name="Text 30"/>
          <p:cNvSpPr/>
          <p:nvPr/>
        </p:nvSpPr>
        <p:spPr>
          <a:xfrm>
            <a:off x="2633472" y="3648456"/>
            <a:ext cx="594360" cy="722376"/>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33" name="Text 31"/>
          <p:cNvSpPr/>
          <p:nvPr/>
        </p:nvSpPr>
        <p:spPr>
          <a:xfrm>
            <a:off x="3246120" y="3703320"/>
            <a:ext cx="5394960" cy="274320"/>
          </a:xfrm>
          <a:prstGeom prst="rect">
            <a:avLst/>
          </a:prstGeom>
          <a:noFill/>
          <a:ln/>
        </p:spPr>
        <p:txBody>
          <a:bodyPr wrap="square" lIns="0" tIns="0" rIns="0" bIns="0" rtlCol="0" anchor="ctr"/>
          <a:lstStyle/>
          <a:p>
            <a:pPr indent="0" marL="0">
              <a:buNone/>
            </a:pPr>
            <a:r>
              <a:rPr lang="en-US" sz="1400" b="1" dirty="0">
                <a:solidFill>
                  <a:srgbClr val="10B981"/>
                </a:solidFill>
                <a:latin typeface="Calibri" pitchFamily="34" charset="0"/>
                <a:ea typeface="Calibri" pitchFamily="34" charset="-122"/>
                <a:cs typeface="Calibri" pitchFamily="34" charset="-120"/>
              </a:rPr>
              <a:t>Always on, never sleeps</a:t>
            </a:r>
            <a:endParaRPr lang="en-US" sz="1400" dirty="0"/>
          </a:p>
        </p:txBody>
      </p:sp>
      <p:sp>
        <p:nvSpPr>
          <p:cNvPr id="34" name="Text 32"/>
          <p:cNvSpPr/>
          <p:nvPr/>
        </p:nvSpPr>
        <p:spPr>
          <a:xfrm>
            <a:off x="3246120" y="3968496"/>
            <a:ext cx="5394960" cy="274320"/>
          </a:xfrm>
          <a:prstGeom prst="rect">
            <a:avLst/>
          </a:prstGeom>
          <a:noFill/>
          <a:ln/>
        </p:spPr>
        <p:txBody>
          <a:bodyPr wrap="square" lIns="0" tIns="0" rIns="0" bIns="0" rtlCol="0" anchor="ctr"/>
          <a:lstStyle/>
          <a:p>
            <a:pPr indent="0" marL="0">
              <a:buNone/>
            </a:pPr>
            <a:r>
              <a:rPr lang="en-US" sz="1250" dirty="0">
                <a:solidFill>
                  <a:srgbClr val="94A3B8"/>
                </a:solidFill>
                <a:latin typeface="Calibri" pitchFamily="34" charset="0"/>
                <a:ea typeface="Calibri" pitchFamily="34" charset="-122"/>
                <a:cs typeface="Calibri" pitchFamily="34" charset="-120"/>
              </a:rPr>
              <a:t>Designed for high availability</a:t>
            </a:r>
            <a:endParaRPr lang="en-US" sz="1250" dirty="0"/>
          </a:p>
        </p:txBody>
      </p:sp>
      <p:sp>
        <p:nvSpPr>
          <p:cNvPr id="35" name="Shape 33"/>
          <p:cNvSpPr/>
          <p:nvPr/>
        </p:nvSpPr>
        <p:spPr>
          <a:xfrm>
            <a:off x="320040" y="4480560"/>
            <a:ext cx="8458200" cy="548640"/>
          </a:xfrm>
          <a:prstGeom prst="rect">
            <a:avLst/>
          </a:prstGeom>
          <a:solidFill>
            <a:srgbClr val="172554"/>
          </a:solidFill>
          <a:ln w="12700">
            <a:solidFill>
              <a:srgbClr val="1E3A5F"/>
            </a:solidFill>
            <a:prstDash val="solid"/>
          </a:ln>
          <a:effectLst>
            <a:outerShdw sx="100000" sy="100000" kx="0" ky="0" algn="bl" rotWithShape="0" blurRad="101600" dist="38100" dir="8100000">
              <a:srgbClr val="000000">
                <a:alpha val="25000"/>
              </a:srgbClr>
            </a:outerShdw>
          </a:effectLst>
        </p:spPr>
      </p:sp>
      <p:sp>
        <p:nvSpPr>
          <p:cNvPr id="36" name="Shape 34"/>
          <p:cNvSpPr/>
          <p:nvPr/>
        </p:nvSpPr>
        <p:spPr>
          <a:xfrm>
            <a:off x="320040" y="4480560"/>
            <a:ext cx="54864" cy="548640"/>
          </a:xfrm>
          <a:prstGeom prst="rect">
            <a:avLst/>
          </a:prstGeom>
          <a:solidFill>
            <a:srgbClr val="F59E0B"/>
          </a:solidFill>
          <a:ln w="12700">
            <a:solidFill>
              <a:srgbClr val="F59E0B"/>
            </a:solidFill>
            <a:prstDash val="solid"/>
          </a:ln>
        </p:spPr>
      </p:sp>
      <p:sp>
        <p:nvSpPr>
          <p:cNvPr id="37" name="Text 35"/>
          <p:cNvSpPr/>
          <p:nvPr/>
        </p:nvSpPr>
        <p:spPr>
          <a:xfrm>
            <a:off x="457200" y="4507992"/>
            <a:ext cx="8229600" cy="457200"/>
          </a:xfrm>
          <a:prstGeom prst="rect">
            <a:avLst/>
          </a:prstGeom>
          <a:noFill/>
          <a:ln/>
        </p:spPr>
        <p:txBody>
          <a:bodyPr wrap="square" lIns="0" tIns="0" rIns="0" bIns="0" rtlCol="0" anchor="ctr"/>
          <a:lstStyle/>
          <a:p>
            <a:pPr indent="0" marL="0">
              <a:buNone/>
            </a:pPr>
            <a:r>
              <a:rPr lang="en-US" sz="1300" dirty="0">
                <a:solidFill>
                  <a:srgbClr val="94A3B8"/>
                </a:solidFill>
                <a:latin typeface="Calibri" pitchFamily="34" charset="0"/>
                <a:ea typeface="Calibri" pitchFamily="34" charset="-122"/>
                <a:cs typeface="Calibri" pitchFamily="34" charset="-120"/>
              </a:rPr>
              <a:t>💡 Analogy: A server is like a librarian — always on duty, waiting for your question, finds the book (data) and hands it to you.</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D1B2A"/>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D4FF"/>
          </a:solidFill>
          <a:ln w="12700">
            <a:solidFill>
              <a:srgbClr val="00D4FF"/>
            </a:solidFill>
            <a:prstDash val="solid"/>
          </a:ln>
        </p:spPr>
      </p:sp>
      <p:sp>
        <p:nvSpPr>
          <p:cNvPr id="3" name="Text 1"/>
          <p:cNvSpPr/>
          <p:nvPr/>
        </p:nvSpPr>
        <p:spPr>
          <a:xfrm>
            <a:off x="457200" y="137160"/>
            <a:ext cx="8229600" cy="640080"/>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Monolithic Architecture</a:t>
            </a:r>
            <a:endParaRPr lang="en-US" sz="3200" dirty="0"/>
          </a:p>
        </p:txBody>
      </p:sp>
      <p:sp>
        <p:nvSpPr>
          <p:cNvPr id="4" name="Text 2"/>
          <p:cNvSpPr/>
          <p:nvPr/>
        </p:nvSpPr>
        <p:spPr>
          <a:xfrm>
            <a:off x="457200" y="749808"/>
            <a:ext cx="8229600" cy="320040"/>
          </a:xfrm>
          <a:prstGeom prst="rect">
            <a:avLst/>
          </a:prstGeom>
          <a:noFill/>
          <a:ln/>
        </p:spPr>
        <p:txBody>
          <a:bodyPr wrap="square" lIns="0" tIns="0" rIns="0" bIns="0" rtlCol="0" anchor="ctr"/>
          <a:lstStyle/>
          <a:p>
            <a:pPr indent="0" marL="0">
              <a:buNone/>
            </a:pPr>
            <a:r>
              <a:rPr lang="en-US" sz="1400" i="1" dirty="0">
                <a:solidFill>
                  <a:srgbClr val="00D4FF"/>
                </a:solidFill>
                <a:latin typeface="Calibri" pitchFamily="34" charset="0"/>
                <a:ea typeface="Calibri" pitchFamily="34" charset="-122"/>
                <a:cs typeface="Calibri" pitchFamily="34" charset="-120"/>
              </a:rPr>
              <a:t>Section 03 · Server Design Pattern #1</a:t>
            </a:r>
            <a:endParaRPr lang="en-US" sz="1400" dirty="0"/>
          </a:p>
        </p:txBody>
      </p:sp>
      <p:sp>
        <p:nvSpPr>
          <p:cNvPr id="5" name="Shape 3"/>
          <p:cNvSpPr/>
          <p:nvPr/>
        </p:nvSpPr>
        <p:spPr>
          <a:xfrm>
            <a:off x="3200400" y="1234440"/>
            <a:ext cx="2834640" cy="3017520"/>
          </a:xfrm>
          <a:prstGeom prst="rect">
            <a:avLst/>
          </a:prstGeom>
          <a:solidFill>
            <a:srgbClr val="1A1035"/>
          </a:solidFill>
          <a:ln w="12700">
            <a:solidFill>
              <a:srgbClr val="1E3A5F"/>
            </a:solidFill>
            <a:prstDash val="solid"/>
          </a:ln>
          <a:effectLst>
            <a:outerShdw sx="100000" sy="100000" kx="0" ky="0" algn="bl" rotWithShape="0" blurRad="101600" dist="38100" dir="8100000">
              <a:srgbClr val="000000">
                <a:alpha val="25000"/>
              </a:srgbClr>
            </a:outerShdw>
          </a:effectLst>
        </p:spPr>
      </p:sp>
      <p:sp>
        <p:nvSpPr>
          <p:cNvPr id="6" name="Shape 4"/>
          <p:cNvSpPr/>
          <p:nvPr/>
        </p:nvSpPr>
        <p:spPr>
          <a:xfrm>
            <a:off x="3200400" y="1234440"/>
            <a:ext cx="2834640" cy="64008"/>
          </a:xfrm>
          <a:prstGeom prst="rect">
            <a:avLst/>
          </a:prstGeom>
          <a:solidFill>
            <a:srgbClr val="7C3AED"/>
          </a:solidFill>
          <a:ln w="12700">
            <a:solidFill>
              <a:srgbClr val="7C3AED"/>
            </a:solidFill>
            <a:prstDash val="solid"/>
          </a:ln>
        </p:spPr>
      </p:sp>
      <p:sp>
        <p:nvSpPr>
          <p:cNvPr id="7" name="Text 5"/>
          <p:cNvSpPr/>
          <p:nvPr/>
        </p:nvSpPr>
        <p:spPr>
          <a:xfrm>
            <a:off x="3200400" y="1298448"/>
            <a:ext cx="2834640" cy="457200"/>
          </a:xfrm>
          <a:prstGeom prst="rect">
            <a:avLst/>
          </a:prstGeom>
          <a:noFill/>
          <a:ln/>
        </p:spPr>
        <p:txBody>
          <a:bodyPr wrap="square" lIns="0" tIns="0" rIns="0" bIns="0" rtlCol="0" anchor="ctr"/>
          <a:lstStyle/>
          <a:p>
            <a:pPr algn="ctr" indent="0" marL="0">
              <a:buNone/>
            </a:pPr>
            <a:r>
              <a:rPr lang="en-US" sz="1500" b="1" dirty="0">
                <a:solidFill>
                  <a:srgbClr val="7C3AED"/>
                </a:solidFill>
                <a:latin typeface="Calibri" pitchFamily="34" charset="0"/>
                <a:ea typeface="Calibri" pitchFamily="34" charset="-122"/>
                <a:cs typeface="Calibri" pitchFamily="34" charset="-120"/>
              </a:rPr>
              <a:t>MONOLITH APP</a:t>
            </a:r>
            <a:endParaRPr lang="en-US" sz="1500" dirty="0"/>
          </a:p>
        </p:txBody>
      </p:sp>
      <p:sp>
        <p:nvSpPr>
          <p:cNvPr id="8" name="Shape 6"/>
          <p:cNvSpPr/>
          <p:nvPr/>
        </p:nvSpPr>
        <p:spPr>
          <a:xfrm>
            <a:off x="3291840" y="1801368"/>
            <a:ext cx="2651760" cy="338328"/>
          </a:xfrm>
          <a:prstGeom prst="rect">
            <a:avLst/>
          </a:prstGeom>
          <a:solidFill>
            <a:srgbClr val="2D1B69"/>
          </a:solidFill>
          <a:ln w="6350">
            <a:solidFill>
              <a:srgbClr val="7C3AED"/>
            </a:solidFill>
            <a:prstDash val="solid"/>
          </a:ln>
        </p:spPr>
      </p:sp>
      <p:sp>
        <p:nvSpPr>
          <p:cNvPr id="9" name="Text 7"/>
          <p:cNvSpPr/>
          <p:nvPr/>
        </p:nvSpPr>
        <p:spPr>
          <a:xfrm>
            <a:off x="3337560" y="1801368"/>
            <a:ext cx="2560320" cy="338328"/>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  UI Layer</a:t>
            </a:r>
            <a:endParaRPr lang="en-US" sz="1200" dirty="0"/>
          </a:p>
        </p:txBody>
      </p:sp>
      <p:sp>
        <p:nvSpPr>
          <p:cNvPr id="10" name="Shape 8"/>
          <p:cNvSpPr/>
          <p:nvPr/>
        </p:nvSpPr>
        <p:spPr>
          <a:xfrm>
            <a:off x="3291840" y="2194560"/>
            <a:ext cx="2651760" cy="338328"/>
          </a:xfrm>
          <a:prstGeom prst="rect">
            <a:avLst/>
          </a:prstGeom>
          <a:solidFill>
            <a:srgbClr val="3B1F82"/>
          </a:solidFill>
          <a:ln w="6350">
            <a:solidFill>
              <a:srgbClr val="7C3AED"/>
            </a:solidFill>
            <a:prstDash val="solid"/>
          </a:ln>
        </p:spPr>
      </p:sp>
      <p:sp>
        <p:nvSpPr>
          <p:cNvPr id="11" name="Text 9"/>
          <p:cNvSpPr/>
          <p:nvPr/>
        </p:nvSpPr>
        <p:spPr>
          <a:xfrm>
            <a:off x="3337560" y="2194560"/>
            <a:ext cx="2560320" cy="338328"/>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  Business Logic</a:t>
            </a:r>
            <a:endParaRPr lang="en-US" sz="1200" dirty="0"/>
          </a:p>
        </p:txBody>
      </p:sp>
      <p:sp>
        <p:nvSpPr>
          <p:cNvPr id="12" name="Shape 10"/>
          <p:cNvSpPr/>
          <p:nvPr/>
        </p:nvSpPr>
        <p:spPr>
          <a:xfrm>
            <a:off x="3291840" y="2587752"/>
            <a:ext cx="2651760" cy="338328"/>
          </a:xfrm>
          <a:prstGeom prst="rect">
            <a:avLst/>
          </a:prstGeom>
          <a:solidFill>
            <a:srgbClr val="4A239B"/>
          </a:solidFill>
          <a:ln w="6350">
            <a:solidFill>
              <a:srgbClr val="7C3AED"/>
            </a:solidFill>
            <a:prstDash val="solid"/>
          </a:ln>
        </p:spPr>
      </p:sp>
      <p:sp>
        <p:nvSpPr>
          <p:cNvPr id="13" name="Text 11"/>
          <p:cNvSpPr/>
          <p:nvPr/>
        </p:nvSpPr>
        <p:spPr>
          <a:xfrm>
            <a:off x="3337560" y="2587752"/>
            <a:ext cx="2560320" cy="338328"/>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  Auth Module</a:t>
            </a:r>
            <a:endParaRPr lang="en-US" sz="1200" dirty="0"/>
          </a:p>
        </p:txBody>
      </p:sp>
      <p:sp>
        <p:nvSpPr>
          <p:cNvPr id="14" name="Shape 12"/>
          <p:cNvSpPr/>
          <p:nvPr/>
        </p:nvSpPr>
        <p:spPr>
          <a:xfrm>
            <a:off x="3291840" y="2980944"/>
            <a:ext cx="2651760" cy="338328"/>
          </a:xfrm>
          <a:prstGeom prst="rect">
            <a:avLst/>
          </a:prstGeom>
          <a:solidFill>
            <a:srgbClr val="5929B4"/>
          </a:solidFill>
          <a:ln w="6350">
            <a:solidFill>
              <a:srgbClr val="7C3AED"/>
            </a:solidFill>
            <a:prstDash val="solid"/>
          </a:ln>
        </p:spPr>
      </p:sp>
      <p:sp>
        <p:nvSpPr>
          <p:cNvPr id="15" name="Text 13"/>
          <p:cNvSpPr/>
          <p:nvPr/>
        </p:nvSpPr>
        <p:spPr>
          <a:xfrm>
            <a:off x="3337560" y="2980944"/>
            <a:ext cx="2560320" cy="338328"/>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  Orders Module</a:t>
            </a:r>
            <a:endParaRPr lang="en-US" sz="1200" dirty="0"/>
          </a:p>
        </p:txBody>
      </p:sp>
      <p:sp>
        <p:nvSpPr>
          <p:cNvPr id="16" name="Shape 14"/>
          <p:cNvSpPr/>
          <p:nvPr/>
        </p:nvSpPr>
        <p:spPr>
          <a:xfrm>
            <a:off x="3291840" y="3374136"/>
            <a:ext cx="2651760" cy="338328"/>
          </a:xfrm>
          <a:prstGeom prst="rect">
            <a:avLst/>
          </a:prstGeom>
          <a:solidFill>
            <a:srgbClr val="682ECD"/>
          </a:solidFill>
          <a:ln w="6350">
            <a:solidFill>
              <a:srgbClr val="7C3AED"/>
            </a:solidFill>
            <a:prstDash val="solid"/>
          </a:ln>
        </p:spPr>
      </p:sp>
      <p:sp>
        <p:nvSpPr>
          <p:cNvPr id="17" name="Text 15"/>
          <p:cNvSpPr/>
          <p:nvPr/>
        </p:nvSpPr>
        <p:spPr>
          <a:xfrm>
            <a:off x="3337560" y="3374136"/>
            <a:ext cx="2560320" cy="338328"/>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  Payments Module</a:t>
            </a:r>
            <a:endParaRPr lang="en-US" sz="1200" dirty="0"/>
          </a:p>
        </p:txBody>
      </p:sp>
      <p:sp>
        <p:nvSpPr>
          <p:cNvPr id="18" name="Shape 16"/>
          <p:cNvSpPr/>
          <p:nvPr/>
        </p:nvSpPr>
        <p:spPr>
          <a:xfrm>
            <a:off x="3291840" y="3767328"/>
            <a:ext cx="2651760" cy="338328"/>
          </a:xfrm>
          <a:prstGeom prst="rect">
            <a:avLst/>
          </a:prstGeom>
          <a:solidFill>
            <a:srgbClr val="7732E6"/>
          </a:solidFill>
          <a:ln w="6350">
            <a:solidFill>
              <a:srgbClr val="7C3AED"/>
            </a:solidFill>
            <a:prstDash val="solid"/>
          </a:ln>
        </p:spPr>
      </p:sp>
      <p:sp>
        <p:nvSpPr>
          <p:cNvPr id="19" name="Text 17"/>
          <p:cNvSpPr/>
          <p:nvPr/>
        </p:nvSpPr>
        <p:spPr>
          <a:xfrm>
            <a:off x="3337560" y="3767328"/>
            <a:ext cx="2560320" cy="338328"/>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  Database Layer</a:t>
            </a:r>
            <a:endParaRPr lang="en-US" sz="1200" dirty="0"/>
          </a:p>
        </p:txBody>
      </p:sp>
      <p:sp>
        <p:nvSpPr>
          <p:cNvPr id="20" name="Shape 18"/>
          <p:cNvSpPr/>
          <p:nvPr/>
        </p:nvSpPr>
        <p:spPr>
          <a:xfrm>
            <a:off x="274320" y="1234440"/>
            <a:ext cx="2697480" cy="3017520"/>
          </a:xfrm>
          <a:prstGeom prst="rect">
            <a:avLst/>
          </a:prstGeom>
          <a:solidFill>
            <a:srgbClr val="1E3A5F"/>
          </a:solidFill>
          <a:ln w="12700">
            <a:solidFill>
              <a:srgbClr val="1E3A5F"/>
            </a:solidFill>
            <a:prstDash val="solid"/>
          </a:ln>
          <a:effectLst>
            <a:outerShdw sx="100000" sy="100000" kx="0" ky="0" algn="bl" rotWithShape="0" blurRad="101600" dist="38100" dir="8100000">
              <a:srgbClr val="000000">
                <a:alpha val="25000"/>
              </a:srgbClr>
            </a:outerShdw>
          </a:effectLst>
        </p:spPr>
      </p:sp>
      <p:sp>
        <p:nvSpPr>
          <p:cNvPr id="21" name="Text 19"/>
          <p:cNvSpPr/>
          <p:nvPr/>
        </p:nvSpPr>
        <p:spPr>
          <a:xfrm>
            <a:off x="365760" y="1261872"/>
            <a:ext cx="2514600" cy="411480"/>
          </a:xfrm>
          <a:prstGeom prst="rect">
            <a:avLst/>
          </a:prstGeom>
          <a:noFill/>
          <a:ln/>
        </p:spPr>
        <p:txBody>
          <a:bodyPr wrap="square" lIns="0" tIns="0" rIns="0" bIns="0" rtlCol="0" anchor="ctr"/>
          <a:lstStyle/>
          <a:p>
            <a:pPr indent="0" marL="0">
              <a:buNone/>
            </a:pPr>
            <a:r>
              <a:rPr lang="en-US" sz="1500" b="1" dirty="0">
                <a:solidFill>
                  <a:srgbClr val="10B981"/>
                </a:solidFill>
                <a:latin typeface="Calibri" pitchFamily="34" charset="0"/>
                <a:ea typeface="Calibri" pitchFamily="34" charset="-122"/>
                <a:cs typeface="Calibri" pitchFamily="34" charset="-120"/>
              </a:rPr>
              <a:t>PROS</a:t>
            </a:r>
            <a:endParaRPr lang="en-US" sz="1500" dirty="0"/>
          </a:p>
        </p:txBody>
      </p:sp>
      <p:sp>
        <p:nvSpPr>
          <p:cNvPr id="22" name="Text 20"/>
          <p:cNvSpPr/>
          <p:nvPr/>
        </p:nvSpPr>
        <p:spPr>
          <a:xfrm>
            <a:off x="365760" y="1719072"/>
            <a:ext cx="2514600" cy="475488"/>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  Simple to develop (early stage)</a:t>
            </a:r>
            <a:endParaRPr lang="en-US" sz="1250" dirty="0"/>
          </a:p>
        </p:txBody>
      </p:sp>
      <p:sp>
        <p:nvSpPr>
          <p:cNvPr id="23" name="Text 21"/>
          <p:cNvSpPr/>
          <p:nvPr/>
        </p:nvSpPr>
        <p:spPr>
          <a:xfrm>
            <a:off x="365760" y="2267712"/>
            <a:ext cx="2514600" cy="475488"/>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  Easy to test as a whole</a:t>
            </a:r>
            <a:endParaRPr lang="en-US" sz="1250" dirty="0"/>
          </a:p>
        </p:txBody>
      </p:sp>
      <p:sp>
        <p:nvSpPr>
          <p:cNvPr id="24" name="Text 22"/>
          <p:cNvSpPr/>
          <p:nvPr/>
        </p:nvSpPr>
        <p:spPr>
          <a:xfrm>
            <a:off x="365760" y="2816352"/>
            <a:ext cx="2514600" cy="475488"/>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  One deployment unit</a:t>
            </a:r>
            <a:endParaRPr lang="en-US" sz="1250" dirty="0"/>
          </a:p>
        </p:txBody>
      </p:sp>
      <p:sp>
        <p:nvSpPr>
          <p:cNvPr id="25" name="Shape 23"/>
          <p:cNvSpPr/>
          <p:nvPr/>
        </p:nvSpPr>
        <p:spPr>
          <a:xfrm>
            <a:off x="6172200" y="1234440"/>
            <a:ext cx="2697480" cy="3017520"/>
          </a:xfrm>
          <a:prstGeom prst="rect">
            <a:avLst/>
          </a:prstGeom>
          <a:solidFill>
            <a:srgbClr val="1E3A5F"/>
          </a:solidFill>
          <a:ln w="12700">
            <a:solidFill>
              <a:srgbClr val="1E3A5F"/>
            </a:solidFill>
            <a:prstDash val="solid"/>
          </a:ln>
          <a:effectLst>
            <a:outerShdw sx="100000" sy="100000" kx="0" ky="0" algn="bl" rotWithShape="0" blurRad="101600" dist="38100" dir="8100000">
              <a:srgbClr val="000000">
                <a:alpha val="25000"/>
              </a:srgbClr>
            </a:outerShdw>
          </a:effectLst>
        </p:spPr>
      </p:sp>
      <p:sp>
        <p:nvSpPr>
          <p:cNvPr id="26" name="Text 24"/>
          <p:cNvSpPr/>
          <p:nvPr/>
        </p:nvSpPr>
        <p:spPr>
          <a:xfrm>
            <a:off x="6263640" y="1261872"/>
            <a:ext cx="2514600" cy="411480"/>
          </a:xfrm>
          <a:prstGeom prst="rect">
            <a:avLst/>
          </a:prstGeom>
          <a:noFill/>
          <a:ln/>
        </p:spPr>
        <p:txBody>
          <a:bodyPr wrap="square" lIns="0" tIns="0" rIns="0" bIns="0" rtlCol="0" anchor="ctr"/>
          <a:lstStyle/>
          <a:p>
            <a:pPr indent="0" marL="0">
              <a:buNone/>
            </a:pPr>
            <a:r>
              <a:rPr lang="en-US" sz="1500" b="1" dirty="0">
                <a:solidFill>
                  <a:srgbClr val="EF4444"/>
                </a:solidFill>
                <a:latin typeface="Calibri" pitchFamily="34" charset="0"/>
                <a:ea typeface="Calibri" pitchFamily="34" charset="-122"/>
                <a:cs typeface="Calibri" pitchFamily="34" charset="-120"/>
              </a:rPr>
              <a:t>CONS</a:t>
            </a:r>
            <a:endParaRPr lang="en-US" sz="1500" dirty="0"/>
          </a:p>
        </p:txBody>
      </p:sp>
      <p:sp>
        <p:nvSpPr>
          <p:cNvPr id="27" name="Text 25"/>
          <p:cNvSpPr/>
          <p:nvPr/>
        </p:nvSpPr>
        <p:spPr>
          <a:xfrm>
            <a:off x="6263640" y="1719072"/>
            <a:ext cx="2514600" cy="475488"/>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  Hard to scale individual parts</a:t>
            </a:r>
            <a:endParaRPr lang="en-US" sz="1250" dirty="0"/>
          </a:p>
        </p:txBody>
      </p:sp>
      <p:sp>
        <p:nvSpPr>
          <p:cNvPr id="28" name="Text 26"/>
          <p:cNvSpPr/>
          <p:nvPr/>
        </p:nvSpPr>
        <p:spPr>
          <a:xfrm>
            <a:off x="6263640" y="2267712"/>
            <a:ext cx="2514600" cy="475488"/>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  One bug can crash everything</a:t>
            </a:r>
            <a:endParaRPr lang="en-US" sz="1250" dirty="0"/>
          </a:p>
        </p:txBody>
      </p:sp>
      <p:sp>
        <p:nvSpPr>
          <p:cNvPr id="29" name="Text 27"/>
          <p:cNvSpPr/>
          <p:nvPr/>
        </p:nvSpPr>
        <p:spPr>
          <a:xfrm>
            <a:off x="6263640" y="2816352"/>
            <a:ext cx="2514600" cy="475488"/>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  Slow deployments as app grows</a:t>
            </a:r>
            <a:endParaRPr lang="en-US" sz="1250" dirty="0"/>
          </a:p>
        </p:txBody>
      </p:sp>
      <p:sp>
        <p:nvSpPr>
          <p:cNvPr id="30" name="Shape 28"/>
          <p:cNvSpPr/>
          <p:nvPr/>
        </p:nvSpPr>
        <p:spPr>
          <a:xfrm>
            <a:off x="274320" y="4434840"/>
            <a:ext cx="8595360" cy="594360"/>
          </a:xfrm>
          <a:prstGeom prst="rect">
            <a:avLst/>
          </a:prstGeom>
          <a:solidFill>
            <a:srgbClr val="172554"/>
          </a:solidFill>
          <a:ln w="12700">
            <a:solidFill>
              <a:srgbClr val="1E3A5F"/>
            </a:solidFill>
            <a:prstDash val="solid"/>
          </a:ln>
          <a:effectLst>
            <a:outerShdw sx="100000" sy="100000" kx="0" ky="0" algn="bl" rotWithShape="0" blurRad="101600" dist="38100" dir="8100000">
              <a:srgbClr val="000000">
                <a:alpha val="25000"/>
              </a:srgbClr>
            </a:outerShdw>
          </a:effectLst>
        </p:spPr>
      </p:sp>
      <p:sp>
        <p:nvSpPr>
          <p:cNvPr id="31" name="Text 29"/>
          <p:cNvSpPr/>
          <p:nvPr/>
        </p:nvSpPr>
        <p:spPr>
          <a:xfrm>
            <a:off x="411480" y="4462272"/>
            <a:ext cx="8321040" cy="502920"/>
          </a:xfrm>
          <a:prstGeom prst="rect">
            <a:avLst/>
          </a:prstGeom>
          <a:noFill/>
          <a:ln/>
        </p:spPr>
        <p:txBody>
          <a:bodyPr wrap="square" lIns="0" tIns="0" rIns="0" bIns="0" rtlCol="0" anchor="ctr"/>
          <a:lstStyle/>
          <a:p>
            <a:pPr indent="0" marL="0">
              <a:buNone/>
            </a:pPr>
            <a:r>
              <a:rPr lang="en-US" sz="1300" dirty="0">
                <a:solidFill>
                  <a:srgbClr val="94A3B8"/>
                </a:solidFill>
                <a:latin typeface="Calibri" pitchFamily="34" charset="0"/>
                <a:ea typeface="Calibri" pitchFamily="34" charset="-122"/>
                <a:cs typeface="Calibri" pitchFamily="34" charset="-120"/>
              </a:rPr>
              <a:t>💡 Analogy: A Swiss Army knife — one tool with everything inside. Great when starting, tricky to upgrade a single blade without risking the whole knife.</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D1B2A"/>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D4FF"/>
          </a:solidFill>
          <a:ln w="12700">
            <a:solidFill>
              <a:srgbClr val="00D4FF"/>
            </a:solidFill>
            <a:prstDash val="solid"/>
          </a:ln>
        </p:spPr>
      </p:sp>
      <p:sp>
        <p:nvSpPr>
          <p:cNvPr id="3" name="Text 1"/>
          <p:cNvSpPr/>
          <p:nvPr/>
        </p:nvSpPr>
        <p:spPr>
          <a:xfrm>
            <a:off x="457200" y="137160"/>
            <a:ext cx="8229600" cy="640080"/>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Microservices Architecture</a:t>
            </a:r>
            <a:endParaRPr lang="en-US" sz="3200" dirty="0"/>
          </a:p>
        </p:txBody>
      </p:sp>
      <p:sp>
        <p:nvSpPr>
          <p:cNvPr id="4" name="Text 2"/>
          <p:cNvSpPr/>
          <p:nvPr/>
        </p:nvSpPr>
        <p:spPr>
          <a:xfrm>
            <a:off x="457200" y="749808"/>
            <a:ext cx="8229600" cy="320040"/>
          </a:xfrm>
          <a:prstGeom prst="rect">
            <a:avLst/>
          </a:prstGeom>
          <a:noFill/>
          <a:ln/>
        </p:spPr>
        <p:txBody>
          <a:bodyPr wrap="square" lIns="0" tIns="0" rIns="0" bIns="0" rtlCol="0" anchor="ctr"/>
          <a:lstStyle/>
          <a:p>
            <a:pPr indent="0" marL="0">
              <a:buNone/>
            </a:pPr>
            <a:r>
              <a:rPr lang="en-US" sz="1400" i="1" dirty="0">
                <a:solidFill>
                  <a:srgbClr val="00D4FF"/>
                </a:solidFill>
                <a:latin typeface="Calibri" pitchFamily="34" charset="0"/>
                <a:ea typeface="Calibri" pitchFamily="34" charset="-122"/>
                <a:cs typeface="Calibri" pitchFamily="34" charset="-120"/>
              </a:rPr>
              <a:t>Section 03 · Server Design Pattern #2</a:t>
            </a:r>
            <a:endParaRPr lang="en-US" sz="1400" dirty="0"/>
          </a:p>
        </p:txBody>
      </p:sp>
      <p:sp>
        <p:nvSpPr>
          <p:cNvPr id="5" name="Shape 3"/>
          <p:cNvSpPr/>
          <p:nvPr/>
        </p:nvSpPr>
        <p:spPr>
          <a:xfrm>
            <a:off x="3017520" y="1234440"/>
            <a:ext cx="3108960" cy="594360"/>
          </a:xfrm>
          <a:prstGeom prst="rect">
            <a:avLst/>
          </a:prstGeom>
          <a:solidFill>
            <a:srgbClr val="0A1628"/>
          </a:solidFill>
          <a:ln w="12700">
            <a:solidFill>
              <a:srgbClr val="1E3A5F"/>
            </a:solidFill>
            <a:prstDash val="solid"/>
          </a:ln>
          <a:effectLst>
            <a:outerShdw sx="100000" sy="100000" kx="0" ky="0" algn="bl" rotWithShape="0" blurRad="101600" dist="38100" dir="8100000">
              <a:srgbClr val="000000">
                <a:alpha val="25000"/>
              </a:srgbClr>
            </a:outerShdw>
          </a:effectLst>
        </p:spPr>
      </p:sp>
      <p:sp>
        <p:nvSpPr>
          <p:cNvPr id="6" name="Shape 4"/>
          <p:cNvSpPr/>
          <p:nvPr/>
        </p:nvSpPr>
        <p:spPr>
          <a:xfrm>
            <a:off x="3017520" y="1234440"/>
            <a:ext cx="3108960" cy="54864"/>
          </a:xfrm>
          <a:prstGeom prst="rect">
            <a:avLst/>
          </a:prstGeom>
          <a:solidFill>
            <a:srgbClr val="00D4FF"/>
          </a:solidFill>
          <a:ln w="12700">
            <a:solidFill>
              <a:srgbClr val="00D4FF"/>
            </a:solidFill>
            <a:prstDash val="solid"/>
          </a:ln>
        </p:spPr>
      </p:sp>
      <p:sp>
        <p:nvSpPr>
          <p:cNvPr id="7" name="Text 5"/>
          <p:cNvSpPr/>
          <p:nvPr/>
        </p:nvSpPr>
        <p:spPr>
          <a:xfrm>
            <a:off x="3017520" y="1289304"/>
            <a:ext cx="3108960" cy="484632"/>
          </a:xfrm>
          <a:prstGeom prst="rect">
            <a:avLst/>
          </a:prstGeom>
          <a:noFill/>
          <a:ln/>
        </p:spPr>
        <p:txBody>
          <a:bodyPr wrap="square" lIns="0" tIns="0" rIns="0" bIns="0" rtlCol="0" anchor="ctr"/>
          <a:lstStyle/>
          <a:p>
            <a:pPr algn="ctr" indent="0" marL="0">
              <a:buNone/>
            </a:pPr>
            <a:r>
              <a:rPr lang="en-US" sz="1400" b="1" dirty="0">
                <a:solidFill>
                  <a:srgbClr val="00D4FF"/>
                </a:solidFill>
                <a:latin typeface="Calibri" pitchFamily="34" charset="0"/>
                <a:ea typeface="Calibri" pitchFamily="34" charset="-122"/>
                <a:cs typeface="Calibri" pitchFamily="34" charset="-120"/>
              </a:rPr>
              <a:t>🔀  API GATEWAY</a:t>
            </a:r>
            <a:endParaRPr lang="en-US" sz="1400" dirty="0"/>
          </a:p>
        </p:txBody>
      </p:sp>
      <p:sp>
        <p:nvSpPr>
          <p:cNvPr id="8" name="Shape 6"/>
          <p:cNvSpPr/>
          <p:nvPr/>
        </p:nvSpPr>
        <p:spPr>
          <a:xfrm>
            <a:off x="274320" y="2057400"/>
            <a:ext cx="1463040" cy="1005840"/>
          </a:xfrm>
          <a:prstGeom prst="rect">
            <a:avLst/>
          </a:prstGeom>
          <a:solidFill>
            <a:srgbClr val="1E3A5F"/>
          </a:solidFill>
          <a:ln w="12700">
            <a:solidFill>
              <a:srgbClr val="1E3A5F"/>
            </a:solidFill>
            <a:prstDash val="solid"/>
          </a:ln>
          <a:effectLst>
            <a:outerShdw sx="100000" sy="100000" kx="0" ky="0" algn="bl" rotWithShape="0" blurRad="101600" dist="38100" dir="8100000">
              <a:srgbClr val="000000">
                <a:alpha val="25000"/>
              </a:srgbClr>
            </a:outerShdw>
          </a:effectLst>
        </p:spPr>
      </p:sp>
      <p:sp>
        <p:nvSpPr>
          <p:cNvPr id="9" name="Shape 7"/>
          <p:cNvSpPr/>
          <p:nvPr/>
        </p:nvSpPr>
        <p:spPr>
          <a:xfrm>
            <a:off x="274320" y="2057400"/>
            <a:ext cx="1463040" cy="54864"/>
          </a:xfrm>
          <a:prstGeom prst="rect">
            <a:avLst/>
          </a:prstGeom>
          <a:solidFill>
            <a:srgbClr val="0EA5E9"/>
          </a:solidFill>
          <a:ln w="12700">
            <a:solidFill>
              <a:srgbClr val="0EA5E9"/>
            </a:solidFill>
            <a:prstDash val="solid"/>
          </a:ln>
        </p:spPr>
      </p:sp>
      <p:sp>
        <p:nvSpPr>
          <p:cNvPr id="10" name="Text 8"/>
          <p:cNvSpPr/>
          <p:nvPr/>
        </p:nvSpPr>
        <p:spPr>
          <a:xfrm>
            <a:off x="274320" y="2148840"/>
            <a:ext cx="1463040" cy="850392"/>
          </a:xfrm>
          <a:prstGeom prst="rect">
            <a:avLst/>
          </a:prstGeom>
          <a:noFill/>
          <a:ln/>
        </p:spPr>
        <p:txBody>
          <a:bodyPr wrap="square" lIns="0" tIns="0" rIns="0" bIns="0" rtlCol="0" anchor="ctr"/>
          <a:lstStyle/>
          <a:p>
            <a:pPr algn="ctr" indent="0" marL="0">
              <a:buNone/>
            </a:pPr>
            <a:r>
              <a:rPr lang="en-US" sz="1250" b="1" dirty="0">
                <a:solidFill>
                  <a:srgbClr val="0EA5E9"/>
                </a:solidFill>
                <a:latin typeface="Calibri" pitchFamily="34" charset="0"/>
                <a:ea typeface="Calibri" pitchFamily="34" charset="-122"/>
                <a:cs typeface="Calibri" pitchFamily="34" charset="-120"/>
              </a:rPr>
              <a:t>Auth</a:t>
            </a:r>
            <a:endParaRPr lang="en-US" sz="1250" dirty="0"/>
          </a:p>
          <a:p>
            <a:pPr algn="ctr" indent="0" marL="0">
              <a:buNone/>
            </a:pPr>
            <a:r>
              <a:rPr lang="en-US" sz="1250" b="1" dirty="0">
                <a:solidFill>
                  <a:srgbClr val="0EA5E9"/>
                </a:solidFill>
                <a:latin typeface="Calibri" pitchFamily="34" charset="0"/>
                <a:ea typeface="Calibri" pitchFamily="34" charset="-122"/>
                <a:cs typeface="Calibri" pitchFamily="34" charset="-120"/>
              </a:rPr>
              <a:t>Service</a:t>
            </a:r>
            <a:endParaRPr lang="en-US" sz="1250" dirty="0"/>
          </a:p>
        </p:txBody>
      </p:sp>
      <p:sp>
        <p:nvSpPr>
          <p:cNvPr id="11" name="Shape 9"/>
          <p:cNvSpPr/>
          <p:nvPr/>
        </p:nvSpPr>
        <p:spPr>
          <a:xfrm>
            <a:off x="1005840" y="2011680"/>
            <a:ext cx="0" cy="18288"/>
          </a:xfrm>
          <a:prstGeom prst="line">
            <a:avLst/>
          </a:prstGeom>
          <a:noFill/>
          <a:ln w="19050">
            <a:solidFill>
              <a:srgbClr val="0EA5E9"/>
            </a:solidFill>
            <a:prstDash val="solid"/>
          </a:ln>
        </p:spPr>
      </p:sp>
      <p:sp>
        <p:nvSpPr>
          <p:cNvPr id="12" name="Shape 10"/>
          <p:cNvSpPr/>
          <p:nvPr/>
        </p:nvSpPr>
        <p:spPr>
          <a:xfrm>
            <a:off x="1874520" y="2057400"/>
            <a:ext cx="1463040" cy="1005840"/>
          </a:xfrm>
          <a:prstGeom prst="rect">
            <a:avLst/>
          </a:prstGeom>
          <a:solidFill>
            <a:srgbClr val="1E3A5F"/>
          </a:solidFill>
          <a:ln w="12700">
            <a:solidFill>
              <a:srgbClr val="1E3A5F"/>
            </a:solidFill>
            <a:prstDash val="solid"/>
          </a:ln>
          <a:effectLst>
            <a:outerShdw sx="100000" sy="100000" kx="0" ky="0" algn="bl" rotWithShape="0" blurRad="101600" dist="38100" dir="8100000">
              <a:srgbClr val="000000">
                <a:alpha val="25000"/>
              </a:srgbClr>
            </a:outerShdw>
          </a:effectLst>
        </p:spPr>
      </p:sp>
      <p:sp>
        <p:nvSpPr>
          <p:cNvPr id="13" name="Shape 11"/>
          <p:cNvSpPr/>
          <p:nvPr/>
        </p:nvSpPr>
        <p:spPr>
          <a:xfrm>
            <a:off x="1874520" y="2057400"/>
            <a:ext cx="1463040" cy="54864"/>
          </a:xfrm>
          <a:prstGeom prst="rect">
            <a:avLst/>
          </a:prstGeom>
          <a:solidFill>
            <a:srgbClr val="00D4FF"/>
          </a:solidFill>
          <a:ln w="12700">
            <a:solidFill>
              <a:srgbClr val="00D4FF"/>
            </a:solidFill>
            <a:prstDash val="solid"/>
          </a:ln>
        </p:spPr>
      </p:sp>
      <p:sp>
        <p:nvSpPr>
          <p:cNvPr id="14" name="Text 12"/>
          <p:cNvSpPr/>
          <p:nvPr/>
        </p:nvSpPr>
        <p:spPr>
          <a:xfrm>
            <a:off x="1874520" y="2148840"/>
            <a:ext cx="1463040" cy="850392"/>
          </a:xfrm>
          <a:prstGeom prst="rect">
            <a:avLst/>
          </a:prstGeom>
          <a:noFill/>
          <a:ln/>
        </p:spPr>
        <p:txBody>
          <a:bodyPr wrap="square" lIns="0" tIns="0" rIns="0" bIns="0" rtlCol="0" anchor="ctr"/>
          <a:lstStyle/>
          <a:p>
            <a:pPr algn="ctr" indent="0" marL="0">
              <a:buNone/>
            </a:pPr>
            <a:r>
              <a:rPr lang="en-US" sz="1250" b="1" dirty="0">
                <a:solidFill>
                  <a:srgbClr val="00D4FF"/>
                </a:solidFill>
                <a:latin typeface="Calibri" pitchFamily="34" charset="0"/>
                <a:ea typeface="Calibri" pitchFamily="34" charset="-122"/>
                <a:cs typeface="Calibri" pitchFamily="34" charset="-120"/>
              </a:rPr>
              <a:t>User</a:t>
            </a:r>
            <a:endParaRPr lang="en-US" sz="1250" dirty="0"/>
          </a:p>
          <a:p>
            <a:pPr algn="ctr" indent="0" marL="0">
              <a:buNone/>
            </a:pPr>
            <a:r>
              <a:rPr lang="en-US" sz="1250" b="1" dirty="0">
                <a:solidFill>
                  <a:srgbClr val="00D4FF"/>
                </a:solidFill>
                <a:latin typeface="Calibri" pitchFamily="34" charset="0"/>
                <a:ea typeface="Calibri" pitchFamily="34" charset="-122"/>
                <a:cs typeface="Calibri" pitchFamily="34" charset="-120"/>
              </a:rPr>
              <a:t>Service</a:t>
            </a:r>
            <a:endParaRPr lang="en-US" sz="1250" dirty="0"/>
          </a:p>
        </p:txBody>
      </p:sp>
      <p:sp>
        <p:nvSpPr>
          <p:cNvPr id="15" name="Shape 13"/>
          <p:cNvSpPr/>
          <p:nvPr/>
        </p:nvSpPr>
        <p:spPr>
          <a:xfrm>
            <a:off x="2606040" y="2011680"/>
            <a:ext cx="0" cy="18288"/>
          </a:xfrm>
          <a:prstGeom prst="line">
            <a:avLst/>
          </a:prstGeom>
          <a:noFill/>
          <a:ln w="19050">
            <a:solidFill>
              <a:srgbClr val="00D4FF"/>
            </a:solidFill>
            <a:prstDash val="solid"/>
          </a:ln>
        </p:spPr>
      </p:sp>
      <p:sp>
        <p:nvSpPr>
          <p:cNvPr id="16" name="Shape 14"/>
          <p:cNvSpPr/>
          <p:nvPr/>
        </p:nvSpPr>
        <p:spPr>
          <a:xfrm>
            <a:off x="3474720" y="2057400"/>
            <a:ext cx="1463040" cy="1005840"/>
          </a:xfrm>
          <a:prstGeom prst="rect">
            <a:avLst/>
          </a:prstGeom>
          <a:solidFill>
            <a:srgbClr val="1E3A5F"/>
          </a:solidFill>
          <a:ln w="12700">
            <a:solidFill>
              <a:srgbClr val="1E3A5F"/>
            </a:solidFill>
            <a:prstDash val="solid"/>
          </a:ln>
          <a:effectLst>
            <a:outerShdw sx="100000" sy="100000" kx="0" ky="0" algn="bl" rotWithShape="0" blurRad="101600" dist="38100" dir="8100000">
              <a:srgbClr val="000000">
                <a:alpha val="25000"/>
              </a:srgbClr>
            </a:outerShdw>
          </a:effectLst>
        </p:spPr>
      </p:sp>
      <p:sp>
        <p:nvSpPr>
          <p:cNvPr id="17" name="Shape 15"/>
          <p:cNvSpPr/>
          <p:nvPr/>
        </p:nvSpPr>
        <p:spPr>
          <a:xfrm>
            <a:off x="3474720" y="2057400"/>
            <a:ext cx="1463040" cy="54864"/>
          </a:xfrm>
          <a:prstGeom prst="rect">
            <a:avLst/>
          </a:prstGeom>
          <a:solidFill>
            <a:srgbClr val="7C3AED"/>
          </a:solidFill>
          <a:ln w="12700">
            <a:solidFill>
              <a:srgbClr val="7C3AED"/>
            </a:solidFill>
            <a:prstDash val="solid"/>
          </a:ln>
        </p:spPr>
      </p:sp>
      <p:sp>
        <p:nvSpPr>
          <p:cNvPr id="18" name="Text 16"/>
          <p:cNvSpPr/>
          <p:nvPr/>
        </p:nvSpPr>
        <p:spPr>
          <a:xfrm>
            <a:off x="3474720" y="2148840"/>
            <a:ext cx="1463040" cy="850392"/>
          </a:xfrm>
          <a:prstGeom prst="rect">
            <a:avLst/>
          </a:prstGeom>
          <a:noFill/>
          <a:ln/>
        </p:spPr>
        <p:txBody>
          <a:bodyPr wrap="square" lIns="0" tIns="0" rIns="0" bIns="0" rtlCol="0" anchor="ctr"/>
          <a:lstStyle/>
          <a:p>
            <a:pPr algn="ctr" indent="0" marL="0">
              <a:buNone/>
            </a:pPr>
            <a:r>
              <a:rPr lang="en-US" sz="1250" b="1" dirty="0">
                <a:solidFill>
                  <a:srgbClr val="7C3AED"/>
                </a:solidFill>
                <a:latin typeface="Calibri" pitchFamily="34" charset="0"/>
                <a:ea typeface="Calibri" pitchFamily="34" charset="-122"/>
                <a:cs typeface="Calibri" pitchFamily="34" charset="-120"/>
              </a:rPr>
              <a:t>Order</a:t>
            </a:r>
            <a:endParaRPr lang="en-US" sz="1250" dirty="0"/>
          </a:p>
          <a:p>
            <a:pPr algn="ctr" indent="0" marL="0">
              <a:buNone/>
            </a:pPr>
            <a:r>
              <a:rPr lang="en-US" sz="1250" b="1" dirty="0">
                <a:solidFill>
                  <a:srgbClr val="7C3AED"/>
                </a:solidFill>
                <a:latin typeface="Calibri" pitchFamily="34" charset="0"/>
                <a:ea typeface="Calibri" pitchFamily="34" charset="-122"/>
                <a:cs typeface="Calibri" pitchFamily="34" charset="-120"/>
              </a:rPr>
              <a:t>Service</a:t>
            </a:r>
            <a:endParaRPr lang="en-US" sz="1250" dirty="0"/>
          </a:p>
        </p:txBody>
      </p:sp>
      <p:sp>
        <p:nvSpPr>
          <p:cNvPr id="19" name="Shape 17"/>
          <p:cNvSpPr/>
          <p:nvPr/>
        </p:nvSpPr>
        <p:spPr>
          <a:xfrm>
            <a:off x="4206240" y="2011680"/>
            <a:ext cx="0" cy="18288"/>
          </a:xfrm>
          <a:prstGeom prst="line">
            <a:avLst/>
          </a:prstGeom>
          <a:noFill/>
          <a:ln w="19050">
            <a:solidFill>
              <a:srgbClr val="7C3AED"/>
            </a:solidFill>
            <a:prstDash val="solid"/>
          </a:ln>
        </p:spPr>
      </p:sp>
      <p:sp>
        <p:nvSpPr>
          <p:cNvPr id="20" name="Shape 18"/>
          <p:cNvSpPr/>
          <p:nvPr/>
        </p:nvSpPr>
        <p:spPr>
          <a:xfrm>
            <a:off x="5074920" y="2057400"/>
            <a:ext cx="1463040" cy="1005840"/>
          </a:xfrm>
          <a:prstGeom prst="rect">
            <a:avLst/>
          </a:prstGeom>
          <a:solidFill>
            <a:srgbClr val="1E3A5F"/>
          </a:solidFill>
          <a:ln w="12700">
            <a:solidFill>
              <a:srgbClr val="1E3A5F"/>
            </a:solidFill>
            <a:prstDash val="solid"/>
          </a:ln>
          <a:effectLst>
            <a:outerShdw sx="100000" sy="100000" kx="0" ky="0" algn="bl" rotWithShape="0" blurRad="101600" dist="38100" dir="8100000">
              <a:srgbClr val="000000">
                <a:alpha val="25000"/>
              </a:srgbClr>
            </a:outerShdw>
          </a:effectLst>
        </p:spPr>
      </p:sp>
      <p:sp>
        <p:nvSpPr>
          <p:cNvPr id="21" name="Shape 19"/>
          <p:cNvSpPr/>
          <p:nvPr/>
        </p:nvSpPr>
        <p:spPr>
          <a:xfrm>
            <a:off x="5074920" y="2057400"/>
            <a:ext cx="1463040" cy="54864"/>
          </a:xfrm>
          <a:prstGeom prst="rect">
            <a:avLst/>
          </a:prstGeom>
          <a:solidFill>
            <a:srgbClr val="F59E0B"/>
          </a:solidFill>
          <a:ln w="12700">
            <a:solidFill>
              <a:srgbClr val="F59E0B"/>
            </a:solidFill>
            <a:prstDash val="solid"/>
          </a:ln>
        </p:spPr>
      </p:sp>
      <p:sp>
        <p:nvSpPr>
          <p:cNvPr id="22" name="Text 20"/>
          <p:cNvSpPr/>
          <p:nvPr/>
        </p:nvSpPr>
        <p:spPr>
          <a:xfrm>
            <a:off x="5074920" y="2148840"/>
            <a:ext cx="1463040" cy="850392"/>
          </a:xfrm>
          <a:prstGeom prst="rect">
            <a:avLst/>
          </a:prstGeom>
          <a:noFill/>
          <a:ln/>
        </p:spPr>
        <p:txBody>
          <a:bodyPr wrap="square" lIns="0" tIns="0" rIns="0" bIns="0" rtlCol="0" anchor="ctr"/>
          <a:lstStyle/>
          <a:p>
            <a:pPr algn="ctr" indent="0" marL="0">
              <a:buNone/>
            </a:pPr>
            <a:r>
              <a:rPr lang="en-US" sz="1250" b="1" dirty="0">
                <a:solidFill>
                  <a:srgbClr val="F59E0B"/>
                </a:solidFill>
                <a:latin typeface="Calibri" pitchFamily="34" charset="0"/>
                <a:ea typeface="Calibri" pitchFamily="34" charset="-122"/>
                <a:cs typeface="Calibri" pitchFamily="34" charset="-120"/>
              </a:rPr>
              <a:t>Payment</a:t>
            </a:r>
            <a:endParaRPr lang="en-US" sz="1250" dirty="0"/>
          </a:p>
          <a:p>
            <a:pPr algn="ctr" indent="0" marL="0">
              <a:buNone/>
            </a:pPr>
            <a:r>
              <a:rPr lang="en-US" sz="1250" b="1" dirty="0">
                <a:solidFill>
                  <a:srgbClr val="F59E0B"/>
                </a:solidFill>
                <a:latin typeface="Calibri" pitchFamily="34" charset="0"/>
                <a:ea typeface="Calibri" pitchFamily="34" charset="-122"/>
                <a:cs typeface="Calibri" pitchFamily="34" charset="-120"/>
              </a:rPr>
              <a:t>Service</a:t>
            </a:r>
            <a:endParaRPr lang="en-US" sz="1250" dirty="0"/>
          </a:p>
        </p:txBody>
      </p:sp>
      <p:sp>
        <p:nvSpPr>
          <p:cNvPr id="23" name="Shape 21"/>
          <p:cNvSpPr/>
          <p:nvPr/>
        </p:nvSpPr>
        <p:spPr>
          <a:xfrm>
            <a:off x="5806440" y="2011680"/>
            <a:ext cx="0" cy="18288"/>
          </a:xfrm>
          <a:prstGeom prst="line">
            <a:avLst/>
          </a:prstGeom>
          <a:noFill/>
          <a:ln w="19050">
            <a:solidFill>
              <a:srgbClr val="F59E0B"/>
            </a:solidFill>
            <a:prstDash val="solid"/>
          </a:ln>
        </p:spPr>
      </p:sp>
      <p:sp>
        <p:nvSpPr>
          <p:cNvPr id="24" name="Shape 22"/>
          <p:cNvSpPr/>
          <p:nvPr/>
        </p:nvSpPr>
        <p:spPr>
          <a:xfrm>
            <a:off x="6675120" y="2057400"/>
            <a:ext cx="1463040" cy="1005840"/>
          </a:xfrm>
          <a:prstGeom prst="rect">
            <a:avLst/>
          </a:prstGeom>
          <a:solidFill>
            <a:srgbClr val="1E3A5F"/>
          </a:solidFill>
          <a:ln w="12700">
            <a:solidFill>
              <a:srgbClr val="1E3A5F"/>
            </a:solidFill>
            <a:prstDash val="solid"/>
          </a:ln>
          <a:effectLst>
            <a:outerShdw sx="100000" sy="100000" kx="0" ky="0" algn="bl" rotWithShape="0" blurRad="101600" dist="38100" dir="8100000">
              <a:srgbClr val="000000">
                <a:alpha val="25000"/>
              </a:srgbClr>
            </a:outerShdw>
          </a:effectLst>
        </p:spPr>
      </p:sp>
      <p:sp>
        <p:nvSpPr>
          <p:cNvPr id="25" name="Shape 23"/>
          <p:cNvSpPr/>
          <p:nvPr/>
        </p:nvSpPr>
        <p:spPr>
          <a:xfrm>
            <a:off x="6675120" y="2057400"/>
            <a:ext cx="1463040" cy="54864"/>
          </a:xfrm>
          <a:prstGeom prst="rect">
            <a:avLst/>
          </a:prstGeom>
          <a:solidFill>
            <a:srgbClr val="10B981"/>
          </a:solidFill>
          <a:ln w="12700">
            <a:solidFill>
              <a:srgbClr val="10B981"/>
            </a:solidFill>
            <a:prstDash val="solid"/>
          </a:ln>
        </p:spPr>
      </p:sp>
      <p:sp>
        <p:nvSpPr>
          <p:cNvPr id="26" name="Text 24"/>
          <p:cNvSpPr/>
          <p:nvPr/>
        </p:nvSpPr>
        <p:spPr>
          <a:xfrm>
            <a:off x="6675120" y="2148840"/>
            <a:ext cx="1463040" cy="850392"/>
          </a:xfrm>
          <a:prstGeom prst="rect">
            <a:avLst/>
          </a:prstGeom>
          <a:noFill/>
          <a:ln/>
        </p:spPr>
        <p:txBody>
          <a:bodyPr wrap="square" lIns="0" tIns="0" rIns="0" bIns="0" rtlCol="0" anchor="ctr"/>
          <a:lstStyle/>
          <a:p>
            <a:pPr algn="ctr" indent="0" marL="0">
              <a:buNone/>
            </a:pPr>
            <a:r>
              <a:rPr lang="en-US" sz="1250" b="1" dirty="0">
                <a:solidFill>
                  <a:srgbClr val="10B981"/>
                </a:solidFill>
                <a:latin typeface="Calibri" pitchFamily="34" charset="0"/>
                <a:ea typeface="Calibri" pitchFamily="34" charset="-122"/>
                <a:cs typeface="Calibri" pitchFamily="34" charset="-120"/>
              </a:rPr>
              <a:t>Email</a:t>
            </a:r>
            <a:endParaRPr lang="en-US" sz="1250" dirty="0"/>
          </a:p>
          <a:p>
            <a:pPr algn="ctr" indent="0" marL="0">
              <a:buNone/>
            </a:pPr>
            <a:r>
              <a:rPr lang="en-US" sz="1250" b="1" dirty="0">
                <a:solidFill>
                  <a:srgbClr val="10B981"/>
                </a:solidFill>
                <a:latin typeface="Calibri" pitchFamily="34" charset="0"/>
                <a:ea typeface="Calibri" pitchFamily="34" charset="-122"/>
                <a:cs typeface="Calibri" pitchFamily="34" charset="-120"/>
              </a:rPr>
              <a:t>Service</a:t>
            </a:r>
            <a:endParaRPr lang="en-US" sz="1250" dirty="0"/>
          </a:p>
        </p:txBody>
      </p:sp>
      <p:sp>
        <p:nvSpPr>
          <p:cNvPr id="27" name="Shape 25"/>
          <p:cNvSpPr/>
          <p:nvPr/>
        </p:nvSpPr>
        <p:spPr>
          <a:xfrm>
            <a:off x="7406640" y="2011680"/>
            <a:ext cx="0" cy="18288"/>
          </a:xfrm>
          <a:prstGeom prst="line">
            <a:avLst/>
          </a:prstGeom>
          <a:noFill/>
          <a:ln w="19050">
            <a:solidFill>
              <a:srgbClr val="10B981"/>
            </a:solidFill>
            <a:prstDash val="solid"/>
          </a:ln>
        </p:spPr>
      </p:sp>
      <p:sp>
        <p:nvSpPr>
          <p:cNvPr id="28" name="Shape 26"/>
          <p:cNvSpPr/>
          <p:nvPr/>
        </p:nvSpPr>
        <p:spPr>
          <a:xfrm>
            <a:off x="502920" y="3200400"/>
            <a:ext cx="1005840" cy="384048"/>
          </a:xfrm>
          <a:prstGeom prst="rect">
            <a:avLst/>
          </a:prstGeom>
          <a:solidFill>
            <a:srgbClr val="0A1628"/>
          </a:solidFill>
          <a:ln w="12700">
            <a:solidFill>
              <a:srgbClr val="0EA5E9"/>
            </a:solidFill>
            <a:prstDash val="solid"/>
          </a:ln>
        </p:spPr>
      </p:sp>
      <p:sp>
        <p:nvSpPr>
          <p:cNvPr id="29" name="Text 27"/>
          <p:cNvSpPr/>
          <p:nvPr/>
        </p:nvSpPr>
        <p:spPr>
          <a:xfrm>
            <a:off x="502920" y="3200400"/>
            <a:ext cx="1005840" cy="384048"/>
          </a:xfrm>
          <a:prstGeom prst="rect">
            <a:avLst/>
          </a:prstGeom>
          <a:noFill/>
          <a:ln/>
        </p:spPr>
        <p:txBody>
          <a:bodyPr wrap="square" lIns="0" tIns="0" rIns="0" bIns="0" rtlCol="0" anchor="ctr"/>
          <a:lstStyle/>
          <a:p>
            <a:pPr algn="ctr" indent="0" marL="0">
              <a:buNone/>
            </a:pPr>
            <a:r>
              <a:rPr lang="en-US" sz="1100" dirty="0">
                <a:solidFill>
                  <a:srgbClr val="0EA5E9"/>
                </a:solidFill>
                <a:latin typeface="Calibri" pitchFamily="34" charset="0"/>
                <a:ea typeface="Calibri" pitchFamily="34" charset="-122"/>
                <a:cs typeface="Calibri" pitchFamily="34" charset="-120"/>
              </a:rPr>
              <a:t>🗄️ DB</a:t>
            </a:r>
            <a:endParaRPr lang="en-US" sz="1100" dirty="0"/>
          </a:p>
        </p:txBody>
      </p:sp>
      <p:sp>
        <p:nvSpPr>
          <p:cNvPr id="30" name="Shape 28"/>
          <p:cNvSpPr/>
          <p:nvPr/>
        </p:nvSpPr>
        <p:spPr>
          <a:xfrm>
            <a:off x="1005840" y="3081528"/>
            <a:ext cx="0" cy="91440"/>
          </a:xfrm>
          <a:prstGeom prst="line">
            <a:avLst/>
          </a:prstGeom>
          <a:noFill/>
          <a:ln w="19050">
            <a:solidFill>
              <a:srgbClr val="0EA5E9"/>
            </a:solidFill>
            <a:prstDash val="solid"/>
          </a:ln>
        </p:spPr>
      </p:sp>
      <p:sp>
        <p:nvSpPr>
          <p:cNvPr id="31" name="Shape 29"/>
          <p:cNvSpPr/>
          <p:nvPr/>
        </p:nvSpPr>
        <p:spPr>
          <a:xfrm>
            <a:off x="2103120" y="3200400"/>
            <a:ext cx="1005840" cy="384048"/>
          </a:xfrm>
          <a:prstGeom prst="rect">
            <a:avLst/>
          </a:prstGeom>
          <a:solidFill>
            <a:srgbClr val="0A1628"/>
          </a:solidFill>
          <a:ln w="12700">
            <a:solidFill>
              <a:srgbClr val="00D4FF"/>
            </a:solidFill>
            <a:prstDash val="solid"/>
          </a:ln>
        </p:spPr>
      </p:sp>
      <p:sp>
        <p:nvSpPr>
          <p:cNvPr id="32" name="Text 30"/>
          <p:cNvSpPr/>
          <p:nvPr/>
        </p:nvSpPr>
        <p:spPr>
          <a:xfrm>
            <a:off x="2103120" y="3200400"/>
            <a:ext cx="1005840" cy="384048"/>
          </a:xfrm>
          <a:prstGeom prst="rect">
            <a:avLst/>
          </a:prstGeom>
          <a:noFill/>
          <a:ln/>
        </p:spPr>
        <p:txBody>
          <a:bodyPr wrap="square" lIns="0" tIns="0" rIns="0" bIns="0" rtlCol="0" anchor="ctr"/>
          <a:lstStyle/>
          <a:p>
            <a:pPr algn="ctr" indent="0" marL="0">
              <a:buNone/>
            </a:pPr>
            <a:r>
              <a:rPr lang="en-US" sz="1100" dirty="0">
                <a:solidFill>
                  <a:srgbClr val="00D4FF"/>
                </a:solidFill>
                <a:latin typeface="Calibri" pitchFamily="34" charset="0"/>
                <a:ea typeface="Calibri" pitchFamily="34" charset="-122"/>
                <a:cs typeface="Calibri" pitchFamily="34" charset="-120"/>
              </a:rPr>
              <a:t>🗄️ DB</a:t>
            </a:r>
            <a:endParaRPr lang="en-US" sz="1100" dirty="0"/>
          </a:p>
        </p:txBody>
      </p:sp>
      <p:sp>
        <p:nvSpPr>
          <p:cNvPr id="33" name="Shape 31"/>
          <p:cNvSpPr/>
          <p:nvPr/>
        </p:nvSpPr>
        <p:spPr>
          <a:xfrm>
            <a:off x="2606040" y="3081528"/>
            <a:ext cx="0" cy="91440"/>
          </a:xfrm>
          <a:prstGeom prst="line">
            <a:avLst/>
          </a:prstGeom>
          <a:noFill/>
          <a:ln w="19050">
            <a:solidFill>
              <a:srgbClr val="00D4FF"/>
            </a:solidFill>
            <a:prstDash val="solid"/>
          </a:ln>
        </p:spPr>
      </p:sp>
      <p:sp>
        <p:nvSpPr>
          <p:cNvPr id="34" name="Shape 32"/>
          <p:cNvSpPr/>
          <p:nvPr/>
        </p:nvSpPr>
        <p:spPr>
          <a:xfrm>
            <a:off x="3703320" y="3200400"/>
            <a:ext cx="1005840" cy="384048"/>
          </a:xfrm>
          <a:prstGeom prst="rect">
            <a:avLst/>
          </a:prstGeom>
          <a:solidFill>
            <a:srgbClr val="0A1628"/>
          </a:solidFill>
          <a:ln w="12700">
            <a:solidFill>
              <a:srgbClr val="7C3AED"/>
            </a:solidFill>
            <a:prstDash val="solid"/>
          </a:ln>
        </p:spPr>
      </p:sp>
      <p:sp>
        <p:nvSpPr>
          <p:cNvPr id="35" name="Text 33"/>
          <p:cNvSpPr/>
          <p:nvPr/>
        </p:nvSpPr>
        <p:spPr>
          <a:xfrm>
            <a:off x="3703320" y="3200400"/>
            <a:ext cx="1005840" cy="384048"/>
          </a:xfrm>
          <a:prstGeom prst="rect">
            <a:avLst/>
          </a:prstGeom>
          <a:noFill/>
          <a:ln/>
        </p:spPr>
        <p:txBody>
          <a:bodyPr wrap="square" lIns="0" tIns="0" rIns="0" bIns="0" rtlCol="0" anchor="ctr"/>
          <a:lstStyle/>
          <a:p>
            <a:pPr algn="ctr" indent="0" marL="0">
              <a:buNone/>
            </a:pPr>
            <a:r>
              <a:rPr lang="en-US" sz="1100" dirty="0">
                <a:solidFill>
                  <a:srgbClr val="7C3AED"/>
                </a:solidFill>
                <a:latin typeface="Calibri" pitchFamily="34" charset="0"/>
                <a:ea typeface="Calibri" pitchFamily="34" charset="-122"/>
                <a:cs typeface="Calibri" pitchFamily="34" charset="-120"/>
              </a:rPr>
              <a:t>🗄️ DB</a:t>
            </a:r>
            <a:endParaRPr lang="en-US" sz="1100" dirty="0"/>
          </a:p>
        </p:txBody>
      </p:sp>
      <p:sp>
        <p:nvSpPr>
          <p:cNvPr id="36" name="Shape 34"/>
          <p:cNvSpPr/>
          <p:nvPr/>
        </p:nvSpPr>
        <p:spPr>
          <a:xfrm>
            <a:off x="4206240" y="3081528"/>
            <a:ext cx="0" cy="91440"/>
          </a:xfrm>
          <a:prstGeom prst="line">
            <a:avLst/>
          </a:prstGeom>
          <a:noFill/>
          <a:ln w="19050">
            <a:solidFill>
              <a:srgbClr val="7C3AED"/>
            </a:solidFill>
            <a:prstDash val="solid"/>
          </a:ln>
        </p:spPr>
      </p:sp>
      <p:sp>
        <p:nvSpPr>
          <p:cNvPr id="37" name="Shape 35"/>
          <p:cNvSpPr/>
          <p:nvPr/>
        </p:nvSpPr>
        <p:spPr>
          <a:xfrm>
            <a:off x="5303520" y="3200400"/>
            <a:ext cx="1005840" cy="384048"/>
          </a:xfrm>
          <a:prstGeom prst="rect">
            <a:avLst/>
          </a:prstGeom>
          <a:solidFill>
            <a:srgbClr val="0A1628"/>
          </a:solidFill>
          <a:ln w="12700">
            <a:solidFill>
              <a:srgbClr val="F59E0B"/>
            </a:solidFill>
            <a:prstDash val="solid"/>
          </a:ln>
        </p:spPr>
      </p:sp>
      <p:sp>
        <p:nvSpPr>
          <p:cNvPr id="38" name="Text 36"/>
          <p:cNvSpPr/>
          <p:nvPr/>
        </p:nvSpPr>
        <p:spPr>
          <a:xfrm>
            <a:off x="5303520" y="3200400"/>
            <a:ext cx="1005840" cy="384048"/>
          </a:xfrm>
          <a:prstGeom prst="rect">
            <a:avLst/>
          </a:prstGeom>
          <a:noFill/>
          <a:ln/>
        </p:spPr>
        <p:txBody>
          <a:bodyPr wrap="square" lIns="0" tIns="0" rIns="0" bIns="0" rtlCol="0" anchor="ctr"/>
          <a:lstStyle/>
          <a:p>
            <a:pPr algn="ctr" indent="0" marL="0">
              <a:buNone/>
            </a:pPr>
            <a:r>
              <a:rPr lang="en-US" sz="1100" dirty="0">
                <a:solidFill>
                  <a:srgbClr val="F59E0B"/>
                </a:solidFill>
                <a:latin typeface="Calibri" pitchFamily="34" charset="0"/>
                <a:ea typeface="Calibri" pitchFamily="34" charset="-122"/>
                <a:cs typeface="Calibri" pitchFamily="34" charset="-120"/>
              </a:rPr>
              <a:t>🗄️ DB</a:t>
            </a:r>
            <a:endParaRPr lang="en-US" sz="1100" dirty="0"/>
          </a:p>
        </p:txBody>
      </p:sp>
      <p:sp>
        <p:nvSpPr>
          <p:cNvPr id="39" name="Shape 37"/>
          <p:cNvSpPr/>
          <p:nvPr/>
        </p:nvSpPr>
        <p:spPr>
          <a:xfrm>
            <a:off x="5806440" y="3081528"/>
            <a:ext cx="0" cy="91440"/>
          </a:xfrm>
          <a:prstGeom prst="line">
            <a:avLst/>
          </a:prstGeom>
          <a:noFill/>
          <a:ln w="19050">
            <a:solidFill>
              <a:srgbClr val="F59E0B"/>
            </a:solidFill>
            <a:prstDash val="solid"/>
          </a:ln>
        </p:spPr>
      </p:sp>
      <p:sp>
        <p:nvSpPr>
          <p:cNvPr id="40" name="Shape 38"/>
          <p:cNvSpPr/>
          <p:nvPr/>
        </p:nvSpPr>
        <p:spPr>
          <a:xfrm>
            <a:off x="6903720" y="3200400"/>
            <a:ext cx="1005840" cy="384048"/>
          </a:xfrm>
          <a:prstGeom prst="rect">
            <a:avLst/>
          </a:prstGeom>
          <a:solidFill>
            <a:srgbClr val="0A1628"/>
          </a:solidFill>
          <a:ln w="12700">
            <a:solidFill>
              <a:srgbClr val="10B981"/>
            </a:solidFill>
            <a:prstDash val="solid"/>
          </a:ln>
        </p:spPr>
      </p:sp>
      <p:sp>
        <p:nvSpPr>
          <p:cNvPr id="41" name="Text 39"/>
          <p:cNvSpPr/>
          <p:nvPr/>
        </p:nvSpPr>
        <p:spPr>
          <a:xfrm>
            <a:off x="6903720" y="3200400"/>
            <a:ext cx="1005840" cy="384048"/>
          </a:xfrm>
          <a:prstGeom prst="rect">
            <a:avLst/>
          </a:prstGeom>
          <a:noFill/>
          <a:ln/>
        </p:spPr>
        <p:txBody>
          <a:bodyPr wrap="square" lIns="0" tIns="0" rIns="0" bIns="0" rtlCol="0" anchor="ctr"/>
          <a:lstStyle/>
          <a:p>
            <a:pPr algn="ctr" indent="0" marL="0">
              <a:buNone/>
            </a:pPr>
            <a:r>
              <a:rPr lang="en-US" sz="1100" dirty="0">
                <a:solidFill>
                  <a:srgbClr val="10B981"/>
                </a:solidFill>
                <a:latin typeface="Calibri" pitchFamily="34" charset="0"/>
                <a:ea typeface="Calibri" pitchFamily="34" charset="-122"/>
                <a:cs typeface="Calibri" pitchFamily="34" charset="-120"/>
              </a:rPr>
              <a:t>🗄️ DB</a:t>
            </a:r>
            <a:endParaRPr lang="en-US" sz="1100" dirty="0"/>
          </a:p>
        </p:txBody>
      </p:sp>
      <p:sp>
        <p:nvSpPr>
          <p:cNvPr id="42" name="Shape 40"/>
          <p:cNvSpPr/>
          <p:nvPr/>
        </p:nvSpPr>
        <p:spPr>
          <a:xfrm>
            <a:off x="7406640" y="3081528"/>
            <a:ext cx="0" cy="91440"/>
          </a:xfrm>
          <a:prstGeom prst="line">
            <a:avLst/>
          </a:prstGeom>
          <a:noFill/>
          <a:ln w="19050">
            <a:solidFill>
              <a:srgbClr val="10B981"/>
            </a:solidFill>
            <a:prstDash val="solid"/>
          </a:ln>
        </p:spPr>
      </p:sp>
      <p:sp>
        <p:nvSpPr>
          <p:cNvPr id="43" name="Shape 41"/>
          <p:cNvSpPr/>
          <p:nvPr/>
        </p:nvSpPr>
        <p:spPr>
          <a:xfrm>
            <a:off x="274320" y="3749040"/>
            <a:ext cx="4206240" cy="1261872"/>
          </a:xfrm>
          <a:prstGeom prst="rect">
            <a:avLst/>
          </a:prstGeom>
          <a:solidFill>
            <a:srgbClr val="1E3A5F"/>
          </a:solidFill>
          <a:ln w="12700">
            <a:solidFill>
              <a:srgbClr val="1E3A5F"/>
            </a:solidFill>
            <a:prstDash val="solid"/>
          </a:ln>
          <a:effectLst>
            <a:outerShdw sx="100000" sy="100000" kx="0" ky="0" algn="bl" rotWithShape="0" blurRad="101600" dist="38100" dir="8100000">
              <a:srgbClr val="000000">
                <a:alpha val="25000"/>
              </a:srgbClr>
            </a:outerShdw>
          </a:effectLst>
        </p:spPr>
      </p:sp>
      <p:sp>
        <p:nvSpPr>
          <p:cNvPr id="44" name="Text 42"/>
          <p:cNvSpPr/>
          <p:nvPr/>
        </p:nvSpPr>
        <p:spPr>
          <a:xfrm>
            <a:off x="365760" y="3794760"/>
            <a:ext cx="4023360" cy="320040"/>
          </a:xfrm>
          <a:prstGeom prst="rect">
            <a:avLst/>
          </a:prstGeom>
          <a:noFill/>
          <a:ln/>
        </p:spPr>
        <p:txBody>
          <a:bodyPr wrap="square" lIns="0" tIns="0" rIns="0" bIns="0" rtlCol="0" anchor="ctr"/>
          <a:lstStyle/>
          <a:p>
            <a:pPr indent="0" marL="0">
              <a:buNone/>
            </a:pPr>
            <a:r>
              <a:rPr lang="en-US" sz="1400" b="1" dirty="0">
                <a:solidFill>
                  <a:srgbClr val="10B981"/>
                </a:solidFill>
                <a:latin typeface="Calibri" pitchFamily="34" charset="0"/>
                <a:ea typeface="Calibri" pitchFamily="34" charset="-122"/>
                <a:cs typeface="Calibri" pitchFamily="34" charset="-120"/>
              </a:rPr>
              <a:t>PROS</a:t>
            </a:r>
            <a:endParaRPr lang="en-US" sz="1400" dirty="0"/>
          </a:p>
        </p:txBody>
      </p:sp>
      <p:sp>
        <p:nvSpPr>
          <p:cNvPr id="45" name="Text 43"/>
          <p:cNvSpPr/>
          <p:nvPr/>
        </p:nvSpPr>
        <p:spPr>
          <a:xfrm>
            <a:off x="365760" y="4133088"/>
            <a:ext cx="4023360" cy="256032"/>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  Each service scales independently</a:t>
            </a:r>
            <a:endParaRPr lang="en-US" sz="1200" dirty="0"/>
          </a:p>
        </p:txBody>
      </p:sp>
      <p:sp>
        <p:nvSpPr>
          <p:cNvPr id="46" name="Text 44"/>
          <p:cNvSpPr/>
          <p:nvPr/>
        </p:nvSpPr>
        <p:spPr>
          <a:xfrm>
            <a:off x="365760" y="4407408"/>
            <a:ext cx="4023360" cy="256032"/>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  One service fails ≠ all fail</a:t>
            </a:r>
            <a:endParaRPr lang="en-US" sz="1200" dirty="0"/>
          </a:p>
        </p:txBody>
      </p:sp>
      <p:sp>
        <p:nvSpPr>
          <p:cNvPr id="47" name="Text 45"/>
          <p:cNvSpPr/>
          <p:nvPr/>
        </p:nvSpPr>
        <p:spPr>
          <a:xfrm>
            <a:off x="365760" y="4681728"/>
            <a:ext cx="4023360" cy="256032"/>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  Different tech per service</a:t>
            </a:r>
            <a:endParaRPr lang="en-US" sz="1200" dirty="0"/>
          </a:p>
        </p:txBody>
      </p:sp>
      <p:sp>
        <p:nvSpPr>
          <p:cNvPr id="48" name="Shape 46"/>
          <p:cNvSpPr/>
          <p:nvPr/>
        </p:nvSpPr>
        <p:spPr>
          <a:xfrm>
            <a:off x="4663440" y="3749040"/>
            <a:ext cx="4206240" cy="1261872"/>
          </a:xfrm>
          <a:prstGeom prst="rect">
            <a:avLst/>
          </a:prstGeom>
          <a:solidFill>
            <a:srgbClr val="1E3A5F"/>
          </a:solidFill>
          <a:ln w="12700">
            <a:solidFill>
              <a:srgbClr val="1E3A5F"/>
            </a:solidFill>
            <a:prstDash val="solid"/>
          </a:ln>
          <a:effectLst>
            <a:outerShdw sx="100000" sy="100000" kx="0" ky="0" algn="bl" rotWithShape="0" blurRad="101600" dist="38100" dir="8100000">
              <a:srgbClr val="000000">
                <a:alpha val="25000"/>
              </a:srgbClr>
            </a:outerShdw>
          </a:effectLst>
        </p:spPr>
      </p:sp>
      <p:sp>
        <p:nvSpPr>
          <p:cNvPr id="49" name="Text 47"/>
          <p:cNvSpPr/>
          <p:nvPr/>
        </p:nvSpPr>
        <p:spPr>
          <a:xfrm>
            <a:off x="4754880" y="3794760"/>
            <a:ext cx="4023360" cy="320040"/>
          </a:xfrm>
          <a:prstGeom prst="rect">
            <a:avLst/>
          </a:prstGeom>
          <a:noFill/>
          <a:ln/>
        </p:spPr>
        <p:txBody>
          <a:bodyPr wrap="square" lIns="0" tIns="0" rIns="0" bIns="0" rtlCol="0" anchor="ctr"/>
          <a:lstStyle/>
          <a:p>
            <a:pPr indent="0" marL="0">
              <a:buNone/>
            </a:pPr>
            <a:r>
              <a:rPr lang="en-US" sz="1400" b="1" dirty="0">
                <a:solidFill>
                  <a:srgbClr val="F59E0B"/>
                </a:solidFill>
                <a:latin typeface="Calibri" pitchFamily="34" charset="0"/>
                <a:ea typeface="Calibri" pitchFamily="34" charset="-122"/>
                <a:cs typeface="Calibri" pitchFamily="34" charset="-120"/>
              </a:rPr>
              <a:t>CHALLENGES</a:t>
            </a:r>
            <a:endParaRPr lang="en-US" sz="1400" dirty="0"/>
          </a:p>
        </p:txBody>
      </p:sp>
      <p:sp>
        <p:nvSpPr>
          <p:cNvPr id="50" name="Text 48"/>
          <p:cNvSpPr/>
          <p:nvPr/>
        </p:nvSpPr>
        <p:spPr>
          <a:xfrm>
            <a:off x="4754880" y="4133088"/>
            <a:ext cx="4023360" cy="256032"/>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  More complex to manage</a:t>
            </a:r>
            <a:endParaRPr lang="en-US" sz="1200" dirty="0"/>
          </a:p>
        </p:txBody>
      </p:sp>
      <p:sp>
        <p:nvSpPr>
          <p:cNvPr id="51" name="Text 49"/>
          <p:cNvSpPr/>
          <p:nvPr/>
        </p:nvSpPr>
        <p:spPr>
          <a:xfrm>
            <a:off x="4754880" y="4407408"/>
            <a:ext cx="4023360" cy="256032"/>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  Network overhead</a:t>
            </a:r>
            <a:endParaRPr lang="en-US" sz="1200" dirty="0"/>
          </a:p>
        </p:txBody>
      </p:sp>
      <p:sp>
        <p:nvSpPr>
          <p:cNvPr id="52" name="Text 50"/>
          <p:cNvSpPr/>
          <p:nvPr/>
        </p:nvSpPr>
        <p:spPr>
          <a:xfrm>
            <a:off x="4754880" y="4681728"/>
            <a:ext cx="4023360" cy="256032"/>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  Needs DevOps maturity</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D1B2A"/>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D4FF"/>
          </a:solidFill>
          <a:ln w="12700">
            <a:solidFill>
              <a:srgbClr val="00D4FF"/>
            </a:solidFill>
            <a:prstDash val="solid"/>
          </a:ln>
        </p:spPr>
      </p:sp>
      <p:sp>
        <p:nvSpPr>
          <p:cNvPr id="3" name="Text 1"/>
          <p:cNvSpPr/>
          <p:nvPr/>
        </p:nvSpPr>
        <p:spPr>
          <a:xfrm>
            <a:off x="457200" y="137160"/>
            <a:ext cx="8229600" cy="640080"/>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Load Balancing</a:t>
            </a:r>
            <a:endParaRPr lang="en-US" sz="3200" dirty="0"/>
          </a:p>
        </p:txBody>
      </p:sp>
      <p:sp>
        <p:nvSpPr>
          <p:cNvPr id="4" name="Text 2"/>
          <p:cNvSpPr/>
          <p:nvPr/>
        </p:nvSpPr>
        <p:spPr>
          <a:xfrm>
            <a:off x="457200" y="749808"/>
            <a:ext cx="8229600" cy="320040"/>
          </a:xfrm>
          <a:prstGeom prst="rect">
            <a:avLst/>
          </a:prstGeom>
          <a:noFill/>
          <a:ln/>
        </p:spPr>
        <p:txBody>
          <a:bodyPr wrap="square" lIns="0" tIns="0" rIns="0" bIns="0" rtlCol="0" anchor="ctr"/>
          <a:lstStyle/>
          <a:p>
            <a:pPr indent="0" marL="0">
              <a:buNone/>
            </a:pPr>
            <a:r>
              <a:rPr lang="en-US" sz="1400" i="1" dirty="0">
                <a:solidFill>
                  <a:srgbClr val="00D4FF"/>
                </a:solidFill>
                <a:latin typeface="Calibri" pitchFamily="34" charset="0"/>
                <a:ea typeface="Calibri" pitchFamily="34" charset="-122"/>
                <a:cs typeface="Calibri" pitchFamily="34" charset="-120"/>
              </a:rPr>
              <a:t>Section 03 · Handling High Traffic</a:t>
            </a:r>
            <a:endParaRPr lang="en-US" sz="1400" dirty="0"/>
          </a:p>
        </p:txBody>
      </p:sp>
      <p:sp>
        <p:nvSpPr>
          <p:cNvPr id="5" name="Text 3"/>
          <p:cNvSpPr/>
          <p:nvPr/>
        </p:nvSpPr>
        <p:spPr>
          <a:xfrm>
            <a:off x="91440" y="1463040"/>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6" name="Text 4"/>
          <p:cNvSpPr/>
          <p:nvPr/>
        </p:nvSpPr>
        <p:spPr>
          <a:xfrm>
            <a:off x="566928" y="1463040"/>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7" name="Text 5"/>
          <p:cNvSpPr/>
          <p:nvPr/>
        </p:nvSpPr>
        <p:spPr>
          <a:xfrm>
            <a:off x="1042416" y="1463040"/>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8" name="Text 6"/>
          <p:cNvSpPr/>
          <p:nvPr/>
        </p:nvSpPr>
        <p:spPr>
          <a:xfrm>
            <a:off x="1517904" y="1463040"/>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9" name="Text 7"/>
          <p:cNvSpPr/>
          <p:nvPr/>
        </p:nvSpPr>
        <p:spPr>
          <a:xfrm>
            <a:off x="1993392" y="1463040"/>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0" name="Text 8"/>
          <p:cNvSpPr/>
          <p:nvPr/>
        </p:nvSpPr>
        <p:spPr>
          <a:xfrm>
            <a:off x="0" y="1920240"/>
            <a:ext cx="2651760" cy="274320"/>
          </a:xfrm>
          <a:prstGeom prst="rect">
            <a:avLst/>
          </a:prstGeom>
          <a:noFill/>
          <a:ln/>
        </p:spPr>
        <p:txBody>
          <a:bodyPr wrap="square" lIns="0" tIns="0" rIns="0" bIns="0" rtlCol="0" anchor="ctr"/>
          <a:lstStyle/>
          <a:p>
            <a:pPr algn="ctr" indent="0" marL="0">
              <a:buNone/>
            </a:pPr>
            <a:r>
              <a:rPr lang="en-US" sz="1100" dirty="0">
                <a:solidFill>
                  <a:srgbClr val="94A3B8"/>
                </a:solidFill>
                <a:latin typeface="Calibri" pitchFamily="34" charset="0"/>
                <a:ea typeface="Calibri" pitchFamily="34" charset="-122"/>
                <a:cs typeface="Calibri" pitchFamily="34" charset="-120"/>
              </a:rPr>
              <a:t>Thousands of Users</a:t>
            </a:r>
            <a:endParaRPr lang="en-US" sz="1100" dirty="0"/>
          </a:p>
        </p:txBody>
      </p:sp>
      <p:sp>
        <p:nvSpPr>
          <p:cNvPr id="11" name="Shape 9"/>
          <p:cNvSpPr/>
          <p:nvPr/>
        </p:nvSpPr>
        <p:spPr>
          <a:xfrm>
            <a:off x="2697480" y="1783080"/>
            <a:ext cx="685800" cy="0"/>
          </a:xfrm>
          <a:prstGeom prst="line">
            <a:avLst/>
          </a:prstGeom>
          <a:noFill/>
          <a:ln w="25400">
            <a:solidFill>
              <a:srgbClr val="00D4FF"/>
            </a:solidFill>
            <a:prstDash val="solid"/>
            <a:tailEnd type="open"/>
          </a:ln>
        </p:spPr>
      </p:sp>
      <p:sp>
        <p:nvSpPr>
          <p:cNvPr id="12" name="Shape 10"/>
          <p:cNvSpPr/>
          <p:nvPr/>
        </p:nvSpPr>
        <p:spPr>
          <a:xfrm>
            <a:off x="3401568" y="1417320"/>
            <a:ext cx="2331720" cy="777240"/>
          </a:xfrm>
          <a:prstGeom prst="rect">
            <a:avLst/>
          </a:prstGeom>
          <a:solidFill>
            <a:srgbClr val="0A1628"/>
          </a:solidFill>
          <a:ln w="12700">
            <a:solidFill>
              <a:srgbClr val="1E3A5F"/>
            </a:solidFill>
            <a:prstDash val="solid"/>
          </a:ln>
          <a:effectLst>
            <a:outerShdw sx="100000" sy="100000" kx="0" ky="0" algn="bl" rotWithShape="0" blurRad="101600" dist="38100" dir="8100000">
              <a:srgbClr val="000000">
                <a:alpha val="25000"/>
              </a:srgbClr>
            </a:outerShdw>
          </a:effectLst>
        </p:spPr>
      </p:sp>
      <p:sp>
        <p:nvSpPr>
          <p:cNvPr id="13" name="Shape 11"/>
          <p:cNvSpPr/>
          <p:nvPr/>
        </p:nvSpPr>
        <p:spPr>
          <a:xfrm>
            <a:off x="3401568" y="1417320"/>
            <a:ext cx="2331720" cy="64008"/>
          </a:xfrm>
          <a:prstGeom prst="rect">
            <a:avLst/>
          </a:prstGeom>
          <a:solidFill>
            <a:srgbClr val="00D4FF"/>
          </a:solidFill>
          <a:ln w="12700">
            <a:solidFill>
              <a:srgbClr val="00D4FF"/>
            </a:solidFill>
            <a:prstDash val="solid"/>
          </a:ln>
        </p:spPr>
      </p:sp>
      <p:sp>
        <p:nvSpPr>
          <p:cNvPr id="14" name="Text 12"/>
          <p:cNvSpPr/>
          <p:nvPr/>
        </p:nvSpPr>
        <p:spPr>
          <a:xfrm>
            <a:off x="3401568" y="1481328"/>
            <a:ext cx="2331720" cy="640080"/>
          </a:xfrm>
          <a:prstGeom prst="rect">
            <a:avLst/>
          </a:prstGeom>
          <a:noFill/>
          <a:ln/>
        </p:spPr>
        <p:txBody>
          <a:bodyPr wrap="square" lIns="0" tIns="0" rIns="0" bIns="0" rtlCol="0" anchor="ctr"/>
          <a:lstStyle/>
          <a:p>
            <a:pPr algn="ctr" indent="0" marL="0">
              <a:buNone/>
            </a:pPr>
            <a:r>
              <a:rPr lang="en-US" sz="1400" b="1" dirty="0">
                <a:solidFill>
                  <a:srgbClr val="00D4FF"/>
                </a:solidFill>
                <a:latin typeface="Calibri" pitchFamily="34" charset="0"/>
                <a:ea typeface="Calibri" pitchFamily="34" charset="-122"/>
                <a:cs typeface="Calibri" pitchFamily="34" charset="-120"/>
              </a:rPr>
              <a:t>⚖️  LOAD BALANCER</a:t>
            </a:r>
            <a:endParaRPr lang="en-US" sz="1400" dirty="0"/>
          </a:p>
        </p:txBody>
      </p:sp>
      <p:sp>
        <p:nvSpPr>
          <p:cNvPr id="15" name="Shape 13"/>
          <p:cNvSpPr/>
          <p:nvPr/>
        </p:nvSpPr>
        <p:spPr>
          <a:xfrm>
            <a:off x="5760720" y="1801368"/>
            <a:ext cx="457200" cy="-292608"/>
          </a:xfrm>
          <a:prstGeom prst="line">
            <a:avLst/>
          </a:prstGeom>
          <a:noFill/>
          <a:ln w="19050">
            <a:solidFill>
              <a:srgbClr val="0EA5E9"/>
            </a:solidFill>
            <a:prstDash val="solid"/>
            <a:tailEnd type="open"/>
          </a:ln>
        </p:spPr>
      </p:sp>
      <p:sp>
        <p:nvSpPr>
          <p:cNvPr id="16" name="Shape 14"/>
          <p:cNvSpPr/>
          <p:nvPr/>
        </p:nvSpPr>
        <p:spPr>
          <a:xfrm>
            <a:off x="6236208" y="1188720"/>
            <a:ext cx="2103120" cy="658368"/>
          </a:xfrm>
          <a:prstGeom prst="rect">
            <a:avLst/>
          </a:prstGeom>
          <a:solidFill>
            <a:srgbClr val="1E3A5F"/>
          </a:solidFill>
          <a:ln w="12700">
            <a:solidFill>
              <a:srgbClr val="1E3A5F"/>
            </a:solidFill>
            <a:prstDash val="solid"/>
          </a:ln>
          <a:effectLst>
            <a:outerShdw sx="100000" sy="100000" kx="0" ky="0" algn="bl" rotWithShape="0" blurRad="101600" dist="38100" dir="8100000">
              <a:srgbClr val="000000">
                <a:alpha val="25000"/>
              </a:srgbClr>
            </a:outerShdw>
          </a:effectLst>
        </p:spPr>
      </p:sp>
      <p:sp>
        <p:nvSpPr>
          <p:cNvPr id="17" name="Shape 15"/>
          <p:cNvSpPr/>
          <p:nvPr/>
        </p:nvSpPr>
        <p:spPr>
          <a:xfrm>
            <a:off x="6236208" y="1188720"/>
            <a:ext cx="2103120" cy="54864"/>
          </a:xfrm>
          <a:prstGeom prst="rect">
            <a:avLst/>
          </a:prstGeom>
          <a:solidFill>
            <a:srgbClr val="0EA5E9"/>
          </a:solidFill>
          <a:ln w="12700">
            <a:solidFill>
              <a:srgbClr val="0EA5E9"/>
            </a:solidFill>
            <a:prstDash val="solid"/>
          </a:ln>
        </p:spPr>
      </p:sp>
      <p:sp>
        <p:nvSpPr>
          <p:cNvPr id="18" name="Text 16"/>
          <p:cNvSpPr/>
          <p:nvPr/>
        </p:nvSpPr>
        <p:spPr>
          <a:xfrm>
            <a:off x="6263640" y="1280160"/>
            <a:ext cx="2011680" cy="502920"/>
          </a:xfrm>
          <a:prstGeom prst="rect">
            <a:avLst/>
          </a:prstGeom>
          <a:noFill/>
          <a:ln/>
        </p:spPr>
        <p:txBody>
          <a:bodyPr wrap="square" lIns="0" tIns="0" rIns="0" bIns="0" rtlCol="0" anchor="ctr"/>
          <a:lstStyle/>
          <a:p>
            <a:pPr algn="ctr" indent="0" marL="0">
              <a:buNone/>
            </a:pPr>
            <a:r>
              <a:rPr lang="en-US" sz="1300" dirty="0">
                <a:solidFill>
                  <a:srgbClr val="0EA5E9"/>
                </a:solidFill>
                <a:latin typeface="Calibri" pitchFamily="34" charset="0"/>
                <a:ea typeface="Calibri" pitchFamily="34" charset="-122"/>
                <a:cs typeface="Calibri" pitchFamily="34" charset="-120"/>
              </a:rPr>
              <a:t>🖧 Server Instance</a:t>
            </a:r>
            <a:endParaRPr lang="en-US" sz="1300" dirty="0"/>
          </a:p>
        </p:txBody>
      </p:sp>
      <p:sp>
        <p:nvSpPr>
          <p:cNvPr id="19" name="Shape 17"/>
          <p:cNvSpPr/>
          <p:nvPr/>
        </p:nvSpPr>
        <p:spPr>
          <a:xfrm>
            <a:off x="5760720" y="1801368"/>
            <a:ext cx="457200" cy="438912"/>
          </a:xfrm>
          <a:prstGeom prst="line">
            <a:avLst/>
          </a:prstGeom>
          <a:noFill/>
          <a:ln w="19050">
            <a:solidFill>
              <a:srgbClr val="10B981"/>
            </a:solidFill>
            <a:prstDash val="solid"/>
            <a:tailEnd type="open"/>
          </a:ln>
        </p:spPr>
      </p:sp>
      <p:sp>
        <p:nvSpPr>
          <p:cNvPr id="20" name="Shape 18"/>
          <p:cNvSpPr/>
          <p:nvPr/>
        </p:nvSpPr>
        <p:spPr>
          <a:xfrm>
            <a:off x="6236208" y="1920240"/>
            <a:ext cx="2103120" cy="658368"/>
          </a:xfrm>
          <a:prstGeom prst="rect">
            <a:avLst/>
          </a:prstGeom>
          <a:solidFill>
            <a:srgbClr val="1E3A5F"/>
          </a:solidFill>
          <a:ln w="12700">
            <a:solidFill>
              <a:srgbClr val="1E3A5F"/>
            </a:solidFill>
            <a:prstDash val="solid"/>
          </a:ln>
          <a:effectLst>
            <a:outerShdw sx="100000" sy="100000" kx="0" ky="0" algn="bl" rotWithShape="0" blurRad="101600" dist="38100" dir="8100000">
              <a:srgbClr val="000000">
                <a:alpha val="25000"/>
              </a:srgbClr>
            </a:outerShdw>
          </a:effectLst>
        </p:spPr>
      </p:sp>
      <p:sp>
        <p:nvSpPr>
          <p:cNvPr id="21" name="Shape 19"/>
          <p:cNvSpPr/>
          <p:nvPr/>
        </p:nvSpPr>
        <p:spPr>
          <a:xfrm>
            <a:off x="6236208" y="1920240"/>
            <a:ext cx="2103120" cy="54864"/>
          </a:xfrm>
          <a:prstGeom prst="rect">
            <a:avLst/>
          </a:prstGeom>
          <a:solidFill>
            <a:srgbClr val="10B981"/>
          </a:solidFill>
          <a:ln w="12700">
            <a:solidFill>
              <a:srgbClr val="10B981"/>
            </a:solidFill>
            <a:prstDash val="solid"/>
          </a:ln>
        </p:spPr>
      </p:sp>
      <p:sp>
        <p:nvSpPr>
          <p:cNvPr id="22" name="Text 20"/>
          <p:cNvSpPr/>
          <p:nvPr/>
        </p:nvSpPr>
        <p:spPr>
          <a:xfrm>
            <a:off x="6263640" y="2011680"/>
            <a:ext cx="2011680" cy="502920"/>
          </a:xfrm>
          <a:prstGeom prst="rect">
            <a:avLst/>
          </a:prstGeom>
          <a:noFill/>
          <a:ln/>
        </p:spPr>
        <p:txBody>
          <a:bodyPr wrap="square" lIns="0" tIns="0" rIns="0" bIns="0" rtlCol="0" anchor="ctr"/>
          <a:lstStyle/>
          <a:p>
            <a:pPr algn="ctr" indent="0" marL="0">
              <a:buNone/>
            </a:pPr>
            <a:r>
              <a:rPr lang="en-US" sz="1300" dirty="0">
                <a:solidFill>
                  <a:srgbClr val="10B981"/>
                </a:solidFill>
                <a:latin typeface="Calibri" pitchFamily="34" charset="0"/>
                <a:ea typeface="Calibri" pitchFamily="34" charset="-122"/>
                <a:cs typeface="Calibri" pitchFamily="34" charset="-120"/>
              </a:rPr>
              <a:t>🖧 Server Instance</a:t>
            </a:r>
            <a:endParaRPr lang="en-US" sz="1300" dirty="0"/>
          </a:p>
        </p:txBody>
      </p:sp>
      <p:sp>
        <p:nvSpPr>
          <p:cNvPr id="23" name="Shape 21"/>
          <p:cNvSpPr/>
          <p:nvPr/>
        </p:nvSpPr>
        <p:spPr>
          <a:xfrm>
            <a:off x="5760720" y="1801368"/>
            <a:ext cx="457200" cy="1170432"/>
          </a:xfrm>
          <a:prstGeom prst="line">
            <a:avLst/>
          </a:prstGeom>
          <a:noFill/>
          <a:ln w="19050">
            <a:solidFill>
              <a:srgbClr val="7C3AED"/>
            </a:solidFill>
            <a:prstDash val="solid"/>
            <a:tailEnd type="open"/>
          </a:ln>
        </p:spPr>
      </p:sp>
      <p:sp>
        <p:nvSpPr>
          <p:cNvPr id="24" name="Shape 22"/>
          <p:cNvSpPr/>
          <p:nvPr/>
        </p:nvSpPr>
        <p:spPr>
          <a:xfrm>
            <a:off x="6236208" y="2651760"/>
            <a:ext cx="2103120" cy="658368"/>
          </a:xfrm>
          <a:prstGeom prst="rect">
            <a:avLst/>
          </a:prstGeom>
          <a:solidFill>
            <a:srgbClr val="1E3A5F"/>
          </a:solidFill>
          <a:ln w="12700">
            <a:solidFill>
              <a:srgbClr val="1E3A5F"/>
            </a:solidFill>
            <a:prstDash val="solid"/>
          </a:ln>
          <a:effectLst>
            <a:outerShdw sx="100000" sy="100000" kx="0" ky="0" algn="bl" rotWithShape="0" blurRad="101600" dist="38100" dir="8100000">
              <a:srgbClr val="000000">
                <a:alpha val="25000"/>
              </a:srgbClr>
            </a:outerShdw>
          </a:effectLst>
        </p:spPr>
      </p:sp>
      <p:sp>
        <p:nvSpPr>
          <p:cNvPr id="25" name="Shape 23"/>
          <p:cNvSpPr/>
          <p:nvPr/>
        </p:nvSpPr>
        <p:spPr>
          <a:xfrm>
            <a:off x="6236208" y="2651760"/>
            <a:ext cx="2103120" cy="54864"/>
          </a:xfrm>
          <a:prstGeom prst="rect">
            <a:avLst/>
          </a:prstGeom>
          <a:solidFill>
            <a:srgbClr val="7C3AED"/>
          </a:solidFill>
          <a:ln w="12700">
            <a:solidFill>
              <a:srgbClr val="7C3AED"/>
            </a:solidFill>
            <a:prstDash val="solid"/>
          </a:ln>
        </p:spPr>
      </p:sp>
      <p:sp>
        <p:nvSpPr>
          <p:cNvPr id="26" name="Text 24"/>
          <p:cNvSpPr/>
          <p:nvPr/>
        </p:nvSpPr>
        <p:spPr>
          <a:xfrm>
            <a:off x="6263640" y="2743200"/>
            <a:ext cx="2011680" cy="502920"/>
          </a:xfrm>
          <a:prstGeom prst="rect">
            <a:avLst/>
          </a:prstGeom>
          <a:noFill/>
          <a:ln/>
        </p:spPr>
        <p:txBody>
          <a:bodyPr wrap="square" lIns="0" tIns="0" rIns="0" bIns="0" rtlCol="0" anchor="ctr"/>
          <a:lstStyle/>
          <a:p>
            <a:pPr algn="ctr" indent="0" marL="0">
              <a:buNone/>
            </a:pPr>
            <a:r>
              <a:rPr lang="en-US" sz="1300" dirty="0">
                <a:solidFill>
                  <a:srgbClr val="7C3AED"/>
                </a:solidFill>
                <a:latin typeface="Calibri" pitchFamily="34" charset="0"/>
                <a:ea typeface="Calibri" pitchFamily="34" charset="-122"/>
                <a:cs typeface="Calibri" pitchFamily="34" charset="-120"/>
              </a:rPr>
              <a:t>🖧 Server Instance</a:t>
            </a:r>
            <a:endParaRPr lang="en-US" sz="1300" dirty="0"/>
          </a:p>
        </p:txBody>
      </p:sp>
      <p:sp>
        <p:nvSpPr>
          <p:cNvPr id="27" name="Shape 25"/>
          <p:cNvSpPr/>
          <p:nvPr/>
        </p:nvSpPr>
        <p:spPr>
          <a:xfrm>
            <a:off x="320040" y="3246120"/>
            <a:ext cx="8503920" cy="457200"/>
          </a:xfrm>
          <a:prstGeom prst="rect">
            <a:avLst/>
          </a:prstGeom>
          <a:solidFill>
            <a:srgbClr val="1E3A5F"/>
          </a:solidFill>
          <a:ln w="12700">
            <a:solidFill>
              <a:srgbClr val="1E3A5F"/>
            </a:solidFill>
            <a:prstDash val="solid"/>
          </a:ln>
          <a:effectLst>
            <a:outerShdw sx="100000" sy="100000" kx="0" ky="0" algn="bl" rotWithShape="0" blurRad="101600" dist="38100" dir="8100000">
              <a:srgbClr val="000000">
                <a:alpha val="25000"/>
              </a:srgbClr>
            </a:outerShdw>
          </a:effectLst>
        </p:spPr>
      </p:sp>
      <p:sp>
        <p:nvSpPr>
          <p:cNvPr id="28" name="Shape 26"/>
          <p:cNvSpPr/>
          <p:nvPr/>
        </p:nvSpPr>
        <p:spPr>
          <a:xfrm>
            <a:off x="384048" y="3291840"/>
            <a:ext cx="201168" cy="201168"/>
          </a:xfrm>
          <a:prstGeom prst="ellipse">
            <a:avLst/>
          </a:prstGeom>
          <a:solidFill>
            <a:srgbClr val="00D4FF"/>
          </a:solidFill>
          <a:ln w="12700">
            <a:solidFill>
              <a:srgbClr val="00D4FF"/>
            </a:solidFill>
            <a:prstDash val="solid"/>
          </a:ln>
        </p:spPr>
      </p:sp>
      <p:sp>
        <p:nvSpPr>
          <p:cNvPr id="29" name="Text 27"/>
          <p:cNvSpPr/>
          <p:nvPr/>
        </p:nvSpPr>
        <p:spPr>
          <a:xfrm>
            <a:off x="685800" y="3264408"/>
            <a:ext cx="2011680" cy="384048"/>
          </a:xfrm>
          <a:prstGeom prst="rect">
            <a:avLst/>
          </a:prstGeom>
          <a:noFill/>
          <a:ln/>
        </p:spPr>
        <p:txBody>
          <a:bodyPr wrap="square" lIns="0" tIns="0" rIns="0" bIns="0" rtlCol="0" anchor="ctr"/>
          <a:lstStyle/>
          <a:p>
            <a:pPr indent="0" marL="0">
              <a:buNone/>
            </a:pPr>
            <a:r>
              <a:rPr lang="en-US" sz="1300" b="1" dirty="0">
                <a:solidFill>
                  <a:srgbClr val="00D4FF"/>
                </a:solidFill>
                <a:latin typeface="Calibri" pitchFamily="34" charset="0"/>
                <a:ea typeface="Calibri" pitchFamily="34" charset="-122"/>
                <a:cs typeface="Calibri" pitchFamily="34" charset="-120"/>
              </a:rPr>
              <a:t>Round Robin</a:t>
            </a:r>
            <a:endParaRPr lang="en-US" sz="1300" dirty="0"/>
          </a:p>
        </p:txBody>
      </p:sp>
      <p:sp>
        <p:nvSpPr>
          <p:cNvPr id="30" name="Text 28"/>
          <p:cNvSpPr/>
          <p:nvPr/>
        </p:nvSpPr>
        <p:spPr>
          <a:xfrm>
            <a:off x="2697480" y="3264408"/>
            <a:ext cx="5943600" cy="384048"/>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Request goes to next server in rotation</a:t>
            </a:r>
            <a:endParaRPr lang="en-US" sz="1300" dirty="0"/>
          </a:p>
        </p:txBody>
      </p:sp>
      <p:sp>
        <p:nvSpPr>
          <p:cNvPr id="31" name="Shape 29"/>
          <p:cNvSpPr/>
          <p:nvPr/>
        </p:nvSpPr>
        <p:spPr>
          <a:xfrm>
            <a:off x="320040" y="3749040"/>
            <a:ext cx="8503920" cy="457200"/>
          </a:xfrm>
          <a:prstGeom prst="rect">
            <a:avLst/>
          </a:prstGeom>
          <a:solidFill>
            <a:srgbClr val="172554"/>
          </a:solidFill>
          <a:ln w="12700">
            <a:solidFill>
              <a:srgbClr val="1E3A5F"/>
            </a:solidFill>
            <a:prstDash val="solid"/>
          </a:ln>
          <a:effectLst>
            <a:outerShdw sx="100000" sy="100000" kx="0" ky="0" algn="bl" rotWithShape="0" blurRad="101600" dist="38100" dir="8100000">
              <a:srgbClr val="000000">
                <a:alpha val="25000"/>
              </a:srgbClr>
            </a:outerShdw>
          </a:effectLst>
        </p:spPr>
      </p:sp>
      <p:sp>
        <p:nvSpPr>
          <p:cNvPr id="32" name="Shape 30"/>
          <p:cNvSpPr/>
          <p:nvPr/>
        </p:nvSpPr>
        <p:spPr>
          <a:xfrm>
            <a:off x="384048" y="3794760"/>
            <a:ext cx="201168" cy="201168"/>
          </a:xfrm>
          <a:prstGeom prst="ellipse">
            <a:avLst/>
          </a:prstGeom>
          <a:solidFill>
            <a:srgbClr val="00D4FF"/>
          </a:solidFill>
          <a:ln w="12700">
            <a:solidFill>
              <a:srgbClr val="00D4FF"/>
            </a:solidFill>
            <a:prstDash val="solid"/>
          </a:ln>
        </p:spPr>
      </p:sp>
      <p:sp>
        <p:nvSpPr>
          <p:cNvPr id="33" name="Text 31"/>
          <p:cNvSpPr/>
          <p:nvPr/>
        </p:nvSpPr>
        <p:spPr>
          <a:xfrm>
            <a:off x="685800" y="3767328"/>
            <a:ext cx="2011680" cy="384048"/>
          </a:xfrm>
          <a:prstGeom prst="rect">
            <a:avLst/>
          </a:prstGeom>
          <a:noFill/>
          <a:ln/>
        </p:spPr>
        <p:txBody>
          <a:bodyPr wrap="square" lIns="0" tIns="0" rIns="0" bIns="0" rtlCol="0" anchor="ctr"/>
          <a:lstStyle/>
          <a:p>
            <a:pPr indent="0" marL="0">
              <a:buNone/>
            </a:pPr>
            <a:r>
              <a:rPr lang="en-US" sz="1300" b="1" dirty="0">
                <a:solidFill>
                  <a:srgbClr val="00D4FF"/>
                </a:solidFill>
                <a:latin typeface="Calibri" pitchFamily="34" charset="0"/>
                <a:ea typeface="Calibri" pitchFamily="34" charset="-122"/>
                <a:cs typeface="Calibri" pitchFamily="34" charset="-120"/>
              </a:rPr>
              <a:t>Least Connections</a:t>
            </a:r>
            <a:endParaRPr lang="en-US" sz="1300" dirty="0"/>
          </a:p>
        </p:txBody>
      </p:sp>
      <p:sp>
        <p:nvSpPr>
          <p:cNvPr id="34" name="Text 32"/>
          <p:cNvSpPr/>
          <p:nvPr/>
        </p:nvSpPr>
        <p:spPr>
          <a:xfrm>
            <a:off x="2697480" y="3767328"/>
            <a:ext cx="5943600" cy="384048"/>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Routes to server with fewest active users</a:t>
            </a:r>
            <a:endParaRPr lang="en-US" sz="1300" dirty="0"/>
          </a:p>
        </p:txBody>
      </p:sp>
      <p:sp>
        <p:nvSpPr>
          <p:cNvPr id="35" name="Shape 33"/>
          <p:cNvSpPr/>
          <p:nvPr/>
        </p:nvSpPr>
        <p:spPr>
          <a:xfrm>
            <a:off x="320040" y="4251960"/>
            <a:ext cx="8503920" cy="457200"/>
          </a:xfrm>
          <a:prstGeom prst="rect">
            <a:avLst/>
          </a:prstGeom>
          <a:solidFill>
            <a:srgbClr val="1E3A5F"/>
          </a:solidFill>
          <a:ln w="12700">
            <a:solidFill>
              <a:srgbClr val="1E3A5F"/>
            </a:solidFill>
            <a:prstDash val="solid"/>
          </a:ln>
          <a:effectLst>
            <a:outerShdw sx="100000" sy="100000" kx="0" ky="0" algn="bl" rotWithShape="0" blurRad="101600" dist="38100" dir="8100000">
              <a:srgbClr val="000000">
                <a:alpha val="25000"/>
              </a:srgbClr>
            </a:outerShdw>
          </a:effectLst>
        </p:spPr>
      </p:sp>
      <p:sp>
        <p:nvSpPr>
          <p:cNvPr id="36" name="Shape 34"/>
          <p:cNvSpPr/>
          <p:nvPr/>
        </p:nvSpPr>
        <p:spPr>
          <a:xfrm>
            <a:off x="384048" y="4297680"/>
            <a:ext cx="201168" cy="201168"/>
          </a:xfrm>
          <a:prstGeom prst="ellipse">
            <a:avLst/>
          </a:prstGeom>
          <a:solidFill>
            <a:srgbClr val="00D4FF"/>
          </a:solidFill>
          <a:ln w="12700">
            <a:solidFill>
              <a:srgbClr val="00D4FF"/>
            </a:solidFill>
            <a:prstDash val="solid"/>
          </a:ln>
        </p:spPr>
      </p:sp>
      <p:sp>
        <p:nvSpPr>
          <p:cNvPr id="37" name="Text 35"/>
          <p:cNvSpPr/>
          <p:nvPr/>
        </p:nvSpPr>
        <p:spPr>
          <a:xfrm>
            <a:off x="685800" y="4270248"/>
            <a:ext cx="2011680" cy="384048"/>
          </a:xfrm>
          <a:prstGeom prst="rect">
            <a:avLst/>
          </a:prstGeom>
          <a:noFill/>
          <a:ln/>
        </p:spPr>
        <p:txBody>
          <a:bodyPr wrap="square" lIns="0" tIns="0" rIns="0" bIns="0" rtlCol="0" anchor="ctr"/>
          <a:lstStyle/>
          <a:p>
            <a:pPr indent="0" marL="0">
              <a:buNone/>
            </a:pPr>
            <a:r>
              <a:rPr lang="en-US" sz="1300" b="1" dirty="0">
                <a:solidFill>
                  <a:srgbClr val="00D4FF"/>
                </a:solidFill>
                <a:latin typeface="Calibri" pitchFamily="34" charset="0"/>
                <a:ea typeface="Calibri" pitchFamily="34" charset="-122"/>
                <a:cs typeface="Calibri" pitchFamily="34" charset="-120"/>
              </a:rPr>
              <a:t>Health Checks</a:t>
            </a:r>
            <a:endParaRPr lang="en-US" sz="1300" dirty="0"/>
          </a:p>
        </p:txBody>
      </p:sp>
      <p:sp>
        <p:nvSpPr>
          <p:cNvPr id="38" name="Text 36"/>
          <p:cNvSpPr/>
          <p:nvPr/>
        </p:nvSpPr>
        <p:spPr>
          <a:xfrm>
            <a:off x="2697480" y="4270248"/>
            <a:ext cx="5943600" cy="384048"/>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Removes unhealthy servers automatically</a:t>
            </a:r>
            <a:endParaRPr lang="en-US" sz="1300" dirty="0"/>
          </a:p>
        </p:txBody>
      </p:sp>
      <p:sp>
        <p:nvSpPr>
          <p:cNvPr id="39" name="Text 37"/>
          <p:cNvSpPr/>
          <p:nvPr/>
        </p:nvSpPr>
        <p:spPr>
          <a:xfrm>
            <a:off x="320040" y="4709160"/>
            <a:ext cx="8503920" cy="320040"/>
          </a:xfrm>
          <a:prstGeom prst="rect">
            <a:avLst/>
          </a:prstGeom>
          <a:noFill/>
          <a:ln/>
        </p:spPr>
        <p:txBody>
          <a:bodyPr wrap="square" lIns="0" tIns="0" rIns="0" bIns="0" rtlCol="0" anchor="ctr"/>
          <a:lstStyle/>
          <a:p>
            <a:pPr indent="0" marL="0">
              <a:buNone/>
            </a:pPr>
            <a:r>
              <a:rPr lang="en-US" sz="1200" i="1" dirty="0">
                <a:solidFill>
                  <a:srgbClr val="94A3B8"/>
                </a:solidFill>
                <a:latin typeface="Calibri" pitchFamily="34" charset="0"/>
                <a:ea typeface="Calibri" pitchFamily="34" charset="-122"/>
                <a:cs typeface="Calibri" pitchFamily="34" charset="-120"/>
              </a:rPr>
              <a:t>💡 Analogy: Like a traffic cop who directs cars to open lanes. Ensures no single server gets overwhelmed.</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D1B2A"/>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D4FF"/>
          </a:solidFill>
          <a:ln w="12700">
            <a:solidFill>
              <a:srgbClr val="00D4FF"/>
            </a:solidFill>
            <a:prstDash val="solid"/>
          </a:ln>
        </p:spPr>
      </p:sp>
      <p:sp>
        <p:nvSpPr>
          <p:cNvPr id="3" name="Text 1"/>
          <p:cNvSpPr/>
          <p:nvPr/>
        </p:nvSpPr>
        <p:spPr>
          <a:xfrm>
            <a:off x="457200" y="137160"/>
            <a:ext cx="8229600" cy="640080"/>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What is an API?</a:t>
            </a:r>
            <a:endParaRPr lang="en-US" sz="3200" dirty="0"/>
          </a:p>
        </p:txBody>
      </p:sp>
      <p:sp>
        <p:nvSpPr>
          <p:cNvPr id="4" name="Text 2"/>
          <p:cNvSpPr/>
          <p:nvPr/>
        </p:nvSpPr>
        <p:spPr>
          <a:xfrm>
            <a:off x="457200" y="749808"/>
            <a:ext cx="8229600" cy="320040"/>
          </a:xfrm>
          <a:prstGeom prst="rect">
            <a:avLst/>
          </a:prstGeom>
          <a:noFill/>
          <a:ln/>
        </p:spPr>
        <p:txBody>
          <a:bodyPr wrap="square" lIns="0" tIns="0" rIns="0" bIns="0" rtlCol="0" anchor="ctr"/>
          <a:lstStyle/>
          <a:p>
            <a:pPr indent="0" marL="0">
              <a:buNone/>
            </a:pPr>
            <a:r>
              <a:rPr lang="en-US" sz="1400" i="1" dirty="0">
                <a:solidFill>
                  <a:srgbClr val="00D4FF"/>
                </a:solidFill>
                <a:latin typeface="Calibri" pitchFamily="34" charset="0"/>
                <a:ea typeface="Calibri" pitchFamily="34" charset="-122"/>
                <a:cs typeface="Calibri" pitchFamily="34" charset="-120"/>
              </a:rPr>
              <a:t>Section 04 · REST API Concepts</a:t>
            </a:r>
            <a:endParaRPr lang="en-US" sz="1400" dirty="0"/>
          </a:p>
        </p:txBody>
      </p:sp>
      <p:sp>
        <p:nvSpPr>
          <p:cNvPr id="5" name="Shape 3"/>
          <p:cNvSpPr/>
          <p:nvPr/>
        </p:nvSpPr>
        <p:spPr>
          <a:xfrm>
            <a:off x="3108960" y="1234440"/>
            <a:ext cx="2926080" cy="1325880"/>
          </a:xfrm>
          <a:prstGeom prst="rect">
            <a:avLst/>
          </a:prstGeom>
          <a:solidFill>
            <a:srgbClr val="0A1628"/>
          </a:solidFill>
          <a:ln w="12700">
            <a:solidFill>
              <a:srgbClr val="1E3A5F"/>
            </a:solidFill>
            <a:prstDash val="solid"/>
          </a:ln>
          <a:effectLst>
            <a:outerShdw sx="100000" sy="100000" kx="0" ky="0" algn="bl" rotWithShape="0" blurRad="101600" dist="38100" dir="8100000">
              <a:srgbClr val="000000">
                <a:alpha val="25000"/>
              </a:srgbClr>
            </a:outerShdw>
          </a:effectLst>
        </p:spPr>
      </p:sp>
      <p:sp>
        <p:nvSpPr>
          <p:cNvPr id="6" name="Text 4"/>
          <p:cNvSpPr/>
          <p:nvPr/>
        </p:nvSpPr>
        <p:spPr>
          <a:xfrm>
            <a:off x="3200400" y="1298448"/>
            <a:ext cx="822960" cy="548640"/>
          </a:xfrm>
          <a:prstGeom prst="rect">
            <a:avLst/>
          </a:prstGeom>
          <a:noFill/>
          <a:ln/>
        </p:spPr>
        <p:txBody>
          <a:bodyPr wrap="square" lIns="0" tIns="0" rIns="0" bIns="0" rtlCol="0" anchor="ctr"/>
          <a:lstStyle/>
          <a:p>
            <a:pPr algn="ctr" indent="0" marL="0">
              <a:buNone/>
            </a:pPr>
            <a:r>
              <a:rPr lang="en-US" sz="3200" b="1" dirty="0">
                <a:solidFill>
                  <a:srgbClr val="00D4FF"/>
                </a:solidFill>
                <a:latin typeface="Calibri" pitchFamily="34" charset="0"/>
                <a:ea typeface="Calibri" pitchFamily="34" charset="-122"/>
                <a:cs typeface="Calibri" pitchFamily="34" charset="-120"/>
              </a:rPr>
              <a:t>A</a:t>
            </a:r>
            <a:endParaRPr lang="en-US" sz="3200" dirty="0"/>
          </a:p>
        </p:txBody>
      </p:sp>
      <p:sp>
        <p:nvSpPr>
          <p:cNvPr id="7" name="Text 5"/>
          <p:cNvSpPr/>
          <p:nvPr/>
        </p:nvSpPr>
        <p:spPr>
          <a:xfrm>
            <a:off x="3200400" y="1828800"/>
            <a:ext cx="822960" cy="548640"/>
          </a:xfrm>
          <a:prstGeom prst="rect">
            <a:avLst/>
          </a:prstGeom>
          <a:noFill/>
          <a:ln/>
        </p:spPr>
        <p:txBody>
          <a:bodyPr wrap="square" lIns="0" tIns="0" rIns="0" bIns="0" rtlCol="0" anchor="ctr"/>
          <a:lstStyle/>
          <a:p>
            <a:pPr algn="ctr" indent="0" marL="0">
              <a:buNone/>
            </a:pPr>
            <a:r>
              <a:rPr lang="en-US" sz="1100" dirty="0">
                <a:solidFill>
                  <a:srgbClr val="94A3B8"/>
                </a:solidFill>
                <a:latin typeface="Calibri" pitchFamily="34" charset="0"/>
                <a:ea typeface="Calibri" pitchFamily="34" charset="-122"/>
                <a:cs typeface="Calibri" pitchFamily="34" charset="-120"/>
              </a:rPr>
              <a:t>Application</a:t>
            </a:r>
            <a:endParaRPr lang="en-US" sz="1100" dirty="0"/>
          </a:p>
        </p:txBody>
      </p:sp>
      <p:sp>
        <p:nvSpPr>
          <p:cNvPr id="8" name="Text 6"/>
          <p:cNvSpPr/>
          <p:nvPr/>
        </p:nvSpPr>
        <p:spPr>
          <a:xfrm>
            <a:off x="4160520" y="1298448"/>
            <a:ext cx="822960" cy="548640"/>
          </a:xfrm>
          <a:prstGeom prst="rect">
            <a:avLst/>
          </a:prstGeom>
          <a:noFill/>
          <a:ln/>
        </p:spPr>
        <p:txBody>
          <a:bodyPr wrap="square" lIns="0" tIns="0" rIns="0" bIns="0" rtlCol="0" anchor="ctr"/>
          <a:lstStyle/>
          <a:p>
            <a:pPr algn="ctr" indent="0" marL="0">
              <a:buNone/>
            </a:pPr>
            <a:r>
              <a:rPr lang="en-US" sz="3200" b="1" dirty="0">
                <a:solidFill>
                  <a:srgbClr val="00D4FF"/>
                </a:solidFill>
                <a:latin typeface="Calibri" pitchFamily="34" charset="0"/>
                <a:ea typeface="Calibri" pitchFamily="34" charset="-122"/>
                <a:cs typeface="Calibri" pitchFamily="34" charset="-120"/>
              </a:rPr>
              <a:t>P</a:t>
            </a:r>
            <a:endParaRPr lang="en-US" sz="3200" dirty="0"/>
          </a:p>
        </p:txBody>
      </p:sp>
      <p:sp>
        <p:nvSpPr>
          <p:cNvPr id="9" name="Text 7"/>
          <p:cNvSpPr/>
          <p:nvPr/>
        </p:nvSpPr>
        <p:spPr>
          <a:xfrm>
            <a:off x="4160520" y="1828800"/>
            <a:ext cx="822960" cy="548640"/>
          </a:xfrm>
          <a:prstGeom prst="rect">
            <a:avLst/>
          </a:prstGeom>
          <a:noFill/>
          <a:ln/>
        </p:spPr>
        <p:txBody>
          <a:bodyPr wrap="square" lIns="0" tIns="0" rIns="0" bIns="0" rtlCol="0" anchor="ctr"/>
          <a:lstStyle/>
          <a:p>
            <a:pPr algn="ctr" indent="0" marL="0">
              <a:buNone/>
            </a:pPr>
            <a:r>
              <a:rPr lang="en-US" sz="1100" dirty="0">
                <a:solidFill>
                  <a:srgbClr val="94A3B8"/>
                </a:solidFill>
                <a:latin typeface="Calibri" pitchFamily="34" charset="0"/>
                <a:ea typeface="Calibri" pitchFamily="34" charset="-122"/>
                <a:cs typeface="Calibri" pitchFamily="34" charset="-120"/>
              </a:rPr>
              <a:t>Programming</a:t>
            </a:r>
            <a:endParaRPr lang="en-US" sz="1100" dirty="0"/>
          </a:p>
        </p:txBody>
      </p:sp>
      <p:sp>
        <p:nvSpPr>
          <p:cNvPr id="10" name="Text 8"/>
          <p:cNvSpPr/>
          <p:nvPr/>
        </p:nvSpPr>
        <p:spPr>
          <a:xfrm>
            <a:off x="5120640" y="1298448"/>
            <a:ext cx="822960" cy="548640"/>
          </a:xfrm>
          <a:prstGeom prst="rect">
            <a:avLst/>
          </a:prstGeom>
          <a:noFill/>
          <a:ln/>
        </p:spPr>
        <p:txBody>
          <a:bodyPr wrap="square" lIns="0" tIns="0" rIns="0" bIns="0" rtlCol="0" anchor="ctr"/>
          <a:lstStyle/>
          <a:p>
            <a:pPr algn="ctr" indent="0" marL="0">
              <a:buNone/>
            </a:pPr>
            <a:r>
              <a:rPr lang="en-US" sz="3200" b="1" dirty="0">
                <a:solidFill>
                  <a:srgbClr val="00D4FF"/>
                </a:solidFill>
                <a:latin typeface="Calibri" pitchFamily="34" charset="0"/>
                <a:ea typeface="Calibri" pitchFamily="34" charset="-122"/>
                <a:cs typeface="Calibri" pitchFamily="34" charset="-120"/>
              </a:rPr>
              <a:t>I</a:t>
            </a:r>
            <a:endParaRPr lang="en-US" sz="3200" dirty="0"/>
          </a:p>
        </p:txBody>
      </p:sp>
      <p:sp>
        <p:nvSpPr>
          <p:cNvPr id="11" name="Text 9"/>
          <p:cNvSpPr/>
          <p:nvPr/>
        </p:nvSpPr>
        <p:spPr>
          <a:xfrm>
            <a:off x="5120640" y="1828800"/>
            <a:ext cx="822960" cy="548640"/>
          </a:xfrm>
          <a:prstGeom prst="rect">
            <a:avLst/>
          </a:prstGeom>
          <a:noFill/>
          <a:ln/>
        </p:spPr>
        <p:txBody>
          <a:bodyPr wrap="square" lIns="0" tIns="0" rIns="0" bIns="0" rtlCol="0" anchor="ctr"/>
          <a:lstStyle/>
          <a:p>
            <a:pPr algn="ctr" indent="0" marL="0">
              <a:buNone/>
            </a:pPr>
            <a:r>
              <a:rPr lang="en-US" sz="1100" dirty="0">
                <a:solidFill>
                  <a:srgbClr val="94A3B8"/>
                </a:solidFill>
                <a:latin typeface="Calibri" pitchFamily="34" charset="0"/>
                <a:ea typeface="Calibri" pitchFamily="34" charset="-122"/>
                <a:cs typeface="Calibri" pitchFamily="34" charset="-120"/>
              </a:rPr>
              <a:t>Interface</a:t>
            </a:r>
            <a:endParaRPr lang="en-US" sz="1100" dirty="0"/>
          </a:p>
        </p:txBody>
      </p:sp>
      <p:sp>
        <p:nvSpPr>
          <p:cNvPr id="12" name="Shape 10"/>
          <p:cNvSpPr/>
          <p:nvPr/>
        </p:nvSpPr>
        <p:spPr>
          <a:xfrm>
            <a:off x="320040" y="2743200"/>
            <a:ext cx="2743200" cy="1554480"/>
          </a:xfrm>
          <a:prstGeom prst="rect">
            <a:avLst/>
          </a:prstGeom>
          <a:solidFill>
            <a:srgbClr val="1E3A5F"/>
          </a:solidFill>
          <a:ln w="12700">
            <a:solidFill>
              <a:srgbClr val="1E3A5F"/>
            </a:solidFill>
            <a:prstDash val="solid"/>
          </a:ln>
          <a:effectLst>
            <a:outerShdw sx="100000" sy="100000" kx="0" ky="0" algn="bl" rotWithShape="0" blurRad="101600" dist="38100" dir="8100000">
              <a:srgbClr val="000000">
                <a:alpha val="25000"/>
              </a:srgbClr>
            </a:outerShdw>
          </a:effectLst>
        </p:spPr>
      </p:sp>
      <p:sp>
        <p:nvSpPr>
          <p:cNvPr id="13" name="Text 11"/>
          <p:cNvSpPr/>
          <p:nvPr/>
        </p:nvSpPr>
        <p:spPr>
          <a:xfrm>
            <a:off x="320040" y="2834640"/>
            <a:ext cx="2743200" cy="502920"/>
          </a:xfrm>
          <a:prstGeom prst="rect">
            <a:avLst/>
          </a:prstGeom>
          <a:noFill/>
          <a:ln/>
        </p:spPr>
        <p:txBody>
          <a:bodyPr wrap="square" lIns="0" tIns="0" rIns="0" bIns="0" rtlCol="0" anchor="ctr"/>
          <a:lstStyle/>
          <a:p>
            <a:pPr algn="ctr" indent="0" marL="0">
              <a:buNone/>
            </a:pPr>
            <a:r>
              <a:rPr lang="en-US" sz="2800" dirty="0">
                <a:solidFill>
                  <a:srgbClr val="000000"/>
                </a:solidFill>
              </a:rPr>
              <a:t>🍽️</a:t>
            </a:r>
            <a:endParaRPr lang="en-US" sz="2800" dirty="0"/>
          </a:p>
        </p:txBody>
      </p:sp>
      <p:sp>
        <p:nvSpPr>
          <p:cNvPr id="14" name="Text 12"/>
          <p:cNvSpPr/>
          <p:nvPr/>
        </p:nvSpPr>
        <p:spPr>
          <a:xfrm>
            <a:off x="365760" y="3337560"/>
            <a:ext cx="2651760" cy="347472"/>
          </a:xfrm>
          <a:prstGeom prst="rect">
            <a:avLst/>
          </a:prstGeom>
          <a:noFill/>
          <a:ln/>
        </p:spPr>
        <p:txBody>
          <a:bodyPr wrap="square" lIns="0" tIns="0" rIns="0" bIns="0" rtlCol="0" anchor="ctr"/>
          <a:lstStyle/>
          <a:p>
            <a:pPr algn="ctr" indent="0" marL="0">
              <a:buNone/>
            </a:pPr>
            <a:r>
              <a:rPr lang="en-US" sz="1400" b="1" dirty="0">
                <a:solidFill>
                  <a:srgbClr val="00D4FF"/>
                </a:solidFill>
                <a:latin typeface="Calibri" pitchFamily="34" charset="0"/>
                <a:ea typeface="Calibri" pitchFamily="34" charset="-122"/>
                <a:cs typeface="Calibri" pitchFamily="34" charset="-120"/>
              </a:rPr>
              <a:t>Restaurant Menu</a:t>
            </a:r>
            <a:endParaRPr lang="en-US" sz="1400" dirty="0"/>
          </a:p>
        </p:txBody>
      </p:sp>
      <p:sp>
        <p:nvSpPr>
          <p:cNvPr id="15" name="Text 13"/>
          <p:cNvSpPr/>
          <p:nvPr/>
        </p:nvSpPr>
        <p:spPr>
          <a:xfrm>
            <a:off x="365760" y="3675888"/>
            <a:ext cx="2651760" cy="548640"/>
          </a:xfrm>
          <a:prstGeom prst="rect">
            <a:avLst/>
          </a:prstGeom>
          <a:noFill/>
          <a:ln/>
        </p:spPr>
        <p:txBody>
          <a:bodyPr wrap="square" lIns="0" tIns="0" rIns="0" bIns="0" rtlCol="0" anchor="ctr"/>
          <a:lstStyle/>
          <a:p>
            <a:pPr algn="ctr" indent="0" marL="0">
              <a:buNone/>
            </a:pPr>
            <a:r>
              <a:rPr lang="en-US" sz="1200" dirty="0">
                <a:solidFill>
                  <a:srgbClr val="FFFFFF"/>
                </a:solidFill>
                <a:latin typeface="Calibri" pitchFamily="34" charset="0"/>
                <a:ea typeface="Calibri" pitchFamily="34" charset="-122"/>
                <a:cs typeface="Calibri" pitchFamily="34" charset="-120"/>
              </a:rPr>
              <a:t>You (app) look at the menu (API docs)</a:t>
            </a:r>
            <a:endParaRPr lang="en-US" sz="1200" dirty="0"/>
          </a:p>
          <a:p>
            <a:pPr algn="ctr" indent="0" marL="0">
              <a:buNone/>
            </a:pPr>
            <a:r>
              <a:rPr lang="en-US" sz="1200" dirty="0">
                <a:solidFill>
                  <a:srgbClr val="FFFFFF"/>
                </a:solidFill>
                <a:latin typeface="Calibri" pitchFamily="34" charset="0"/>
                <a:ea typeface="Calibri" pitchFamily="34" charset="-122"/>
                <a:cs typeface="Calibri" pitchFamily="34" charset="-120"/>
              </a:rPr>
              <a:t>and place an order (request)</a:t>
            </a:r>
            <a:endParaRPr lang="en-US" sz="1200" dirty="0"/>
          </a:p>
        </p:txBody>
      </p:sp>
      <p:sp>
        <p:nvSpPr>
          <p:cNvPr id="16" name="Shape 14"/>
          <p:cNvSpPr/>
          <p:nvPr/>
        </p:nvSpPr>
        <p:spPr>
          <a:xfrm>
            <a:off x="3264408" y="2743200"/>
            <a:ext cx="2743200" cy="1554480"/>
          </a:xfrm>
          <a:prstGeom prst="rect">
            <a:avLst/>
          </a:prstGeom>
          <a:solidFill>
            <a:srgbClr val="1E3A5F"/>
          </a:solidFill>
          <a:ln w="12700">
            <a:solidFill>
              <a:srgbClr val="1E3A5F"/>
            </a:solidFill>
            <a:prstDash val="solid"/>
          </a:ln>
          <a:effectLst>
            <a:outerShdw sx="100000" sy="100000" kx="0" ky="0" algn="bl" rotWithShape="0" blurRad="101600" dist="38100" dir="8100000">
              <a:srgbClr val="000000">
                <a:alpha val="25000"/>
              </a:srgbClr>
            </a:outerShdw>
          </a:effectLst>
        </p:spPr>
      </p:sp>
      <p:sp>
        <p:nvSpPr>
          <p:cNvPr id="17" name="Text 15"/>
          <p:cNvSpPr/>
          <p:nvPr/>
        </p:nvSpPr>
        <p:spPr>
          <a:xfrm>
            <a:off x="3264408" y="2834640"/>
            <a:ext cx="2743200" cy="502920"/>
          </a:xfrm>
          <a:prstGeom prst="rect">
            <a:avLst/>
          </a:prstGeom>
          <a:noFill/>
          <a:ln/>
        </p:spPr>
        <p:txBody>
          <a:bodyPr wrap="square" lIns="0" tIns="0" rIns="0" bIns="0" rtlCol="0" anchor="ctr"/>
          <a:lstStyle/>
          <a:p>
            <a:pPr algn="ctr" indent="0" marL="0">
              <a:buNone/>
            </a:pPr>
            <a:r>
              <a:rPr lang="en-US" sz="2800" dirty="0">
                <a:solidFill>
                  <a:srgbClr val="000000"/>
                </a:solidFill>
              </a:rPr>
              <a:t>🔌</a:t>
            </a:r>
            <a:endParaRPr lang="en-US" sz="2800" dirty="0"/>
          </a:p>
        </p:txBody>
      </p:sp>
      <p:sp>
        <p:nvSpPr>
          <p:cNvPr id="18" name="Text 16"/>
          <p:cNvSpPr/>
          <p:nvPr/>
        </p:nvSpPr>
        <p:spPr>
          <a:xfrm>
            <a:off x="3310128" y="3337560"/>
            <a:ext cx="2651760" cy="347472"/>
          </a:xfrm>
          <a:prstGeom prst="rect">
            <a:avLst/>
          </a:prstGeom>
          <a:noFill/>
          <a:ln/>
        </p:spPr>
        <p:txBody>
          <a:bodyPr wrap="square" lIns="0" tIns="0" rIns="0" bIns="0" rtlCol="0" anchor="ctr"/>
          <a:lstStyle/>
          <a:p>
            <a:pPr algn="ctr" indent="0" marL="0">
              <a:buNone/>
            </a:pPr>
            <a:r>
              <a:rPr lang="en-US" sz="1400" b="1" dirty="0">
                <a:solidFill>
                  <a:srgbClr val="00D4FF"/>
                </a:solidFill>
                <a:latin typeface="Calibri" pitchFamily="34" charset="0"/>
                <a:ea typeface="Calibri" pitchFamily="34" charset="-122"/>
                <a:cs typeface="Calibri" pitchFamily="34" charset="-120"/>
              </a:rPr>
              <a:t>Power Socket</a:t>
            </a:r>
            <a:endParaRPr lang="en-US" sz="1400" dirty="0"/>
          </a:p>
        </p:txBody>
      </p:sp>
      <p:sp>
        <p:nvSpPr>
          <p:cNvPr id="19" name="Text 17"/>
          <p:cNvSpPr/>
          <p:nvPr/>
        </p:nvSpPr>
        <p:spPr>
          <a:xfrm>
            <a:off x="3310128" y="3675888"/>
            <a:ext cx="2651760" cy="548640"/>
          </a:xfrm>
          <a:prstGeom prst="rect">
            <a:avLst/>
          </a:prstGeom>
          <a:noFill/>
          <a:ln/>
        </p:spPr>
        <p:txBody>
          <a:bodyPr wrap="square" lIns="0" tIns="0" rIns="0" bIns="0" rtlCol="0" anchor="ctr"/>
          <a:lstStyle/>
          <a:p>
            <a:pPr algn="ctr" indent="0" marL="0">
              <a:buNone/>
            </a:pPr>
            <a:r>
              <a:rPr lang="en-US" sz="1200" dirty="0">
                <a:solidFill>
                  <a:srgbClr val="FFFFFF"/>
                </a:solidFill>
                <a:latin typeface="Calibri" pitchFamily="34" charset="0"/>
                <a:ea typeface="Calibri" pitchFamily="34" charset="-122"/>
                <a:cs typeface="Calibri" pitchFamily="34" charset="-120"/>
              </a:rPr>
              <a:t>You plug in any device.</a:t>
            </a:r>
            <a:endParaRPr lang="en-US" sz="1200" dirty="0"/>
          </a:p>
          <a:p>
            <a:pPr algn="ctr" indent="0" marL="0">
              <a:buNone/>
            </a:pPr>
            <a:r>
              <a:rPr lang="en-US" sz="1200" dirty="0">
                <a:solidFill>
                  <a:srgbClr val="FFFFFF"/>
                </a:solidFill>
                <a:latin typeface="Calibri" pitchFamily="34" charset="0"/>
                <a:ea typeface="Calibri" pitchFamily="34" charset="-122"/>
                <a:cs typeface="Calibri" pitchFamily="34" charset="-120"/>
              </a:rPr>
              <a:t>API is the standard interface between apps</a:t>
            </a:r>
            <a:endParaRPr lang="en-US" sz="1200" dirty="0"/>
          </a:p>
        </p:txBody>
      </p:sp>
      <p:sp>
        <p:nvSpPr>
          <p:cNvPr id="20" name="Shape 18"/>
          <p:cNvSpPr/>
          <p:nvPr/>
        </p:nvSpPr>
        <p:spPr>
          <a:xfrm>
            <a:off x="6208776" y="2743200"/>
            <a:ext cx="2743200" cy="1554480"/>
          </a:xfrm>
          <a:prstGeom prst="rect">
            <a:avLst/>
          </a:prstGeom>
          <a:solidFill>
            <a:srgbClr val="1E3A5F"/>
          </a:solidFill>
          <a:ln w="12700">
            <a:solidFill>
              <a:srgbClr val="1E3A5F"/>
            </a:solidFill>
            <a:prstDash val="solid"/>
          </a:ln>
          <a:effectLst>
            <a:outerShdw sx="100000" sy="100000" kx="0" ky="0" algn="bl" rotWithShape="0" blurRad="101600" dist="38100" dir="8100000">
              <a:srgbClr val="000000">
                <a:alpha val="25000"/>
              </a:srgbClr>
            </a:outerShdw>
          </a:effectLst>
        </p:spPr>
      </p:sp>
      <p:sp>
        <p:nvSpPr>
          <p:cNvPr id="21" name="Text 19"/>
          <p:cNvSpPr/>
          <p:nvPr/>
        </p:nvSpPr>
        <p:spPr>
          <a:xfrm>
            <a:off x="6208776" y="2834640"/>
            <a:ext cx="2743200" cy="502920"/>
          </a:xfrm>
          <a:prstGeom prst="rect">
            <a:avLst/>
          </a:prstGeom>
          <a:noFill/>
          <a:ln/>
        </p:spPr>
        <p:txBody>
          <a:bodyPr wrap="square" lIns="0" tIns="0" rIns="0" bIns="0" rtlCol="0" anchor="ctr"/>
          <a:lstStyle/>
          <a:p>
            <a:pPr algn="ctr" indent="0" marL="0">
              <a:buNone/>
            </a:pPr>
            <a:r>
              <a:rPr lang="en-US" sz="2800" dirty="0">
                <a:solidFill>
                  <a:srgbClr val="000000"/>
                </a:solidFill>
              </a:rPr>
              <a:t>📱</a:t>
            </a:r>
            <a:endParaRPr lang="en-US" sz="2800" dirty="0"/>
          </a:p>
        </p:txBody>
      </p:sp>
      <p:sp>
        <p:nvSpPr>
          <p:cNvPr id="22" name="Text 20"/>
          <p:cNvSpPr/>
          <p:nvPr/>
        </p:nvSpPr>
        <p:spPr>
          <a:xfrm>
            <a:off x="6254496" y="3337560"/>
            <a:ext cx="2651760" cy="347472"/>
          </a:xfrm>
          <a:prstGeom prst="rect">
            <a:avLst/>
          </a:prstGeom>
          <a:noFill/>
          <a:ln/>
        </p:spPr>
        <p:txBody>
          <a:bodyPr wrap="square" lIns="0" tIns="0" rIns="0" bIns="0" rtlCol="0" anchor="ctr"/>
          <a:lstStyle/>
          <a:p>
            <a:pPr algn="ctr" indent="0" marL="0">
              <a:buNone/>
            </a:pPr>
            <a:r>
              <a:rPr lang="en-US" sz="1400" b="1" dirty="0">
                <a:solidFill>
                  <a:srgbClr val="00D4FF"/>
                </a:solidFill>
                <a:latin typeface="Calibri" pitchFamily="34" charset="0"/>
                <a:ea typeface="Calibri" pitchFamily="34" charset="-122"/>
                <a:cs typeface="Calibri" pitchFamily="34" charset="-120"/>
              </a:rPr>
              <a:t>App on your Phone</a:t>
            </a:r>
            <a:endParaRPr lang="en-US" sz="1400" dirty="0"/>
          </a:p>
        </p:txBody>
      </p:sp>
      <p:sp>
        <p:nvSpPr>
          <p:cNvPr id="23" name="Text 21"/>
          <p:cNvSpPr/>
          <p:nvPr/>
        </p:nvSpPr>
        <p:spPr>
          <a:xfrm>
            <a:off x="6254496" y="3675888"/>
            <a:ext cx="2651760" cy="548640"/>
          </a:xfrm>
          <a:prstGeom prst="rect">
            <a:avLst/>
          </a:prstGeom>
          <a:noFill/>
          <a:ln/>
        </p:spPr>
        <p:txBody>
          <a:bodyPr wrap="square" lIns="0" tIns="0" rIns="0" bIns="0" rtlCol="0" anchor="ctr"/>
          <a:lstStyle/>
          <a:p>
            <a:pPr algn="ctr" indent="0" marL="0">
              <a:buNone/>
            </a:pPr>
            <a:r>
              <a:rPr lang="en-US" sz="1200" dirty="0">
                <a:solidFill>
                  <a:srgbClr val="FFFFFF"/>
                </a:solidFill>
                <a:latin typeface="Calibri" pitchFamily="34" charset="0"/>
                <a:ea typeface="Calibri" pitchFamily="34" charset="-122"/>
                <a:cs typeface="Calibri" pitchFamily="34" charset="-120"/>
              </a:rPr>
              <a:t>Zomato uses Restaurant API to get menus</a:t>
            </a:r>
            <a:endParaRPr lang="en-US" sz="1200" dirty="0"/>
          </a:p>
          <a:p>
            <a:pPr algn="ctr" indent="0" marL="0">
              <a:buNone/>
            </a:pPr>
            <a:r>
              <a:rPr lang="en-US" sz="1200" dirty="0">
                <a:solidFill>
                  <a:srgbClr val="FFFFFF"/>
                </a:solidFill>
                <a:latin typeface="Calibri" pitchFamily="34" charset="0"/>
                <a:ea typeface="Calibri" pitchFamily="34" charset="-122"/>
                <a:cs typeface="Calibri" pitchFamily="34" charset="-120"/>
              </a:rPr>
              <a:t>and Razorpay API for payments</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D1B2A"/>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D4FF"/>
          </a:solidFill>
          <a:ln w="12700">
            <a:solidFill>
              <a:srgbClr val="00D4FF"/>
            </a:solidFill>
            <a:prstDash val="solid"/>
          </a:ln>
        </p:spPr>
      </p:sp>
      <p:sp>
        <p:nvSpPr>
          <p:cNvPr id="3" name="Text 1"/>
          <p:cNvSpPr/>
          <p:nvPr/>
        </p:nvSpPr>
        <p:spPr>
          <a:xfrm>
            <a:off x="457200" y="137160"/>
            <a:ext cx="8229600" cy="640080"/>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REST API Concepts</a:t>
            </a:r>
            <a:endParaRPr lang="en-US" sz="3200" dirty="0"/>
          </a:p>
        </p:txBody>
      </p:sp>
      <p:sp>
        <p:nvSpPr>
          <p:cNvPr id="4" name="Text 2"/>
          <p:cNvSpPr/>
          <p:nvPr/>
        </p:nvSpPr>
        <p:spPr>
          <a:xfrm>
            <a:off x="457200" y="749808"/>
            <a:ext cx="8229600" cy="320040"/>
          </a:xfrm>
          <a:prstGeom prst="rect">
            <a:avLst/>
          </a:prstGeom>
          <a:noFill/>
          <a:ln/>
        </p:spPr>
        <p:txBody>
          <a:bodyPr wrap="square" lIns="0" tIns="0" rIns="0" bIns="0" rtlCol="0" anchor="ctr"/>
          <a:lstStyle/>
          <a:p>
            <a:pPr indent="0" marL="0">
              <a:buNone/>
            </a:pPr>
            <a:r>
              <a:rPr lang="en-US" sz="1400" i="1" dirty="0">
                <a:solidFill>
                  <a:srgbClr val="00D4FF"/>
                </a:solidFill>
                <a:latin typeface="Calibri" pitchFamily="34" charset="0"/>
                <a:ea typeface="Calibri" pitchFamily="34" charset="-122"/>
                <a:cs typeface="Calibri" pitchFamily="34" charset="-120"/>
              </a:rPr>
              <a:t>Section 04 · HTTP Methods &amp; Structure</a:t>
            </a:r>
            <a:endParaRPr lang="en-US" sz="1400" dirty="0"/>
          </a:p>
        </p:txBody>
      </p:sp>
      <p:sp>
        <p:nvSpPr>
          <p:cNvPr id="5" name="Shape 3"/>
          <p:cNvSpPr/>
          <p:nvPr/>
        </p:nvSpPr>
        <p:spPr>
          <a:xfrm>
            <a:off x="274320" y="1234440"/>
            <a:ext cx="1417320" cy="3108960"/>
          </a:xfrm>
          <a:prstGeom prst="rect">
            <a:avLst/>
          </a:prstGeom>
          <a:solidFill>
            <a:srgbClr val="172554"/>
          </a:solidFill>
          <a:ln w="12700">
            <a:solidFill>
              <a:srgbClr val="1E3A5F"/>
            </a:solidFill>
            <a:prstDash val="solid"/>
          </a:ln>
          <a:effectLst>
            <a:outerShdw sx="100000" sy="100000" kx="0" ky="0" algn="bl" rotWithShape="0" blurRad="101600" dist="38100" dir="8100000">
              <a:srgbClr val="000000">
                <a:alpha val="25000"/>
              </a:srgbClr>
            </a:outerShdw>
          </a:effectLst>
        </p:spPr>
      </p:sp>
      <p:sp>
        <p:nvSpPr>
          <p:cNvPr id="6" name="Text 4"/>
          <p:cNvSpPr/>
          <p:nvPr/>
        </p:nvSpPr>
        <p:spPr>
          <a:xfrm>
            <a:off x="274320" y="1261872"/>
            <a:ext cx="1417320" cy="713232"/>
          </a:xfrm>
          <a:prstGeom prst="rect">
            <a:avLst/>
          </a:prstGeom>
          <a:noFill/>
          <a:ln/>
        </p:spPr>
        <p:txBody>
          <a:bodyPr wrap="square" lIns="0" tIns="0" rIns="0" bIns="0" rtlCol="0" anchor="ctr"/>
          <a:lstStyle/>
          <a:p>
            <a:pPr algn="ctr" indent="0" marL="0">
              <a:buNone/>
            </a:pPr>
            <a:r>
              <a:rPr lang="en-US" sz="3400" b="1" dirty="0">
                <a:solidFill>
                  <a:srgbClr val="0EA5E9"/>
                </a:solidFill>
                <a:latin typeface="Calibri" pitchFamily="34" charset="0"/>
                <a:ea typeface="Calibri" pitchFamily="34" charset="-122"/>
                <a:cs typeface="Calibri" pitchFamily="34" charset="-120"/>
              </a:rPr>
              <a:t>R</a:t>
            </a:r>
            <a:endParaRPr lang="en-US" sz="3400" dirty="0"/>
          </a:p>
        </p:txBody>
      </p:sp>
      <p:sp>
        <p:nvSpPr>
          <p:cNvPr id="7" name="Text 5"/>
          <p:cNvSpPr/>
          <p:nvPr/>
        </p:nvSpPr>
        <p:spPr>
          <a:xfrm>
            <a:off x="274320" y="2029968"/>
            <a:ext cx="1417320" cy="713232"/>
          </a:xfrm>
          <a:prstGeom prst="rect">
            <a:avLst/>
          </a:prstGeom>
          <a:noFill/>
          <a:ln/>
        </p:spPr>
        <p:txBody>
          <a:bodyPr wrap="square" lIns="0" tIns="0" rIns="0" bIns="0" rtlCol="0" anchor="ctr"/>
          <a:lstStyle/>
          <a:p>
            <a:pPr algn="ctr" indent="0" marL="0">
              <a:buNone/>
            </a:pPr>
            <a:r>
              <a:rPr lang="en-US" sz="3400" b="1" dirty="0">
                <a:solidFill>
                  <a:srgbClr val="00D4FF"/>
                </a:solidFill>
                <a:latin typeface="Calibri" pitchFamily="34" charset="0"/>
                <a:ea typeface="Calibri" pitchFamily="34" charset="-122"/>
                <a:cs typeface="Calibri" pitchFamily="34" charset="-120"/>
              </a:rPr>
              <a:t>E</a:t>
            </a:r>
            <a:endParaRPr lang="en-US" sz="3400" dirty="0"/>
          </a:p>
        </p:txBody>
      </p:sp>
      <p:sp>
        <p:nvSpPr>
          <p:cNvPr id="8" name="Text 6"/>
          <p:cNvSpPr/>
          <p:nvPr/>
        </p:nvSpPr>
        <p:spPr>
          <a:xfrm>
            <a:off x="274320" y="2798064"/>
            <a:ext cx="1417320" cy="713232"/>
          </a:xfrm>
          <a:prstGeom prst="rect">
            <a:avLst/>
          </a:prstGeom>
          <a:noFill/>
          <a:ln/>
        </p:spPr>
        <p:txBody>
          <a:bodyPr wrap="square" lIns="0" tIns="0" rIns="0" bIns="0" rtlCol="0" anchor="ctr"/>
          <a:lstStyle/>
          <a:p>
            <a:pPr algn="ctr" indent="0" marL="0">
              <a:buNone/>
            </a:pPr>
            <a:r>
              <a:rPr lang="en-US" sz="3400" b="1" dirty="0">
                <a:solidFill>
                  <a:srgbClr val="7C3AED"/>
                </a:solidFill>
                <a:latin typeface="Calibri" pitchFamily="34" charset="0"/>
                <a:ea typeface="Calibri" pitchFamily="34" charset="-122"/>
                <a:cs typeface="Calibri" pitchFamily="34" charset="-120"/>
              </a:rPr>
              <a:t>S</a:t>
            </a:r>
            <a:endParaRPr lang="en-US" sz="3400" dirty="0"/>
          </a:p>
        </p:txBody>
      </p:sp>
      <p:sp>
        <p:nvSpPr>
          <p:cNvPr id="9" name="Text 7"/>
          <p:cNvSpPr/>
          <p:nvPr/>
        </p:nvSpPr>
        <p:spPr>
          <a:xfrm>
            <a:off x="274320" y="3566160"/>
            <a:ext cx="1417320" cy="713232"/>
          </a:xfrm>
          <a:prstGeom prst="rect">
            <a:avLst/>
          </a:prstGeom>
          <a:noFill/>
          <a:ln/>
        </p:spPr>
        <p:txBody>
          <a:bodyPr wrap="square" lIns="0" tIns="0" rIns="0" bIns="0" rtlCol="0" anchor="ctr"/>
          <a:lstStyle/>
          <a:p>
            <a:pPr algn="ctr" indent="0" marL="0">
              <a:buNone/>
            </a:pPr>
            <a:r>
              <a:rPr lang="en-US" sz="3400" b="1" dirty="0">
                <a:solidFill>
                  <a:srgbClr val="10B981"/>
                </a:solidFill>
                <a:latin typeface="Calibri" pitchFamily="34" charset="0"/>
                <a:ea typeface="Calibri" pitchFamily="34" charset="-122"/>
                <a:cs typeface="Calibri" pitchFamily="34" charset="-120"/>
              </a:rPr>
              <a:t>T</a:t>
            </a:r>
            <a:endParaRPr lang="en-US" sz="3400" dirty="0"/>
          </a:p>
        </p:txBody>
      </p:sp>
      <p:sp>
        <p:nvSpPr>
          <p:cNvPr id="10" name="Shape 8"/>
          <p:cNvSpPr/>
          <p:nvPr/>
        </p:nvSpPr>
        <p:spPr>
          <a:xfrm>
            <a:off x="1828800" y="1261872"/>
            <a:ext cx="6995160" cy="658368"/>
          </a:xfrm>
          <a:prstGeom prst="rect">
            <a:avLst/>
          </a:prstGeom>
          <a:solidFill>
            <a:srgbClr val="1E3A5F"/>
          </a:solidFill>
          <a:ln w="12700">
            <a:solidFill>
              <a:srgbClr val="1E3A5F"/>
            </a:solidFill>
            <a:prstDash val="solid"/>
          </a:ln>
          <a:effectLst>
            <a:outerShdw sx="100000" sy="100000" kx="0" ky="0" algn="bl" rotWithShape="0" blurRad="101600" dist="38100" dir="8100000">
              <a:srgbClr val="000000">
                <a:alpha val="25000"/>
              </a:srgbClr>
            </a:outerShdw>
          </a:effectLst>
        </p:spPr>
      </p:sp>
      <p:sp>
        <p:nvSpPr>
          <p:cNvPr id="11" name="Text 9"/>
          <p:cNvSpPr/>
          <p:nvPr/>
        </p:nvSpPr>
        <p:spPr>
          <a:xfrm>
            <a:off x="1920240" y="1298448"/>
            <a:ext cx="2926080" cy="274320"/>
          </a:xfrm>
          <a:prstGeom prst="rect">
            <a:avLst/>
          </a:prstGeom>
          <a:noFill/>
          <a:ln/>
        </p:spPr>
        <p:txBody>
          <a:bodyPr wrap="square" lIns="0" tIns="0" rIns="0" bIns="0" rtlCol="0" anchor="ctr"/>
          <a:lstStyle/>
          <a:p>
            <a:pPr indent="0" marL="0">
              <a:buNone/>
            </a:pPr>
            <a:r>
              <a:rPr lang="en-US" sz="1400" b="1" dirty="0">
                <a:solidFill>
                  <a:srgbClr val="0EA5E9"/>
                </a:solidFill>
                <a:latin typeface="Calibri" pitchFamily="34" charset="0"/>
                <a:ea typeface="Calibri" pitchFamily="34" charset="-122"/>
                <a:cs typeface="Calibri" pitchFamily="34" charset="-120"/>
              </a:rPr>
              <a:t>Representational</a:t>
            </a:r>
            <a:endParaRPr lang="en-US" sz="1400" dirty="0"/>
          </a:p>
        </p:txBody>
      </p:sp>
      <p:sp>
        <p:nvSpPr>
          <p:cNvPr id="12" name="Text 10"/>
          <p:cNvSpPr/>
          <p:nvPr/>
        </p:nvSpPr>
        <p:spPr>
          <a:xfrm>
            <a:off x="1920240" y="1572768"/>
            <a:ext cx="6766560" cy="274320"/>
          </a:xfrm>
          <a:prstGeom prst="rect">
            <a:avLst/>
          </a:prstGeom>
          <a:noFill/>
          <a:ln/>
        </p:spPr>
        <p:txBody>
          <a:bodyPr wrap="square" lIns="0" tIns="0" rIns="0" bIns="0" rtlCol="0" anchor="ctr"/>
          <a:lstStyle/>
          <a:p>
            <a:pPr indent="0" marL="0">
              <a:buNone/>
            </a:pPr>
            <a:r>
              <a:rPr lang="en-US" sz="1250" dirty="0">
                <a:solidFill>
                  <a:srgbClr val="94A3B8"/>
                </a:solidFill>
                <a:latin typeface="Calibri" pitchFamily="34" charset="0"/>
                <a:ea typeface="Calibri" pitchFamily="34" charset="-122"/>
                <a:cs typeface="Calibri" pitchFamily="34" charset="-120"/>
              </a:rPr>
              <a:t>Data is represented as resources</a:t>
            </a:r>
            <a:endParaRPr lang="en-US" sz="1250" dirty="0"/>
          </a:p>
        </p:txBody>
      </p:sp>
      <p:sp>
        <p:nvSpPr>
          <p:cNvPr id="13" name="Shape 11"/>
          <p:cNvSpPr/>
          <p:nvPr/>
        </p:nvSpPr>
        <p:spPr>
          <a:xfrm>
            <a:off x="1828800" y="2029968"/>
            <a:ext cx="6995160" cy="658368"/>
          </a:xfrm>
          <a:prstGeom prst="rect">
            <a:avLst/>
          </a:prstGeom>
          <a:solidFill>
            <a:srgbClr val="1E3A5F"/>
          </a:solidFill>
          <a:ln w="12700">
            <a:solidFill>
              <a:srgbClr val="1E3A5F"/>
            </a:solidFill>
            <a:prstDash val="solid"/>
          </a:ln>
          <a:effectLst>
            <a:outerShdw sx="100000" sy="100000" kx="0" ky="0" algn="bl" rotWithShape="0" blurRad="101600" dist="38100" dir="8100000">
              <a:srgbClr val="000000">
                <a:alpha val="25000"/>
              </a:srgbClr>
            </a:outerShdw>
          </a:effectLst>
        </p:spPr>
      </p:sp>
      <p:sp>
        <p:nvSpPr>
          <p:cNvPr id="14" name="Text 12"/>
          <p:cNvSpPr/>
          <p:nvPr/>
        </p:nvSpPr>
        <p:spPr>
          <a:xfrm>
            <a:off x="1920240" y="2066544"/>
            <a:ext cx="2926080" cy="274320"/>
          </a:xfrm>
          <a:prstGeom prst="rect">
            <a:avLst/>
          </a:prstGeom>
          <a:noFill/>
          <a:ln/>
        </p:spPr>
        <p:txBody>
          <a:bodyPr wrap="square" lIns="0" tIns="0" rIns="0" bIns="0" rtlCol="0" anchor="ctr"/>
          <a:lstStyle/>
          <a:p>
            <a:pPr indent="0" marL="0">
              <a:buNone/>
            </a:pPr>
            <a:r>
              <a:rPr lang="en-US" sz="1400" b="1" dirty="0">
                <a:solidFill>
                  <a:srgbClr val="00D4FF"/>
                </a:solidFill>
                <a:latin typeface="Calibri" pitchFamily="34" charset="0"/>
                <a:ea typeface="Calibri" pitchFamily="34" charset="-122"/>
                <a:cs typeface="Calibri" pitchFamily="34" charset="-120"/>
              </a:rPr>
              <a:t>State</a:t>
            </a:r>
            <a:endParaRPr lang="en-US" sz="1400" dirty="0"/>
          </a:p>
        </p:txBody>
      </p:sp>
      <p:sp>
        <p:nvSpPr>
          <p:cNvPr id="15" name="Text 13"/>
          <p:cNvSpPr/>
          <p:nvPr/>
        </p:nvSpPr>
        <p:spPr>
          <a:xfrm>
            <a:off x="1920240" y="2340864"/>
            <a:ext cx="6766560" cy="274320"/>
          </a:xfrm>
          <a:prstGeom prst="rect">
            <a:avLst/>
          </a:prstGeom>
          <a:noFill/>
          <a:ln/>
        </p:spPr>
        <p:txBody>
          <a:bodyPr wrap="square" lIns="0" tIns="0" rIns="0" bIns="0" rtlCol="0" anchor="ctr"/>
          <a:lstStyle/>
          <a:p>
            <a:pPr indent="0" marL="0">
              <a:buNone/>
            </a:pPr>
            <a:r>
              <a:rPr lang="en-US" sz="1250" dirty="0">
                <a:solidFill>
                  <a:srgbClr val="94A3B8"/>
                </a:solidFill>
                <a:latin typeface="Calibri" pitchFamily="34" charset="0"/>
                <a:ea typeface="Calibri" pitchFamily="34" charset="-122"/>
                <a:cs typeface="Calibri" pitchFamily="34" charset="-120"/>
              </a:rPr>
              <a:t>Transfers the state of resources</a:t>
            </a:r>
            <a:endParaRPr lang="en-US" sz="1250" dirty="0"/>
          </a:p>
        </p:txBody>
      </p:sp>
      <p:sp>
        <p:nvSpPr>
          <p:cNvPr id="16" name="Shape 14"/>
          <p:cNvSpPr/>
          <p:nvPr/>
        </p:nvSpPr>
        <p:spPr>
          <a:xfrm>
            <a:off x="1828800" y="2798064"/>
            <a:ext cx="6995160" cy="658368"/>
          </a:xfrm>
          <a:prstGeom prst="rect">
            <a:avLst/>
          </a:prstGeom>
          <a:solidFill>
            <a:srgbClr val="1E3A5F"/>
          </a:solidFill>
          <a:ln w="12700">
            <a:solidFill>
              <a:srgbClr val="1E3A5F"/>
            </a:solidFill>
            <a:prstDash val="solid"/>
          </a:ln>
          <a:effectLst>
            <a:outerShdw sx="100000" sy="100000" kx="0" ky="0" algn="bl" rotWithShape="0" blurRad="101600" dist="38100" dir="8100000">
              <a:srgbClr val="000000">
                <a:alpha val="25000"/>
              </a:srgbClr>
            </a:outerShdw>
          </a:effectLst>
        </p:spPr>
      </p:sp>
      <p:sp>
        <p:nvSpPr>
          <p:cNvPr id="17" name="Text 15"/>
          <p:cNvSpPr/>
          <p:nvPr/>
        </p:nvSpPr>
        <p:spPr>
          <a:xfrm>
            <a:off x="1920240" y="2834640"/>
            <a:ext cx="2926080" cy="274320"/>
          </a:xfrm>
          <a:prstGeom prst="rect">
            <a:avLst/>
          </a:prstGeom>
          <a:noFill/>
          <a:ln/>
        </p:spPr>
        <p:txBody>
          <a:bodyPr wrap="square" lIns="0" tIns="0" rIns="0" bIns="0" rtlCol="0" anchor="ctr"/>
          <a:lstStyle/>
          <a:p>
            <a:pPr indent="0" marL="0">
              <a:buNone/>
            </a:pPr>
            <a:r>
              <a:rPr lang="en-US" sz="1400" b="1" dirty="0">
                <a:solidFill>
                  <a:srgbClr val="7C3AED"/>
                </a:solidFill>
                <a:latin typeface="Calibri" pitchFamily="34" charset="0"/>
                <a:ea typeface="Calibri" pitchFamily="34" charset="-122"/>
                <a:cs typeface="Calibri" pitchFamily="34" charset="-120"/>
              </a:rPr>
              <a:t>Transfer</a:t>
            </a:r>
            <a:endParaRPr lang="en-US" sz="1400" dirty="0"/>
          </a:p>
        </p:txBody>
      </p:sp>
      <p:sp>
        <p:nvSpPr>
          <p:cNvPr id="18" name="Text 16"/>
          <p:cNvSpPr/>
          <p:nvPr/>
        </p:nvSpPr>
        <p:spPr>
          <a:xfrm>
            <a:off x="1920240" y="3108960"/>
            <a:ext cx="6766560" cy="274320"/>
          </a:xfrm>
          <a:prstGeom prst="rect">
            <a:avLst/>
          </a:prstGeom>
          <a:noFill/>
          <a:ln/>
        </p:spPr>
        <p:txBody>
          <a:bodyPr wrap="square" lIns="0" tIns="0" rIns="0" bIns="0" rtlCol="0" anchor="ctr"/>
          <a:lstStyle/>
          <a:p>
            <a:pPr indent="0" marL="0">
              <a:buNone/>
            </a:pPr>
            <a:r>
              <a:rPr lang="en-US" sz="1250" dirty="0">
                <a:solidFill>
                  <a:srgbClr val="94A3B8"/>
                </a:solidFill>
                <a:latin typeface="Calibri" pitchFamily="34" charset="0"/>
                <a:ea typeface="Calibri" pitchFamily="34" charset="-122"/>
                <a:cs typeface="Calibri" pitchFamily="34" charset="-120"/>
              </a:rPr>
              <a:t>Over standard HTTP protocol</a:t>
            </a:r>
            <a:endParaRPr lang="en-US" sz="1250" dirty="0"/>
          </a:p>
        </p:txBody>
      </p:sp>
      <p:sp>
        <p:nvSpPr>
          <p:cNvPr id="19" name="Shape 17"/>
          <p:cNvSpPr/>
          <p:nvPr/>
        </p:nvSpPr>
        <p:spPr>
          <a:xfrm>
            <a:off x="1828800" y="3566160"/>
            <a:ext cx="6995160" cy="658368"/>
          </a:xfrm>
          <a:prstGeom prst="rect">
            <a:avLst/>
          </a:prstGeom>
          <a:solidFill>
            <a:srgbClr val="1E3A5F"/>
          </a:solidFill>
          <a:ln w="12700">
            <a:solidFill>
              <a:srgbClr val="1E3A5F"/>
            </a:solidFill>
            <a:prstDash val="solid"/>
          </a:ln>
          <a:effectLst>
            <a:outerShdw sx="100000" sy="100000" kx="0" ky="0" algn="bl" rotWithShape="0" blurRad="101600" dist="38100" dir="8100000">
              <a:srgbClr val="000000">
                <a:alpha val="25000"/>
              </a:srgbClr>
            </a:outerShdw>
          </a:effectLst>
        </p:spPr>
      </p:sp>
      <p:sp>
        <p:nvSpPr>
          <p:cNvPr id="20" name="Text 18"/>
          <p:cNvSpPr/>
          <p:nvPr/>
        </p:nvSpPr>
        <p:spPr>
          <a:xfrm>
            <a:off x="1920240" y="3602736"/>
            <a:ext cx="2926080" cy="274320"/>
          </a:xfrm>
          <a:prstGeom prst="rect">
            <a:avLst/>
          </a:prstGeom>
          <a:noFill/>
          <a:ln/>
        </p:spPr>
        <p:txBody>
          <a:bodyPr wrap="square" lIns="0" tIns="0" rIns="0" bIns="0" rtlCol="0" anchor="ctr"/>
          <a:lstStyle/>
          <a:p>
            <a:pPr indent="0" marL="0">
              <a:buNone/>
            </a:pPr>
            <a:r>
              <a:rPr lang="en-US" sz="1400" b="1" dirty="0">
                <a:solidFill>
                  <a:srgbClr val="10B981"/>
                </a:solidFill>
                <a:latin typeface="Calibri" pitchFamily="34" charset="0"/>
                <a:ea typeface="Calibri" pitchFamily="34" charset="-122"/>
                <a:cs typeface="Calibri" pitchFamily="34" charset="-120"/>
              </a:rPr>
              <a:t>(Architecture)</a:t>
            </a:r>
            <a:endParaRPr lang="en-US" sz="1400" dirty="0"/>
          </a:p>
        </p:txBody>
      </p:sp>
      <p:sp>
        <p:nvSpPr>
          <p:cNvPr id="21" name="Text 19"/>
          <p:cNvSpPr/>
          <p:nvPr/>
        </p:nvSpPr>
        <p:spPr>
          <a:xfrm>
            <a:off x="1920240" y="3877056"/>
            <a:ext cx="6766560" cy="274320"/>
          </a:xfrm>
          <a:prstGeom prst="rect">
            <a:avLst/>
          </a:prstGeom>
          <a:noFill/>
          <a:ln/>
        </p:spPr>
        <p:txBody>
          <a:bodyPr wrap="square" lIns="0" tIns="0" rIns="0" bIns="0" rtlCol="0" anchor="ctr"/>
          <a:lstStyle/>
          <a:p>
            <a:pPr indent="0" marL="0">
              <a:buNone/>
            </a:pPr>
            <a:r>
              <a:rPr lang="en-US" sz="1250" dirty="0">
                <a:solidFill>
                  <a:srgbClr val="94A3B8"/>
                </a:solidFill>
                <a:latin typeface="Calibri" pitchFamily="34" charset="0"/>
                <a:ea typeface="Calibri" pitchFamily="34" charset="-122"/>
                <a:cs typeface="Calibri" pitchFamily="34" charset="-120"/>
              </a:rPr>
              <a:t>A design style, not a standard</a:t>
            </a:r>
            <a:endParaRPr lang="en-US" sz="1250" dirty="0"/>
          </a:p>
        </p:txBody>
      </p:sp>
      <p:sp>
        <p:nvSpPr>
          <p:cNvPr id="22" name="Shape 20"/>
          <p:cNvSpPr/>
          <p:nvPr/>
        </p:nvSpPr>
        <p:spPr>
          <a:xfrm>
            <a:off x="274320" y="4462272"/>
            <a:ext cx="8549640" cy="566928"/>
          </a:xfrm>
          <a:prstGeom prst="rect">
            <a:avLst/>
          </a:prstGeom>
          <a:solidFill>
            <a:srgbClr val="172554"/>
          </a:solidFill>
          <a:ln w="12700">
            <a:solidFill>
              <a:srgbClr val="1E3A5F"/>
            </a:solidFill>
            <a:prstDash val="solid"/>
          </a:ln>
          <a:effectLst>
            <a:outerShdw sx="100000" sy="100000" kx="0" ky="0" algn="bl" rotWithShape="0" blurRad="101600" dist="38100" dir="8100000">
              <a:srgbClr val="000000">
                <a:alpha val="25000"/>
              </a:srgbClr>
            </a:outerShdw>
          </a:effectLst>
        </p:spPr>
      </p:sp>
      <p:sp>
        <p:nvSpPr>
          <p:cNvPr id="23" name="Shape 21"/>
          <p:cNvSpPr/>
          <p:nvPr/>
        </p:nvSpPr>
        <p:spPr>
          <a:xfrm>
            <a:off x="274320" y="4462272"/>
            <a:ext cx="64008" cy="566928"/>
          </a:xfrm>
          <a:prstGeom prst="rect">
            <a:avLst/>
          </a:prstGeom>
          <a:solidFill>
            <a:srgbClr val="00D4FF"/>
          </a:solidFill>
          <a:ln w="12700">
            <a:solidFill>
              <a:srgbClr val="00D4FF"/>
            </a:solidFill>
            <a:prstDash val="solid"/>
          </a:ln>
        </p:spPr>
      </p:sp>
      <p:sp>
        <p:nvSpPr>
          <p:cNvPr id="24" name="Text 22"/>
          <p:cNvSpPr/>
          <p:nvPr/>
        </p:nvSpPr>
        <p:spPr>
          <a:xfrm>
            <a:off x="438912" y="4489704"/>
            <a:ext cx="8229600" cy="475488"/>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REST Key Principles: Stateless requests  ·  Uniform URL structure  ·  Uses HTTP verbs  ·  Returns JSON/XML</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D1B2A"/>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D4FF"/>
          </a:solidFill>
          <a:ln w="12700">
            <a:solidFill>
              <a:srgbClr val="00D4FF"/>
            </a:solidFill>
            <a:prstDash val="solid"/>
          </a:ln>
        </p:spPr>
      </p:sp>
      <p:sp>
        <p:nvSpPr>
          <p:cNvPr id="3" name="Text 1"/>
          <p:cNvSpPr/>
          <p:nvPr/>
        </p:nvSpPr>
        <p:spPr>
          <a:xfrm>
            <a:off x="457200" y="137160"/>
            <a:ext cx="8229600" cy="640080"/>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HTTP Methods</a:t>
            </a:r>
            <a:endParaRPr lang="en-US" sz="3200" dirty="0"/>
          </a:p>
        </p:txBody>
      </p:sp>
      <p:sp>
        <p:nvSpPr>
          <p:cNvPr id="4" name="Text 2"/>
          <p:cNvSpPr/>
          <p:nvPr/>
        </p:nvSpPr>
        <p:spPr>
          <a:xfrm>
            <a:off x="457200" y="749808"/>
            <a:ext cx="8229600" cy="320040"/>
          </a:xfrm>
          <a:prstGeom prst="rect">
            <a:avLst/>
          </a:prstGeom>
          <a:noFill/>
          <a:ln/>
        </p:spPr>
        <p:txBody>
          <a:bodyPr wrap="square" lIns="0" tIns="0" rIns="0" bIns="0" rtlCol="0" anchor="ctr"/>
          <a:lstStyle/>
          <a:p>
            <a:pPr indent="0" marL="0">
              <a:buNone/>
            </a:pPr>
            <a:r>
              <a:rPr lang="en-US" sz="1400" i="1" dirty="0">
                <a:solidFill>
                  <a:srgbClr val="00D4FF"/>
                </a:solidFill>
                <a:latin typeface="Calibri" pitchFamily="34" charset="0"/>
                <a:ea typeface="Calibri" pitchFamily="34" charset="-122"/>
                <a:cs typeface="Calibri" pitchFamily="34" charset="-120"/>
              </a:rPr>
              <a:t>Section 04 · The Four Core Operations (CRUD)</a:t>
            </a:r>
            <a:endParaRPr lang="en-US" sz="1400" dirty="0"/>
          </a:p>
        </p:txBody>
      </p:sp>
      <p:sp>
        <p:nvSpPr>
          <p:cNvPr id="5" name="Shape 3"/>
          <p:cNvSpPr/>
          <p:nvPr/>
        </p:nvSpPr>
        <p:spPr>
          <a:xfrm>
            <a:off x="274320" y="1261872"/>
            <a:ext cx="8595360" cy="804672"/>
          </a:xfrm>
          <a:prstGeom prst="rect">
            <a:avLst/>
          </a:prstGeom>
          <a:solidFill>
            <a:srgbClr val="1E3A5F"/>
          </a:solidFill>
          <a:ln w="12700">
            <a:solidFill>
              <a:srgbClr val="1E3A5F"/>
            </a:solidFill>
            <a:prstDash val="solid"/>
          </a:ln>
          <a:effectLst>
            <a:outerShdw sx="100000" sy="100000" kx="0" ky="0" algn="bl" rotWithShape="0" blurRad="101600" dist="38100" dir="8100000">
              <a:srgbClr val="000000">
                <a:alpha val="25000"/>
              </a:srgbClr>
            </a:outerShdw>
          </a:effectLst>
        </p:spPr>
      </p:sp>
      <p:sp>
        <p:nvSpPr>
          <p:cNvPr id="6" name="Shape 4"/>
          <p:cNvSpPr/>
          <p:nvPr/>
        </p:nvSpPr>
        <p:spPr>
          <a:xfrm>
            <a:off x="274320" y="1261872"/>
            <a:ext cx="1097280" cy="804672"/>
          </a:xfrm>
          <a:prstGeom prst="rect">
            <a:avLst/>
          </a:prstGeom>
          <a:solidFill>
            <a:srgbClr val="10B981"/>
          </a:solidFill>
          <a:ln w="12700">
            <a:solidFill>
              <a:srgbClr val="10B981"/>
            </a:solidFill>
            <a:prstDash val="solid"/>
          </a:ln>
        </p:spPr>
      </p:sp>
      <p:sp>
        <p:nvSpPr>
          <p:cNvPr id="7" name="Text 5"/>
          <p:cNvSpPr/>
          <p:nvPr/>
        </p:nvSpPr>
        <p:spPr>
          <a:xfrm>
            <a:off x="274320" y="1261872"/>
            <a:ext cx="1097280" cy="804672"/>
          </a:xfrm>
          <a:prstGeom prst="rect">
            <a:avLst/>
          </a:prstGeom>
          <a:noFill/>
          <a:ln/>
        </p:spPr>
        <p:txBody>
          <a:bodyPr wrap="square" lIns="0" tIns="0" rIns="0" bIns="0" rtlCol="0" anchor="ctr"/>
          <a:lstStyle/>
          <a:p>
            <a:pPr algn="ctr" indent="0" marL="0">
              <a:buNone/>
            </a:pPr>
            <a:r>
              <a:rPr lang="en-US" sz="1600" b="1" dirty="0">
                <a:solidFill>
                  <a:srgbClr val="0D1B2A"/>
                </a:solidFill>
                <a:latin typeface="Calibri" pitchFamily="34" charset="0"/>
                <a:ea typeface="Calibri" pitchFamily="34" charset="-122"/>
                <a:cs typeface="Calibri" pitchFamily="34" charset="-120"/>
              </a:rPr>
              <a:t>GET</a:t>
            </a:r>
            <a:endParaRPr lang="en-US" sz="1600" dirty="0"/>
          </a:p>
        </p:txBody>
      </p:sp>
      <p:sp>
        <p:nvSpPr>
          <p:cNvPr id="8" name="Text 6"/>
          <p:cNvSpPr/>
          <p:nvPr/>
        </p:nvSpPr>
        <p:spPr>
          <a:xfrm>
            <a:off x="1463040" y="1298448"/>
            <a:ext cx="457200" cy="365760"/>
          </a:xfrm>
          <a:prstGeom prst="rect">
            <a:avLst/>
          </a:prstGeom>
          <a:noFill/>
          <a:ln/>
        </p:spPr>
        <p:txBody>
          <a:bodyPr wrap="square" lIns="0" tIns="0" rIns="0" bIns="0" rtlCol="0" anchor="ctr"/>
          <a:lstStyle/>
          <a:p>
            <a:pPr indent="0" marL="0">
              <a:buNone/>
            </a:pPr>
            <a:r>
              <a:rPr lang="en-US" sz="2000" dirty="0">
                <a:solidFill>
                  <a:srgbClr val="000000"/>
                </a:solidFill>
              </a:rPr>
              <a:t>📥</a:t>
            </a:r>
            <a:endParaRPr lang="en-US" sz="2000" dirty="0"/>
          </a:p>
        </p:txBody>
      </p:sp>
      <p:sp>
        <p:nvSpPr>
          <p:cNvPr id="9" name="Text 7"/>
          <p:cNvSpPr/>
          <p:nvPr/>
        </p:nvSpPr>
        <p:spPr>
          <a:xfrm>
            <a:off x="1938528" y="1307592"/>
            <a:ext cx="1280160" cy="320040"/>
          </a:xfrm>
          <a:prstGeom prst="rect">
            <a:avLst/>
          </a:prstGeom>
          <a:noFill/>
          <a:ln/>
        </p:spPr>
        <p:txBody>
          <a:bodyPr wrap="square" lIns="0" tIns="0" rIns="0" bIns="0" rtlCol="0" anchor="ctr"/>
          <a:lstStyle/>
          <a:p>
            <a:pPr indent="0" marL="0">
              <a:buNone/>
            </a:pPr>
            <a:r>
              <a:rPr lang="en-US" sz="1300" b="1" dirty="0">
                <a:solidFill>
                  <a:srgbClr val="10B981"/>
                </a:solidFill>
                <a:latin typeface="Calibri" pitchFamily="34" charset="0"/>
                <a:ea typeface="Calibri" pitchFamily="34" charset="-122"/>
                <a:cs typeface="Calibri" pitchFamily="34" charset="-120"/>
              </a:rPr>
              <a:t>READ</a:t>
            </a:r>
            <a:endParaRPr lang="en-US" sz="1300" dirty="0"/>
          </a:p>
        </p:txBody>
      </p:sp>
      <p:sp>
        <p:nvSpPr>
          <p:cNvPr id="10" name="Text 8"/>
          <p:cNvSpPr/>
          <p:nvPr/>
        </p:nvSpPr>
        <p:spPr>
          <a:xfrm>
            <a:off x="1938528" y="1609344"/>
            <a:ext cx="2743200" cy="320040"/>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Retrieve data from server</a:t>
            </a:r>
            <a:endParaRPr lang="en-US" sz="1200" dirty="0"/>
          </a:p>
        </p:txBody>
      </p:sp>
      <p:sp>
        <p:nvSpPr>
          <p:cNvPr id="11" name="Shape 9"/>
          <p:cNvSpPr/>
          <p:nvPr/>
        </p:nvSpPr>
        <p:spPr>
          <a:xfrm>
            <a:off x="4754880" y="1353312"/>
            <a:ext cx="4023360" cy="594360"/>
          </a:xfrm>
          <a:prstGeom prst="roundRect">
            <a:avLst>
              <a:gd name="adj" fmla="val 9231"/>
            </a:avLst>
          </a:prstGeom>
          <a:solidFill>
            <a:srgbClr val="0A1628"/>
          </a:solidFill>
          <a:ln w="12700">
            <a:solidFill>
              <a:srgbClr val="10B981"/>
            </a:solidFill>
            <a:prstDash val="solid"/>
          </a:ln>
        </p:spPr>
      </p:sp>
      <p:sp>
        <p:nvSpPr>
          <p:cNvPr id="12" name="Text 10"/>
          <p:cNvSpPr/>
          <p:nvPr/>
        </p:nvSpPr>
        <p:spPr>
          <a:xfrm>
            <a:off x="4846320" y="1371600"/>
            <a:ext cx="3840480" cy="594360"/>
          </a:xfrm>
          <a:prstGeom prst="rect">
            <a:avLst/>
          </a:prstGeom>
          <a:noFill/>
          <a:ln/>
        </p:spPr>
        <p:txBody>
          <a:bodyPr wrap="square" lIns="0" tIns="0" rIns="0" bIns="0" rtlCol="0" anchor="ctr"/>
          <a:lstStyle/>
          <a:p>
            <a:pPr indent="0" marL="0">
              <a:buNone/>
            </a:pPr>
            <a:r>
              <a:rPr lang="en-US" sz="1150" dirty="0">
                <a:solidFill>
                  <a:srgbClr val="10B981"/>
                </a:solidFill>
                <a:latin typeface="Consolas" pitchFamily="34" charset="0"/>
                <a:ea typeface="Consolas" pitchFamily="34" charset="-122"/>
                <a:cs typeface="Consolas" pitchFamily="34" charset="-120"/>
              </a:rPr>
              <a:t>GET /api/users/123 → Returns user info</a:t>
            </a:r>
            <a:endParaRPr lang="en-US" sz="1150" dirty="0"/>
          </a:p>
        </p:txBody>
      </p:sp>
      <p:sp>
        <p:nvSpPr>
          <p:cNvPr id="13" name="Shape 11"/>
          <p:cNvSpPr/>
          <p:nvPr/>
        </p:nvSpPr>
        <p:spPr>
          <a:xfrm>
            <a:off x="274320" y="2157984"/>
            <a:ext cx="8595360" cy="804672"/>
          </a:xfrm>
          <a:prstGeom prst="rect">
            <a:avLst/>
          </a:prstGeom>
          <a:solidFill>
            <a:srgbClr val="172554"/>
          </a:solidFill>
          <a:ln w="12700">
            <a:solidFill>
              <a:srgbClr val="1E3A5F"/>
            </a:solidFill>
            <a:prstDash val="solid"/>
          </a:ln>
          <a:effectLst>
            <a:outerShdw sx="100000" sy="100000" kx="0" ky="0" algn="bl" rotWithShape="0" blurRad="101600" dist="38100" dir="8100000">
              <a:srgbClr val="000000">
                <a:alpha val="25000"/>
              </a:srgbClr>
            </a:outerShdw>
          </a:effectLst>
        </p:spPr>
      </p:sp>
      <p:sp>
        <p:nvSpPr>
          <p:cNvPr id="14" name="Shape 12"/>
          <p:cNvSpPr/>
          <p:nvPr/>
        </p:nvSpPr>
        <p:spPr>
          <a:xfrm>
            <a:off x="274320" y="2157984"/>
            <a:ext cx="1097280" cy="804672"/>
          </a:xfrm>
          <a:prstGeom prst="rect">
            <a:avLst/>
          </a:prstGeom>
          <a:solidFill>
            <a:srgbClr val="00D4FF"/>
          </a:solidFill>
          <a:ln w="12700">
            <a:solidFill>
              <a:srgbClr val="00D4FF"/>
            </a:solidFill>
            <a:prstDash val="solid"/>
          </a:ln>
        </p:spPr>
      </p:sp>
      <p:sp>
        <p:nvSpPr>
          <p:cNvPr id="15" name="Text 13"/>
          <p:cNvSpPr/>
          <p:nvPr/>
        </p:nvSpPr>
        <p:spPr>
          <a:xfrm>
            <a:off x="274320" y="2157984"/>
            <a:ext cx="1097280" cy="804672"/>
          </a:xfrm>
          <a:prstGeom prst="rect">
            <a:avLst/>
          </a:prstGeom>
          <a:noFill/>
          <a:ln/>
        </p:spPr>
        <p:txBody>
          <a:bodyPr wrap="square" lIns="0" tIns="0" rIns="0" bIns="0" rtlCol="0" anchor="ctr"/>
          <a:lstStyle/>
          <a:p>
            <a:pPr algn="ctr" indent="0" marL="0">
              <a:buNone/>
            </a:pPr>
            <a:r>
              <a:rPr lang="en-US" sz="1600" b="1" dirty="0">
                <a:solidFill>
                  <a:srgbClr val="0D1B2A"/>
                </a:solidFill>
                <a:latin typeface="Calibri" pitchFamily="34" charset="0"/>
                <a:ea typeface="Calibri" pitchFamily="34" charset="-122"/>
                <a:cs typeface="Calibri" pitchFamily="34" charset="-120"/>
              </a:rPr>
              <a:t>POST</a:t>
            </a:r>
            <a:endParaRPr lang="en-US" sz="1600" dirty="0"/>
          </a:p>
        </p:txBody>
      </p:sp>
      <p:sp>
        <p:nvSpPr>
          <p:cNvPr id="16" name="Text 14"/>
          <p:cNvSpPr/>
          <p:nvPr/>
        </p:nvSpPr>
        <p:spPr>
          <a:xfrm>
            <a:off x="1463040" y="2194560"/>
            <a:ext cx="457200" cy="365760"/>
          </a:xfrm>
          <a:prstGeom prst="rect">
            <a:avLst/>
          </a:prstGeom>
          <a:noFill/>
          <a:ln/>
        </p:spPr>
        <p:txBody>
          <a:bodyPr wrap="square" lIns="0" tIns="0" rIns="0" bIns="0" rtlCol="0" anchor="ctr"/>
          <a:lstStyle/>
          <a:p>
            <a:pPr indent="0" marL="0">
              <a:buNone/>
            </a:pPr>
            <a:r>
              <a:rPr lang="en-US" sz="2000" dirty="0">
                <a:solidFill>
                  <a:srgbClr val="000000"/>
                </a:solidFill>
              </a:rPr>
              <a:t>📤</a:t>
            </a:r>
            <a:endParaRPr lang="en-US" sz="2000" dirty="0"/>
          </a:p>
        </p:txBody>
      </p:sp>
      <p:sp>
        <p:nvSpPr>
          <p:cNvPr id="17" name="Text 15"/>
          <p:cNvSpPr/>
          <p:nvPr/>
        </p:nvSpPr>
        <p:spPr>
          <a:xfrm>
            <a:off x="1938528" y="2203704"/>
            <a:ext cx="1280160" cy="320040"/>
          </a:xfrm>
          <a:prstGeom prst="rect">
            <a:avLst/>
          </a:prstGeom>
          <a:noFill/>
          <a:ln/>
        </p:spPr>
        <p:txBody>
          <a:bodyPr wrap="square" lIns="0" tIns="0" rIns="0" bIns="0" rtlCol="0" anchor="ctr"/>
          <a:lstStyle/>
          <a:p>
            <a:pPr indent="0" marL="0">
              <a:buNone/>
            </a:pPr>
            <a:r>
              <a:rPr lang="en-US" sz="1300" b="1" dirty="0">
                <a:solidFill>
                  <a:srgbClr val="00D4FF"/>
                </a:solidFill>
                <a:latin typeface="Calibri" pitchFamily="34" charset="0"/>
                <a:ea typeface="Calibri" pitchFamily="34" charset="-122"/>
                <a:cs typeface="Calibri" pitchFamily="34" charset="-120"/>
              </a:rPr>
              <a:t>CREATE</a:t>
            </a:r>
            <a:endParaRPr lang="en-US" sz="1300" dirty="0"/>
          </a:p>
        </p:txBody>
      </p:sp>
      <p:sp>
        <p:nvSpPr>
          <p:cNvPr id="18" name="Text 16"/>
          <p:cNvSpPr/>
          <p:nvPr/>
        </p:nvSpPr>
        <p:spPr>
          <a:xfrm>
            <a:off x="1938528" y="2505456"/>
            <a:ext cx="2743200" cy="320040"/>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Send new data to server</a:t>
            </a:r>
            <a:endParaRPr lang="en-US" sz="1200" dirty="0"/>
          </a:p>
        </p:txBody>
      </p:sp>
      <p:sp>
        <p:nvSpPr>
          <p:cNvPr id="19" name="Shape 17"/>
          <p:cNvSpPr/>
          <p:nvPr/>
        </p:nvSpPr>
        <p:spPr>
          <a:xfrm>
            <a:off x="4754880" y="2249424"/>
            <a:ext cx="4023360" cy="594360"/>
          </a:xfrm>
          <a:prstGeom prst="roundRect">
            <a:avLst>
              <a:gd name="adj" fmla="val 9231"/>
            </a:avLst>
          </a:prstGeom>
          <a:solidFill>
            <a:srgbClr val="0A1628"/>
          </a:solidFill>
          <a:ln w="12700">
            <a:solidFill>
              <a:srgbClr val="00D4FF"/>
            </a:solidFill>
            <a:prstDash val="solid"/>
          </a:ln>
        </p:spPr>
      </p:sp>
      <p:sp>
        <p:nvSpPr>
          <p:cNvPr id="20" name="Text 18"/>
          <p:cNvSpPr/>
          <p:nvPr/>
        </p:nvSpPr>
        <p:spPr>
          <a:xfrm>
            <a:off x="4846320" y="2267712"/>
            <a:ext cx="3840480" cy="594360"/>
          </a:xfrm>
          <a:prstGeom prst="rect">
            <a:avLst/>
          </a:prstGeom>
          <a:noFill/>
          <a:ln/>
        </p:spPr>
        <p:txBody>
          <a:bodyPr wrap="square" lIns="0" tIns="0" rIns="0" bIns="0" rtlCol="0" anchor="ctr"/>
          <a:lstStyle/>
          <a:p>
            <a:pPr indent="0" marL="0">
              <a:buNone/>
            </a:pPr>
            <a:r>
              <a:rPr lang="en-US" sz="1150" dirty="0">
                <a:solidFill>
                  <a:srgbClr val="00D4FF"/>
                </a:solidFill>
                <a:latin typeface="Consolas" pitchFamily="34" charset="0"/>
                <a:ea typeface="Consolas" pitchFamily="34" charset="-122"/>
                <a:cs typeface="Consolas" pitchFamily="34" charset="-120"/>
              </a:rPr>
              <a:t>POST /api/users → Creates a new user</a:t>
            </a:r>
            <a:endParaRPr lang="en-US" sz="1150" dirty="0"/>
          </a:p>
        </p:txBody>
      </p:sp>
      <p:sp>
        <p:nvSpPr>
          <p:cNvPr id="21" name="Shape 19"/>
          <p:cNvSpPr/>
          <p:nvPr/>
        </p:nvSpPr>
        <p:spPr>
          <a:xfrm>
            <a:off x="274320" y="3054096"/>
            <a:ext cx="8595360" cy="804672"/>
          </a:xfrm>
          <a:prstGeom prst="rect">
            <a:avLst/>
          </a:prstGeom>
          <a:solidFill>
            <a:srgbClr val="1E3A5F"/>
          </a:solidFill>
          <a:ln w="12700">
            <a:solidFill>
              <a:srgbClr val="1E3A5F"/>
            </a:solidFill>
            <a:prstDash val="solid"/>
          </a:ln>
          <a:effectLst>
            <a:outerShdw sx="100000" sy="100000" kx="0" ky="0" algn="bl" rotWithShape="0" blurRad="101600" dist="38100" dir="8100000">
              <a:srgbClr val="000000">
                <a:alpha val="25000"/>
              </a:srgbClr>
            </a:outerShdw>
          </a:effectLst>
        </p:spPr>
      </p:sp>
      <p:sp>
        <p:nvSpPr>
          <p:cNvPr id="22" name="Shape 20"/>
          <p:cNvSpPr/>
          <p:nvPr/>
        </p:nvSpPr>
        <p:spPr>
          <a:xfrm>
            <a:off x="274320" y="3054096"/>
            <a:ext cx="1097280" cy="804672"/>
          </a:xfrm>
          <a:prstGeom prst="rect">
            <a:avLst/>
          </a:prstGeom>
          <a:solidFill>
            <a:srgbClr val="F59E0B"/>
          </a:solidFill>
          <a:ln w="12700">
            <a:solidFill>
              <a:srgbClr val="F59E0B"/>
            </a:solidFill>
            <a:prstDash val="solid"/>
          </a:ln>
        </p:spPr>
      </p:sp>
      <p:sp>
        <p:nvSpPr>
          <p:cNvPr id="23" name="Text 21"/>
          <p:cNvSpPr/>
          <p:nvPr/>
        </p:nvSpPr>
        <p:spPr>
          <a:xfrm>
            <a:off x="274320" y="3054096"/>
            <a:ext cx="1097280" cy="804672"/>
          </a:xfrm>
          <a:prstGeom prst="rect">
            <a:avLst/>
          </a:prstGeom>
          <a:noFill/>
          <a:ln/>
        </p:spPr>
        <p:txBody>
          <a:bodyPr wrap="square" lIns="0" tIns="0" rIns="0" bIns="0" rtlCol="0" anchor="ctr"/>
          <a:lstStyle/>
          <a:p>
            <a:pPr algn="ctr" indent="0" marL="0">
              <a:buNone/>
            </a:pPr>
            <a:r>
              <a:rPr lang="en-US" sz="1600" b="1" dirty="0">
                <a:solidFill>
                  <a:srgbClr val="0D1B2A"/>
                </a:solidFill>
                <a:latin typeface="Calibri" pitchFamily="34" charset="0"/>
                <a:ea typeface="Calibri" pitchFamily="34" charset="-122"/>
                <a:cs typeface="Calibri" pitchFamily="34" charset="-120"/>
              </a:rPr>
              <a:t>PUT</a:t>
            </a:r>
            <a:endParaRPr lang="en-US" sz="1600" dirty="0"/>
          </a:p>
        </p:txBody>
      </p:sp>
      <p:sp>
        <p:nvSpPr>
          <p:cNvPr id="24" name="Text 22"/>
          <p:cNvSpPr/>
          <p:nvPr/>
        </p:nvSpPr>
        <p:spPr>
          <a:xfrm>
            <a:off x="1463040" y="3090672"/>
            <a:ext cx="457200" cy="365760"/>
          </a:xfrm>
          <a:prstGeom prst="rect">
            <a:avLst/>
          </a:prstGeom>
          <a:noFill/>
          <a:ln/>
        </p:spPr>
        <p:txBody>
          <a:bodyPr wrap="square" lIns="0" tIns="0" rIns="0" bIns="0" rtlCol="0" anchor="ctr"/>
          <a:lstStyle/>
          <a:p>
            <a:pPr indent="0" marL="0">
              <a:buNone/>
            </a:pPr>
            <a:r>
              <a:rPr lang="en-US" sz="2000" dirty="0">
                <a:solidFill>
                  <a:srgbClr val="000000"/>
                </a:solidFill>
              </a:rPr>
              <a:t>✏️</a:t>
            </a:r>
            <a:endParaRPr lang="en-US" sz="2000" dirty="0"/>
          </a:p>
        </p:txBody>
      </p:sp>
      <p:sp>
        <p:nvSpPr>
          <p:cNvPr id="25" name="Text 23"/>
          <p:cNvSpPr/>
          <p:nvPr/>
        </p:nvSpPr>
        <p:spPr>
          <a:xfrm>
            <a:off x="1938528" y="3099816"/>
            <a:ext cx="1280160" cy="320040"/>
          </a:xfrm>
          <a:prstGeom prst="rect">
            <a:avLst/>
          </a:prstGeom>
          <a:noFill/>
          <a:ln/>
        </p:spPr>
        <p:txBody>
          <a:bodyPr wrap="square" lIns="0" tIns="0" rIns="0" bIns="0" rtlCol="0" anchor="ctr"/>
          <a:lstStyle/>
          <a:p>
            <a:pPr indent="0" marL="0">
              <a:buNone/>
            </a:pPr>
            <a:r>
              <a:rPr lang="en-US" sz="1300" b="1" dirty="0">
                <a:solidFill>
                  <a:srgbClr val="F59E0B"/>
                </a:solidFill>
                <a:latin typeface="Calibri" pitchFamily="34" charset="0"/>
                <a:ea typeface="Calibri" pitchFamily="34" charset="-122"/>
                <a:cs typeface="Calibri" pitchFamily="34" charset="-120"/>
              </a:rPr>
              <a:t>UPDATE</a:t>
            </a:r>
            <a:endParaRPr lang="en-US" sz="1300" dirty="0"/>
          </a:p>
        </p:txBody>
      </p:sp>
      <p:sp>
        <p:nvSpPr>
          <p:cNvPr id="26" name="Text 24"/>
          <p:cNvSpPr/>
          <p:nvPr/>
        </p:nvSpPr>
        <p:spPr>
          <a:xfrm>
            <a:off x="1938528" y="3401568"/>
            <a:ext cx="2743200" cy="320040"/>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Update existing data</a:t>
            </a:r>
            <a:endParaRPr lang="en-US" sz="1200" dirty="0"/>
          </a:p>
        </p:txBody>
      </p:sp>
      <p:sp>
        <p:nvSpPr>
          <p:cNvPr id="27" name="Shape 25"/>
          <p:cNvSpPr/>
          <p:nvPr/>
        </p:nvSpPr>
        <p:spPr>
          <a:xfrm>
            <a:off x="4754880" y="3145536"/>
            <a:ext cx="4023360" cy="594360"/>
          </a:xfrm>
          <a:prstGeom prst="roundRect">
            <a:avLst>
              <a:gd name="adj" fmla="val 9231"/>
            </a:avLst>
          </a:prstGeom>
          <a:solidFill>
            <a:srgbClr val="0A1628"/>
          </a:solidFill>
          <a:ln w="12700">
            <a:solidFill>
              <a:srgbClr val="F59E0B"/>
            </a:solidFill>
            <a:prstDash val="solid"/>
          </a:ln>
        </p:spPr>
      </p:sp>
      <p:sp>
        <p:nvSpPr>
          <p:cNvPr id="28" name="Text 26"/>
          <p:cNvSpPr/>
          <p:nvPr/>
        </p:nvSpPr>
        <p:spPr>
          <a:xfrm>
            <a:off x="4846320" y="3163824"/>
            <a:ext cx="3840480" cy="594360"/>
          </a:xfrm>
          <a:prstGeom prst="rect">
            <a:avLst/>
          </a:prstGeom>
          <a:noFill/>
          <a:ln/>
        </p:spPr>
        <p:txBody>
          <a:bodyPr wrap="square" lIns="0" tIns="0" rIns="0" bIns="0" rtlCol="0" anchor="ctr"/>
          <a:lstStyle/>
          <a:p>
            <a:pPr indent="0" marL="0">
              <a:buNone/>
            </a:pPr>
            <a:r>
              <a:rPr lang="en-US" sz="1150" dirty="0">
                <a:solidFill>
                  <a:srgbClr val="F59E0B"/>
                </a:solidFill>
                <a:latin typeface="Consolas" pitchFamily="34" charset="0"/>
                <a:ea typeface="Consolas" pitchFamily="34" charset="-122"/>
                <a:cs typeface="Consolas" pitchFamily="34" charset="-120"/>
              </a:rPr>
              <a:t>PUT /api/users/123 → Updates user 123</a:t>
            </a:r>
            <a:endParaRPr lang="en-US" sz="1150" dirty="0"/>
          </a:p>
        </p:txBody>
      </p:sp>
      <p:sp>
        <p:nvSpPr>
          <p:cNvPr id="29" name="Shape 27"/>
          <p:cNvSpPr/>
          <p:nvPr/>
        </p:nvSpPr>
        <p:spPr>
          <a:xfrm>
            <a:off x="274320" y="3950208"/>
            <a:ext cx="8595360" cy="804672"/>
          </a:xfrm>
          <a:prstGeom prst="rect">
            <a:avLst/>
          </a:prstGeom>
          <a:solidFill>
            <a:srgbClr val="172554"/>
          </a:solidFill>
          <a:ln w="12700">
            <a:solidFill>
              <a:srgbClr val="1E3A5F"/>
            </a:solidFill>
            <a:prstDash val="solid"/>
          </a:ln>
          <a:effectLst>
            <a:outerShdw sx="100000" sy="100000" kx="0" ky="0" algn="bl" rotWithShape="0" blurRad="101600" dist="38100" dir="8100000">
              <a:srgbClr val="000000">
                <a:alpha val="25000"/>
              </a:srgbClr>
            </a:outerShdw>
          </a:effectLst>
        </p:spPr>
      </p:sp>
      <p:sp>
        <p:nvSpPr>
          <p:cNvPr id="30" name="Shape 28"/>
          <p:cNvSpPr/>
          <p:nvPr/>
        </p:nvSpPr>
        <p:spPr>
          <a:xfrm>
            <a:off x="274320" y="3950208"/>
            <a:ext cx="1097280" cy="804672"/>
          </a:xfrm>
          <a:prstGeom prst="rect">
            <a:avLst/>
          </a:prstGeom>
          <a:solidFill>
            <a:srgbClr val="EF4444"/>
          </a:solidFill>
          <a:ln w="12700">
            <a:solidFill>
              <a:srgbClr val="EF4444"/>
            </a:solidFill>
            <a:prstDash val="solid"/>
          </a:ln>
        </p:spPr>
      </p:sp>
      <p:sp>
        <p:nvSpPr>
          <p:cNvPr id="31" name="Text 29"/>
          <p:cNvSpPr/>
          <p:nvPr/>
        </p:nvSpPr>
        <p:spPr>
          <a:xfrm>
            <a:off x="274320" y="3950208"/>
            <a:ext cx="1097280" cy="804672"/>
          </a:xfrm>
          <a:prstGeom prst="rect">
            <a:avLst/>
          </a:prstGeom>
          <a:noFill/>
          <a:ln/>
        </p:spPr>
        <p:txBody>
          <a:bodyPr wrap="square" lIns="0" tIns="0" rIns="0" bIns="0" rtlCol="0" anchor="ctr"/>
          <a:lstStyle/>
          <a:p>
            <a:pPr algn="ctr" indent="0" marL="0">
              <a:buNone/>
            </a:pPr>
            <a:r>
              <a:rPr lang="en-US" sz="1600" b="1" dirty="0">
                <a:solidFill>
                  <a:srgbClr val="0D1B2A"/>
                </a:solidFill>
                <a:latin typeface="Calibri" pitchFamily="34" charset="0"/>
                <a:ea typeface="Calibri" pitchFamily="34" charset="-122"/>
                <a:cs typeface="Calibri" pitchFamily="34" charset="-120"/>
              </a:rPr>
              <a:t>DELETE</a:t>
            </a:r>
            <a:endParaRPr lang="en-US" sz="1600" dirty="0"/>
          </a:p>
        </p:txBody>
      </p:sp>
      <p:sp>
        <p:nvSpPr>
          <p:cNvPr id="32" name="Text 30"/>
          <p:cNvSpPr/>
          <p:nvPr/>
        </p:nvSpPr>
        <p:spPr>
          <a:xfrm>
            <a:off x="1463040" y="3986784"/>
            <a:ext cx="457200" cy="365760"/>
          </a:xfrm>
          <a:prstGeom prst="rect">
            <a:avLst/>
          </a:prstGeom>
          <a:noFill/>
          <a:ln/>
        </p:spPr>
        <p:txBody>
          <a:bodyPr wrap="square" lIns="0" tIns="0" rIns="0" bIns="0" rtlCol="0" anchor="ctr"/>
          <a:lstStyle/>
          <a:p>
            <a:pPr indent="0" marL="0">
              <a:buNone/>
            </a:pPr>
            <a:r>
              <a:rPr lang="en-US" sz="2000" dirty="0">
                <a:solidFill>
                  <a:srgbClr val="000000"/>
                </a:solidFill>
              </a:rPr>
              <a:t>🗑️</a:t>
            </a:r>
            <a:endParaRPr lang="en-US" sz="2000" dirty="0"/>
          </a:p>
        </p:txBody>
      </p:sp>
      <p:sp>
        <p:nvSpPr>
          <p:cNvPr id="33" name="Text 31"/>
          <p:cNvSpPr/>
          <p:nvPr/>
        </p:nvSpPr>
        <p:spPr>
          <a:xfrm>
            <a:off x="1938528" y="3995928"/>
            <a:ext cx="1280160" cy="320040"/>
          </a:xfrm>
          <a:prstGeom prst="rect">
            <a:avLst/>
          </a:prstGeom>
          <a:noFill/>
          <a:ln/>
        </p:spPr>
        <p:txBody>
          <a:bodyPr wrap="square" lIns="0" tIns="0" rIns="0" bIns="0" rtlCol="0" anchor="ctr"/>
          <a:lstStyle/>
          <a:p>
            <a:pPr indent="0" marL="0">
              <a:buNone/>
            </a:pPr>
            <a:r>
              <a:rPr lang="en-US" sz="1300" b="1" dirty="0">
                <a:solidFill>
                  <a:srgbClr val="EF4444"/>
                </a:solidFill>
                <a:latin typeface="Calibri" pitchFamily="34" charset="0"/>
                <a:ea typeface="Calibri" pitchFamily="34" charset="-122"/>
                <a:cs typeface="Calibri" pitchFamily="34" charset="-120"/>
              </a:rPr>
              <a:t>DELETE</a:t>
            </a:r>
            <a:endParaRPr lang="en-US" sz="1300" dirty="0"/>
          </a:p>
        </p:txBody>
      </p:sp>
      <p:sp>
        <p:nvSpPr>
          <p:cNvPr id="34" name="Text 32"/>
          <p:cNvSpPr/>
          <p:nvPr/>
        </p:nvSpPr>
        <p:spPr>
          <a:xfrm>
            <a:off x="1938528" y="4297680"/>
            <a:ext cx="2743200" cy="320040"/>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Remove data from server</a:t>
            </a:r>
            <a:endParaRPr lang="en-US" sz="1200" dirty="0"/>
          </a:p>
        </p:txBody>
      </p:sp>
      <p:sp>
        <p:nvSpPr>
          <p:cNvPr id="35" name="Shape 33"/>
          <p:cNvSpPr/>
          <p:nvPr/>
        </p:nvSpPr>
        <p:spPr>
          <a:xfrm>
            <a:off x="4754880" y="4041648"/>
            <a:ext cx="4023360" cy="594360"/>
          </a:xfrm>
          <a:prstGeom prst="roundRect">
            <a:avLst>
              <a:gd name="adj" fmla="val 9231"/>
            </a:avLst>
          </a:prstGeom>
          <a:solidFill>
            <a:srgbClr val="0A1628"/>
          </a:solidFill>
          <a:ln w="12700">
            <a:solidFill>
              <a:srgbClr val="EF4444"/>
            </a:solidFill>
            <a:prstDash val="solid"/>
          </a:ln>
        </p:spPr>
      </p:sp>
      <p:sp>
        <p:nvSpPr>
          <p:cNvPr id="36" name="Text 34"/>
          <p:cNvSpPr/>
          <p:nvPr/>
        </p:nvSpPr>
        <p:spPr>
          <a:xfrm>
            <a:off x="4846320" y="4059936"/>
            <a:ext cx="3840480" cy="594360"/>
          </a:xfrm>
          <a:prstGeom prst="rect">
            <a:avLst/>
          </a:prstGeom>
          <a:noFill/>
          <a:ln/>
        </p:spPr>
        <p:txBody>
          <a:bodyPr wrap="square" lIns="0" tIns="0" rIns="0" bIns="0" rtlCol="0" anchor="ctr"/>
          <a:lstStyle/>
          <a:p>
            <a:pPr indent="0" marL="0">
              <a:buNone/>
            </a:pPr>
            <a:r>
              <a:rPr lang="en-US" sz="1150" dirty="0">
                <a:solidFill>
                  <a:srgbClr val="EF4444"/>
                </a:solidFill>
                <a:latin typeface="Consolas" pitchFamily="34" charset="0"/>
                <a:ea typeface="Consolas" pitchFamily="34" charset="-122"/>
                <a:cs typeface="Consolas" pitchFamily="34" charset="-120"/>
              </a:rPr>
              <a:t>DELETE /api/users/123 → Removes user</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D1B2A"/>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D4FF"/>
          </a:solidFill>
          <a:ln w="12700">
            <a:solidFill>
              <a:srgbClr val="00D4FF"/>
            </a:solidFill>
            <a:prstDash val="solid"/>
          </a:ln>
        </p:spPr>
      </p:sp>
      <p:sp>
        <p:nvSpPr>
          <p:cNvPr id="3" name="Text 1"/>
          <p:cNvSpPr/>
          <p:nvPr/>
        </p:nvSpPr>
        <p:spPr>
          <a:xfrm>
            <a:off x="457200" y="137160"/>
            <a:ext cx="8229600" cy="640080"/>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HTTP Status Codes</a:t>
            </a:r>
            <a:endParaRPr lang="en-US" sz="3200" dirty="0"/>
          </a:p>
        </p:txBody>
      </p:sp>
      <p:sp>
        <p:nvSpPr>
          <p:cNvPr id="4" name="Text 2"/>
          <p:cNvSpPr/>
          <p:nvPr/>
        </p:nvSpPr>
        <p:spPr>
          <a:xfrm>
            <a:off x="457200" y="749808"/>
            <a:ext cx="8229600" cy="320040"/>
          </a:xfrm>
          <a:prstGeom prst="rect">
            <a:avLst/>
          </a:prstGeom>
          <a:noFill/>
          <a:ln/>
        </p:spPr>
        <p:txBody>
          <a:bodyPr wrap="square" lIns="0" tIns="0" rIns="0" bIns="0" rtlCol="0" anchor="ctr"/>
          <a:lstStyle/>
          <a:p>
            <a:pPr indent="0" marL="0">
              <a:buNone/>
            </a:pPr>
            <a:r>
              <a:rPr lang="en-US" sz="1400" i="1" dirty="0">
                <a:solidFill>
                  <a:srgbClr val="00D4FF"/>
                </a:solidFill>
                <a:latin typeface="Calibri" pitchFamily="34" charset="0"/>
                <a:ea typeface="Calibri" pitchFamily="34" charset="-122"/>
                <a:cs typeface="Calibri" pitchFamily="34" charset="-120"/>
              </a:rPr>
              <a:t>Section 04 · How Servers Communicate Back</a:t>
            </a:r>
            <a:endParaRPr lang="en-US" sz="1400" dirty="0"/>
          </a:p>
        </p:txBody>
      </p:sp>
      <p:sp>
        <p:nvSpPr>
          <p:cNvPr id="5" name="Shape 3"/>
          <p:cNvSpPr/>
          <p:nvPr/>
        </p:nvSpPr>
        <p:spPr>
          <a:xfrm>
            <a:off x="274320" y="1261872"/>
            <a:ext cx="4206240" cy="1719072"/>
          </a:xfrm>
          <a:prstGeom prst="rect">
            <a:avLst/>
          </a:prstGeom>
          <a:solidFill>
            <a:srgbClr val="1E3A5F"/>
          </a:solidFill>
          <a:ln w="12700">
            <a:solidFill>
              <a:srgbClr val="1E3A5F"/>
            </a:solidFill>
            <a:prstDash val="solid"/>
          </a:ln>
          <a:effectLst>
            <a:outerShdw sx="100000" sy="100000" kx="0" ky="0" algn="bl" rotWithShape="0" blurRad="101600" dist="38100" dir="8100000">
              <a:srgbClr val="000000">
                <a:alpha val="25000"/>
              </a:srgbClr>
            </a:outerShdw>
          </a:effectLst>
        </p:spPr>
      </p:sp>
      <p:sp>
        <p:nvSpPr>
          <p:cNvPr id="6" name="Shape 4"/>
          <p:cNvSpPr/>
          <p:nvPr/>
        </p:nvSpPr>
        <p:spPr>
          <a:xfrm>
            <a:off x="274320" y="1261872"/>
            <a:ext cx="4206240" cy="64008"/>
          </a:xfrm>
          <a:prstGeom prst="rect">
            <a:avLst/>
          </a:prstGeom>
          <a:solidFill>
            <a:srgbClr val="10B981"/>
          </a:solidFill>
          <a:ln w="12700">
            <a:solidFill>
              <a:srgbClr val="10B981"/>
            </a:solidFill>
            <a:prstDash val="solid"/>
          </a:ln>
        </p:spPr>
      </p:sp>
      <p:sp>
        <p:nvSpPr>
          <p:cNvPr id="7" name="Text 5"/>
          <p:cNvSpPr/>
          <p:nvPr/>
        </p:nvSpPr>
        <p:spPr>
          <a:xfrm>
            <a:off x="365760" y="1371600"/>
            <a:ext cx="4023360" cy="365760"/>
          </a:xfrm>
          <a:prstGeom prst="rect">
            <a:avLst/>
          </a:prstGeom>
          <a:noFill/>
          <a:ln/>
        </p:spPr>
        <p:txBody>
          <a:bodyPr wrap="square" lIns="0" tIns="0" rIns="0" bIns="0" rtlCol="0" anchor="ctr"/>
          <a:lstStyle/>
          <a:p>
            <a:pPr indent="0" marL="0">
              <a:buNone/>
            </a:pPr>
            <a:r>
              <a:rPr lang="en-US" sz="1500" b="1" dirty="0">
                <a:solidFill>
                  <a:srgbClr val="10B981"/>
                </a:solidFill>
                <a:latin typeface="Calibri" pitchFamily="34" charset="0"/>
                <a:ea typeface="Calibri" pitchFamily="34" charset="-122"/>
                <a:cs typeface="Calibri" pitchFamily="34" charset="-120"/>
              </a:rPr>
              <a:t>✅  2xx — SUCCESS</a:t>
            </a:r>
            <a:endParaRPr lang="en-US" sz="1500" dirty="0"/>
          </a:p>
        </p:txBody>
      </p:sp>
      <p:sp>
        <p:nvSpPr>
          <p:cNvPr id="8" name="Shape 6"/>
          <p:cNvSpPr/>
          <p:nvPr/>
        </p:nvSpPr>
        <p:spPr>
          <a:xfrm>
            <a:off x="411480" y="1828800"/>
            <a:ext cx="128016" cy="128016"/>
          </a:xfrm>
          <a:prstGeom prst="ellipse">
            <a:avLst/>
          </a:prstGeom>
          <a:solidFill>
            <a:srgbClr val="10B981"/>
          </a:solidFill>
          <a:ln w="12700">
            <a:solidFill>
              <a:srgbClr val="10B981"/>
            </a:solidFill>
            <a:prstDash val="solid"/>
          </a:ln>
        </p:spPr>
      </p:sp>
      <p:sp>
        <p:nvSpPr>
          <p:cNvPr id="9" name="Text 7"/>
          <p:cNvSpPr/>
          <p:nvPr/>
        </p:nvSpPr>
        <p:spPr>
          <a:xfrm>
            <a:off x="621792" y="1792224"/>
            <a:ext cx="3749040" cy="329184"/>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200 OK — Request succeeded</a:t>
            </a:r>
            <a:endParaRPr lang="en-US" sz="1200" dirty="0"/>
          </a:p>
        </p:txBody>
      </p:sp>
      <p:sp>
        <p:nvSpPr>
          <p:cNvPr id="10" name="Shape 8"/>
          <p:cNvSpPr/>
          <p:nvPr/>
        </p:nvSpPr>
        <p:spPr>
          <a:xfrm>
            <a:off x="411480" y="2185416"/>
            <a:ext cx="128016" cy="128016"/>
          </a:xfrm>
          <a:prstGeom prst="ellipse">
            <a:avLst/>
          </a:prstGeom>
          <a:solidFill>
            <a:srgbClr val="10B981"/>
          </a:solidFill>
          <a:ln w="12700">
            <a:solidFill>
              <a:srgbClr val="10B981"/>
            </a:solidFill>
            <a:prstDash val="solid"/>
          </a:ln>
        </p:spPr>
      </p:sp>
      <p:sp>
        <p:nvSpPr>
          <p:cNvPr id="11" name="Text 9"/>
          <p:cNvSpPr/>
          <p:nvPr/>
        </p:nvSpPr>
        <p:spPr>
          <a:xfrm>
            <a:off x="621792" y="2148840"/>
            <a:ext cx="3749040" cy="329184"/>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201 Created — Resource made</a:t>
            </a:r>
            <a:endParaRPr lang="en-US" sz="1200" dirty="0"/>
          </a:p>
        </p:txBody>
      </p:sp>
      <p:sp>
        <p:nvSpPr>
          <p:cNvPr id="12" name="Shape 10"/>
          <p:cNvSpPr/>
          <p:nvPr/>
        </p:nvSpPr>
        <p:spPr>
          <a:xfrm>
            <a:off x="411480" y="2542032"/>
            <a:ext cx="128016" cy="128016"/>
          </a:xfrm>
          <a:prstGeom prst="ellipse">
            <a:avLst/>
          </a:prstGeom>
          <a:solidFill>
            <a:srgbClr val="10B981"/>
          </a:solidFill>
          <a:ln w="12700">
            <a:solidFill>
              <a:srgbClr val="10B981"/>
            </a:solidFill>
            <a:prstDash val="solid"/>
          </a:ln>
        </p:spPr>
      </p:sp>
      <p:sp>
        <p:nvSpPr>
          <p:cNvPr id="13" name="Text 11"/>
          <p:cNvSpPr/>
          <p:nvPr/>
        </p:nvSpPr>
        <p:spPr>
          <a:xfrm>
            <a:off x="621792" y="2505456"/>
            <a:ext cx="3749040" cy="329184"/>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204 No Content — Done, nothing to return</a:t>
            </a:r>
            <a:endParaRPr lang="en-US" sz="1200" dirty="0"/>
          </a:p>
        </p:txBody>
      </p:sp>
      <p:sp>
        <p:nvSpPr>
          <p:cNvPr id="14" name="Shape 12"/>
          <p:cNvSpPr/>
          <p:nvPr/>
        </p:nvSpPr>
        <p:spPr>
          <a:xfrm>
            <a:off x="4736592" y="1261872"/>
            <a:ext cx="4206240" cy="1719072"/>
          </a:xfrm>
          <a:prstGeom prst="rect">
            <a:avLst/>
          </a:prstGeom>
          <a:solidFill>
            <a:srgbClr val="1E3A5F"/>
          </a:solidFill>
          <a:ln w="12700">
            <a:solidFill>
              <a:srgbClr val="1E3A5F"/>
            </a:solidFill>
            <a:prstDash val="solid"/>
          </a:ln>
          <a:effectLst>
            <a:outerShdw sx="100000" sy="100000" kx="0" ky="0" algn="bl" rotWithShape="0" blurRad="101600" dist="38100" dir="8100000">
              <a:srgbClr val="000000">
                <a:alpha val="25000"/>
              </a:srgbClr>
            </a:outerShdw>
          </a:effectLst>
        </p:spPr>
      </p:sp>
      <p:sp>
        <p:nvSpPr>
          <p:cNvPr id="15" name="Shape 13"/>
          <p:cNvSpPr/>
          <p:nvPr/>
        </p:nvSpPr>
        <p:spPr>
          <a:xfrm>
            <a:off x="4736592" y="1261872"/>
            <a:ext cx="4206240" cy="64008"/>
          </a:xfrm>
          <a:prstGeom prst="rect">
            <a:avLst/>
          </a:prstGeom>
          <a:solidFill>
            <a:srgbClr val="0EA5E9"/>
          </a:solidFill>
          <a:ln w="12700">
            <a:solidFill>
              <a:srgbClr val="0EA5E9"/>
            </a:solidFill>
            <a:prstDash val="solid"/>
          </a:ln>
        </p:spPr>
      </p:sp>
      <p:sp>
        <p:nvSpPr>
          <p:cNvPr id="16" name="Text 14"/>
          <p:cNvSpPr/>
          <p:nvPr/>
        </p:nvSpPr>
        <p:spPr>
          <a:xfrm>
            <a:off x="4828032" y="1371600"/>
            <a:ext cx="4023360" cy="365760"/>
          </a:xfrm>
          <a:prstGeom prst="rect">
            <a:avLst/>
          </a:prstGeom>
          <a:noFill/>
          <a:ln/>
        </p:spPr>
        <p:txBody>
          <a:bodyPr wrap="square" lIns="0" tIns="0" rIns="0" bIns="0" rtlCol="0" anchor="ctr"/>
          <a:lstStyle/>
          <a:p>
            <a:pPr indent="0" marL="0">
              <a:buNone/>
            </a:pPr>
            <a:r>
              <a:rPr lang="en-US" sz="1500" b="1" dirty="0">
                <a:solidFill>
                  <a:srgbClr val="0EA5E9"/>
                </a:solidFill>
                <a:latin typeface="Calibri" pitchFamily="34" charset="0"/>
                <a:ea typeface="Calibri" pitchFamily="34" charset="-122"/>
                <a:cs typeface="Calibri" pitchFamily="34" charset="-120"/>
              </a:rPr>
              <a:t>🔀  3xx — REDIRECT</a:t>
            </a:r>
            <a:endParaRPr lang="en-US" sz="1500" dirty="0"/>
          </a:p>
        </p:txBody>
      </p:sp>
      <p:sp>
        <p:nvSpPr>
          <p:cNvPr id="17" name="Shape 15"/>
          <p:cNvSpPr/>
          <p:nvPr/>
        </p:nvSpPr>
        <p:spPr>
          <a:xfrm>
            <a:off x="4873752" y="1828800"/>
            <a:ext cx="128016" cy="128016"/>
          </a:xfrm>
          <a:prstGeom prst="ellipse">
            <a:avLst/>
          </a:prstGeom>
          <a:solidFill>
            <a:srgbClr val="0EA5E9"/>
          </a:solidFill>
          <a:ln w="12700">
            <a:solidFill>
              <a:srgbClr val="0EA5E9"/>
            </a:solidFill>
            <a:prstDash val="solid"/>
          </a:ln>
        </p:spPr>
      </p:sp>
      <p:sp>
        <p:nvSpPr>
          <p:cNvPr id="18" name="Text 16"/>
          <p:cNvSpPr/>
          <p:nvPr/>
        </p:nvSpPr>
        <p:spPr>
          <a:xfrm>
            <a:off x="5084064" y="1792224"/>
            <a:ext cx="3749040" cy="329184"/>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301 Moved Permanently</a:t>
            </a:r>
            <a:endParaRPr lang="en-US" sz="1200" dirty="0"/>
          </a:p>
        </p:txBody>
      </p:sp>
      <p:sp>
        <p:nvSpPr>
          <p:cNvPr id="19" name="Shape 17"/>
          <p:cNvSpPr/>
          <p:nvPr/>
        </p:nvSpPr>
        <p:spPr>
          <a:xfrm>
            <a:off x="4873752" y="2185416"/>
            <a:ext cx="128016" cy="128016"/>
          </a:xfrm>
          <a:prstGeom prst="ellipse">
            <a:avLst/>
          </a:prstGeom>
          <a:solidFill>
            <a:srgbClr val="0EA5E9"/>
          </a:solidFill>
          <a:ln w="12700">
            <a:solidFill>
              <a:srgbClr val="0EA5E9"/>
            </a:solidFill>
            <a:prstDash val="solid"/>
          </a:ln>
        </p:spPr>
      </p:sp>
      <p:sp>
        <p:nvSpPr>
          <p:cNvPr id="20" name="Text 18"/>
          <p:cNvSpPr/>
          <p:nvPr/>
        </p:nvSpPr>
        <p:spPr>
          <a:xfrm>
            <a:off x="5084064" y="2148840"/>
            <a:ext cx="3749040" cy="329184"/>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302 Found (Temporary redirect)</a:t>
            </a:r>
            <a:endParaRPr lang="en-US" sz="1200" dirty="0"/>
          </a:p>
        </p:txBody>
      </p:sp>
      <p:sp>
        <p:nvSpPr>
          <p:cNvPr id="21" name="Shape 19"/>
          <p:cNvSpPr/>
          <p:nvPr/>
        </p:nvSpPr>
        <p:spPr>
          <a:xfrm>
            <a:off x="4873752" y="2542032"/>
            <a:ext cx="128016" cy="128016"/>
          </a:xfrm>
          <a:prstGeom prst="ellipse">
            <a:avLst/>
          </a:prstGeom>
          <a:solidFill>
            <a:srgbClr val="0EA5E9"/>
          </a:solidFill>
          <a:ln w="12700">
            <a:solidFill>
              <a:srgbClr val="0EA5E9"/>
            </a:solidFill>
            <a:prstDash val="solid"/>
          </a:ln>
        </p:spPr>
      </p:sp>
      <p:sp>
        <p:nvSpPr>
          <p:cNvPr id="22" name="Text 20"/>
          <p:cNvSpPr/>
          <p:nvPr/>
        </p:nvSpPr>
        <p:spPr>
          <a:xfrm>
            <a:off x="5084064" y="2505456"/>
            <a:ext cx="3749040" cy="329184"/>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304 Not Modified — Use cache</a:t>
            </a:r>
            <a:endParaRPr lang="en-US" sz="1200" dirty="0"/>
          </a:p>
        </p:txBody>
      </p:sp>
      <p:sp>
        <p:nvSpPr>
          <p:cNvPr id="23" name="Shape 21"/>
          <p:cNvSpPr/>
          <p:nvPr/>
        </p:nvSpPr>
        <p:spPr>
          <a:xfrm>
            <a:off x="274320" y="3136392"/>
            <a:ext cx="4206240" cy="1719072"/>
          </a:xfrm>
          <a:prstGeom prst="rect">
            <a:avLst/>
          </a:prstGeom>
          <a:solidFill>
            <a:srgbClr val="1E3A5F"/>
          </a:solidFill>
          <a:ln w="12700">
            <a:solidFill>
              <a:srgbClr val="1E3A5F"/>
            </a:solidFill>
            <a:prstDash val="solid"/>
          </a:ln>
          <a:effectLst>
            <a:outerShdw sx="100000" sy="100000" kx="0" ky="0" algn="bl" rotWithShape="0" blurRad="101600" dist="38100" dir="8100000">
              <a:srgbClr val="000000">
                <a:alpha val="25000"/>
              </a:srgbClr>
            </a:outerShdw>
          </a:effectLst>
        </p:spPr>
      </p:sp>
      <p:sp>
        <p:nvSpPr>
          <p:cNvPr id="24" name="Shape 22"/>
          <p:cNvSpPr/>
          <p:nvPr/>
        </p:nvSpPr>
        <p:spPr>
          <a:xfrm>
            <a:off x="274320" y="3136392"/>
            <a:ext cx="4206240" cy="64008"/>
          </a:xfrm>
          <a:prstGeom prst="rect">
            <a:avLst/>
          </a:prstGeom>
          <a:solidFill>
            <a:srgbClr val="F59E0B"/>
          </a:solidFill>
          <a:ln w="12700">
            <a:solidFill>
              <a:srgbClr val="F59E0B"/>
            </a:solidFill>
            <a:prstDash val="solid"/>
          </a:ln>
        </p:spPr>
      </p:sp>
      <p:sp>
        <p:nvSpPr>
          <p:cNvPr id="25" name="Text 23"/>
          <p:cNvSpPr/>
          <p:nvPr/>
        </p:nvSpPr>
        <p:spPr>
          <a:xfrm>
            <a:off x="365760" y="3246120"/>
            <a:ext cx="4023360" cy="365760"/>
          </a:xfrm>
          <a:prstGeom prst="rect">
            <a:avLst/>
          </a:prstGeom>
          <a:noFill/>
          <a:ln/>
        </p:spPr>
        <p:txBody>
          <a:bodyPr wrap="square" lIns="0" tIns="0" rIns="0" bIns="0" rtlCol="0" anchor="ctr"/>
          <a:lstStyle/>
          <a:p>
            <a:pPr indent="0" marL="0">
              <a:buNone/>
            </a:pPr>
            <a:r>
              <a:rPr lang="en-US" sz="1500" b="1" dirty="0">
                <a:solidFill>
                  <a:srgbClr val="F59E0B"/>
                </a:solidFill>
                <a:latin typeface="Calibri" pitchFamily="34" charset="0"/>
                <a:ea typeface="Calibri" pitchFamily="34" charset="-122"/>
                <a:cs typeface="Calibri" pitchFamily="34" charset="-120"/>
              </a:rPr>
              <a:t>⚠️  4xx — CLIENT ERROR</a:t>
            </a:r>
            <a:endParaRPr lang="en-US" sz="1500" dirty="0"/>
          </a:p>
        </p:txBody>
      </p:sp>
      <p:sp>
        <p:nvSpPr>
          <p:cNvPr id="26" name="Shape 24"/>
          <p:cNvSpPr/>
          <p:nvPr/>
        </p:nvSpPr>
        <p:spPr>
          <a:xfrm>
            <a:off x="411480" y="3703320"/>
            <a:ext cx="128016" cy="128016"/>
          </a:xfrm>
          <a:prstGeom prst="ellipse">
            <a:avLst/>
          </a:prstGeom>
          <a:solidFill>
            <a:srgbClr val="F59E0B"/>
          </a:solidFill>
          <a:ln w="12700">
            <a:solidFill>
              <a:srgbClr val="F59E0B"/>
            </a:solidFill>
            <a:prstDash val="solid"/>
          </a:ln>
        </p:spPr>
      </p:sp>
      <p:sp>
        <p:nvSpPr>
          <p:cNvPr id="27" name="Text 25"/>
          <p:cNvSpPr/>
          <p:nvPr/>
        </p:nvSpPr>
        <p:spPr>
          <a:xfrm>
            <a:off x="621792" y="3666744"/>
            <a:ext cx="3749040" cy="329184"/>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400 Bad Request — Wrong input</a:t>
            </a:r>
            <a:endParaRPr lang="en-US" sz="1200" dirty="0"/>
          </a:p>
        </p:txBody>
      </p:sp>
      <p:sp>
        <p:nvSpPr>
          <p:cNvPr id="28" name="Shape 26"/>
          <p:cNvSpPr/>
          <p:nvPr/>
        </p:nvSpPr>
        <p:spPr>
          <a:xfrm>
            <a:off x="411480" y="4059936"/>
            <a:ext cx="128016" cy="128016"/>
          </a:xfrm>
          <a:prstGeom prst="ellipse">
            <a:avLst/>
          </a:prstGeom>
          <a:solidFill>
            <a:srgbClr val="F59E0B"/>
          </a:solidFill>
          <a:ln w="12700">
            <a:solidFill>
              <a:srgbClr val="F59E0B"/>
            </a:solidFill>
            <a:prstDash val="solid"/>
          </a:ln>
        </p:spPr>
      </p:sp>
      <p:sp>
        <p:nvSpPr>
          <p:cNvPr id="29" name="Text 27"/>
          <p:cNvSpPr/>
          <p:nvPr/>
        </p:nvSpPr>
        <p:spPr>
          <a:xfrm>
            <a:off x="621792" y="4023360"/>
            <a:ext cx="3749040" cy="329184"/>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401 Unauthorised — Login first</a:t>
            </a:r>
            <a:endParaRPr lang="en-US" sz="1200" dirty="0"/>
          </a:p>
        </p:txBody>
      </p:sp>
      <p:sp>
        <p:nvSpPr>
          <p:cNvPr id="30" name="Shape 28"/>
          <p:cNvSpPr/>
          <p:nvPr/>
        </p:nvSpPr>
        <p:spPr>
          <a:xfrm>
            <a:off x="411480" y="4416552"/>
            <a:ext cx="128016" cy="128016"/>
          </a:xfrm>
          <a:prstGeom prst="ellipse">
            <a:avLst/>
          </a:prstGeom>
          <a:solidFill>
            <a:srgbClr val="F59E0B"/>
          </a:solidFill>
          <a:ln w="12700">
            <a:solidFill>
              <a:srgbClr val="F59E0B"/>
            </a:solidFill>
            <a:prstDash val="solid"/>
          </a:ln>
        </p:spPr>
      </p:sp>
      <p:sp>
        <p:nvSpPr>
          <p:cNvPr id="31" name="Text 29"/>
          <p:cNvSpPr/>
          <p:nvPr/>
        </p:nvSpPr>
        <p:spPr>
          <a:xfrm>
            <a:off x="621792" y="4379976"/>
            <a:ext cx="3749040" cy="329184"/>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404 Not Found — Page doesn't exist</a:t>
            </a:r>
            <a:endParaRPr lang="en-US" sz="1200" dirty="0"/>
          </a:p>
        </p:txBody>
      </p:sp>
      <p:sp>
        <p:nvSpPr>
          <p:cNvPr id="32" name="Shape 30"/>
          <p:cNvSpPr/>
          <p:nvPr/>
        </p:nvSpPr>
        <p:spPr>
          <a:xfrm>
            <a:off x="4736592" y="3136392"/>
            <a:ext cx="4206240" cy="1719072"/>
          </a:xfrm>
          <a:prstGeom prst="rect">
            <a:avLst/>
          </a:prstGeom>
          <a:solidFill>
            <a:srgbClr val="1E3A5F"/>
          </a:solidFill>
          <a:ln w="12700">
            <a:solidFill>
              <a:srgbClr val="1E3A5F"/>
            </a:solidFill>
            <a:prstDash val="solid"/>
          </a:ln>
          <a:effectLst>
            <a:outerShdw sx="100000" sy="100000" kx="0" ky="0" algn="bl" rotWithShape="0" blurRad="101600" dist="38100" dir="8100000">
              <a:srgbClr val="000000">
                <a:alpha val="25000"/>
              </a:srgbClr>
            </a:outerShdw>
          </a:effectLst>
        </p:spPr>
      </p:sp>
      <p:sp>
        <p:nvSpPr>
          <p:cNvPr id="33" name="Shape 31"/>
          <p:cNvSpPr/>
          <p:nvPr/>
        </p:nvSpPr>
        <p:spPr>
          <a:xfrm>
            <a:off x="4736592" y="3136392"/>
            <a:ext cx="4206240" cy="64008"/>
          </a:xfrm>
          <a:prstGeom prst="rect">
            <a:avLst/>
          </a:prstGeom>
          <a:solidFill>
            <a:srgbClr val="EF4444"/>
          </a:solidFill>
          <a:ln w="12700">
            <a:solidFill>
              <a:srgbClr val="EF4444"/>
            </a:solidFill>
            <a:prstDash val="solid"/>
          </a:ln>
        </p:spPr>
      </p:sp>
      <p:sp>
        <p:nvSpPr>
          <p:cNvPr id="34" name="Text 32"/>
          <p:cNvSpPr/>
          <p:nvPr/>
        </p:nvSpPr>
        <p:spPr>
          <a:xfrm>
            <a:off x="4828032" y="3246120"/>
            <a:ext cx="4023360" cy="365760"/>
          </a:xfrm>
          <a:prstGeom prst="rect">
            <a:avLst/>
          </a:prstGeom>
          <a:noFill/>
          <a:ln/>
        </p:spPr>
        <p:txBody>
          <a:bodyPr wrap="square" lIns="0" tIns="0" rIns="0" bIns="0" rtlCol="0" anchor="ctr"/>
          <a:lstStyle/>
          <a:p>
            <a:pPr indent="0" marL="0">
              <a:buNone/>
            </a:pPr>
            <a:r>
              <a:rPr lang="en-US" sz="1500" b="1" dirty="0">
                <a:solidFill>
                  <a:srgbClr val="EF4444"/>
                </a:solidFill>
                <a:latin typeface="Calibri" pitchFamily="34" charset="0"/>
                <a:ea typeface="Calibri" pitchFamily="34" charset="-122"/>
                <a:cs typeface="Calibri" pitchFamily="34" charset="-120"/>
              </a:rPr>
              <a:t>❌  5xx — SERVER ERROR</a:t>
            </a:r>
            <a:endParaRPr lang="en-US" sz="1500" dirty="0"/>
          </a:p>
        </p:txBody>
      </p:sp>
      <p:sp>
        <p:nvSpPr>
          <p:cNvPr id="35" name="Shape 33"/>
          <p:cNvSpPr/>
          <p:nvPr/>
        </p:nvSpPr>
        <p:spPr>
          <a:xfrm>
            <a:off x="4873752" y="3703320"/>
            <a:ext cx="128016" cy="128016"/>
          </a:xfrm>
          <a:prstGeom prst="ellipse">
            <a:avLst/>
          </a:prstGeom>
          <a:solidFill>
            <a:srgbClr val="EF4444"/>
          </a:solidFill>
          <a:ln w="12700">
            <a:solidFill>
              <a:srgbClr val="EF4444"/>
            </a:solidFill>
            <a:prstDash val="solid"/>
          </a:ln>
        </p:spPr>
      </p:sp>
      <p:sp>
        <p:nvSpPr>
          <p:cNvPr id="36" name="Text 34"/>
          <p:cNvSpPr/>
          <p:nvPr/>
        </p:nvSpPr>
        <p:spPr>
          <a:xfrm>
            <a:off x="5084064" y="3666744"/>
            <a:ext cx="3749040" cy="329184"/>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500 Internal Server Error</a:t>
            </a:r>
            <a:endParaRPr lang="en-US" sz="1200" dirty="0"/>
          </a:p>
        </p:txBody>
      </p:sp>
      <p:sp>
        <p:nvSpPr>
          <p:cNvPr id="37" name="Shape 35"/>
          <p:cNvSpPr/>
          <p:nvPr/>
        </p:nvSpPr>
        <p:spPr>
          <a:xfrm>
            <a:off x="4873752" y="4059936"/>
            <a:ext cx="128016" cy="128016"/>
          </a:xfrm>
          <a:prstGeom prst="ellipse">
            <a:avLst/>
          </a:prstGeom>
          <a:solidFill>
            <a:srgbClr val="EF4444"/>
          </a:solidFill>
          <a:ln w="12700">
            <a:solidFill>
              <a:srgbClr val="EF4444"/>
            </a:solidFill>
            <a:prstDash val="solid"/>
          </a:ln>
        </p:spPr>
      </p:sp>
      <p:sp>
        <p:nvSpPr>
          <p:cNvPr id="38" name="Text 36"/>
          <p:cNvSpPr/>
          <p:nvPr/>
        </p:nvSpPr>
        <p:spPr>
          <a:xfrm>
            <a:off x="5084064" y="4023360"/>
            <a:ext cx="3749040" cy="329184"/>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502 Bad Gateway</a:t>
            </a:r>
            <a:endParaRPr lang="en-US" sz="1200" dirty="0"/>
          </a:p>
        </p:txBody>
      </p:sp>
      <p:sp>
        <p:nvSpPr>
          <p:cNvPr id="39" name="Shape 37"/>
          <p:cNvSpPr/>
          <p:nvPr/>
        </p:nvSpPr>
        <p:spPr>
          <a:xfrm>
            <a:off x="4873752" y="4416552"/>
            <a:ext cx="128016" cy="128016"/>
          </a:xfrm>
          <a:prstGeom prst="ellipse">
            <a:avLst/>
          </a:prstGeom>
          <a:solidFill>
            <a:srgbClr val="EF4444"/>
          </a:solidFill>
          <a:ln w="12700">
            <a:solidFill>
              <a:srgbClr val="EF4444"/>
            </a:solidFill>
            <a:prstDash val="solid"/>
          </a:ln>
        </p:spPr>
      </p:sp>
      <p:sp>
        <p:nvSpPr>
          <p:cNvPr id="40" name="Text 38"/>
          <p:cNvSpPr/>
          <p:nvPr/>
        </p:nvSpPr>
        <p:spPr>
          <a:xfrm>
            <a:off x="5084064" y="4379976"/>
            <a:ext cx="3749040" cy="329184"/>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503 Service Unavailable</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D1B2A"/>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D4FF"/>
          </a:solidFill>
          <a:ln w="12700">
            <a:solidFill>
              <a:srgbClr val="00D4FF"/>
            </a:solidFill>
            <a:prstDash val="solid"/>
          </a:ln>
        </p:spPr>
      </p:sp>
      <p:sp>
        <p:nvSpPr>
          <p:cNvPr id="3" name="Text 1"/>
          <p:cNvSpPr/>
          <p:nvPr/>
        </p:nvSpPr>
        <p:spPr>
          <a:xfrm>
            <a:off x="457200" y="137160"/>
            <a:ext cx="8229600" cy="640080"/>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How API Calls Work</a:t>
            </a:r>
            <a:endParaRPr lang="en-US" sz="3200" dirty="0"/>
          </a:p>
        </p:txBody>
      </p:sp>
      <p:sp>
        <p:nvSpPr>
          <p:cNvPr id="4" name="Text 2"/>
          <p:cNvSpPr/>
          <p:nvPr/>
        </p:nvSpPr>
        <p:spPr>
          <a:xfrm>
            <a:off x="457200" y="749808"/>
            <a:ext cx="8229600" cy="320040"/>
          </a:xfrm>
          <a:prstGeom prst="rect">
            <a:avLst/>
          </a:prstGeom>
          <a:noFill/>
          <a:ln/>
        </p:spPr>
        <p:txBody>
          <a:bodyPr wrap="square" lIns="0" tIns="0" rIns="0" bIns="0" rtlCol="0" anchor="ctr"/>
          <a:lstStyle/>
          <a:p>
            <a:pPr indent="0" marL="0">
              <a:buNone/>
            </a:pPr>
            <a:r>
              <a:rPr lang="en-US" sz="1400" i="1" dirty="0">
                <a:solidFill>
                  <a:srgbClr val="00D4FF"/>
                </a:solidFill>
                <a:latin typeface="Calibri" pitchFamily="34" charset="0"/>
                <a:ea typeface="Calibri" pitchFamily="34" charset="-122"/>
                <a:cs typeface="Calibri" pitchFamily="34" charset="-120"/>
              </a:rPr>
              <a:t>Section 05 · Frontend → Backend → Database Flow</a:t>
            </a:r>
            <a:endParaRPr lang="en-US" sz="1400" dirty="0"/>
          </a:p>
        </p:txBody>
      </p:sp>
      <p:sp>
        <p:nvSpPr>
          <p:cNvPr id="5" name="Shape 3"/>
          <p:cNvSpPr/>
          <p:nvPr/>
        </p:nvSpPr>
        <p:spPr>
          <a:xfrm>
            <a:off x="274320" y="1234440"/>
            <a:ext cx="2103120" cy="2011680"/>
          </a:xfrm>
          <a:prstGeom prst="rect">
            <a:avLst/>
          </a:prstGeom>
          <a:solidFill>
            <a:srgbClr val="1E3A5F"/>
          </a:solidFill>
          <a:ln w="12700">
            <a:solidFill>
              <a:srgbClr val="1E3A5F"/>
            </a:solidFill>
            <a:prstDash val="solid"/>
          </a:ln>
          <a:effectLst>
            <a:outerShdw sx="100000" sy="100000" kx="0" ky="0" algn="bl" rotWithShape="0" blurRad="101600" dist="38100" dir="8100000">
              <a:srgbClr val="000000">
                <a:alpha val="25000"/>
              </a:srgbClr>
            </a:outerShdw>
          </a:effectLst>
        </p:spPr>
      </p:sp>
      <p:sp>
        <p:nvSpPr>
          <p:cNvPr id="6" name="Shape 4"/>
          <p:cNvSpPr/>
          <p:nvPr/>
        </p:nvSpPr>
        <p:spPr>
          <a:xfrm>
            <a:off x="274320" y="1234440"/>
            <a:ext cx="2103120" cy="64008"/>
          </a:xfrm>
          <a:prstGeom prst="rect">
            <a:avLst/>
          </a:prstGeom>
          <a:solidFill>
            <a:srgbClr val="0EA5E9"/>
          </a:solidFill>
          <a:ln w="12700">
            <a:solidFill>
              <a:srgbClr val="0EA5E9"/>
            </a:solidFill>
            <a:prstDash val="solid"/>
          </a:ln>
        </p:spPr>
      </p:sp>
      <p:sp>
        <p:nvSpPr>
          <p:cNvPr id="7" name="Text 5"/>
          <p:cNvSpPr/>
          <p:nvPr/>
        </p:nvSpPr>
        <p:spPr>
          <a:xfrm>
            <a:off x="274320" y="1371600"/>
            <a:ext cx="2103120" cy="594360"/>
          </a:xfrm>
          <a:prstGeom prst="rect">
            <a:avLst/>
          </a:prstGeom>
          <a:noFill/>
          <a:ln/>
        </p:spPr>
        <p:txBody>
          <a:bodyPr wrap="square" lIns="0" tIns="0" rIns="0" bIns="0" rtlCol="0" anchor="ctr"/>
          <a:lstStyle/>
          <a:p>
            <a:pPr algn="ctr" indent="0" marL="0">
              <a:buNone/>
            </a:pPr>
            <a:r>
              <a:rPr lang="en-US" sz="3000" dirty="0">
                <a:solidFill>
                  <a:srgbClr val="000000"/>
                </a:solidFill>
              </a:rPr>
              <a:t>🖥️</a:t>
            </a:r>
            <a:endParaRPr lang="en-US" sz="3000" dirty="0"/>
          </a:p>
        </p:txBody>
      </p:sp>
      <p:sp>
        <p:nvSpPr>
          <p:cNvPr id="8" name="Text 6"/>
          <p:cNvSpPr/>
          <p:nvPr/>
        </p:nvSpPr>
        <p:spPr>
          <a:xfrm>
            <a:off x="274320" y="1938528"/>
            <a:ext cx="2103120" cy="365760"/>
          </a:xfrm>
          <a:prstGeom prst="rect">
            <a:avLst/>
          </a:prstGeom>
          <a:noFill/>
          <a:ln/>
        </p:spPr>
        <p:txBody>
          <a:bodyPr wrap="square" lIns="0" tIns="0" rIns="0" bIns="0" rtlCol="0" anchor="ctr"/>
          <a:lstStyle/>
          <a:p>
            <a:pPr algn="ctr" indent="0" marL="0">
              <a:buNone/>
            </a:pPr>
            <a:r>
              <a:rPr lang="en-US" sz="1500" b="1" dirty="0">
                <a:solidFill>
                  <a:srgbClr val="0EA5E9"/>
                </a:solidFill>
                <a:latin typeface="Calibri" pitchFamily="34" charset="0"/>
                <a:ea typeface="Calibri" pitchFamily="34" charset="-122"/>
                <a:cs typeface="Calibri" pitchFamily="34" charset="-120"/>
              </a:rPr>
              <a:t>FRONTEND</a:t>
            </a:r>
            <a:endParaRPr lang="en-US" sz="1500" dirty="0"/>
          </a:p>
        </p:txBody>
      </p:sp>
      <p:sp>
        <p:nvSpPr>
          <p:cNvPr id="9" name="Text 7"/>
          <p:cNvSpPr/>
          <p:nvPr/>
        </p:nvSpPr>
        <p:spPr>
          <a:xfrm>
            <a:off x="274320" y="2304288"/>
            <a:ext cx="2103120" cy="320040"/>
          </a:xfrm>
          <a:prstGeom prst="rect">
            <a:avLst/>
          </a:prstGeom>
          <a:noFill/>
          <a:ln/>
        </p:spPr>
        <p:txBody>
          <a:bodyPr wrap="square" lIns="0" tIns="0" rIns="0" bIns="0" rtlCol="0" anchor="ctr"/>
          <a:lstStyle/>
          <a:p>
            <a:pPr algn="ctr" indent="0" marL="0">
              <a:buNone/>
            </a:pPr>
            <a:r>
              <a:rPr lang="en-US" sz="1200" dirty="0">
                <a:solidFill>
                  <a:srgbClr val="94A3B8"/>
                </a:solidFill>
                <a:latin typeface="Calibri" pitchFamily="34" charset="0"/>
                <a:ea typeface="Calibri" pitchFamily="34" charset="-122"/>
                <a:cs typeface="Calibri" pitchFamily="34" charset="-120"/>
              </a:rPr>
              <a:t>Browser / Mobile</a:t>
            </a:r>
            <a:endParaRPr lang="en-US" sz="1200" dirty="0"/>
          </a:p>
        </p:txBody>
      </p:sp>
      <p:sp>
        <p:nvSpPr>
          <p:cNvPr id="10" name="Shape 8"/>
          <p:cNvSpPr/>
          <p:nvPr/>
        </p:nvSpPr>
        <p:spPr>
          <a:xfrm>
            <a:off x="3474720" y="1234440"/>
            <a:ext cx="2103120" cy="2011680"/>
          </a:xfrm>
          <a:prstGeom prst="rect">
            <a:avLst/>
          </a:prstGeom>
          <a:solidFill>
            <a:srgbClr val="1E3A5F"/>
          </a:solidFill>
          <a:ln w="12700">
            <a:solidFill>
              <a:srgbClr val="1E3A5F"/>
            </a:solidFill>
            <a:prstDash val="solid"/>
          </a:ln>
          <a:effectLst>
            <a:outerShdw sx="100000" sy="100000" kx="0" ky="0" algn="bl" rotWithShape="0" blurRad="101600" dist="38100" dir="8100000">
              <a:srgbClr val="000000">
                <a:alpha val="25000"/>
              </a:srgbClr>
            </a:outerShdw>
          </a:effectLst>
        </p:spPr>
      </p:sp>
      <p:sp>
        <p:nvSpPr>
          <p:cNvPr id="11" name="Shape 9"/>
          <p:cNvSpPr/>
          <p:nvPr/>
        </p:nvSpPr>
        <p:spPr>
          <a:xfrm>
            <a:off x="3474720" y="1234440"/>
            <a:ext cx="2103120" cy="64008"/>
          </a:xfrm>
          <a:prstGeom prst="rect">
            <a:avLst/>
          </a:prstGeom>
          <a:solidFill>
            <a:srgbClr val="7C3AED"/>
          </a:solidFill>
          <a:ln w="12700">
            <a:solidFill>
              <a:srgbClr val="7C3AED"/>
            </a:solidFill>
            <a:prstDash val="solid"/>
          </a:ln>
        </p:spPr>
      </p:sp>
      <p:sp>
        <p:nvSpPr>
          <p:cNvPr id="12" name="Text 10"/>
          <p:cNvSpPr/>
          <p:nvPr/>
        </p:nvSpPr>
        <p:spPr>
          <a:xfrm>
            <a:off x="3474720" y="1371600"/>
            <a:ext cx="2103120" cy="594360"/>
          </a:xfrm>
          <a:prstGeom prst="rect">
            <a:avLst/>
          </a:prstGeom>
          <a:noFill/>
          <a:ln/>
        </p:spPr>
        <p:txBody>
          <a:bodyPr wrap="square" lIns="0" tIns="0" rIns="0" bIns="0" rtlCol="0" anchor="ctr"/>
          <a:lstStyle/>
          <a:p>
            <a:pPr algn="ctr" indent="0" marL="0">
              <a:buNone/>
            </a:pPr>
            <a:r>
              <a:rPr lang="en-US" sz="3000" dirty="0">
                <a:solidFill>
                  <a:srgbClr val="000000"/>
                </a:solidFill>
              </a:rPr>
              <a:t>⚙️</a:t>
            </a:r>
            <a:endParaRPr lang="en-US" sz="3000" dirty="0"/>
          </a:p>
        </p:txBody>
      </p:sp>
      <p:sp>
        <p:nvSpPr>
          <p:cNvPr id="13" name="Text 11"/>
          <p:cNvSpPr/>
          <p:nvPr/>
        </p:nvSpPr>
        <p:spPr>
          <a:xfrm>
            <a:off x="3474720" y="1938528"/>
            <a:ext cx="2103120" cy="365760"/>
          </a:xfrm>
          <a:prstGeom prst="rect">
            <a:avLst/>
          </a:prstGeom>
          <a:noFill/>
          <a:ln/>
        </p:spPr>
        <p:txBody>
          <a:bodyPr wrap="square" lIns="0" tIns="0" rIns="0" bIns="0" rtlCol="0" anchor="ctr"/>
          <a:lstStyle/>
          <a:p>
            <a:pPr algn="ctr" indent="0" marL="0">
              <a:buNone/>
            </a:pPr>
            <a:r>
              <a:rPr lang="en-US" sz="1500" b="1" dirty="0">
                <a:solidFill>
                  <a:srgbClr val="7C3AED"/>
                </a:solidFill>
                <a:latin typeface="Calibri" pitchFamily="34" charset="0"/>
                <a:ea typeface="Calibri" pitchFamily="34" charset="-122"/>
                <a:cs typeface="Calibri" pitchFamily="34" charset="-120"/>
              </a:rPr>
              <a:t>BACKEND</a:t>
            </a:r>
            <a:endParaRPr lang="en-US" sz="1500" dirty="0"/>
          </a:p>
        </p:txBody>
      </p:sp>
      <p:sp>
        <p:nvSpPr>
          <p:cNvPr id="14" name="Text 12"/>
          <p:cNvSpPr/>
          <p:nvPr/>
        </p:nvSpPr>
        <p:spPr>
          <a:xfrm>
            <a:off x="3474720" y="2304288"/>
            <a:ext cx="2103120" cy="320040"/>
          </a:xfrm>
          <a:prstGeom prst="rect">
            <a:avLst/>
          </a:prstGeom>
          <a:noFill/>
          <a:ln/>
        </p:spPr>
        <p:txBody>
          <a:bodyPr wrap="square" lIns="0" tIns="0" rIns="0" bIns="0" rtlCol="0" anchor="ctr"/>
          <a:lstStyle/>
          <a:p>
            <a:pPr algn="ctr" indent="0" marL="0">
              <a:buNone/>
            </a:pPr>
            <a:r>
              <a:rPr lang="en-US" sz="1200" dirty="0">
                <a:solidFill>
                  <a:srgbClr val="94A3B8"/>
                </a:solidFill>
                <a:latin typeface="Calibri" pitchFamily="34" charset="0"/>
                <a:ea typeface="Calibri" pitchFamily="34" charset="-122"/>
                <a:cs typeface="Calibri" pitchFamily="34" charset="-120"/>
              </a:rPr>
              <a:t>Java Spring Boot</a:t>
            </a:r>
            <a:endParaRPr lang="en-US" sz="1200" dirty="0"/>
          </a:p>
        </p:txBody>
      </p:sp>
      <p:sp>
        <p:nvSpPr>
          <p:cNvPr id="15" name="Shape 13"/>
          <p:cNvSpPr/>
          <p:nvPr/>
        </p:nvSpPr>
        <p:spPr>
          <a:xfrm>
            <a:off x="6675120" y="1234440"/>
            <a:ext cx="2103120" cy="2011680"/>
          </a:xfrm>
          <a:prstGeom prst="rect">
            <a:avLst/>
          </a:prstGeom>
          <a:solidFill>
            <a:srgbClr val="1E3A5F"/>
          </a:solidFill>
          <a:ln w="12700">
            <a:solidFill>
              <a:srgbClr val="1E3A5F"/>
            </a:solidFill>
            <a:prstDash val="solid"/>
          </a:ln>
          <a:effectLst>
            <a:outerShdw sx="100000" sy="100000" kx="0" ky="0" algn="bl" rotWithShape="0" blurRad="101600" dist="38100" dir="8100000">
              <a:srgbClr val="000000">
                <a:alpha val="25000"/>
              </a:srgbClr>
            </a:outerShdw>
          </a:effectLst>
        </p:spPr>
      </p:sp>
      <p:sp>
        <p:nvSpPr>
          <p:cNvPr id="16" name="Shape 14"/>
          <p:cNvSpPr/>
          <p:nvPr/>
        </p:nvSpPr>
        <p:spPr>
          <a:xfrm>
            <a:off x="6675120" y="1234440"/>
            <a:ext cx="2103120" cy="64008"/>
          </a:xfrm>
          <a:prstGeom prst="rect">
            <a:avLst/>
          </a:prstGeom>
          <a:solidFill>
            <a:srgbClr val="10B981"/>
          </a:solidFill>
          <a:ln w="12700">
            <a:solidFill>
              <a:srgbClr val="10B981"/>
            </a:solidFill>
            <a:prstDash val="solid"/>
          </a:ln>
        </p:spPr>
      </p:sp>
      <p:sp>
        <p:nvSpPr>
          <p:cNvPr id="17" name="Text 15"/>
          <p:cNvSpPr/>
          <p:nvPr/>
        </p:nvSpPr>
        <p:spPr>
          <a:xfrm>
            <a:off x="6675120" y="1371600"/>
            <a:ext cx="2103120" cy="594360"/>
          </a:xfrm>
          <a:prstGeom prst="rect">
            <a:avLst/>
          </a:prstGeom>
          <a:noFill/>
          <a:ln/>
        </p:spPr>
        <p:txBody>
          <a:bodyPr wrap="square" lIns="0" tIns="0" rIns="0" bIns="0" rtlCol="0" anchor="ctr"/>
          <a:lstStyle/>
          <a:p>
            <a:pPr algn="ctr" indent="0" marL="0">
              <a:buNone/>
            </a:pPr>
            <a:r>
              <a:rPr lang="en-US" sz="3000" dirty="0">
                <a:solidFill>
                  <a:srgbClr val="000000"/>
                </a:solidFill>
              </a:rPr>
              <a:t>🗄️</a:t>
            </a:r>
            <a:endParaRPr lang="en-US" sz="3000" dirty="0"/>
          </a:p>
        </p:txBody>
      </p:sp>
      <p:sp>
        <p:nvSpPr>
          <p:cNvPr id="18" name="Text 16"/>
          <p:cNvSpPr/>
          <p:nvPr/>
        </p:nvSpPr>
        <p:spPr>
          <a:xfrm>
            <a:off x="6675120" y="1938528"/>
            <a:ext cx="2103120" cy="365760"/>
          </a:xfrm>
          <a:prstGeom prst="rect">
            <a:avLst/>
          </a:prstGeom>
          <a:noFill/>
          <a:ln/>
        </p:spPr>
        <p:txBody>
          <a:bodyPr wrap="square" lIns="0" tIns="0" rIns="0" bIns="0" rtlCol="0" anchor="ctr"/>
          <a:lstStyle/>
          <a:p>
            <a:pPr algn="ctr" indent="0" marL="0">
              <a:buNone/>
            </a:pPr>
            <a:r>
              <a:rPr lang="en-US" sz="1500" b="1" dirty="0">
                <a:solidFill>
                  <a:srgbClr val="10B981"/>
                </a:solidFill>
                <a:latin typeface="Calibri" pitchFamily="34" charset="0"/>
                <a:ea typeface="Calibri" pitchFamily="34" charset="-122"/>
                <a:cs typeface="Calibri" pitchFamily="34" charset="-120"/>
              </a:rPr>
              <a:t>DATABASE</a:t>
            </a:r>
            <a:endParaRPr lang="en-US" sz="1500" dirty="0"/>
          </a:p>
        </p:txBody>
      </p:sp>
      <p:sp>
        <p:nvSpPr>
          <p:cNvPr id="19" name="Text 17"/>
          <p:cNvSpPr/>
          <p:nvPr/>
        </p:nvSpPr>
        <p:spPr>
          <a:xfrm>
            <a:off x="6675120" y="2304288"/>
            <a:ext cx="2103120" cy="320040"/>
          </a:xfrm>
          <a:prstGeom prst="rect">
            <a:avLst/>
          </a:prstGeom>
          <a:noFill/>
          <a:ln/>
        </p:spPr>
        <p:txBody>
          <a:bodyPr wrap="square" lIns="0" tIns="0" rIns="0" bIns="0" rtlCol="0" anchor="ctr"/>
          <a:lstStyle/>
          <a:p>
            <a:pPr algn="ctr" indent="0" marL="0">
              <a:buNone/>
            </a:pPr>
            <a:r>
              <a:rPr lang="en-US" sz="1200" dirty="0">
                <a:solidFill>
                  <a:srgbClr val="94A3B8"/>
                </a:solidFill>
                <a:latin typeface="Calibri" pitchFamily="34" charset="0"/>
                <a:ea typeface="Calibri" pitchFamily="34" charset="-122"/>
                <a:cs typeface="Calibri" pitchFamily="34" charset="-120"/>
              </a:rPr>
              <a:t>MySQL / PostgreSQL</a:t>
            </a:r>
            <a:endParaRPr lang="en-US" sz="1200" dirty="0"/>
          </a:p>
        </p:txBody>
      </p:sp>
      <p:sp>
        <p:nvSpPr>
          <p:cNvPr id="20" name="Shape 18"/>
          <p:cNvSpPr/>
          <p:nvPr/>
        </p:nvSpPr>
        <p:spPr>
          <a:xfrm>
            <a:off x="2423160" y="2212848"/>
            <a:ext cx="1024128" cy="0"/>
          </a:xfrm>
          <a:prstGeom prst="line">
            <a:avLst/>
          </a:prstGeom>
          <a:noFill/>
          <a:ln w="31750">
            <a:solidFill>
              <a:srgbClr val="00D4FF"/>
            </a:solidFill>
            <a:prstDash val="solid"/>
            <a:tailEnd type="open"/>
          </a:ln>
        </p:spPr>
      </p:sp>
      <p:sp>
        <p:nvSpPr>
          <p:cNvPr id="21" name="Text 19"/>
          <p:cNvSpPr/>
          <p:nvPr/>
        </p:nvSpPr>
        <p:spPr>
          <a:xfrm>
            <a:off x="2450592" y="1901952"/>
            <a:ext cx="1005840" cy="384048"/>
          </a:xfrm>
          <a:prstGeom prst="rect">
            <a:avLst/>
          </a:prstGeom>
          <a:noFill/>
          <a:ln/>
        </p:spPr>
        <p:txBody>
          <a:bodyPr wrap="square" lIns="0" tIns="0" rIns="0" bIns="0" rtlCol="0" anchor="ctr"/>
          <a:lstStyle/>
          <a:p>
            <a:pPr algn="ctr" indent="0" marL="0">
              <a:buNone/>
            </a:pPr>
            <a:r>
              <a:rPr lang="en-US" sz="1000" dirty="0">
                <a:solidFill>
                  <a:srgbClr val="00D4FF"/>
                </a:solidFill>
                <a:latin typeface="Calibri" pitchFamily="34" charset="0"/>
                <a:ea typeface="Calibri" pitchFamily="34" charset="-122"/>
                <a:cs typeface="Calibri" pitchFamily="34" charset="-120"/>
              </a:rPr>
              <a:t>HTTP</a:t>
            </a:r>
            <a:endParaRPr lang="en-US" sz="1000" dirty="0"/>
          </a:p>
          <a:p>
            <a:pPr algn="ctr" indent="0" marL="0">
              <a:buNone/>
            </a:pPr>
            <a:r>
              <a:rPr lang="en-US" sz="1000" dirty="0">
                <a:solidFill>
                  <a:srgbClr val="00D4FF"/>
                </a:solidFill>
                <a:latin typeface="Calibri" pitchFamily="34" charset="0"/>
                <a:ea typeface="Calibri" pitchFamily="34" charset="-122"/>
                <a:cs typeface="Calibri" pitchFamily="34" charset="-120"/>
              </a:rPr>
              <a:t>Request</a:t>
            </a:r>
            <a:endParaRPr lang="en-US" sz="1000" dirty="0"/>
          </a:p>
        </p:txBody>
      </p:sp>
      <p:sp>
        <p:nvSpPr>
          <p:cNvPr id="22" name="Shape 20"/>
          <p:cNvSpPr/>
          <p:nvPr/>
        </p:nvSpPr>
        <p:spPr>
          <a:xfrm>
            <a:off x="5623560" y="2212848"/>
            <a:ext cx="1024128" cy="0"/>
          </a:xfrm>
          <a:prstGeom prst="line">
            <a:avLst/>
          </a:prstGeom>
          <a:noFill/>
          <a:ln w="31750">
            <a:solidFill>
              <a:srgbClr val="00D4FF"/>
            </a:solidFill>
            <a:prstDash val="solid"/>
            <a:tailEnd type="open"/>
          </a:ln>
        </p:spPr>
      </p:sp>
      <p:sp>
        <p:nvSpPr>
          <p:cNvPr id="23" name="Text 21"/>
          <p:cNvSpPr/>
          <p:nvPr/>
        </p:nvSpPr>
        <p:spPr>
          <a:xfrm>
            <a:off x="5650992" y="1901952"/>
            <a:ext cx="1005840" cy="384048"/>
          </a:xfrm>
          <a:prstGeom prst="rect">
            <a:avLst/>
          </a:prstGeom>
          <a:noFill/>
          <a:ln/>
        </p:spPr>
        <p:txBody>
          <a:bodyPr wrap="square" lIns="0" tIns="0" rIns="0" bIns="0" rtlCol="0" anchor="ctr"/>
          <a:lstStyle/>
          <a:p>
            <a:pPr algn="ctr" indent="0" marL="0">
              <a:buNone/>
            </a:pPr>
            <a:r>
              <a:rPr lang="en-US" sz="1000" dirty="0">
                <a:solidFill>
                  <a:srgbClr val="00D4FF"/>
                </a:solidFill>
                <a:latin typeface="Calibri" pitchFamily="34" charset="0"/>
                <a:ea typeface="Calibri" pitchFamily="34" charset="-122"/>
                <a:cs typeface="Calibri" pitchFamily="34" charset="-120"/>
              </a:rPr>
              <a:t>SQL</a:t>
            </a:r>
            <a:endParaRPr lang="en-US" sz="1000" dirty="0"/>
          </a:p>
          <a:p>
            <a:pPr algn="ctr" indent="0" marL="0">
              <a:buNone/>
            </a:pPr>
            <a:r>
              <a:rPr lang="en-US" sz="1000" dirty="0">
                <a:solidFill>
                  <a:srgbClr val="00D4FF"/>
                </a:solidFill>
                <a:latin typeface="Calibri" pitchFamily="34" charset="0"/>
                <a:ea typeface="Calibri" pitchFamily="34" charset="-122"/>
                <a:cs typeface="Calibri" pitchFamily="34" charset="-120"/>
              </a:rPr>
              <a:t>Query</a:t>
            </a:r>
            <a:endParaRPr lang="en-US" sz="1000" dirty="0"/>
          </a:p>
        </p:txBody>
      </p:sp>
      <p:sp>
        <p:nvSpPr>
          <p:cNvPr id="24" name="Shape 22"/>
          <p:cNvSpPr/>
          <p:nvPr/>
        </p:nvSpPr>
        <p:spPr>
          <a:xfrm>
            <a:off x="3447288" y="2514600"/>
            <a:ext cx="-1005840" cy="0"/>
          </a:xfrm>
          <a:prstGeom prst="line">
            <a:avLst/>
          </a:prstGeom>
          <a:noFill/>
          <a:ln w="25400">
            <a:solidFill>
              <a:srgbClr val="10B981"/>
            </a:solidFill>
            <a:prstDash val="solid"/>
            <a:tailEnd type="open"/>
          </a:ln>
        </p:spPr>
      </p:sp>
      <p:sp>
        <p:nvSpPr>
          <p:cNvPr id="25" name="Text 23"/>
          <p:cNvSpPr/>
          <p:nvPr/>
        </p:nvSpPr>
        <p:spPr>
          <a:xfrm>
            <a:off x="2450592" y="2542032"/>
            <a:ext cx="1005840" cy="292608"/>
          </a:xfrm>
          <a:prstGeom prst="rect">
            <a:avLst/>
          </a:prstGeom>
          <a:noFill/>
          <a:ln/>
        </p:spPr>
        <p:txBody>
          <a:bodyPr wrap="square" lIns="0" tIns="0" rIns="0" bIns="0" rtlCol="0" anchor="ctr"/>
          <a:lstStyle/>
          <a:p>
            <a:pPr algn="ctr" indent="0" marL="0">
              <a:buNone/>
            </a:pPr>
            <a:r>
              <a:rPr lang="en-US" sz="1000" dirty="0">
                <a:solidFill>
                  <a:srgbClr val="10B981"/>
                </a:solidFill>
                <a:latin typeface="Calibri" pitchFamily="34" charset="0"/>
                <a:ea typeface="Calibri" pitchFamily="34" charset="-122"/>
                <a:cs typeface="Calibri" pitchFamily="34" charset="-120"/>
              </a:rPr>
              <a:t>JSON</a:t>
            </a:r>
            <a:endParaRPr lang="en-US" sz="1000" dirty="0"/>
          </a:p>
        </p:txBody>
      </p:sp>
      <p:sp>
        <p:nvSpPr>
          <p:cNvPr id="26" name="Shape 24"/>
          <p:cNvSpPr/>
          <p:nvPr/>
        </p:nvSpPr>
        <p:spPr>
          <a:xfrm>
            <a:off x="6647688" y="2514600"/>
            <a:ext cx="-1005840" cy="0"/>
          </a:xfrm>
          <a:prstGeom prst="line">
            <a:avLst/>
          </a:prstGeom>
          <a:noFill/>
          <a:ln w="25400">
            <a:solidFill>
              <a:srgbClr val="10B981"/>
            </a:solidFill>
            <a:prstDash val="solid"/>
            <a:tailEnd type="open"/>
          </a:ln>
        </p:spPr>
      </p:sp>
      <p:sp>
        <p:nvSpPr>
          <p:cNvPr id="27" name="Text 25"/>
          <p:cNvSpPr/>
          <p:nvPr/>
        </p:nvSpPr>
        <p:spPr>
          <a:xfrm>
            <a:off x="5650992" y="2542032"/>
            <a:ext cx="1005840" cy="292608"/>
          </a:xfrm>
          <a:prstGeom prst="rect">
            <a:avLst/>
          </a:prstGeom>
          <a:noFill/>
          <a:ln/>
        </p:spPr>
        <p:txBody>
          <a:bodyPr wrap="square" lIns="0" tIns="0" rIns="0" bIns="0" rtlCol="0" anchor="ctr"/>
          <a:lstStyle/>
          <a:p>
            <a:pPr algn="ctr" indent="0" marL="0">
              <a:buNone/>
            </a:pPr>
            <a:r>
              <a:rPr lang="en-US" sz="1000" dirty="0">
                <a:solidFill>
                  <a:srgbClr val="10B981"/>
                </a:solidFill>
                <a:latin typeface="Calibri" pitchFamily="34" charset="0"/>
                <a:ea typeface="Calibri" pitchFamily="34" charset="-122"/>
                <a:cs typeface="Calibri" pitchFamily="34" charset="-120"/>
              </a:rPr>
              <a:t>Result</a:t>
            </a:r>
            <a:endParaRPr lang="en-US" sz="1000" dirty="0"/>
          </a:p>
        </p:txBody>
      </p:sp>
      <p:sp>
        <p:nvSpPr>
          <p:cNvPr id="28" name="Shape 26"/>
          <p:cNvSpPr/>
          <p:nvPr/>
        </p:nvSpPr>
        <p:spPr>
          <a:xfrm>
            <a:off x="274320" y="3429000"/>
            <a:ext cx="4114800" cy="1536192"/>
          </a:xfrm>
          <a:prstGeom prst="rect">
            <a:avLst/>
          </a:prstGeom>
          <a:solidFill>
            <a:srgbClr val="0A1628"/>
          </a:solidFill>
          <a:ln w="12700">
            <a:solidFill>
              <a:srgbClr val="1E3A5F"/>
            </a:solidFill>
            <a:prstDash val="solid"/>
          </a:ln>
          <a:effectLst>
            <a:outerShdw sx="100000" sy="100000" kx="0" ky="0" algn="bl" rotWithShape="0" blurRad="101600" dist="38100" dir="8100000">
              <a:srgbClr val="000000">
                <a:alpha val="25000"/>
              </a:srgbClr>
            </a:outerShdw>
          </a:effectLst>
        </p:spPr>
      </p:sp>
      <p:sp>
        <p:nvSpPr>
          <p:cNvPr id="29" name="Text 27"/>
          <p:cNvSpPr/>
          <p:nvPr/>
        </p:nvSpPr>
        <p:spPr>
          <a:xfrm>
            <a:off x="365760" y="3474720"/>
            <a:ext cx="2286000" cy="347472"/>
          </a:xfrm>
          <a:prstGeom prst="rect">
            <a:avLst/>
          </a:prstGeom>
          <a:noFill/>
          <a:ln/>
        </p:spPr>
        <p:txBody>
          <a:bodyPr wrap="square" lIns="0" tIns="0" rIns="0" bIns="0" rtlCol="0" anchor="ctr"/>
          <a:lstStyle/>
          <a:p>
            <a:pPr indent="0" marL="0">
              <a:buNone/>
            </a:pPr>
            <a:r>
              <a:rPr lang="en-US" sz="1300" b="1" dirty="0">
                <a:solidFill>
                  <a:srgbClr val="F59E0B"/>
                </a:solidFill>
                <a:latin typeface="Calibri" pitchFamily="34" charset="0"/>
                <a:ea typeface="Calibri" pitchFamily="34" charset="-122"/>
                <a:cs typeface="Calibri" pitchFamily="34" charset="-120"/>
              </a:rPr>
              <a:t>📤  REQUEST</a:t>
            </a:r>
            <a:endParaRPr lang="en-US" sz="1300" dirty="0"/>
          </a:p>
        </p:txBody>
      </p:sp>
      <p:sp>
        <p:nvSpPr>
          <p:cNvPr id="30" name="Text 28"/>
          <p:cNvSpPr/>
          <p:nvPr/>
        </p:nvSpPr>
        <p:spPr>
          <a:xfrm>
            <a:off x="365760" y="3840480"/>
            <a:ext cx="3931920" cy="1005840"/>
          </a:xfrm>
          <a:prstGeom prst="rect">
            <a:avLst/>
          </a:prstGeom>
          <a:noFill/>
          <a:ln/>
        </p:spPr>
        <p:txBody>
          <a:bodyPr wrap="square" lIns="0" tIns="0" rIns="0" bIns="0" rtlCol="0" anchor="ctr"/>
          <a:lstStyle/>
          <a:p>
            <a:pPr indent="0" marL="0">
              <a:buNone/>
            </a:pPr>
            <a:r>
              <a:rPr lang="en-US" sz="1150" dirty="0">
                <a:solidFill>
                  <a:srgbClr val="00D4FF"/>
                </a:solidFill>
                <a:latin typeface="Consolas" pitchFamily="34" charset="0"/>
                <a:ea typeface="Consolas" pitchFamily="34" charset="-122"/>
                <a:cs typeface="Consolas" pitchFamily="34" charset="-120"/>
              </a:rPr>
              <a:t>POST /api/login</a:t>
            </a:r>
            <a:endParaRPr lang="en-US" sz="1150" dirty="0"/>
          </a:p>
          <a:p>
            <a:pPr indent="0" marL="0">
              <a:buNone/>
            </a:pPr>
            <a:r>
              <a:rPr lang="en-US" sz="1150" dirty="0">
                <a:solidFill>
                  <a:srgbClr val="00D4FF"/>
                </a:solidFill>
                <a:latin typeface="Consolas" pitchFamily="34" charset="0"/>
                <a:ea typeface="Consolas" pitchFamily="34" charset="-122"/>
                <a:cs typeface="Consolas" pitchFamily="34" charset="-120"/>
              </a:rPr>
              <a:t>{</a:t>
            </a:r>
            <a:endParaRPr lang="en-US" sz="1150" dirty="0"/>
          </a:p>
          <a:p>
            <a:pPr indent="0" marL="0">
              <a:buNone/>
            </a:pPr>
            <a:r>
              <a:rPr lang="en-US" sz="1150" dirty="0">
                <a:solidFill>
                  <a:srgbClr val="00D4FF"/>
                </a:solidFill>
                <a:latin typeface="Consolas" pitchFamily="34" charset="0"/>
                <a:ea typeface="Consolas" pitchFamily="34" charset="-122"/>
                <a:cs typeface="Consolas" pitchFamily="34" charset="-120"/>
              </a:rPr>
              <a:t>  "email": "you@gmail.com",</a:t>
            </a:r>
            <a:endParaRPr lang="en-US" sz="1150" dirty="0"/>
          </a:p>
          <a:p>
            <a:pPr indent="0" marL="0">
              <a:buNone/>
            </a:pPr>
            <a:r>
              <a:rPr lang="en-US" sz="1150" dirty="0">
                <a:solidFill>
                  <a:srgbClr val="00D4FF"/>
                </a:solidFill>
                <a:latin typeface="Consolas" pitchFamily="34" charset="0"/>
                <a:ea typeface="Consolas" pitchFamily="34" charset="-122"/>
                <a:cs typeface="Consolas" pitchFamily="34" charset="-120"/>
              </a:rPr>
              <a:t>  "password": "secret123"</a:t>
            </a:r>
            <a:endParaRPr lang="en-US" sz="1150" dirty="0"/>
          </a:p>
          <a:p>
            <a:pPr indent="0" marL="0">
              <a:buNone/>
            </a:pPr>
            <a:r>
              <a:rPr lang="en-US" sz="1150" dirty="0">
                <a:solidFill>
                  <a:srgbClr val="00D4FF"/>
                </a:solidFill>
                <a:latin typeface="Consolas" pitchFamily="34" charset="0"/>
                <a:ea typeface="Consolas" pitchFamily="34" charset="-122"/>
                <a:cs typeface="Consolas" pitchFamily="34" charset="-120"/>
              </a:rPr>
              <a:t>}</a:t>
            </a:r>
            <a:endParaRPr lang="en-US" sz="1150" dirty="0"/>
          </a:p>
        </p:txBody>
      </p:sp>
      <p:sp>
        <p:nvSpPr>
          <p:cNvPr id="31" name="Shape 29"/>
          <p:cNvSpPr/>
          <p:nvPr/>
        </p:nvSpPr>
        <p:spPr>
          <a:xfrm>
            <a:off x="4754880" y="3429000"/>
            <a:ext cx="4114800" cy="1536192"/>
          </a:xfrm>
          <a:prstGeom prst="rect">
            <a:avLst/>
          </a:prstGeom>
          <a:solidFill>
            <a:srgbClr val="0A1628"/>
          </a:solidFill>
          <a:ln w="12700">
            <a:solidFill>
              <a:srgbClr val="1E3A5F"/>
            </a:solidFill>
            <a:prstDash val="solid"/>
          </a:ln>
          <a:effectLst>
            <a:outerShdw sx="100000" sy="100000" kx="0" ky="0" algn="bl" rotWithShape="0" blurRad="101600" dist="38100" dir="8100000">
              <a:srgbClr val="000000">
                <a:alpha val="25000"/>
              </a:srgbClr>
            </a:outerShdw>
          </a:effectLst>
        </p:spPr>
      </p:sp>
      <p:sp>
        <p:nvSpPr>
          <p:cNvPr id="32" name="Text 30"/>
          <p:cNvSpPr/>
          <p:nvPr/>
        </p:nvSpPr>
        <p:spPr>
          <a:xfrm>
            <a:off x="4846320" y="3474720"/>
            <a:ext cx="2286000" cy="347472"/>
          </a:xfrm>
          <a:prstGeom prst="rect">
            <a:avLst/>
          </a:prstGeom>
          <a:noFill/>
          <a:ln/>
        </p:spPr>
        <p:txBody>
          <a:bodyPr wrap="square" lIns="0" tIns="0" rIns="0" bIns="0" rtlCol="0" anchor="ctr"/>
          <a:lstStyle/>
          <a:p>
            <a:pPr indent="0" marL="0">
              <a:buNone/>
            </a:pPr>
            <a:r>
              <a:rPr lang="en-US" sz="1300" b="1" dirty="0">
                <a:solidFill>
                  <a:srgbClr val="10B981"/>
                </a:solidFill>
                <a:latin typeface="Calibri" pitchFamily="34" charset="0"/>
                <a:ea typeface="Calibri" pitchFamily="34" charset="-122"/>
                <a:cs typeface="Calibri" pitchFamily="34" charset="-120"/>
              </a:rPr>
              <a:t>📥  RESPONSE</a:t>
            </a:r>
            <a:endParaRPr lang="en-US" sz="1300" dirty="0"/>
          </a:p>
        </p:txBody>
      </p:sp>
      <p:sp>
        <p:nvSpPr>
          <p:cNvPr id="33" name="Text 31"/>
          <p:cNvSpPr/>
          <p:nvPr/>
        </p:nvSpPr>
        <p:spPr>
          <a:xfrm>
            <a:off x="4846320" y="3840480"/>
            <a:ext cx="3931920" cy="1005840"/>
          </a:xfrm>
          <a:prstGeom prst="rect">
            <a:avLst/>
          </a:prstGeom>
          <a:noFill/>
          <a:ln/>
        </p:spPr>
        <p:txBody>
          <a:bodyPr wrap="square" lIns="0" tIns="0" rIns="0" bIns="0" rtlCol="0" anchor="ctr"/>
          <a:lstStyle/>
          <a:p>
            <a:pPr indent="0" marL="0">
              <a:buNone/>
            </a:pPr>
            <a:r>
              <a:rPr lang="en-US" sz="1150" dirty="0">
                <a:solidFill>
                  <a:srgbClr val="10B981"/>
                </a:solidFill>
                <a:latin typeface="Consolas" pitchFamily="34" charset="0"/>
                <a:ea typeface="Consolas" pitchFamily="34" charset="-122"/>
                <a:cs typeface="Consolas" pitchFamily="34" charset="-120"/>
              </a:rPr>
              <a:t>HTTP 200 OK</a:t>
            </a:r>
            <a:endParaRPr lang="en-US" sz="1150" dirty="0"/>
          </a:p>
          <a:p>
            <a:pPr indent="0" marL="0">
              <a:buNone/>
            </a:pPr>
            <a:r>
              <a:rPr lang="en-US" sz="1150" dirty="0">
                <a:solidFill>
                  <a:srgbClr val="10B981"/>
                </a:solidFill>
                <a:latin typeface="Consolas" pitchFamily="34" charset="0"/>
                <a:ea typeface="Consolas" pitchFamily="34" charset="-122"/>
                <a:cs typeface="Consolas" pitchFamily="34" charset="-120"/>
              </a:rPr>
              <a:t>{</a:t>
            </a:r>
            <a:endParaRPr lang="en-US" sz="1150" dirty="0"/>
          </a:p>
          <a:p>
            <a:pPr indent="0" marL="0">
              <a:buNone/>
            </a:pPr>
            <a:r>
              <a:rPr lang="en-US" sz="1150" dirty="0">
                <a:solidFill>
                  <a:srgbClr val="10B981"/>
                </a:solidFill>
                <a:latin typeface="Consolas" pitchFamily="34" charset="0"/>
                <a:ea typeface="Consolas" pitchFamily="34" charset="-122"/>
                <a:cs typeface="Consolas" pitchFamily="34" charset="-120"/>
              </a:rPr>
              <a:t>  "token": "eyJhbGc...",</a:t>
            </a:r>
            <a:endParaRPr lang="en-US" sz="1150" dirty="0"/>
          </a:p>
          <a:p>
            <a:pPr indent="0" marL="0">
              <a:buNone/>
            </a:pPr>
            <a:r>
              <a:rPr lang="en-US" sz="1150" dirty="0">
                <a:solidFill>
                  <a:srgbClr val="10B981"/>
                </a:solidFill>
                <a:latin typeface="Consolas" pitchFamily="34" charset="0"/>
                <a:ea typeface="Consolas" pitchFamily="34" charset="-122"/>
                <a:cs typeface="Consolas" pitchFamily="34" charset="-120"/>
              </a:rPr>
              <a:t>  "userId": 42</a:t>
            </a:r>
            <a:endParaRPr lang="en-US" sz="1150" dirty="0"/>
          </a:p>
          <a:p>
            <a:pPr indent="0" marL="0">
              <a:buNone/>
            </a:pPr>
            <a:r>
              <a:rPr lang="en-US" sz="1150" dirty="0">
                <a:solidFill>
                  <a:srgbClr val="10B981"/>
                </a:solidFill>
                <a:latin typeface="Consolas" pitchFamily="34" charset="0"/>
                <a:ea typeface="Consolas" pitchFamily="34" charset="-122"/>
                <a:cs typeface="Consolas" pitchFamily="34" charset="-120"/>
              </a:rPr>
              <a:t>}</a:t>
            </a:r>
            <a:endParaRPr lang="en-US" sz="11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D1B2A"/>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D4FF"/>
          </a:solidFill>
          <a:ln w="12700">
            <a:solidFill>
              <a:srgbClr val="00D4FF"/>
            </a:solidFill>
            <a:prstDash val="solid"/>
          </a:ln>
        </p:spPr>
      </p:sp>
      <p:sp>
        <p:nvSpPr>
          <p:cNvPr id="3" name="Text 1"/>
          <p:cNvSpPr/>
          <p:nvPr/>
        </p:nvSpPr>
        <p:spPr>
          <a:xfrm>
            <a:off x="457200" y="137160"/>
            <a:ext cx="8229600" cy="640080"/>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Frontend Technologies</a:t>
            </a:r>
            <a:endParaRPr lang="en-US" sz="3200" dirty="0"/>
          </a:p>
        </p:txBody>
      </p:sp>
      <p:sp>
        <p:nvSpPr>
          <p:cNvPr id="4" name="Text 2"/>
          <p:cNvSpPr/>
          <p:nvPr/>
        </p:nvSpPr>
        <p:spPr>
          <a:xfrm>
            <a:off x="457200" y="749808"/>
            <a:ext cx="8229600" cy="320040"/>
          </a:xfrm>
          <a:prstGeom prst="rect">
            <a:avLst/>
          </a:prstGeom>
          <a:noFill/>
          <a:ln/>
        </p:spPr>
        <p:txBody>
          <a:bodyPr wrap="square" lIns="0" tIns="0" rIns="0" bIns="0" rtlCol="0" anchor="ctr"/>
          <a:lstStyle/>
          <a:p>
            <a:pPr indent="0" marL="0">
              <a:buNone/>
            </a:pPr>
            <a:r>
              <a:rPr lang="en-US" sz="1400" i="1" dirty="0">
                <a:solidFill>
                  <a:srgbClr val="00D4FF"/>
                </a:solidFill>
                <a:latin typeface="Calibri" pitchFamily="34" charset="0"/>
                <a:ea typeface="Calibri" pitchFamily="34" charset="-122"/>
                <a:cs typeface="Calibri" pitchFamily="34" charset="-120"/>
              </a:rPr>
              <a:t>Section 06 · HTML · CSS · JavaScript</a:t>
            </a:r>
            <a:endParaRPr lang="en-US" sz="1400" dirty="0"/>
          </a:p>
        </p:txBody>
      </p:sp>
      <p:sp>
        <p:nvSpPr>
          <p:cNvPr id="5" name="Shape 3"/>
          <p:cNvSpPr/>
          <p:nvPr/>
        </p:nvSpPr>
        <p:spPr>
          <a:xfrm>
            <a:off x="6217920" y="3200400"/>
            <a:ext cx="2560320" cy="502920"/>
          </a:xfrm>
          <a:prstGeom prst="rect">
            <a:avLst/>
          </a:prstGeom>
          <a:solidFill>
            <a:srgbClr val="7C3AED"/>
          </a:solidFill>
          <a:ln w="12700">
            <a:solidFill>
              <a:srgbClr val="7C3AED"/>
            </a:solidFill>
            <a:prstDash val="solid"/>
          </a:ln>
        </p:spPr>
      </p:sp>
      <p:sp>
        <p:nvSpPr>
          <p:cNvPr id="6" name="Text 4"/>
          <p:cNvSpPr/>
          <p:nvPr/>
        </p:nvSpPr>
        <p:spPr>
          <a:xfrm>
            <a:off x="6217920" y="3200400"/>
            <a:ext cx="2560320" cy="502920"/>
          </a:xfrm>
          <a:prstGeom prst="rect">
            <a:avLst/>
          </a:prstGeom>
          <a:noFill/>
          <a:ln/>
        </p:spPr>
        <p:txBody>
          <a:bodyPr wrap="square" lIns="0" tIns="0" rIns="0" bIns="0" rtlCol="0" anchor="ctr"/>
          <a:lstStyle/>
          <a:p>
            <a:pPr algn="ctr" indent="0" marL="0">
              <a:buNone/>
            </a:pPr>
            <a:r>
              <a:rPr lang="en-US" sz="1050" dirty="0">
                <a:solidFill>
                  <a:srgbClr val="FFFFFF"/>
                </a:solidFill>
                <a:latin typeface="Calibri" pitchFamily="34" charset="0"/>
                <a:ea typeface="Calibri" pitchFamily="34" charset="-122"/>
                <a:cs typeface="Calibri" pitchFamily="34" charset="-120"/>
              </a:rPr>
              <a:t>JavaScript</a:t>
            </a:r>
            <a:endParaRPr lang="en-US" sz="1050" dirty="0"/>
          </a:p>
          <a:p>
            <a:pPr algn="ctr" indent="0" marL="0">
              <a:buNone/>
            </a:pPr>
            <a:r>
              <a:rPr lang="en-US" sz="1050" dirty="0">
                <a:solidFill>
                  <a:srgbClr val="FFFFFF"/>
                </a:solidFill>
                <a:latin typeface="Calibri" pitchFamily="34" charset="0"/>
                <a:ea typeface="Calibri" pitchFamily="34" charset="-122"/>
                <a:cs typeface="Calibri" pitchFamily="34" charset="-120"/>
              </a:rPr>
              <a:t>(Logic/Behaviour)</a:t>
            </a:r>
            <a:endParaRPr lang="en-US" sz="1050" dirty="0"/>
          </a:p>
        </p:txBody>
      </p:sp>
      <p:sp>
        <p:nvSpPr>
          <p:cNvPr id="7" name="Shape 5"/>
          <p:cNvSpPr/>
          <p:nvPr/>
        </p:nvSpPr>
        <p:spPr>
          <a:xfrm>
            <a:off x="6217920" y="2286000"/>
            <a:ext cx="2560320" cy="868680"/>
          </a:xfrm>
          <a:prstGeom prst="rect">
            <a:avLst/>
          </a:prstGeom>
          <a:solidFill>
            <a:srgbClr val="0EA5E9"/>
          </a:solidFill>
          <a:ln w="12700">
            <a:solidFill>
              <a:srgbClr val="0EA5E9"/>
            </a:solidFill>
            <a:prstDash val="solid"/>
          </a:ln>
        </p:spPr>
      </p:sp>
      <p:sp>
        <p:nvSpPr>
          <p:cNvPr id="8" name="Text 6"/>
          <p:cNvSpPr/>
          <p:nvPr/>
        </p:nvSpPr>
        <p:spPr>
          <a:xfrm>
            <a:off x="6217920" y="2286000"/>
            <a:ext cx="2560320" cy="868680"/>
          </a:xfrm>
          <a:prstGeom prst="rect">
            <a:avLst/>
          </a:prstGeom>
          <a:noFill/>
          <a:ln/>
        </p:spPr>
        <p:txBody>
          <a:bodyPr wrap="square" lIns="0" tIns="0" rIns="0" bIns="0" rtlCol="0" anchor="ctr"/>
          <a:lstStyle/>
          <a:p>
            <a:pPr algn="ctr" indent="0" marL="0">
              <a:buNone/>
            </a:pPr>
            <a:r>
              <a:rPr lang="en-US" sz="1050" dirty="0">
                <a:solidFill>
                  <a:srgbClr val="FFFFFF"/>
                </a:solidFill>
                <a:latin typeface="Calibri" pitchFamily="34" charset="0"/>
                <a:ea typeface="Calibri" pitchFamily="34" charset="-122"/>
                <a:cs typeface="Calibri" pitchFamily="34" charset="-120"/>
              </a:rPr>
              <a:t>CSS</a:t>
            </a:r>
            <a:endParaRPr lang="en-US" sz="1050" dirty="0"/>
          </a:p>
          <a:p>
            <a:pPr algn="ctr" indent="0" marL="0">
              <a:buNone/>
            </a:pPr>
            <a:r>
              <a:rPr lang="en-US" sz="1050" dirty="0">
                <a:solidFill>
                  <a:srgbClr val="FFFFFF"/>
                </a:solidFill>
                <a:latin typeface="Calibri" pitchFamily="34" charset="0"/>
                <a:ea typeface="Calibri" pitchFamily="34" charset="-122"/>
                <a:cs typeface="Calibri" pitchFamily="34" charset="-120"/>
              </a:rPr>
              <a:t>(Design/Styling)</a:t>
            </a:r>
            <a:endParaRPr lang="en-US" sz="1050" dirty="0"/>
          </a:p>
        </p:txBody>
      </p:sp>
      <p:sp>
        <p:nvSpPr>
          <p:cNvPr id="9" name="Shape 7"/>
          <p:cNvSpPr/>
          <p:nvPr/>
        </p:nvSpPr>
        <p:spPr>
          <a:xfrm>
            <a:off x="6217920" y="1371600"/>
            <a:ext cx="2560320" cy="868680"/>
          </a:xfrm>
          <a:prstGeom prst="rect">
            <a:avLst/>
          </a:prstGeom>
          <a:solidFill>
            <a:srgbClr val="10B981"/>
          </a:solidFill>
          <a:ln w="12700">
            <a:solidFill>
              <a:srgbClr val="10B981"/>
            </a:solidFill>
            <a:prstDash val="solid"/>
          </a:ln>
        </p:spPr>
      </p:sp>
      <p:sp>
        <p:nvSpPr>
          <p:cNvPr id="10" name="Text 8"/>
          <p:cNvSpPr/>
          <p:nvPr/>
        </p:nvSpPr>
        <p:spPr>
          <a:xfrm>
            <a:off x="6217920" y="1371600"/>
            <a:ext cx="2560320" cy="868680"/>
          </a:xfrm>
          <a:prstGeom prst="rect">
            <a:avLst/>
          </a:prstGeom>
          <a:noFill/>
          <a:ln/>
        </p:spPr>
        <p:txBody>
          <a:bodyPr wrap="square" lIns="0" tIns="0" rIns="0" bIns="0" rtlCol="0" anchor="ctr"/>
          <a:lstStyle/>
          <a:p>
            <a:pPr algn="ctr" indent="0" marL="0">
              <a:buNone/>
            </a:pPr>
            <a:r>
              <a:rPr lang="en-US" sz="1050" dirty="0">
                <a:solidFill>
                  <a:srgbClr val="FFFFFF"/>
                </a:solidFill>
                <a:latin typeface="Calibri" pitchFamily="34" charset="0"/>
                <a:ea typeface="Calibri" pitchFamily="34" charset="-122"/>
                <a:cs typeface="Calibri" pitchFamily="34" charset="-120"/>
              </a:rPr>
              <a:t>HTML</a:t>
            </a:r>
            <a:endParaRPr lang="en-US" sz="1050" dirty="0"/>
          </a:p>
          <a:p>
            <a:pPr algn="ctr" indent="0" marL="0">
              <a:buNone/>
            </a:pPr>
            <a:r>
              <a:rPr lang="en-US" sz="1050" dirty="0">
                <a:solidFill>
                  <a:srgbClr val="FFFFFF"/>
                </a:solidFill>
                <a:latin typeface="Calibri" pitchFamily="34" charset="0"/>
                <a:ea typeface="Calibri" pitchFamily="34" charset="-122"/>
                <a:cs typeface="Calibri" pitchFamily="34" charset="-120"/>
              </a:rPr>
              <a:t>(Structure)</a:t>
            </a:r>
            <a:endParaRPr lang="en-US" sz="1050" dirty="0"/>
          </a:p>
        </p:txBody>
      </p:sp>
      <p:sp>
        <p:nvSpPr>
          <p:cNvPr id="11" name="Text 9"/>
          <p:cNvSpPr/>
          <p:nvPr/>
        </p:nvSpPr>
        <p:spPr>
          <a:xfrm>
            <a:off x="6217920" y="1143000"/>
            <a:ext cx="2560320" cy="228600"/>
          </a:xfrm>
          <a:prstGeom prst="rect">
            <a:avLst/>
          </a:prstGeom>
          <a:noFill/>
          <a:ln/>
        </p:spPr>
        <p:txBody>
          <a:bodyPr wrap="square" lIns="0" tIns="0" rIns="0" bIns="0" rtlCol="0" anchor="ctr"/>
          <a:lstStyle/>
          <a:p>
            <a:pPr algn="ctr" indent="0" marL="0">
              <a:buNone/>
            </a:pPr>
            <a:r>
              <a:rPr lang="en-US" sz="1100" dirty="0">
                <a:solidFill>
                  <a:srgbClr val="94A3B8"/>
                </a:solidFill>
                <a:latin typeface="Calibri" pitchFamily="34" charset="0"/>
                <a:ea typeface="Calibri" pitchFamily="34" charset="-122"/>
                <a:cs typeface="Calibri" pitchFamily="34" charset="-120"/>
              </a:rPr>
              <a:t>🏠 THE WEB PAGE</a:t>
            </a:r>
            <a:endParaRPr lang="en-US" sz="1100" dirty="0"/>
          </a:p>
        </p:txBody>
      </p:sp>
      <p:sp>
        <p:nvSpPr>
          <p:cNvPr id="12" name="Shape 10"/>
          <p:cNvSpPr/>
          <p:nvPr/>
        </p:nvSpPr>
        <p:spPr>
          <a:xfrm>
            <a:off x="274320" y="1234440"/>
            <a:ext cx="1828800" cy="3291840"/>
          </a:xfrm>
          <a:prstGeom prst="rect">
            <a:avLst/>
          </a:prstGeom>
          <a:solidFill>
            <a:srgbClr val="1E3A5F"/>
          </a:solidFill>
          <a:ln w="12700">
            <a:solidFill>
              <a:srgbClr val="1E3A5F"/>
            </a:solidFill>
            <a:prstDash val="solid"/>
          </a:ln>
          <a:effectLst>
            <a:outerShdw sx="100000" sy="100000" kx="0" ky="0" algn="bl" rotWithShape="0" blurRad="101600" dist="38100" dir="8100000">
              <a:srgbClr val="000000">
                <a:alpha val="25000"/>
              </a:srgbClr>
            </a:outerShdw>
          </a:effectLst>
        </p:spPr>
      </p:sp>
      <p:sp>
        <p:nvSpPr>
          <p:cNvPr id="13" name="Shape 11"/>
          <p:cNvSpPr/>
          <p:nvPr/>
        </p:nvSpPr>
        <p:spPr>
          <a:xfrm>
            <a:off x="274320" y="1234440"/>
            <a:ext cx="1828800" cy="64008"/>
          </a:xfrm>
          <a:prstGeom prst="rect">
            <a:avLst/>
          </a:prstGeom>
          <a:solidFill>
            <a:srgbClr val="10B981"/>
          </a:solidFill>
          <a:ln w="12700">
            <a:solidFill>
              <a:srgbClr val="10B981"/>
            </a:solidFill>
            <a:prstDash val="solid"/>
          </a:ln>
        </p:spPr>
      </p:sp>
      <p:sp>
        <p:nvSpPr>
          <p:cNvPr id="14" name="Text 12"/>
          <p:cNvSpPr/>
          <p:nvPr/>
        </p:nvSpPr>
        <p:spPr>
          <a:xfrm>
            <a:off x="274320" y="1325880"/>
            <a:ext cx="1828800" cy="502920"/>
          </a:xfrm>
          <a:prstGeom prst="rect">
            <a:avLst/>
          </a:prstGeom>
          <a:noFill/>
          <a:ln/>
        </p:spPr>
        <p:txBody>
          <a:bodyPr wrap="square" lIns="0" tIns="0" rIns="0" bIns="0" rtlCol="0" anchor="ctr"/>
          <a:lstStyle/>
          <a:p>
            <a:pPr algn="ctr" indent="0" marL="0">
              <a:buNone/>
            </a:pPr>
            <a:r>
              <a:rPr lang="en-US" sz="2600" dirty="0">
                <a:solidFill>
                  <a:srgbClr val="000000"/>
                </a:solidFill>
              </a:rPr>
              <a:t>📄</a:t>
            </a:r>
            <a:endParaRPr lang="en-US" sz="2600" dirty="0"/>
          </a:p>
        </p:txBody>
      </p:sp>
      <p:sp>
        <p:nvSpPr>
          <p:cNvPr id="15" name="Text 13"/>
          <p:cNvSpPr/>
          <p:nvPr/>
        </p:nvSpPr>
        <p:spPr>
          <a:xfrm>
            <a:off x="274320" y="1810512"/>
            <a:ext cx="1828800" cy="347472"/>
          </a:xfrm>
          <a:prstGeom prst="rect">
            <a:avLst/>
          </a:prstGeom>
          <a:noFill/>
          <a:ln/>
        </p:spPr>
        <p:txBody>
          <a:bodyPr wrap="square" lIns="0" tIns="0" rIns="0" bIns="0" rtlCol="0" anchor="ctr"/>
          <a:lstStyle/>
          <a:p>
            <a:pPr algn="ctr" indent="0" marL="0">
              <a:buNone/>
            </a:pPr>
            <a:r>
              <a:rPr lang="en-US" sz="1600" b="1" dirty="0">
                <a:solidFill>
                  <a:srgbClr val="10B981"/>
                </a:solidFill>
                <a:latin typeface="Calibri" pitchFamily="34" charset="0"/>
                <a:ea typeface="Calibri" pitchFamily="34" charset="-122"/>
                <a:cs typeface="Calibri" pitchFamily="34" charset="-120"/>
              </a:rPr>
              <a:t>HTML</a:t>
            </a:r>
            <a:endParaRPr lang="en-US" sz="1600" dirty="0"/>
          </a:p>
        </p:txBody>
      </p:sp>
      <p:sp>
        <p:nvSpPr>
          <p:cNvPr id="16" name="Text 14"/>
          <p:cNvSpPr/>
          <p:nvPr/>
        </p:nvSpPr>
        <p:spPr>
          <a:xfrm>
            <a:off x="274320" y="2148840"/>
            <a:ext cx="1828800" cy="347472"/>
          </a:xfrm>
          <a:prstGeom prst="rect">
            <a:avLst/>
          </a:prstGeom>
          <a:noFill/>
          <a:ln/>
        </p:spPr>
        <p:txBody>
          <a:bodyPr wrap="square" lIns="0" tIns="0" rIns="0" bIns="0" rtlCol="0" anchor="ctr"/>
          <a:lstStyle/>
          <a:p>
            <a:pPr algn="ctr" indent="0" marL="0">
              <a:buNone/>
            </a:pPr>
            <a:r>
              <a:rPr lang="en-US" sz="950" dirty="0">
                <a:solidFill>
                  <a:srgbClr val="94A3B8"/>
                </a:solidFill>
                <a:latin typeface="Calibri" pitchFamily="34" charset="0"/>
                <a:ea typeface="Calibri" pitchFamily="34" charset="-122"/>
                <a:cs typeface="Calibri" pitchFamily="34" charset="-120"/>
              </a:rPr>
              <a:t>HyperText Markup Language</a:t>
            </a:r>
            <a:endParaRPr lang="en-US" sz="950" dirty="0"/>
          </a:p>
        </p:txBody>
      </p:sp>
      <p:sp>
        <p:nvSpPr>
          <p:cNvPr id="17" name="Shape 15"/>
          <p:cNvSpPr/>
          <p:nvPr/>
        </p:nvSpPr>
        <p:spPr>
          <a:xfrm>
            <a:off x="365760" y="2560320"/>
            <a:ext cx="118872" cy="118872"/>
          </a:xfrm>
          <a:prstGeom prst="ellipse">
            <a:avLst/>
          </a:prstGeom>
          <a:solidFill>
            <a:srgbClr val="10B981"/>
          </a:solidFill>
          <a:ln w="12700">
            <a:solidFill>
              <a:srgbClr val="10B981"/>
            </a:solidFill>
            <a:prstDash val="solid"/>
          </a:ln>
        </p:spPr>
      </p:sp>
      <p:sp>
        <p:nvSpPr>
          <p:cNvPr id="18" name="Text 16"/>
          <p:cNvSpPr/>
          <p:nvPr/>
        </p:nvSpPr>
        <p:spPr>
          <a:xfrm>
            <a:off x="548640" y="2532888"/>
            <a:ext cx="1463040" cy="320040"/>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Defines page structure</a:t>
            </a:r>
            <a:endParaRPr lang="en-US" sz="1100" dirty="0"/>
          </a:p>
        </p:txBody>
      </p:sp>
      <p:sp>
        <p:nvSpPr>
          <p:cNvPr id="19" name="Shape 17"/>
          <p:cNvSpPr/>
          <p:nvPr/>
        </p:nvSpPr>
        <p:spPr>
          <a:xfrm>
            <a:off x="365760" y="2907792"/>
            <a:ext cx="118872" cy="118872"/>
          </a:xfrm>
          <a:prstGeom prst="ellipse">
            <a:avLst/>
          </a:prstGeom>
          <a:solidFill>
            <a:srgbClr val="10B981"/>
          </a:solidFill>
          <a:ln w="12700">
            <a:solidFill>
              <a:srgbClr val="10B981"/>
            </a:solidFill>
            <a:prstDash val="solid"/>
          </a:ln>
        </p:spPr>
      </p:sp>
      <p:sp>
        <p:nvSpPr>
          <p:cNvPr id="20" name="Text 18"/>
          <p:cNvSpPr/>
          <p:nvPr/>
        </p:nvSpPr>
        <p:spPr>
          <a:xfrm>
            <a:off x="548640" y="2880360"/>
            <a:ext cx="1463040" cy="320040"/>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Tags: &lt;h1&gt;, &lt;p&gt;, &lt;button&gt;</a:t>
            </a:r>
            <a:endParaRPr lang="en-US" sz="1100" dirty="0"/>
          </a:p>
        </p:txBody>
      </p:sp>
      <p:sp>
        <p:nvSpPr>
          <p:cNvPr id="21" name="Shape 19"/>
          <p:cNvSpPr/>
          <p:nvPr/>
        </p:nvSpPr>
        <p:spPr>
          <a:xfrm>
            <a:off x="365760" y="3255264"/>
            <a:ext cx="118872" cy="118872"/>
          </a:xfrm>
          <a:prstGeom prst="ellipse">
            <a:avLst/>
          </a:prstGeom>
          <a:solidFill>
            <a:srgbClr val="10B981"/>
          </a:solidFill>
          <a:ln w="12700">
            <a:solidFill>
              <a:srgbClr val="10B981"/>
            </a:solidFill>
            <a:prstDash val="solid"/>
          </a:ln>
        </p:spPr>
      </p:sp>
      <p:sp>
        <p:nvSpPr>
          <p:cNvPr id="22" name="Text 20"/>
          <p:cNvSpPr/>
          <p:nvPr/>
        </p:nvSpPr>
        <p:spPr>
          <a:xfrm>
            <a:off x="548640" y="3227832"/>
            <a:ext cx="1463040" cy="320040"/>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Skeleton of the webpage</a:t>
            </a:r>
            <a:endParaRPr lang="en-US" sz="1100" dirty="0"/>
          </a:p>
        </p:txBody>
      </p:sp>
      <p:sp>
        <p:nvSpPr>
          <p:cNvPr id="23" name="Shape 21"/>
          <p:cNvSpPr/>
          <p:nvPr/>
        </p:nvSpPr>
        <p:spPr>
          <a:xfrm>
            <a:off x="320040" y="3611880"/>
            <a:ext cx="1737360" cy="347472"/>
          </a:xfrm>
          <a:prstGeom prst="rect">
            <a:avLst/>
          </a:prstGeom>
          <a:solidFill>
            <a:srgbClr val="0A1628"/>
          </a:solidFill>
          <a:ln w="12700">
            <a:solidFill>
              <a:srgbClr val="10B981"/>
            </a:solidFill>
            <a:prstDash val="solid"/>
          </a:ln>
        </p:spPr>
      </p:sp>
      <p:sp>
        <p:nvSpPr>
          <p:cNvPr id="24" name="Text 22"/>
          <p:cNvSpPr/>
          <p:nvPr/>
        </p:nvSpPr>
        <p:spPr>
          <a:xfrm>
            <a:off x="320040" y="3611880"/>
            <a:ext cx="1737360" cy="347472"/>
          </a:xfrm>
          <a:prstGeom prst="rect">
            <a:avLst/>
          </a:prstGeom>
          <a:noFill/>
          <a:ln/>
        </p:spPr>
        <p:txBody>
          <a:bodyPr wrap="square" lIns="0" tIns="0" rIns="0" bIns="0" rtlCol="0" anchor="ctr"/>
          <a:lstStyle/>
          <a:p>
            <a:pPr algn="ctr" indent="0" marL="0">
              <a:buNone/>
            </a:pPr>
            <a:r>
              <a:rPr lang="en-US" sz="1000" dirty="0">
                <a:solidFill>
                  <a:srgbClr val="10B981"/>
                </a:solidFill>
                <a:latin typeface="Consolas" pitchFamily="34" charset="0"/>
                <a:ea typeface="Consolas" pitchFamily="34" charset="-122"/>
                <a:cs typeface="Consolas" pitchFamily="34" charset="-120"/>
              </a:rPr>
              <a:t>&lt;button&gt;Click Me&lt;/button&gt;</a:t>
            </a:r>
            <a:endParaRPr lang="en-US" sz="1000" dirty="0"/>
          </a:p>
        </p:txBody>
      </p:sp>
      <p:sp>
        <p:nvSpPr>
          <p:cNvPr id="25" name="Shape 23"/>
          <p:cNvSpPr/>
          <p:nvPr/>
        </p:nvSpPr>
        <p:spPr>
          <a:xfrm>
            <a:off x="2240280" y="1234440"/>
            <a:ext cx="1828800" cy="3291840"/>
          </a:xfrm>
          <a:prstGeom prst="rect">
            <a:avLst/>
          </a:prstGeom>
          <a:solidFill>
            <a:srgbClr val="1E3A5F"/>
          </a:solidFill>
          <a:ln w="12700">
            <a:solidFill>
              <a:srgbClr val="1E3A5F"/>
            </a:solidFill>
            <a:prstDash val="solid"/>
          </a:ln>
          <a:effectLst>
            <a:outerShdw sx="100000" sy="100000" kx="0" ky="0" algn="bl" rotWithShape="0" blurRad="101600" dist="38100" dir="8100000">
              <a:srgbClr val="000000">
                <a:alpha val="25000"/>
              </a:srgbClr>
            </a:outerShdw>
          </a:effectLst>
        </p:spPr>
      </p:sp>
      <p:sp>
        <p:nvSpPr>
          <p:cNvPr id="26" name="Shape 24"/>
          <p:cNvSpPr/>
          <p:nvPr/>
        </p:nvSpPr>
        <p:spPr>
          <a:xfrm>
            <a:off x="2240280" y="1234440"/>
            <a:ext cx="1828800" cy="64008"/>
          </a:xfrm>
          <a:prstGeom prst="rect">
            <a:avLst/>
          </a:prstGeom>
          <a:solidFill>
            <a:srgbClr val="0EA5E9"/>
          </a:solidFill>
          <a:ln w="12700">
            <a:solidFill>
              <a:srgbClr val="0EA5E9"/>
            </a:solidFill>
            <a:prstDash val="solid"/>
          </a:ln>
        </p:spPr>
      </p:sp>
      <p:sp>
        <p:nvSpPr>
          <p:cNvPr id="27" name="Text 25"/>
          <p:cNvSpPr/>
          <p:nvPr/>
        </p:nvSpPr>
        <p:spPr>
          <a:xfrm>
            <a:off x="2240280" y="1325880"/>
            <a:ext cx="1828800" cy="502920"/>
          </a:xfrm>
          <a:prstGeom prst="rect">
            <a:avLst/>
          </a:prstGeom>
          <a:noFill/>
          <a:ln/>
        </p:spPr>
        <p:txBody>
          <a:bodyPr wrap="square" lIns="0" tIns="0" rIns="0" bIns="0" rtlCol="0" anchor="ctr"/>
          <a:lstStyle/>
          <a:p>
            <a:pPr algn="ctr" indent="0" marL="0">
              <a:buNone/>
            </a:pPr>
            <a:r>
              <a:rPr lang="en-US" sz="2600" dirty="0">
                <a:solidFill>
                  <a:srgbClr val="000000"/>
                </a:solidFill>
              </a:rPr>
              <a:t>🎨</a:t>
            </a:r>
            <a:endParaRPr lang="en-US" sz="2600" dirty="0"/>
          </a:p>
        </p:txBody>
      </p:sp>
      <p:sp>
        <p:nvSpPr>
          <p:cNvPr id="28" name="Text 26"/>
          <p:cNvSpPr/>
          <p:nvPr/>
        </p:nvSpPr>
        <p:spPr>
          <a:xfrm>
            <a:off x="2240280" y="1810512"/>
            <a:ext cx="1828800" cy="347472"/>
          </a:xfrm>
          <a:prstGeom prst="rect">
            <a:avLst/>
          </a:prstGeom>
          <a:noFill/>
          <a:ln/>
        </p:spPr>
        <p:txBody>
          <a:bodyPr wrap="square" lIns="0" tIns="0" rIns="0" bIns="0" rtlCol="0" anchor="ctr"/>
          <a:lstStyle/>
          <a:p>
            <a:pPr algn="ctr" indent="0" marL="0">
              <a:buNone/>
            </a:pPr>
            <a:r>
              <a:rPr lang="en-US" sz="1600" b="1" dirty="0">
                <a:solidFill>
                  <a:srgbClr val="0EA5E9"/>
                </a:solidFill>
                <a:latin typeface="Calibri" pitchFamily="34" charset="0"/>
                <a:ea typeface="Calibri" pitchFamily="34" charset="-122"/>
                <a:cs typeface="Calibri" pitchFamily="34" charset="-120"/>
              </a:rPr>
              <a:t>CSS</a:t>
            </a:r>
            <a:endParaRPr lang="en-US" sz="1600" dirty="0"/>
          </a:p>
        </p:txBody>
      </p:sp>
      <p:sp>
        <p:nvSpPr>
          <p:cNvPr id="29" name="Text 27"/>
          <p:cNvSpPr/>
          <p:nvPr/>
        </p:nvSpPr>
        <p:spPr>
          <a:xfrm>
            <a:off x="2240280" y="2148840"/>
            <a:ext cx="1828800" cy="347472"/>
          </a:xfrm>
          <a:prstGeom prst="rect">
            <a:avLst/>
          </a:prstGeom>
          <a:noFill/>
          <a:ln/>
        </p:spPr>
        <p:txBody>
          <a:bodyPr wrap="square" lIns="0" tIns="0" rIns="0" bIns="0" rtlCol="0" anchor="ctr"/>
          <a:lstStyle/>
          <a:p>
            <a:pPr algn="ctr" indent="0" marL="0">
              <a:buNone/>
            </a:pPr>
            <a:r>
              <a:rPr lang="en-US" sz="950" dirty="0">
                <a:solidFill>
                  <a:srgbClr val="94A3B8"/>
                </a:solidFill>
                <a:latin typeface="Calibri" pitchFamily="34" charset="0"/>
                <a:ea typeface="Calibri" pitchFamily="34" charset="-122"/>
                <a:cs typeface="Calibri" pitchFamily="34" charset="-120"/>
              </a:rPr>
              <a:t>Cascading Style Sheets</a:t>
            </a:r>
            <a:endParaRPr lang="en-US" sz="950" dirty="0"/>
          </a:p>
        </p:txBody>
      </p:sp>
      <p:sp>
        <p:nvSpPr>
          <p:cNvPr id="30" name="Shape 28"/>
          <p:cNvSpPr/>
          <p:nvPr/>
        </p:nvSpPr>
        <p:spPr>
          <a:xfrm>
            <a:off x="2331720" y="2560320"/>
            <a:ext cx="118872" cy="118872"/>
          </a:xfrm>
          <a:prstGeom prst="ellipse">
            <a:avLst/>
          </a:prstGeom>
          <a:solidFill>
            <a:srgbClr val="0EA5E9"/>
          </a:solidFill>
          <a:ln w="12700">
            <a:solidFill>
              <a:srgbClr val="0EA5E9"/>
            </a:solidFill>
            <a:prstDash val="solid"/>
          </a:ln>
        </p:spPr>
      </p:sp>
      <p:sp>
        <p:nvSpPr>
          <p:cNvPr id="31" name="Text 29"/>
          <p:cNvSpPr/>
          <p:nvPr/>
        </p:nvSpPr>
        <p:spPr>
          <a:xfrm>
            <a:off x="2514600" y="2532888"/>
            <a:ext cx="1463040" cy="320040"/>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Handles all visual styling</a:t>
            </a:r>
            <a:endParaRPr lang="en-US" sz="1100" dirty="0"/>
          </a:p>
        </p:txBody>
      </p:sp>
      <p:sp>
        <p:nvSpPr>
          <p:cNvPr id="32" name="Shape 30"/>
          <p:cNvSpPr/>
          <p:nvPr/>
        </p:nvSpPr>
        <p:spPr>
          <a:xfrm>
            <a:off x="2331720" y="2907792"/>
            <a:ext cx="118872" cy="118872"/>
          </a:xfrm>
          <a:prstGeom prst="ellipse">
            <a:avLst/>
          </a:prstGeom>
          <a:solidFill>
            <a:srgbClr val="0EA5E9"/>
          </a:solidFill>
          <a:ln w="12700">
            <a:solidFill>
              <a:srgbClr val="0EA5E9"/>
            </a:solidFill>
            <a:prstDash val="solid"/>
          </a:ln>
        </p:spPr>
      </p:sp>
      <p:sp>
        <p:nvSpPr>
          <p:cNvPr id="33" name="Text 31"/>
          <p:cNvSpPr/>
          <p:nvPr/>
        </p:nvSpPr>
        <p:spPr>
          <a:xfrm>
            <a:off x="2514600" y="2880360"/>
            <a:ext cx="1463040" cy="320040"/>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Colors, fonts, layout, spacing</a:t>
            </a:r>
            <a:endParaRPr lang="en-US" sz="1100" dirty="0"/>
          </a:p>
        </p:txBody>
      </p:sp>
      <p:sp>
        <p:nvSpPr>
          <p:cNvPr id="34" name="Shape 32"/>
          <p:cNvSpPr/>
          <p:nvPr/>
        </p:nvSpPr>
        <p:spPr>
          <a:xfrm>
            <a:off x="2331720" y="3255264"/>
            <a:ext cx="118872" cy="118872"/>
          </a:xfrm>
          <a:prstGeom prst="ellipse">
            <a:avLst/>
          </a:prstGeom>
          <a:solidFill>
            <a:srgbClr val="0EA5E9"/>
          </a:solidFill>
          <a:ln w="12700">
            <a:solidFill>
              <a:srgbClr val="0EA5E9"/>
            </a:solidFill>
            <a:prstDash val="solid"/>
          </a:ln>
        </p:spPr>
      </p:sp>
      <p:sp>
        <p:nvSpPr>
          <p:cNvPr id="35" name="Text 33"/>
          <p:cNvSpPr/>
          <p:nvPr/>
        </p:nvSpPr>
        <p:spPr>
          <a:xfrm>
            <a:off x="2514600" y="3227832"/>
            <a:ext cx="1463040" cy="320040"/>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Makes pages beautiful</a:t>
            </a:r>
            <a:endParaRPr lang="en-US" sz="1100" dirty="0"/>
          </a:p>
        </p:txBody>
      </p:sp>
      <p:sp>
        <p:nvSpPr>
          <p:cNvPr id="36" name="Shape 34"/>
          <p:cNvSpPr/>
          <p:nvPr/>
        </p:nvSpPr>
        <p:spPr>
          <a:xfrm>
            <a:off x="2286000" y="3611880"/>
            <a:ext cx="1737360" cy="347472"/>
          </a:xfrm>
          <a:prstGeom prst="rect">
            <a:avLst/>
          </a:prstGeom>
          <a:solidFill>
            <a:srgbClr val="0A1628"/>
          </a:solidFill>
          <a:ln w="12700">
            <a:solidFill>
              <a:srgbClr val="0EA5E9"/>
            </a:solidFill>
            <a:prstDash val="solid"/>
          </a:ln>
        </p:spPr>
      </p:sp>
      <p:sp>
        <p:nvSpPr>
          <p:cNvPr id="37" name="Text 35"/>
          <p:cNvSpPr/>
          <p:nvPr/>
        </p:nvSpPr>
        <p:spPr>
          <a:xfrm>
            <a:off x="2286000" y="3611880"/>
            <a:ext cx="1737360" cy="347472"/>
          </a:xfrm>
          <a:prstGeom prst="rect">
            <a:avLst/>
          </a:prstGeom>
          <a:noFill/>
          <a:ln/>
        </p:spPr>
        <p:txBody>
          <a:bodyPr wrap="square" lIns="0" tIns="0" rIns="0" bIns="0" rtlCol="0" anchor="ctr"/>
          <a:lstStyle/>
          <a:p>
            <a:pPr algn="ctr" indent="0" marL="0">
              <a:buNone/>
            </a:pPr>
            <a:r>
              <a:rPr lang="en-US" sz="1000" dirty="0">
                <a:solidFill>
                  <a:srgbClr val="0EA5E9"/>
                </a:solidFill>
                <a:latin typeface="Consolas" pitchFamily="34" charset="0"/>
                <a:ea typeface="Consolas" pitchFamily="34" charset="-122"/>
                <a:cs typeface="Consolas" pitchFamily="34" charset="-120"/>
              </a:rPr>
              <a:t>button { color: blue; }</a:t>
            </a:r>
            <a:endParaRPr lang="en-US" sz="1000" dirty="0"/>
          </a:p>
        </p:txBody>
      </p:sp>
      <p:sp>
        <p:nvSpPr>
          <p:cNvPr id="38" name="Shape 36"/>
          <p:cNvSpPr/>
          <p:nvPr/>
        </p:nvSpPr>
        <p:spPr>
          <a:xfrm>
            <a:off x="4206240" y="1234440"/>
            <a:ext cx="1828800" cy="3291840"/>
          </a:xfrm>
          <a:prstGeom prst="rect">
            <a:avLst/>
          </a:prstGeom>
          <a:solidFill>
            <a:srgbClr val="1E3A5F"/>
          </a:solidFill>
          <a:ln w="12700">
            <a:solidFill>
              <a:srgbClr val="1E3A5F"/>
            </a:solidFill>
            <a:prstDash val="solid"/>
          </a:ln>
          <a:effectLst>
            <a:outerShdw sx="100000" sy="100000" kx="0" ky="0" algn="bl" rotWithShape="0" blurRad="101600" dist="38100" dir="8100000">
              <a:srgbClr val="000000">
                <a:alpha val="25000"/>
              </a:srgbClr>
            </a:outerShdw>
          </a:effectLst>
        </p:spPr>
      </p:sp>
      <p:sp>
        <p:nvSpPr>
          <p:cNvPr id="39" name="Shape 37"/>
          <p:cNvSpPr/>
          <p:nvPr/>
        </p:nvSpPr>
        <p:spPr>
          <a:xfrm>
            <a:off x="4206240" y="1234440"/>
            <a:ext cx="1828800" cy="64008"/>
          </a:xfrm>
          <a:prstGeom prst="rect">
            <a:avLst/>
          </a:prstGeom>
          <a:solidFill>
            <a:srgbClr val="7C3AED"/>
          </a:solidFill>
          <a:ln w="12700">
            <a:solidFill>
              <a:srgbClr val="7C3AED"/>
            </a:solidFill>
            <a:prstDash val="solid"/>
          </a:ln>
        </p:spPr>
      </p:sp>
      <p:sp>
        <p:nvSpPr>
          <p:cNvPr id="40" name="Text 38"/>
          <p:cNvSpPr/>
          <p:nvPr/>
        </p:nvSpPr>
        <p:spPr>
          <a:xfrm>
            <a:off x="4206240" y="1325880"/>
            <a:ext cx="1828800" cy="502920"/>
          </a:xfrm>
          <a:prstGeom prst="rect">
            <a:avLst/>
          </a:prstGeom>
          <a:noFill/>
          <a:ln/>
        </p:spPr>
        <p:txBody>
          <a:bodyPr wrap="square" lIns="0" tIns="0" rIns="0" bIns="0" rtlCol="0" anchor="ctr"/>
          <a:lstStyle/>
          <a:p>
            <a:pPr algn="ctr" indent="0" marL="0">
              <a:buNone/>
            </a:pPr>
            <a:r>
              <a:rPr lang="en-US" sz="2600" dirty="0">
                <a:solidFill>
                  <a:srgbClr val="000000"/>
                </a:solidFill>
              </a:rPr>
              <a:t>⚡</a:t>
            </a:r>
            <a:endParaRPr lang="en-US" sz="2600" dirty="0"/>
          </a:p>
        </p:txBody>
      </p:sp>
      <p:sp>
        <p:nvSpPr>
          <p:cNvPr id="41" name="Text 39"/>
          <p:cNvSpPr/>
          <p:nvPr/>
        </p:nvSpPr>
        <p:spPr>
          <a:xfrm>
            <a:off x="4206240" y="1810512"/>
            <a:ext cx="1828800" cy="347472"/>
          </a:xfrm>
          <a:prstGeom prst="rect">
            <a:avLst/>
          </a:prstGeom>
          <a:noFill/>
          <a:ln/>
        </p:spPr>
        <p:txBody>
          <a:bodyPr wrap="square" lIns="0" tIns="0" rIns="0" bIns="0" rtlCol="0" anchor="ctr"/>
          <a:lstStyle/>
          <a:p>
            <a:pPr algn="ctr" indent="0" marL="0">
              <a:buNone/>
            </a:pPr>
            <a:r>
              <a:rPr lang="en-US" sz="1600" b="1" dirty="0">
                <a:solidFill>
                  <a:srgbClr val="7C3AED"/>
                </a:solidFill>
                <a:latin typeface="Calibri" pitchFamily="34" charset="0"/>
                <a:ea typeface="Calibri" pitchFamily="34" charset="-122"/>
                <a:cs typeface="Calibri" pitchFamily="34" charset="-120"/>
              </a:rPr>
              <a:t>JavaScript</a:t>
            </a:r>
            <a:endParaRPr lang="en-US" sz="1600" dirty="0"/>
          </a:p>
        </p:txBody>
      </p:sp>
      <p:sp>
        <p:nvSpPr>
          <p:cNvPr id="42" name="Text 40"/>
          <p:cNvSpPr/>
          <p:nvPr/>
        </p:nvSpPr>
        <p:spPr>
          <a:xfrm>
            <a:off x="4206240" y="2148840"/>
            <a:ext cx="1828800" cy="347472"/>
          </a:xfrm>
          <a:prstGeom prst="rect">
            <a:avLst/>
          </a:prstGeom>
          <a:noFill/>
          <a:ln/>
        </p:spPr>
        <p:txBody>
          <a:bodyPr wrap="square" lIns="0" tIns="0" rIns="0" bIns="0" rtlCol="0" anchor="ctr"/>
          <a:lstStyle/>
          <a:p>
            <a:pPr algn="ctr" indent="0" marL="0">
              <a:buNone/>
            </a:pPr>
            <a:r>
              <a:rPr lang="en-US" sz="950" dirty="0">
                <a:solidFill>
                  <a:srgbClr val="94A3B8"/>
                </a:solidFill>
                <a:latin typeface="Calibri" pitchFamily="34" charset="0"/>
                <a:ea typeface="Calibri" pitchFamily="34" charset="-122"/>
                <a:cs typeface="Calibri" pitchFamily="34" charset="-120"/>
              </a:rPr>
              <a:t>Dynamic Scripting Language</a:t>
            </a:r>
            <a:endParaRPr lang="en-US" sz="950" dirty="0"/>
          </a:p>
        </p:txBody>
      </p:sp>
      <p:sp>
        <p:nvSpPr>
          <p:cNvPr id="43" name="Shape 41"/>
          <p:cNvSpPr/>
          <p:nvPr/>
        </p:nvSpPr>
        <p:spPr>
          <a:xfrm>
            <a:off x="4297680" y="2560320"/>
            <a:ext cx="118872" cy="118872"/>
          </a:xfrm>
          <a:prstGeom prst="ellipse">
            <a:avLst/>
          </a:prstGeom>
          <a:solidFill>
            <a:srgbClr val="7C3AED"/>
          </a:solidFill>
          <a:ln w="12700">
            <a:solidFill>
              <a:srgbClr val="7C3AED"/>
            </a:solidFill>
            <a:prstDash val="solid"/>
          </a:ln>
        </p:spPr>
      </p:sp>
      <p:sp>
        <p:nvSpPr>
          <p:cNvPr id="44" name="Text 42"/>
          <p:cNvSpPr/>
          <p:nvPr/>
        </p:nvSpPr>
        <p:spPr>
          <a:xfrm>
            <a:off x="4480560" y="2532888"/>
            <a:ext cx="1463040" cy="320040"/>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Adds interactivity &amp; logic</a:t>
            </a:r>
            <a:endParaRPr lang="en-US" sz="1100" dirty="0"/>
          </a:p>
        </p:txBody>
      </p:sp>
      <p:sp>
        <p:nvSpPr>
          <p:cNvPr id="45" name="Shape 43"/>
          <p:cNvSpPr/>
          <p:nvPr/>
        </p:nvSpPr>
        <p:spPr>
          <a:xfrm>
            <a:off x="4297680" y="2907792"/>
            <a:ext cx="118872" cy="118872"/>
          </a:xfrm>
          <a:prstGeom prst="ellipse">
            <a:avLst/>
          </a:prstGeom>
          <a:solidFill>
            <a:srgbClr val="7C3AED"/>
          </a:solidFill>
          <a:ln w="12700">
            <a:solidFill>
              <a:srgbClr val="7C3AED"/>
            </a:solidFill>
            <a:prstDash val="solid"/>
          </a:ln>
        </p:spPr>
      </p:sp>
      <p:sp>
        <p:nvSpPr>
          <p:cNvPr id="46" name="Text 44"/>
          <p:cNvSpPr/>
          <p:nvPr/>
        </p:nvSpPr>
        <p:spPr>
          <a:xfrm>
            <a:off x="4480560" y="2880360"/>
            <a:ext cx="1463040" cy="320040"/>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Handles clicks, API calls</a:t>
            </a:r>
            <a:endParaRPr lang="en-US" sz="1100" dirty="0"/>
          </a:p>
        </p:txBody>
      </p:sp>
      <p:sp>
        <p:nvSpPr>
          <p:cNvPr id="47" name="Shape 45"/>
          <p:cNvSpPr/>
          <p:nvPr/>
        </p:nvSpPr>
        <p:spPr>
          <a:xfrm>
            <a:off x="4297680" y="3255264"/>
            <a:ext cx="118872" cy="118872"/>
          </a:xfrm>
          <a:prstGeom prst="ellipse">
            <a:avLst/>
          </a:prstGeom>
          <a:solidFill>
            <a:srgbClr val="7C3AED"/>
          </a:solidFill>
          <a:ln w="12700">
            <a:solidFill>
              <a:srgbClr val="7C3AED"/>
            </a:solidFill>
            <a:prstDash val="solid"/>
          </a:ln>
        </p:spPr>
      </p:sp>
      <p:sp>
        <p:nvSpPr>
          <p:cNvPr id="48" name="Text 46"/>
          <p:cNvSpPr/>
          <p:nvPr/>
        </p:nvSpPr>
        <p:spPr>
          <a:xfrm>
            <a:off x="4480560" y="3227832"/>
            <a:ext cx="1463040" cy="320040"/>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Makes pages come alive</a:t>
            </a:r>
            <a:endParaRPr lang="en-US" sz="1100" dirty="0"/>
          </a:p>
        </p:txBody>
      </p:sp>
      <p:sp>
        <p:nvSpPr>
          <p:cNvPr id="49" name="Shape 47"/>
          <p:cNvSpPr/>
          <p:nvPr/>
        </p:nvSpPr>
        <p:spPr>
          <a:xfrm>
            <a:off x="4251960" y="3611880"/>
            <a:ext cx="1737360" cy="347472"/>
          </a:xfrm>
          <a:prstGeom prst="rect">
            <a:avLst/>
          </a:prstGeom>
          <a:solidFill>
            <a:srgbClr val="0A1628"/>
          </a:solidFill>
          <a:ln w="12700">
            <a:solidFill>
              <a:srgbClr val="7C3AED"/>
            </a:solidFill>
            <a:prstDash val="solid"/>
          </a:ln>
        </p:spPr>
      </p:sp>
      <p:sp>
        <p:nvSpPr>
          <p:cNvPr id="50" name="Text 48"/>
          <p:cNvSpPr/>
          <p:nvPr/>
        </p:nvSpPr>
        <p:spPr>
          <a:xfrm>
            <a:off x="4251960" y="3611880"/>
            <a:ext cx="1737360" cy="347472"/>
          </a:xfrm>
          <a:prstGeom prst="rect">
            <a:avLst/>
          </a:prstGeom>
          <a:noFill/>
          <a:ln/>
        </p:spPr>
        <p:txBody>
          <a:bodyPr wrap="square" lIns="0" tIns="0" rIns="0" bIns="0" rtlCol="0" anchor="ctr"/>
          <a:lstStyle/>
          <a:p>
            <a:pPr algn="ctr" indent="0" marL="0">
              <a:buNone/>
            </a:pPr>
            <a:r>
              <a:rPr lang="en-US" sz="1000" dirty="0">
                <a:solidFill>
                  <a:srgbClr val="7C3AED"/>
                </a:solidFill>
                <a:latin typeface="Consolas" pitchFamily="34" charset="0"/>
                <a:ea typeface="Consolas" pitchFamily="34" charset="-122"/>
                <a:cs typeface="Consolas" pitchFamily="34" charset="-120"/>
              </a:rPr>
              <a:t>btn.onclick = fetchData;</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B2A"/>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D4FF"/>
          </a:solidFill>
          <a:ln w="12700">
            <a:solidFill>
              <a:srgbClr val="00D4FF"/>
            </a:solidFill>
            <a:prstDash val="solid"/>
          </a:ln>
        </p:spPr>
      </p:sp>
      <p:sp>
        <p:nvSpPr>
          <p:cNvPr id="3" name="Text 1"/>
          <p:cNvSpPr/>
          <p:nvPr/>
        </p:nvSpPr>
        <p:spPr>
          <a:xfrm>
            <a:off x="457200" y="137160"/>
            <a:ext cx="8229600" cy="640080"/>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Full System Architecture</a:t>
            </a:r>
            <a:endParaRPr lang="en-US" sz="3200" dirty="0"/>
          </a:p>
        </p:txBody>
      </p:sp>
      <p:sp>
        <p:nvSpPr>
          <p:cNvPr id="4" name="Text 2"/>
          <p:cNvSpPr/>
          <p:nvPr/>
        </p:nvSpPr>
        <p:spPr>
          <a:xfrm>
            <a:off x="457200" y="749808"/>
            <a:ext cx="8229600" cy="320040"/>
          </a:xfrm>
          <a:prstGeom prst="rect">
            <a:avLst/>
          </a:prstGeom>
          <a:noFill/>
          <a:ln/>
        </p:spPr>
        <p:txBody>
          <a:bodyPr wrap="square" lIns="0" tIns="0" rIns="0" bIns="0" rtlCol="0" anchor="ctr"/>
          <a:lstStyle/>
          <a:p>
            <a:pPr indent="0" marL="0">
              <a:buNone/>
            </a:pPr>
            <a:r>
              <a:rPr lang="en-US" sz="1400" i="1" dirty="0">
                <a:solidFill>
                  <a:srgbClr val="00D4FF"/>
                </a:solidFill>
                <a:latin typeface="Calibri" pitchFamily="34" charset="0"/>
                <a:ea typeface="Calibri" pitchFamily="34" charset="-122"/>
                <a:cs typeface="Calibri" pitchFamily="34" charset="-120"/>
              </a:rPr>
              <a:t>Section 07 · Putting It All Together</a:t>
            </a:r>
            <a:endParaRPr lang="en-US" sz="1400" dirty="0"/>
          </a:p>
        </p:txBody>
      </p:sp>
      <p:sp>
        <p:nvSpPr>
          <p:cNvPr id="5" name="Text 3"/>
          <p:cNvSpPr/>
          <p:nvPr/>
        </p:nvSpPr>
        <p:spPr>
          <a:xfrm>
            <a:off x="91440" y="1417320"/>
            <a:ext cx="731520" cy="731520"/>
          </a:xfrm>
          <a:prstGeom prst="rect">
            <a:avLst/>
          </a:prstGeom>
          <a:noFill/>
          <a:ln/>
        </p:spPr>
        <p:txBody>
          <a:bodyPr wrap="square" lIns="0" tIns="0" rIns="0" bIns="0" rtlCol="0" anchor="ctr"/>
          <a:lstStyle/>
          <a:p>
            <a:pPr algn="ctr" indent="0" marL="0">
              <a:buNone/>
            </a:pPr>
            <a:r>
              <a:rPr lang="en-US" sz="2800" dirty="0">
                <a:solidFill>
                  <a:srgbClr val="000000"/>
                </a:solidFill>
              </a:rPr>
              <a:t>👤</a:t>
            </a:r>
            <a:endParaRPr lang="en-US" sz="2800" dirty="0"/>
          </a:p>
        </p:txBody>
      </p:sp>
      <p:sp>
        <p:nvSpPr>
          <p:cNvPr id="6" name="Text 4"/>
          <p:cNvSpPr/>
          <p:nvPr/>
        </p:nvSpPr>
        <p:spPr>
          <a:xfrm>
            <a:off x="0" y="2103120"/>
            <a:ext cx="914400" cy="256032"/>
          </a:xfrm>
          <a:prstGeom prst="rect">
            <a:avLst/>
          </a:prstGeom>
          <a:noFill/>
          <a:ln/>
        </p:spPr>
        <p:txBody>
          <a:bodyPr wrap="square" lIns="0" tIns="0" rIns="0" bIns="0" rtlCol="0" anchor="ctr"/>
          <a:lstStyle/>
          <a:p>
            <a:pPr algn="ctr" indent="0" marL="0">
              <a:buNone/>
            </a:pPr>
            <a:r>
              <a:rPr lang="en-US" sz="1100" dirty="0">
                <a:solidFill>
                  <a:srgbClr val="94A3B8"/>
                </a:solidFill>
                <a:latin typeface="Calibri" pitchFamily="34" charset="0"/>
                <a:ea typeface="Calibri" pitchFamily="34" charset="-122"/>
                <a:cs typeface="Calibri" pitchFamily="34" charset="-120"/>
              </a:rPr>
              <a:t>User</a:t>
            </a:r>
            <a:endParaRPr lang="en-US" sz="1100" dirty="0"/>
          </a:p>
        </p:txBody>
      </p:sp>
      <p:sp>
        <p:nvSpPr>
          <p:cNvPr id="7" name="Shape 5"/>
          <p:cNvSpPr/>
          <p:nvPr/>
        </p:nvSpPr>
        <p:spPr>
          <a:xfrm>
            <a:off x="914400" y="1417320"/>
            <a:ext cx="1463040" cy="777240"/>
          </a:xfrm>
          <a:prstGeom prst="rect">
            <a:avLst/>
          </a:prstGeom>
          <a:solidFill>
            <a:srgbClr val="1E3A5F"/>
          </a:solidFill>
          <a:ln w="12700">
            <a:solidFill>
              <a:srgbClr val="1E3A5F"/>
            </a:solidFill>
            <a:prstDash val="solid"/>
          </a:ln>
          <a:effectLst>
            <a:outerShdw sx="100000" sy="100000" kx="0" ky="0" algn="bl" rotWithShape="0" blurRad="101600" dist="38100" dir="8100000">
              <a:srgbClr val="000000">
                <a:alpha val="25000"/>
              </a:srgbClr>
            </a:outerShdw>
          </a:effectLst>
        </p:spPr>
      </p:sp>
      <p:sp>
        <p:nvSpPr>
          <p:cNvPr id="8" name="Shape 6"/>
          <p:cNvSpPr/>
          <p:nvPr/>
        </p:nvSpPr>
        <p:spPr>
          <a:xfrm>
            <a:off x="914400" y="1417320"/>
            <a:ext cx="1463040" cy="64008"/>
          </a:xfrm>
          <a:prstGeom prst="rect">
            <a:avLst/>
          </a:prstGeom>
          <a:solidFill>
            <a:srgbClr val="0EA5E9"/>
          </a:solidFill>
          <a:ln w="12700">
            <a:solidFill>
              <a:srgbClr val="0EA5E9"/>
            </a:solidFill>
            <a:prstDash val="solid"/>
          </a:ln>
        </p:spPr>
      </p:sp>
      <p:sp>
        <p:nvSpPr>
          <p:cNvPr id="9" name="Text 7"/>
          <p:cNvSpPr/>
          <p:nvPr/>
        </p:nvSpPr>
        <p:spPr>
          <a:xfrm>
            <a:off x="914400" y="1481328"/>
            <a:ext cx="1463040" cy="658368"/>
          </a:xfrm>
          <a:prstGeom prst="rect">
            <a:avLst/>
          </a:prstGeom>
          <a:noFill/>
          <a:ln/>
        </p:spPr>
        <p:txBody>
          <a:bodyPr wrap="square" lIns="0" tIns="0" rIns="0" bIns="0" rtlCol="0" anchor="ctr"/>
          <a:lstStyle/>
          <a:p>
            <a:pPr algn="ctr" indent="0" marL="0">
              <a:buNone/>
            </a:pPr>
            <a:r>
              <a:rPr lang="en-US" sz="1150" dirty="0">
                <a:solidFill>
                  <a:srgbClr val="0EA5E9"/>
                </a:solidFill>
                <a:latin typeface="Calibri" pitchFamily="34" charset="0"/>
                <a:ea typeface="Calibri" pitchFamily="34" charset="-122"/>
                <a:cs typeface="Calibri" pitchFamily="34" charset="-120"/>
              </a:rPr>
              <a:t>🖥️</a:t>
            </a:r>
            <a:endParaRPr lang="en-US" sz="1150" dirty="0"/>
          </a:p>
          <a:p>
            <a:pPr algn="ctr" indent="0" marL="0">
              <a:buNone/>
            </a:pPr>
            <a:r>
              <a:rPr lang="en-US" sz="1150" dirty="0">
                <a:solidFill>
                  <a:srgbClr val="0EA5E9"/>
                </a:solidFill>
                <a:latin typeface="Calibri" pitchFamily="34" charset="0"/>
                <a:ea typeface="Calibri" pitchFamily="34" charset="-122"/>
                <a:cs typeface="Calibri" pitchFamily="34" charset="-120"/>
              </a:rPr>
              <a:t>Browser</a:t>
            </a:r>
            <a:endParaRPr lang="en-US" sz="1150" dirty="0"/>
          </a:p>
        </p:txBody>
      </p:sp>
      <p:sp>
        <p:nvSpPr>
          <p:cNvPr id="10" name="Shape 8"/>
          <p:cNvSpPr/>
          <p:nvPr/>
        </p:nvSpPr>
        <p:spPr>
          <a:xfrm>
            <a:off x="2404872" y="1801368"/>
            <a:ext cx="347472" cy="0"/>
          </a:xfrm>
          <a:prstGeom prst="line">
            <a:avLst/>
          </a:prstGeom>
          <a:noFill/>
          <a:ln w="25400">
            <a:solidFill>
              <a:srgbClr val="00D4FF"/>
            </a:solidFill>
            <a:prstDash val="solid"/>
            <a:tailEnd type="open"/>
          </a:ln>
        </p:spPr>
      </p:sp>
      <p:sp>
        <p:nvSpPr>
          <p:cNvPr id="11" name="Shape 9"/>
          <p:cNvSpPr/>
          <p:nvPr/>
        </p:nvSpPr>
        <p:spPr>
          <a:xfrm>
            <a:off x="2770632" y="1417320"/>
            <a:ext cx="1280160" cy="777240"/>
          </a:xfrm>
          <a:prstGeom prst="rect">
            <a:avLst/>
          </a:prstGeom>
          <a:solidFill>
            <a:srgbClr val="1E3A5F"/>
          </a:solidFill>
          <a:ln w="12700">
            <a:solidFill>
              <a:srgbClr val="1E3A5F"/>
            </a:solidFill>
            <a:prstDash val="solid"/>
          </a:ln>
          <a:effectLst>
            <a:outerShdw sx="100000" sy="100000" kx="0" ky="0" algn="bl" rotWithShape="0" blurRad="101600" dist="38100" dir="8100000">
              <a:srgbClr val="000000">
                <a:alpha val="25000"/>
              </a:srgbClr>
            </a:outerShdw>
          </a:effectLst>
        </p:spPr>
      </p:sp>
      <p:sp>
        <p:nvSpPr>
          <p:cNvPr id="12" name="Shape 10"/>
          <p:cNvSpPr/>
          <p:nvPr/>
        </p:nvSpPr>
        <p:spPr>
          <a:xfrm>
            <a:off x="2770632" y="1417320"/>
            <a:ext cx="1280160" cy="64008"/>
          </a:xfrm>
          <a:prstGeom prst="rect">
            <a:avLst/>
          </a:prstGeom>
          <a:solidFill>
            <a:srgbClr val="F59E0B"/>
          </a:solidFill>
          <a:ln w="12700">
            <a:solidFill>
              <a:srgbClr val="F59E0B"/>
            </a:solidFill>
            <a:prstDash val="solid"/>
          </a:ln>
        </p:spPr>
      </p:sp>
      <p:sp>
        <p:nvSpPr>
          <p:cNvPr id="13" name="Text 11"/>
          <p:cNvSpPr/>
          <p:nvPr/>
        </p:nvSpPr>
        <p:spPr>
          <a:xfrm>
            <a:off x="2770632" y="1481328"/>
            <a:ext cx="1280160" cy="658368"/>
          </a:xfrm>
          <a:prstGeom prst="rect">
            <a:avLst/>
          </a:prstGeom>
          <a:noFill/>
          <a:ln/>
        </p:spPr>
        <p:txBody>
          <a:bodyPr wrap="square" lIns="0" tIns="0" rIns="0" bIns="0" rtlCol="0" anchor="ctr"/>
          <a:lstStyle/>
          <a:p>
            <a:pPr algn="ctr" indent="0" marL="0">
              <a:buNone/>
            </a:pPr>
            <a:r>
              <a:rPr lang="en-US" sz="1150" dirty="0">
                <a:solidFill>
                  <a:srgbClr val="F59E0B"/>
                </a:solidFill>
                <a:latin typeface="Calibri" pitchFamily="34" charset="0"/>
                <a:ea typeface="Calibri" pitchFamily="34" charset="-122"/>
                <a:cs typeface="Calibri" pitchFamily="34" charset="-120"/>
              </a:rPr>
              <a:t>☁️</a:t>
            </a:r>
            <a:endParaRPr lang="en-US" sz="1150" dirty="0"/>
          </a:p>
          <a:p>
            <a:pPr algn="ctr" indent="0" marL="0">
              <a:buNone/>
            </a:pPr>
            <a:r>
              <a:rPr lang="en-US" sz="1150" dirty="0">
                <a:solidFill>
                  <a:srgbClr val="F59E0B"/>
                </a:solidFill>
                <a:latin typeface="Calibri" pitchFamily="34" charset="0"/>
                <a:ea typeface="Calibri" pitchFamily="34" charset="-122"/>
                <a:cs typeface="Calibri" pitchFamily="34" charset="-120"/>
              </a:rPr>
              <a:t>CDN</a:t>
            </a:r>
            <a:endParaRPr lang="en-US" sz="1150" dirty="0"/>
          </a:p>
        </p:txBody>
      </p:sp>
      <p:sp>
        <p:nvSpPr>
          <p:cNvPr id="14" name="Shape 12"/>
          <p:cNvSpPr/>
          <p:nvPr/>
        </p:nvSpPr>
        <p:spPr>
          <a:xfrm>
            <a:off x="4078224" y="1801368"/>
            <a:ext cx="310896" cy="0"/>
          </a:xfrm>
          <a:prstGeom prst="line">
            <a:avLst/>
          </a:prstGeom>
          <a:noFill/>
          <a:ln w="25400">
            <a:solidFill>
              <a:srgbClr val="00D4FF"/>
            </a:solidFill>
            <a:prstDash val="solid"/>
            <a:tailEnd type="open"/>
          </a:ln>
        </p:spPr>
      </p:sp>
      <p:sp>
        <p:nvSpPr>
          <p:cNvPr id="15" name="Shape 13"/>
          <p:cNvSpPr/>
          <p:nvPr/>
        </p:nvSpPr>
        <p:spPr>
          <a:xfrm>
            <a:off x="4407408" y="1417320"/>
            <a:ext cx="1371600" cy="777240"/>
          </a:xfrm>
          <a:prstGeom prst="rect">
            <a:avLst/>
          </a:prstGeom>
          <a:solidFill>
            <a:srgbClr val="1E3A5F"/>
          </a:solidFill>
          <a:ln w="12700">
            <a:solidFill>
              <a:srgbClr val="1E3A5F"/>
            </a:solidFill>
            <a:prstDash val="solid"/>
          </a:ln>
          <a:effectLst>
            <a:outerShdw sx="100000" sy="100000" kx="0" ky="0" algn="bl" rotWithShape="0" blurRad="101600" dist="38100" dir="8100000">
              <a:srgbClr val="000000">
                <a:alpha val="25000"/>
              </a:srgbClr>
            </a:outerShdw>
          </a:effectLst>
        </p:spPr>
      </p:sp>
      <p:sp>
        <p:nvSpPr>
          <p:cNvPr id="16" name="Shape 14"/>
          <p:cNvSpPr/>
          <p:nvPr/>
        </p:nvSpPr>
        <p:spPr>
          <a:xfrm>
            <a:off x="4407408" y="1417320"/>
            <a:ext cx="1371600" cy="64008"/>
          </a:xfrm>
          <a:prstGeom prst="rect">
            <a:avLst/>
          </a:prstGeom>
          <a:solidFill>
            <a:srgbClr val="00D4FF"/>
          </a:solidFill>
          <a:ln w="12700">
            <a:solidFill>
              <a:srgbClr val="00D4FF"/>
            </a:solidFill>
            <a:prstDash val="solid"/>
          </a:ln>
        </p:spPr>
      </p:sp>
      <p:sp>
        <p:nvSpPr>
          <p:cNvPr id="17" name="Text 15"/>
          <p:cNvSpPr/>
          <p:nvPr/>
        </p:nvSpPr>
        <p:spPr>
          <a:xfrm>
            <a:off x="4407408" y="1481328"/>
            <a:ext cx="1371600" cy="658368"/>
          </a:xfrm>
          <a:prstGeom prst="rect">
            <a:avLst/>
          </a:prstGeom>
          <a:noFill/>
          <a:ln/>
        </p:spPr>
        <p:txBody>
          <a:bodyPr wrap="square" lIns="0" tIns="0" rIns="0" bIns="0" rtlCol="0" anchor="ctr"/>
          <a:lstStyle/>
          <a:p>
            <a:pPr algn="ctr" indent="0" marL="0">
              <a:buNone/>
            </a:pPr>
            <a:r>
              <a:rPr lang="en-US" sz="1100" dirty="0">
                <a:solidFill>
                  <a:srgbClr val="00D4FF"/>
                </a:solidFill>
                <a:latin typeface="Calibri" pitchFamily="34" charset="0"/>
                <a:ea typeface="Calibri" pitchFamily="34" charset="-122"/>
                <a:cs typeface="Calibri" pitchFamily="34" charset="-120"/>
              </a:rPr>
              <a:t>⚖️</a:t>
            </a:r>
            <a:endParaRPr lang="en-US" sz="1100" dirty="0"/>
          </a:p>
          <a:p>
            <a:pPr algn="ctr" indent="0" marL="0">
              <a:buNone/>
            </a:pPr>
            <a:r>
              <a:rPr lang="en-US" sz="1100" dirty="0">
                <a:solidFill>
                  <a:srgbClr val="00D4FF"/>
                </a:solidFill>
                <a:latin typeface="Calibri" pitchFamily="34" charset="0"/>
                <a:ea typeface="Calibri" pitchFamily="34" charset="-122"/>
                <a:cs typeface="Calibri" pitchFamily="34" charset="-120"/>
              </a:rPr>
              <a:t>Load Balancer</a:t>
            </a:r>
            <a:endParaRPr lang="en-US" sz="1100" dirty="0"/>
          </a:p>
        </p:txBody>
      </p:sp>
      <p:sp>
        <p:nvSpPr>
          <p:cNvPr id="18" name="Shape 16"/>
          <p:cNvSpPr/>
          <p:nvPr/>
        </p:nvSpPr>
        <p:spPr>
          <a:xfrm>
            <a:off x="5806440" y="1600200"/>
            <a:ext cx="164592" cy="0"/>
          </a:xfrm>
          <a:prstGeom prst="line">
            <a:avLst/>
          </a:prstGeom>
          <a:noFill/>
          <a:ln w="19050">
            <a:solidFill>
              <a:srgbClr val="00D4FF"/>
            </a:solidFill>
            <a:prstDash val="solid"/>
            <a:tailEnd type="open"/>
          </a:ln>
        </p:spPr>
      </p:sp>
      <p:sp>
        <p:nvSpPr>
          <p:cNvPr id="19" name="Shape 17"/>
          <p:cNvSpPr/>
          <p:nvPr/>
        </p:nvSpPr>
        <p:spPr>
          <a:xfrm>
            <a:off x="5989320" y="1188720"/>
            <a:ext cx="1371600" cy="777240"/>
          </a:xfrm>
          <a:prstGeom prst="rect">
            <a:avLst/>
          </a:prstGeom>
          <a:solidFill>
            <a:srgbClr val="1E3A5F"/>
          </a:solidFill>
          <a:ln w="12700">
            <a:solidFill>
              <a:srgbClr val="1E3A5F"/>
            </a:solidFill>
            <a:prstDash val="solid"/>
          </a:ln>
          <a:effectLst>
            <a:outerShdw sx="100000" sy="100000" kx="0" ky="0" algn="bl" rotWithShape="0" blurRad="101600" dist="38100" dir="8100000">
              <a:srgbClr val="000000">
                <a:alpha val="25000"/>
              </a:srgbClr>
            </a:outerShdw>
          </a:effectLst>
        </p:spPr>
      </p:sp>
      <p:sp>
        <p:nvSpPr>
          <p:cNvPr id="20" name="Shape 18"/>
          <p:cNvSpPr/>
          <p:nvPr/>
        </p:nvSpPr>
        <p:spPr>
          <a:xfrm>
            <a:off x="5989320" y="1188720"/>
            <a:ext cx="1371600" cy="64008"/>
          </a:xfrm>
          <a:prstGeom prst="rect">
            <a:avLst/>
          </a:prstGeom>
          <a:solidFill>
            <a:srgbClr val="7C3AED"/>
          </a:solidFill>
          <a:ln w="12700">
            <a:solidFill>
              <a:srgbClr val="7C3AED"/>
            </a:solidFill>
            <a:prstDash val="solid"/>
          </a:ln>
        </p:spPr>
      </p:sp>
      <p:sp>
        <p:nvSpPr>
          <p:cNvPr id="21" name="Text 19"/>
          <p:cNvSpPr/>
          <p:nvPr/>
        </p:nvSpPr>
        <p:spPr>
          <a:xfrm>
            <a:off x="5989320" y="1298448"/>
            <a:ext cx="1371600" cy="594360"/>
          </a:xfrm>
          <a:prstGeom prst="rect">
            <a:avLst/>
          </a:prstGeom>
          <a:noFill/>
          <a:ln/>
        </p:spPr>
        <p:txBody>
          <a:bodyPr wrap="square" lIns="0" tIns="0" rIns="0" bIns="0" rtlCol="0" anchor="ctr"/>
          <a:lstStyle/>
          <a:p>
            <a:pPr algn="ctr" indent="0" marL="0">
              <a:buNone/>
            </a:pPr>
            <a:r>
              <a:rPr lang="en-US" sz="1100" dirty="0">
                <a:solidFill>
                  <a:srgbClr val="7C3AED"/>
                </a:solidFill>
                <a:latin typeface="Calibri" pitchFamily="34" charset="0"/>
                <a:ea typeface="Calibri" pitchFamily="34" charset="-122"/>
                <a:cs typeface="Calibri" pitchFamily="34" charset="-120"/>
              </a:rPr>
              <a:t>⚙️</a:t>
            </a:r>
            <a:endParaRPr lang="en-US" sz="1100" dirty="0"/>
          </a:p>
          <a:p>
            <a:pPr algn="ctr" indent="0" marL="0">
              <a:buNone/>
            </a:pPr>
            <a:r>
              <a:rPr lang="en-US" sz="1100" dirty="0">
                <a:solidFill>
                  <a:srgbClr val="7C3AED"/>
                </a:solidFill>
                <a:latin typeface="Calibri" pitchFamily="34" charset="0"/>
                <a:ea typeface="Calibri" pitchFamily="34" charset="-122"/>
                <a:cs typeface="Calibri" pitchFamily="34" charset="-120"/>
              </a:rPr>
              <a:t>App Server 1</a:t>
            </a:r>
            <a:endParaRPr lang="en-US" sz="1100" dirty="0"/>
          </a:p>
        </p:txBody>
      </p:sp>
      <p:sp>
        <p:nvSpPr>
          <p:cNvPr id="22" name="Shape 20"/>
          <p:cNvSpPr/>
          <p:nvPr/>
        </p:nvSpPr>
        <p:spPr>
          <a:xfrm>
            <a:off x="5806440" y="2496312"/>
            <a:ext cx="164592" cy="0"/>
          </a:xfrm>
          <a:prstGeom prst="line">
            <a:avLst/>
          </a:prstGeom>
          <a:noFill/>
          <a:ln w="19050">
            <a:solidFill>
              <a:srgbClr val="00D4FF"/>
            </a:solidFill>
            <a:prstDash val="solid"/>
            <a:tailEnd type="open"/>
          </a:ln>
        </p:spPr>
      </p:sp>
      <p:sp>
        <p:nvSpPr>
          <p:cNvPr id="23" name="Shape 21"/>
          <p:cNvSpPr/>
          <p:nvPr/>
        </p:nvSpPr>
        <p:spPr>
          <a:xfrm>
            <a:off x="5989320" y="2084832"/>
            <a:ext cx="1371600" cy="777240"/>
          </a:xfrm>
          <a:prstGeom prst="rect">
            <a:avLst/>
          </a:prstGeom>
          <a:solidFill>
            <a:srgbClr val="1E3A5F"/>
          </a:solidFill>
          <a:ln w="12700">
            <a:solidFill>
              <a:srgbClr val="1E3A5F"/>
            </a:solidFill>
            <a:prstDash val="solid"/>
          </a:ln>
          <a:effectLst>
            <a:outerShdw sx="100000" sy="100000" kx="0" ky="0" algn="bl" rotWithShape="0" blurRad="101600" dist="38100" dir="8100000">
              <a:srgbClr val="000000">
                <a:alpha val="25000"/>
              </a:srgbClr>
            </a:outerShdw>
          </a:effectLst>
        </p:spPr>
      </p:sp>
      <p:sp>
        <p:nvSpPr>
          <p:cNvPr id="24" name="Shape 22"/>
          <p:cNvSpPr/>
          <p:nvPr/>
        </p:nvSpPr>
        <p:spPr>
          <a:xfrm>
            <a:off x="5989320" y="2084832"/>
            <a:ext cx="1371600" cy="64008"/>
          </a:xfrm>
          <a:prstGeom prst="rect">
            <a:avLst/>
          </a:prstGeom>
          <a:solidFill>
            <a:srgbClr val="7C3AED"/>
          </a:solidFill>
          <a:ln w="12700">
            <a:solidFill>
              <a:srgbClr val="7C3AED"/>
            </a:solidFill>
            <a:prstDash val="solid"/>
          </a:ln>
        </p:spPr>
      </p:sp>
      <p:sp>
        <p:nvSpPr>
          <p:cNvPr id="25" name="Text 23"/>
          <p:cNvSpPr/>
          <p:nvPr/>
        </p:nvSpPr>
        <p:spPr>
          <a:xfrm>
            <a:off x="5989320" y="2194560"/>
            <a:ext cx="1371600" cy="594360"/>
          </a:xfrm>
          <a:prstGeom prst="rect">
            <a:avLst/>
          </a:prstGeom>
          <a:noFill/>
          <a:ln/>
        </p:spPr>
        <p:txBody>
          <a:bodyPr wrap="square" lIns="0" tIns="0" rIns="0" bIns="0" rtlCol="0" anchor="ctr"/>
          <a:lstStyle/>
          <a:p>
            <a:pPr algn="ctr" indent="0" marL="0">
              <a:buNone/>
            </a:pPr>
            <a:r>
              <a:rPr lang="en-US" sz="1100" dirty="0">
                <a:solidFill>
                  <a:srgbClr val="7C3AED"/>
                </a:solidFill>
                <a:latin typeface="Calibri" pitchFamily="34" charset="0"/>
                <a:ea typeface="Calibri" pitchFamily="34" charset="-122"/>
                <a:cs typeface="Calibri" pitchFamily="34" charset="-120"/>
              </a:rPr>
              <a:t>⚙️</a:t>
            </a:r>
            <a:endParaRPr lang="en-US" sz="1100" dirty="0"/>
          </a:p>
          <a:p>
            <a:pPr algn="ctr" indent="0" marL="0">
              <a:buNone/>
            </a:pPr>
            <a:r>
              <a:rPr lang="en-US" sz="1100" dirty="0">
                <a:solidFill>
                  <a:srgbClr val="7C3AED"/>
                </a:solidFill>
                <a:latin typeface="Calibri" pitchFamily="34" charset="0"/>
                <a:ea typeface="Calibri" pitchFamily="34" charset="-122"/>
                <a:cs typeface="Calibri" pitchFamily="34" charset="-120"/>
              </a:rPr>
              <a:t>App Server 2</a:t>
            </a:r>
            <a:endParaRPr lang="en-US" sz="1100" dirty="0"/>
          </a:p>
        </p:txBody>
      </p:sp>
      <p:sp>
        <p:nvSpPr>
          <p:cNvPr id="26" name="Shape 24"/>
          <p:cNvSpPr/>
          <p:nvPr/>
        </p:nvSpPr>
        <p:spPr>
          <a:xfrm>
            <a:off x="7388352" y="1600200"/>
            <a:ext cx="411480" cy="0"/>
          </a:xfrm>
          <a:prstGeom prst="line">
            <a:avLst/>
          </a:prstGeom>
          <a:noFill/>
          <a:ln w="19050">
            <a:solidFill>
              <a:srgbClr val="10B981"/>
            </a:solidFill>
            <a:prstDash val="solid"/>
            <a:tailEnd type="open"/>
          </a:ln>
        </p:spPr>
      </p:sp>
      <p:sp>
        <p:nvSpPr>
          <p:cNvPr id="27" name="Shape 25"/>
          <p:cNvSpPr/>
          <p:nvPr/>
        </p:nvSpPr>
        <p:spPr>
          <a:xfrm>
            <a:off x="7388352" y="2487168"/>
            <a:ext cx="411480" cy="0"/>
          </a:xfrm>
          <a:prstGeom prst="line">
            <a:avLst/>
          </a:prstGeom>
          <a:noFill/>
          <a:ln w="19050">
            <a:solidFill>
              <a:srgbClr val="10B981"/>
            </a:solidFill>
            <a:prstDash val="solid"/>
            <a:tailEnd type="open"/>
          </a:ln>
        </p:spPr>
      </p:sp>
      <p:sp>
        <p:nvSpPr>
          <p:cNvPr id="28" name="Shape 26"/>
          <p:cNvSpPr/>
          <p:nvPr/>
        </p:nvSpPr>
        <p:spPr>
          <a:xfrm>
            <a:off x="7818120" y="1691640"/>
            <a:ext cx="1280160" cy="868680"/>
          </a:xfrm>
          <a:prstGeom prst="rect">
            <a:avLst/>
          </a:prstGeom>
          <a:solidFill>
            <a:srgbClr val="1E3A5F"/>
          </a:solidFill>
          <a:ln w="12700">
            <a:solidFill>
              <a:srgbClr val="1E3A5F"/>
            </a:solidFill>
            <a:prstDash val="solid"/>
          </a:ln>
          <a:effectLst>
            <a:outerShdw sx="100000" sy="100000" kx="0" ky="0" algn="bl" rotWithShape="0" blurRad="101600" dist="38100" dir="8100000">
              <a:srgbClr val="000000">
                <a:alpha val="25000"/>
              </a:srgbClr>
            </a:outerShdw>
          </a:effectLst>
        </p:spPr>
      </p:sp>
      <p:sp>
        <p:nvSpPr>
          <p:cNvPr id="29" name="Shape 27"/>
          <p:cNvSpPr/>
          <p:nvPr/>
        </p:nvSpPr>
        <p:spPr>
          <a:xfrm>
            <a:off x="7818120" y="1691640"/>
            <a:ext cx="1280160" cy="64008"/>
          </a:xfrm>
          <a:prstGeom prst="rect">
            <a:avLst/>
          </a:prstGeom>
          <a:solidFill>
            <a:srgbClr val="10B981"/>
          </a:solidFill>
          <a:ln w="12700">
            <a:solidFill>
              <a:srgbClr val="10B981"/>
            </a:solidFill>
            <a:prstDash val="solid"/>
          </a:ln>
        </p:spPr>
      </p:sp>
      <p:sp>
        <p:nvSpPr>
          <p:cNvPr id="30" name="Text 28"/>
          <p:cNvSpPr/>
          <p:nvPr/>
        </p:nvSpPr>
        <p:spPr>
          <a:xfrm>
            <a:off x="7818120" y="1755648"/>
            <a:ext cx="1280160" cy="658368"/>
          </a:xfrm>
          <a:prstGeom prst="rect">
            <a:avLst/>
          </a:prstGeom>
          <a:noFill/>
          <a:ln/>
        </p:spPr>
        <p:txBody>
          <a:bodyPr wrap="square" lIns="0" tIns="0" rIns="0" bIns="0" rtlCol="0" anchor="ctr"/>
          <a:lstStyle/>
          <a:p>
            <a:pPr algn="ctr" indent="0" marL="0">
              <a:buNone/>
            </a:pPr>
            <a:r>
              <a:rPr lang="en-US" sz="1150" dirty="0">
                <a:solidFill>
                  <a:srgbClr val="10B981"/>
                </a:solidFill>
                <a:latin typeface="Calibri" pitchFamily="34" charset="0"/>
                <a:ea typeface="Calibri" pitchFamily="34" charset="-122"/>
                <a:cs typeface="Calibri" pitchFamily="34" charset="-120"/>
              </a:rPr>
              <a:t>🗄️</a:t>
            </a:r>
            <a:endParaRPr lang="en-US" sz="1150" dirty="0"/>
          </a:p>
          <a:p>
            <a:pPr algn="ctr" indent="0" marL="0">
              <a:buNone/>
            </a:pPr>
            <a:r>
              <a:rPr lang="en-US" sz="1150" dirty="0">
                <a:solidFill>
                  <a:srgbClr val="10B981"/>
                </a:solidFill>
                <a:latin typeface="Calibri" pitchFamily="34" charset="0"/>
                <a:ea typeface="Calibri" pitchFamily="34" charset="-122"/>
                <a:cs typeface="Calibri" pitchFamily="34" charset="-120"/>
              </a:rPr>
              <a:t>Database</a:t>
            </a:r>
            <a:endParaRPr lang="en-US" sz="1150" dirty="0"/>
          </a:p>
        </p:txBody>
      </p:sp>
      <p:sp>
        <p:nvSpPr>
          <p:cNvPr id="31" name="Shape 29"/>
          <p:cNvSpPr/>
          <p:nvPr/>
        </p:nvSpPr>
        <p:spPr>
          <a:xfrm>
            <a:off x="914400" y="3154680"/>
            <a:ext cx="1600200" cy="777240"/>
          </a:xfrm>
          <a:prstGeom prst="rect">
            <a:avLst/>
          </a:prstGeom>
          <a:solidFill>
            <a:srgbClr val="172554"/>
          </a:solidFill>
          <a:ln w="12700">
            <a:solidFill>
              <a:srgbClr val="1E3A5F"/>
            </a:solidFill>
            <a:prstDash val="solid"/>
          </a:ln>
          <a:effectLst>
            <a:outerShdw sx="100000" sy="100000" kx="0" ky="0" algn="bl" rotWithShape="0" blurRad="101600" dist="38100" dir="8100000">
              <a:srgbClr val="000000">
                <a:alpha val="25000"/>
              </a:srgbClr>
            </a:outerShdw>
          </a:effectLst>
        </p:spPr>
      </p:sp>
      <p:sp>
        <p:nvSpPr>
          <p:cNvPr id="32" name="Shape 30"/>
          <p:cNvSpPr/>
          <p:nvPr/>
        </p:nvSpPr>
        <p:spPr>
          <a:xfrm>
            <a:off x="914400" y="3154680"/>
            <a:ext cx="1600200" cy="54864"/>
          </a:xfrm>
          <a:prstGeom prst="rect">
            <a:avLst/>
          </a:prstGeom>
          <a:solidFill>
            <a:srgbClr val="F59E0B"/>
          </a:solidFill>
          <a:ln w="12700">
            <a:solidFill>
              <a:srgbClr val="F59E0B"/>
            </a:solidFill>
            <a:prstDash val="solid"/>
          </a:ln>
        </p:spPr>
      </p:sp>
      <p:sp>
        <p:nvSpPr>
          <p:cNvPr id="33" name="Text 31"/>
          <p:cNvSpPr/>
          <p:nvPr/>
        </p:nvSpPr>
        <p:spPr>
          <a:xfrm>
            <a:off x="914400" y="3246120"/>
            <a:ext cx="1600200" cy="621792"/>
          </a:xfrm>
          <a:prstGeom prst="rect">
            <a:avLst/>
          </a:prstGeom>
          <a:noFill/>
          <a:ln/>
        </p:spPr>
        <p:txBody>
          <a:bodyPr wrap="square" lIns="0" tIns="0" rIns="0" bIns="0" rtlCol="0" anchor="ctr"/>
          <a:lstStyle/>
          <a:p>
            <a:pPr algn="ctr" indent="0" marL="0">
              <a:buNone/>
            </a:pPr>
            <a:r>
              <a:rPr lang="en-US" sz="1150" dirty="0">
                <a:solidFill>
                  <a:srgbClr val="F59E0B"/>
                </a:solidFill>
                <a:latin typeface="Calibri" pitchFamily="34" charset="0"/>
                <a:ea typeface="Calibri" pitchFamily="34" charset="-122"/>
                <a:cs typeface="Calibri" pitchFamily="34" charset="-120"/>
              </a:rPr>
              <a:t>⚡</a:t>
            </a:r>
            <a:endParaRPr lang="en-US" sz="1150" dirty="0"/>
          </a:p>
          <a:p>
            <a:pPr algn="ctr" indent="0" marL="0">
              <a:buNone/>
            </a:pPr>
            <a:r>
              <a:rPr lang="en-US" sz="1150" dirty="0">
                <a:solidFill>
                  <a:srgbClr val="F59E0B"/>
                </a:solidFill>
                <a:latin typeface="Calibri" pitchFamily="34" charset="0"/>
                <a:ea typeface="Calibri" pitchFamily="34" charset="-122"/>
                <a:cs typeface="Calibri" pitchFamily="34" charset="-120"/>
              </a:rPr>
              <a:t>Cache (Redis)</a:t>
            </a:r>
            <a:endParaRPr lang="en-US" sz="1150" dirty="0"/>
          </a:p>
        </p:txBody>
      </p:sp>
      <p:sp>
        <p:nvSpPr>
          <p:cNvPr id="34" name="Shape 32"/>
          <p:cNvSpPr/>
          <p:nvPr/>
        </p:nvSpPr>
        <p:spPr>
          <a:xfrm>
            <a:off x="2743200" y="3154680"/>
            <a:ext cx="1600200" cy="777240"/>
          </a:xfrm>
          <a:prstGeom prst="rect">
            <a:avLst/>
          </a:prstGeom>
          <a:solidFill>
            <a:srgbClr val="172554"/>
          </a:solidFill>
          <a:ln w="12700">
            <a:solidFill>
              <a:srgbClr val="1E3A5F"/>
            </a:solidFill>
            <a:prstDash val="solid"/>
          </a:ln>
          <a:effectLst>
            <a:outerShdw sx="100000" sy="100000" kx="0" ky="0" algn="bl" rotWithShape="0" blurRad="101600" dist="38100" dir="8100000">
              <a:srgbClr val="000000">
                <a:alpha val="25000"/>
              </a:srgbClr>
            </a:outerShdw>
          </a:effectLst>
        </p:spPr>
      </p:sp>
      <p:sp>
        <p:nvSpPr>
          <p:cNvPr id="35" name="Shape 33"/>
          <p:cNvSpPr/>
          <p:nvPr/>
        </p:nvSpPr>
        <p:spPr>
          <a:xfrm>
            <a:off x="2743200" y="3154680"/>
            <a:ext cx="1600200" cy="54864"/>
          </a:xfrm>
          <a:prstGeom prst="rect">
            <a:avLst/>
          </a:prstGeom>
          <a:solidFill>
            <a:srgbClr val="7C3AED"/>
          </a:solidFill>
          <a:ln w="12700">
            <a:solidFill>
              <a:srgbClr val="7C3AED"/>
            </a:solidFill>
            <a:prstDash val="solid"/>
          </a:ln>
        </p:spPr>
      </p:sp>
      <p:sp>
        <p:nvSpPr>
          <p:cNvPr id="36" name="Text 34"/>
          <p:cNvSpPr/>
          <p:nvPr/>
        </p:nvSpPr>
        <p:spPr>
          <a:xfrm>
            <a:off x="2743200" y="3246120"/>
            <a:ext cx="1600200" cy="621792"/>
          </a:xfrm>
          <a:prstGeom prst="rect">
            <a:avLst/>
          </a:prstGeom>
          <a:noFill/>
          <a:ln/>
        </p:spPr>
        <p:txBody>
          <a:bodyPr wrap="square" lIns="0" tIns="0" rIns="0" bIns="0" rtlCol="0" anchor="ctr"/>
          <a:lstStyle/>
          <a:p>
            <a:pPr algn="ctr" indent="0" marL="0">
              <a:buNone/>
            </a:pPr>
            <a:r>
              <a:rPr lang="en-US" sz="1150" dirty="0">
                <a:solidFill>
                  <a:srgbClr val="7C3AED"/>
                </a:solidFill>
                <a:latin typeface="Calibri" pitchFamily="34" charset="0"/>
                <a:ea typeface="Calibri" pitchFamily="34" charset="-122"/>
                <a:cs typeface="Calibri" pitchFamily="34" charset="-120"/>
              </a:rPr>
              <a:t>📨</a:t>
            </a:r>
            <a:endParaRPr lang="en-US" sz="1150" dirty="0"/>
          </a:p>
          <a:p>
            <a:pPr algn="ctr" indent="0" marL="0">
              <a:buNone/>
            </a:pPr>
            <a:r>
              <a:rPr lang="en-US" sz="1150" dirty="0">
                <a:solidFill>
                  <a:srgbClr val="7C3AED"/>
                </a:solidFill>
                <a:latin typeface="Calibri" pitchFamily="34" charset="0"/>
                <a:ea typeface="Calibri" pitchFamily="34" charset="-122"/>
                <a:cs typeface="Calibri" pitchFamily="34" charset="-120"/>
              </a:rPr>
              <a:t>Message Queue</a:t>
            </a:r>
            <a:endParaRPr lang="en-US" sz="1150" dirty="0"/>
          </a:p>
        </p:txBody>
      </p:sp>
      <p:sp>
        <p:nvSpPr>
          <p:cNvPr id="37" name="Shape 35"/>
          <p:cNvSpPr/>
          <p:nvPr/>
        </p:nvSpPr>
        <p:spPr>
          <a:xfrm>
            <a:off x="4572000" y="3154680"/>
            <a:ext cx="1600200" cy="777240"/>
          </a:xfrm>
          <a:prstGeom prst="rect">
            <a:avLst/>
          </a:prstGeom>
          <a:solidFill>
            <a:srgbClr val="172554"/>
          </a:solidFill>
          <a:ln w="12700">
            <a:solidFill>
              <a:srgbClr val="1E3A5F"/>
            </a:solidFill>
            <a:prstDash val="solid"/>
          </a:ln>
          <a:effectLst>
            <a:outerShdw sx="100000" sy="100000" kx="0" ky="0" algn="bl" rotWithShape="0" blurRad="101600" dist="38100" dir="8100000">
              <a:srgbClr val="000000">
                <a:alpha val="25000"/>
              </a:srgbClr>
            </a:outerShdw>
          </a:effectLst>
        </p:spPr>
      </p:sp>
      <p:sp>
        <p:nvSpPr>
          <p:cNvPr id="38" name="Shape 36"/>
          <p:cNvSpPr/>
          <p:nvPr/>
        </p:nvSpPr>
        <p:spPr>
          <a:xfrm>
            <a:off x="4572000" y="3154680"/>
            <a:ext cx="1600200" cy="54864"/>
          </a:xfrm>
          <a:prstGeom prst="rect">
            <a:avLst/>
          </a:prstGeom>
          <a:solidFill>
            <a:srgbClr val="0EA5E9"/>
          </a:solidFill>
          <a:ln w="12700">
            <a:solidFill>
              <a:srgbClr val="0EA5E9"/>
            </a:solidFill>
            <a:prstDash val="solid"/>
          </a:ln>
        </p:spPr>
      </p:sp>
      <p:sp>
        <p:nvSpPr>
          <p:cNvPr id="39" name="Text 37"/>
          <p:cNvSpPr/>
          <p:nvPr/>
        </p:nvSpPr>
        <p:spPr>
          <a:xfrm>
            <a:off x="4572000" y="3246120"/>
            <a:ext cx="1600200" cy="621792"/>
          </a:xfrm>
          <a:prstGeom prst="rect">
            <a:avLst/>
          </a:prstGeom>
          <a:noFill/>
          <a:ln/>
        </p:spPr>
        <p:txBody>
          <a:bodyPr wrap="square" lIns="0" tIns="0" rIns="0" bIns="0" rtlCol="0" anchor="ctr"/>
          <a:lstStyle/>
          <a:p>
            <a:pPr algn="ctr" indent="0" marL="0">
              <a:buNone/>
            </a:pPr>
            <a:r>
              <a:rPr lang="en-US" sz="1150" dirty="0">
                <a:solidFill>
                  <a:srgbClr val="0EA5E9"/>
                </a:solidFill>
                <a:latin typeface="Calibri" pitchFamily="34" charset="0"/>
                <a:ea typeface="Calibri" pitchFamily="34" charset="-122"/>
                <a:cs typeface="Calibri" pitchFamily="34" charset="-120"/>
              </a:rPr>
              <a:t>📧</a:t>
            </a:r>
            <a:endParaRPr lang="en-US" sz="1150" dirty="0"/>
          </a:p>
          <a:p>
            <a:pPr algn="ctr" indent="0" marL="0">
              <a:buNone/>
            </a:pPr>
            <a:r>
              <a:rPr lang="en-US" sz="1150" dirty="0">
                <a:solidFill>
                  <a:srgbClr val="0EA5E9"/>
                </a:solidFill>
                <a:latin typeface="Calibri" pitchFamily="34" charset="0"/>
                <a:ea typeface="Calibri" pitchFamily="34" charset="-122"/>
                <a:cs typeface="Calibri" pitchFamily="34" charset="-120"/>
              </a:rPr>
              <a:t>Email Service</a:t>
            </a:r>
            <a:endParaRPr lang="en-US" sz="1150" dirty="0"/>
          </a:p>
        </p:txBody>
      </p:sp>
      <p:sp>
        <p:nvSpPr>
          <p:cNvPr id="40" name="Shape 38"/>
          <p:cNvSpPr/>
          <p:nvPr/>
        </p:nvSpPr>
        <p:spPr>
          <a:xfrm>
            <a:off x="6400800" y="3154680"/>
            <a:ext cx="1600200" cy="777240"/>
          </a:xfrm>
          <a:prstGeom prst="rect">
            <a:avLst/>
          </a:prstGeom>
          <a:solidFill>
            <a:srgbClr val="172554"/>
          </a:solidFill>
          <a:ln w="12700">
            <a:solidFill>
              <a:srgbClr val="1E3A5F"/>
            </a:solidFill>
            <a:prstDash val="solid"/>
          </a:ln>
          <a:effectLst>
            <a:outerShdw sx="100000" sy="100000" kx="0" ky="0" algn="bl" rotWithShape="0" blurRad="101600" dist="38100" dir="8100000">
              <a:srgbClr val="000000">
                <a:alpha val="25000"/>
              </a:srgbClr>
            </a:outerShdw>
          </a:effectLst>
        </p:spPr>
      </p:sp>
      <p:sp>
        <p:nvSpPr>
          <p:cNvPr id="41" name="Shape 39"/>
          <p:cNvSpPr/>
          <p:nvPr/>
        </p:nvSpPr>
        <p:spPr>
          <a:xfrm>
            <a:off x="6400800" y="3154680"/>
            <a:ext cx="1600200" cy="54864"/>
          </a:xfrm>
          <a:prstGeom prst="rect">
            <a:avLst/>
          </a:prstGeom>
          <a:solidFill>
            <a:srgbClr val="EF4444"/>
          </a:solidFill>
          <a:ln w="12700">
            <a:solidFill>
              <a:srgbClr val="EF4444"/>
            </a:solidFill>
            <a:prstDash val="solid"/>
          </a:ln>
        </p:spPr>
      </p:sp>
      <p:sp>
        <p:nvSpPr>
          <p:cNvPr id="42" name="Text 40"/>
          <p:cNvSpPr/>
          <p:nvPr/>
        </p:nvSpPr>
        <p:spPr>
          <a:xfrm>
            <a:off x="6400800" y="3246120"/>
            <a:ext cx="1600200" cy="621792"/>
          </a:xfrm>
          <a:prstGeom prst="rect">
            <a:avLst/>
          </a:prstGeom>
          <a:noFill/>
          <a:ln/>
        </p:spPr>
        <p:txBody>
          <a:bodyPr wrap="square" lIns="0" tIns="0" rIns="0" bIns="0" rtlCol="0" anchor="ctr"/>
          <a:lstStyle/>
          <a:p>
            <a:pPr algn="ctr" indent="0" marL="0">
              <a:buNone/>
            </a:pPr>
            <a:r>
              <a:rPr lang="en-US" sz="1150" dirty="0">
                <a:solidFill>
                  <a:srgbClr val="EF4444"/>
                </a:solidFill>
                <a:latin typeface="Calibri" pitchFamily="34" charset="0"/>
                <a:ea typeface="Calibri" pitchFamily="34" charset="-122"/>
                <a:cs typeface="Calibri" pitchFamily="34" charset="-120"/>
              </a:rPr>
              <a:t>📊</a:t>
            </a:r>
            <a:endParaRPr lang="en-US" sz="1150" dirty="0"/>
          </a:p>
          <a:p>
            <a:pPr algn="ctr" indent="0" marL="0">
              <a:buNone/>
            </a:pPr>
            <a:r>
              <a:rPr lang="en-US" sz="1150" dirty="0">
                <a:solidFill>
                  <a:srgbClr val="EF4444"/>
                </a:solidFill>
                <a:latin typeface="Calibri" pitchFamily="34" charset="0"/>
                <a:ea typeface="Calibri" pitchFamily="34" charset="-122"/>
                <a:cs typeface="Calibri" pitchFamily="34" charset="-120"/>
              </a:rPr>
              <a:t>Monitoring</a:t>
            </a:r>
            <a:endParaRPr lang="en-US" sz="1150" dirty="0"/>
          </a:p>
        </p:txBody>
      </p:sp>
      <p:sp>
        <p:nvSpPr>
          <p:cNvPr id="43" name="Text 41"/>
          <p:cNvSpPr/>
          <p:nvPr/>
        </p:nvSpPr>
        <p:spPr>
          <a:xfrm>
            <a:off x="0" y="4005072"/>
            <a:ext cx="9144000" cy="274320"/>
          </a:xfrm>
          <a:prstGeom prst="rect">
            <a:avLst/>
          </a:prstGeom>
          <a:noFill/>
          <a:ln/>
        </p:spPr>
        <p:txBody>
          <a:bodyPr wrap="square" lIns="0" tIns="0" rIns="0" bIns="0" rtlCol="0" anchor="ctr"/>
          <a:lstStyle/>
          <a:p>
            <a:pPr algn="ctr" indent="0" marL="0">
              <a:buNone/>
            </a:pPr>
            <a:r>
              <a:rPr lang="en-US" sz="1200" dirty="0">
                <a:solidFill>
                  <a:srgbClr val="94A3B8"/>
                </a:solidFill>
                <a:latin typeface="Calibri" pitchFamily="34" charset="0"/>
                <a:ea typeface="Calibri" pitchFamily="34" charset="-122"/>
                <a:cs typeface="Calibri" pitchFamily="34" charset="-120"/>
              </a:rPr>
              <a:t>Supporting Services Layer</a:t>
            </a:r>
            <a:endParaRPr lang="en-US" sz="1200" dirty="0"/>
          </a:p>
        </p:txBody>
      </p:sp>
      <p:sp>
        <p:nvSpPr>
          <p:cNvPr id="44" name="Text 42"/>
          <p:cNvSpPr/>
          <p:nvPr/>
        </p:nvSpPr>
        <p:spPr>
          <a:xfrm>
            <a:off x="2468880" y="1207008"/>
            <a:ext cx="1828800" cy="182880"/>
          </a:xfrm>
          <a:prstGeom prst="rect">
            <a:avLst/>
          </a:prstGeom>
          <a:noFill/>
          <a:ln/>
        </p:spPr>
        <p:txBody>
          <a:bodyPr wrap="square" lIns="0" tIns="0" rIns="0" bIns="0" rtlCol="0" anchor="ctr"/>
          <a:lstStyle/>
          <a:p>
            <a:pPr algn="ctr" indent="0" marL="0">
              <a:buNone/>
            </a:pPr>
            <a:r>
              <a:rPr lang="en-US" sz="1000" dirty="0">
                <a:solidFill>
                  <a:srgbClr val="94A3B8"/>
                </a:solidFill>
                <a:latin typeface="Calibri" pitchFamily="34" charset="0"/>
                <a:ea typeface="Calibri" pitchFamily="34" charset="-122"/>
                <a:cs typeface="Calibri" pitchFamily="34" charset="-120"/>
              </a:rPr>
              <a:t>INTERNET</a:t>
            </a:r>
            <a:endParaRPr lang="en-US" sz="1000" dirty="0"/>
          </a:p>
        </p:txBody>
      </p:sp>
      <p:sp>
        <p:nvSpPr>
          <p:cNvPr id="45" name="Text 43"/>
          <p:cNvSpPr/>
          <p:nvPr/>
        </p:nvSpPr>
        <p:spPr>
          <a:xfrm>
            <a:off x="4206240" y="1207008"/>
            <a:ext cx="3840480" cy="182880"/>
          </a:xfrm>
          <a:prstGeom prst="rect">
            <a:avLst/>
          </a:prstGeom>
          <a:noFill/>
          <a:ln/>
        </p:spPr>
        <p:txBody>
          <a:bodyPr wrap="square" lIns="0" tIns="0" rIns="0" bIns="0" rtlCol="0" anchor="ctr"/>
          <a:lstStyle/>
          <a:p>
            <a:pPr algn="ctr" indent="0" marL="0">
              <a:buNone/>
            </a:pPr>
            <a:r>
              <a:rPr lang="en-US" sz="1000" dirty="0">
                <a:solidFill>
                  <a:srgbClr val="94A3B8"/>
                </a:solidFill>
                <a:latin typeface="Calibri" pitchFamily="34" charset="0"/>
                <a:ea typeface="Calibri" pitchFamily="34" charset="-122"/>
                <a:cs typeface="Calibri" pitchFamily="34" charset="-120"/>
              </a:rPr>
              <a:t>SERVER ZONE</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D1B2A"/>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D4FF"/>
          </a:solidFill>
          <a:ln w="12700">
            <a:solidFill>
              <a:srgbClr val="00D4FF"/>
            </a:solidFill>
            <a:prstDash val="solid"/>
          </a:ln>
        </p:spPr>
      </p:sp>
      <p:sp>
        <p:nvSpPr>
          <p:cNvPr id="3" name="Text 1"/>
          <p:cNvSpPr/>
          <p:nvPr/>
        </p:nvSpPr>
        <p:spPr>
          <a:xfrm>
            <a:off x="457200" y="137160"/>
            <a:ext cx="8229600" cy="640080"/>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End-to-End Request Flow</a:t>
            </a:r>
            <a:endParaRPr lang="en-US" sz="3200" dirty="0"/>
          </a:p>
        </p:txBody>
      </p:sp>
      <p:sp>
        <p:nvSpPr>
          <p:cNvPr id="4" name="Text 2"/>
          <p:cNvSpPr/>
          <p:nvPr/>
        </p:nvSpPr>
        <p:spPr>
          <a:xfrm>
            <a:off x="457200" y="749808"/>
            <a:ext cx="8229600" cy="320040"/>
          </a:xfrm>
          <a:prstGeom prst="rect">
            <a:avLst/>
          </a:prstGeom>
          <a:noFill/>
          <a:ln/>
        </p:spPr>
        <p:txBody>
          <a:bodyPr wrap="square" lIns="0" tIns="0" rIns="0" bIns="0" rtlCol="0" anchor="ctr"/>
          <a:lstStyle/>
          <a:p>
            <a:pPr indent="0" marL="0">
              <a:buNone/>
            </a:pPr>
            <a:r>
              <a:rPr lang="en-US" sz="1400" i="1" dirty="0">
                <a:solidFill>
                  <a:srgbClr val="00D4FF"/>
                </a:solidFill>
                <a:latin typeface="Calibri" pitchFamily="34" charset="0"/>
                <a:ea typeface="Calibri" pitchFamily="34" charset="-122"/>
                <a:cs typeface="Calibri" pitchFamily="34" charset="-120"/>
              </a:rPr>
              <a:t>Section 07 · From URL to Your Screen</a:t>
            </a:r>
            <a:endParaRPr lang="en-US" sz="1400" dirty="0"/>
          </a:p>
        </p:txBody>
      </p:sp>
      <p:sp>
        <p:nvSpPr>
          <p:cNvPr id="5" name="Shape 3"/>
          <p:cNvSpPr/>
          <p:nvPr/>
        </p:nvSpPr>
        <p:spPr>
          <a:xfrm>
            <a:off x="274320" y="1261872"/>
            <a:ext cx="4206240" cy="758952"/>
          </a:xfrm>
          <a:prstGeom prst="rect">
            <a:avLst/>
          </a:prstGeom>
          <a:solidFill>
            <a:srgbClr val="1E3A5F"/>
          </a:solidFill>
          <a:ln w="12700">
            <a:solidFill>
              <a:srgbClr val="1E3A5F"/>
            </a:solidFill>
            <a:prstDash val="solid"/>
          </a:ln>
          <a:effectLst>
            <a:outerShdw sx="100000" sy="100000" kx="0" ky="0" algn="bl" rotWithShape="0" blurRad="101600" dist="38100" dir="8100000">
              <a:srgbClr val="000000">
                <a:alpha val="25000"/>
              </a:srgbClr>
            </a:outerShdw>
          </a:effectLst>
        </p:spPr>
      </p:sp>
      <p:sp>
        <p:nvSpPr>
          <p:cNvPr id="6" name="Shape 4"/>
          <p:cNvSpPr/>
          <p:nvPr/>
        </p:nvSpPr>
        <p:spPr>
          <a:xfrm>
            <a:off x="274320" y="1261872"/>
            <a:ext cx="502920" cy="758952"/>
          </a:xfrm>
          <a:prstGeom prst="rect">
            <a:avLst/>
          </a:prstGeom>
          <a:solidFill>
            <a:srgbClr val="0EA5E9"/>
          </a:solidFill>
          <a:ln w="12700">
            <a:solidFill>
              <a:srgbClr val="0EA5E9"/>
            </a:solidFill>
            <a:prstDash val="solid"/>
          </a:ln>
        </p:spPr>
      </p:sp>
      <p:sp>
        <p:nvSpPr>
          <p:cNvPr id="7" name="Text 5"/>
          <p:cNvSpPr/>
          <p:nvPr/>
        </p:nvSpPr>
        <p:spPr>
          <a:xfrm>
            <a:off x="274320" y="1261872"/>
            <a:ext cx="502920" cy="758952"/>
          </a:xfrm>
          <a:prstGeom prst="rect">
            <a:avLst/>
          </a:prstGeom>
          <a:noFill/>
          <a:ln/>
        </p:spPr>
        <p:txBody>
          <a:bodyPr wrap="square" lIns="0" tIns="0" rIns="0" bIns="0" rtlCol="0" anchor="ctr"/>
          <a:lstStyle/>
          <a:p>
            <a:pPr algn="ctr" indent="0" marL="0">
              <a:buNone/>
            </a:pPr>
            <a:r>
              <a:rPr lang="en-US" sz="1800" b="1" dirty="0">
                <a:solidFill>
                  <a:srgbClr val="0D1B2A"/>
                </a:solidFill>
                <a:latin typeface="Calibri" pitchFamily="34" charset="0"/>
                <a:ea typeface="Calibri" pitchFamily="34" charset="-122"/>
                <a:cs typeface="Calibri" pitchFamily="34" charset="-120"/>
              </a:rPr>
              <a:t>1</a:t>
            </a:r>
            <a:endParaRPr lang="en-US" sz="1800" dirty="0"/>
          </a:p>
        </p:txBody>
      </p:sp>
      <p:sp>
        <p:nvSpPr>
          <p:cNvPr id="8" name="Text 6"/>
          <p:cNvSpPr/>
          <p:nvPr/>
        </p:nvSpPr>
        <p:spPr>
          <a:xfrm>
            <a:off x="868680" y="1325880"/>
            <a:ext cx="3520440" cy="320040"/>
          </a:xfrm>
          <a:prstGeom prst="rect">
            <a:avLst/>
          </a:prstGeom>
          <a:noFill/>
          <a:ln/>
        </p:spPr>
        <p:txBody>
          <a:bodyPr wrap="square" lIns="0" tIns="0" rIns="0" bIns="0" rtlCol="0" anchor="ctr"/>
          <a:lstStyle/>
          <a:p>
            <a:pPr indent="0" marL="0">
              <a:buNone/>
            </a:pPr>
            <a:r>
              <a:rPr lang="en-US" sz="1350" b="1" dirty="0">
                <a:solidFill>
                  <a:srgbClr val="0EA5E9"/>
                </a:solidFill>
                <a:latin typeface="Calibri" pitchFamily="34" charset="0"/>
                <a:ea typeface="Calibri" pitchFamily="34" charset="-122"/>
                <a:cs typeface="Calibri" pitchFamily="34" charset="-120"/>
              </a:rPr>
              <a:t>User types URL</a:t>
            </a:r>
            <a:endParaRPr lang="en-US" sz="1350" dirty="0"/>
          </a:p>
        </p:txBody>
      </p:sp>
      <p:sp>
        <p:nvSpPr>
          <p:cNvPr id="9" name="Text 7"/>
          <p:cNvSpPr/>
          <p:nvPr/>
        </p:nvSpPr>
        <p:spPr>
          <a:xfrm>
            <a:off x="868680" y="1645920"/>
            <a:ext cx="3520440" cy="274320"/>
          </a:xfrm>
          <a:prstGeom prst="rect">
            <a:avLst/>
          </a:prstGeom>
          <a:noFill/>
          <a:ln/>
        </p:spPr>
        <p:txBody>
          <a:bodyPr wrap="square" lIns="0" tIns="0" rIns="0" bIns="0" rtlCol="0" anchor="ctr"/>
          <a:lstStyle/>
          <a:p>
            <a:pPr indent="0" marL="0">
              <a:buNone/>
            </a:pPr>
            <a:r>
              <a:rPr lang="en-US" sz="1200" dirty="0">
                <a:solidFill>
                  <a:srgbClr val="94A3B8"/>
                </a:solidFill>
                <a:latin typeface="Calibri" pitchFamily="34" charset="0"/>
                <a:ea typeface="Calibri" pitchFamily="34" charset="-122"/>
                <a:cs typeface="Calibri" pitchFamily="34" charset="-120"/>
              </a:rPr>
              <a:t>amazon.com/products</a:t>
            </a:r>
            <a:endParaRPr lang="en-US" sz="1200" dirty="0"/>
          </a:p>
        </p:txBody>
      </p:sp>
      <p:sp>
        <p:nvSpPr>
          <p:cNvPr id="10" name="Shape 8"/>
          <p:cNvSpPr/>
          <p:nvPr/>
        </p:nvSpPr>
        <p:spPr>
          <a:xfrm>
            <a:off x="502920" y="2048256"/>
            <a:ext cx="0" cy="91440"/>
          </a:xfrm>
          <a:prstGeom prst="line">
            <a:avLst/>
          </a:prstGeom>
          <a:noFill/>
          <a:ln w="19050">
            <a:solidFill>
              <a:srgbClr val="0EA5E9"/>
            </a:solidFill>
            <a:prstDash val="solid"/>
          </a:ln>
        </p:spPr>
      </p:sp>
      <p:sp>
        <p:nvSpPr>
          <p:cNvPr id="11" name="Shape 9"/>
          <p:cNvSpPr/>
          <p:nvPr/>
        </p:nvSpPr>
        <p:spPr>
          <a:xfrm>
            <a:off x="4709160" y="1261872"/>
            <a:ext cx="4206240" cy="758952"/>
          </a:xfrm>
          <a:prstGeom prst="rect">
            <a:avLst/>
          </a:prstGeom>
          <a:solidFill>
            <a:srgbClr val="1E3A5F"/>
          </a:solidFill>
          <a:ln w="12700">
            <a:solidFill>
              <a:srgbClr val="1E3A5F"/>
            </a:solidFill>
            <a:prstDash val="solid"/>
          </a:ln>
          <a:effectLst>
            <a:outerShdw sx="100000" sy="100000" kx="0" ky="0" algn="bl" rotWithShape="0" blurRad="101600" dist="38100" dir="8100000">
              <a:srgbClr val="000000">
                <a:alpha val="25000"/>
              </a:srgbClr>
            </a:outerShdw>
          </a:effectLst>
        </p:spPr>
      </p:sp>
      <p:sp>
        <p:nvSpPr>
          <p:cNvPr id="12" name="Shape 10"/>
          <p:cNvSpPr/>
          <p:nvPr/>
        </p:nvSpPr>
        <p:spPr>
          <a:xfrm>
            <a:off x="4709160" y="1261872"/>
            <a:ext cx="502920" cy="758952"/>
          </a:xfrm>
          <a:prstGeom prst="rect">
            <a:avLst/>
          </a:prstGeom>
          <a:solidFill>
            <a:srgbClr val="00D4FF"/>
          </a:solidFill>
          <a:ln w="12700">
            <a:solidFill>
              <a:srgbClr val="00D4FF"/>
            </a:solidFill>
            <a:prstDash val="solid"/>
          </a:ln>
        </p:spPr>
      </p:sp>
      <p:sp>
        <p:nvSpPr>
          <p:cNvPr id="13" name="Text 11"/>
          <p:cNvSpPr/>
          <p:nvPr/>
        </p:nvSpPr>
        <p:spPr>
          <a:xfrm>
            <a:off x="4709160" y="1261872"/>
            <a:ext cx="502920" cy="758952"/>
          </a:xfrm>
          <a:prstGeom prst="rect">
            <a:avLst/>
          </a:prstGeom>
          <a:noFill/>
          <a:ln/>
        </p:spPr>
        <p:txBody>
          <a:bodyPr wrap="square" lIns="0" tIns="0" rIns="0" bIns="0" rtlCol="0" anchor="ctr"/>
          <a:lstStyle/>
          <a:p>
            <a:pPr algn="ctr" indent="0" marL="0">
              <a:buNone/>
            </a:pPr>
            <a:r>
              <a:rPr lang="en-US" sz="1800" b="1" dirty="0">
                <a:solidFill>
                  <a:srgbClr val="0D1B2A"/>
                </a:solidFill>
                <a:latin typeface="Calibri" pitchFamily="34" charset="0"/>
                <a:ea typeface="Calibri" pitchFamily="34" charset="-122"/>
                <a:cs typeface="Calibri" pitchFamily="34" charset="-120"/>
              </a:rPr>
              <a:t>2</a:t>
            </a:r>
            <a:endParaRPr lang="en-US" sz="1800" dirty="0"/>
          </a:p>
        </p:txBody>
      </p:sp>
      <p:sp>
        <p:nvSpPr>
          <p:cNvPr id="14" name="Text 12"/>
          <p:cNvSpPr/>
          <p:nvPr/>
        </p:nvSpPr>
        <p:spPr>
          <a:xfrm>
            <a:off x="5303520" y="1325880"/>
            <a:ext cx="3520440" cy="320040"/>
          </a:xfrm>
          <a:prstGeom prst="rect">
            <a:avLst/>
          </a:prstGeom>
          <a:noFill/>
          <a:ln/>
        </p:spPr>
        <p:txBody>
          <a:bodyPr wrap="square" lIns="0" tIns="0" rIns="0" bIns="0" rtlCol="0" anchor="ctr"/>
          <a:lstStyle/>
          <a:p>
            <a:pPr indent="0" marL="0">
              <a:buNone/>
            </a:pPr>
            <a:r>
              <a:rPr lang="en-US" sz="1350" b="1" dirty="0">
                <a:solidFill>
                  <a:srgbClr val="00D4FF"/>
                </a:solidFill>
                <a:latin typeface="Calibri" pitchFamily="34" charset="0"/>
                <a:ea typeface="Calibri" pitchFamily="34" charset="-122"/>
                <a:cs typeface="Calibri" pitchFamily="34" charset="-120"/>
              </a:rPr>
              <a:t>DNS Lookup</a:t>
            </a:r>
            <a:endParaRPr lang="en-US" sz="1350" dirty="0"/>
          </a:p>
        </p:txBody>
      </p:sp>
      <p:sp>
        <p:nvSpPr>
          <p:cNvPr id="15" name="Text 13"/>
          <p:cNvSpPr/>
          <p:nvPr/>
        </p:nvSpPr>
        <p:spPr>
          <a:xfrm>
            <a:off x="5303520" y="1645920"/>
            <a:ext cx="3520440" cy="274320"/>
          </a:xfrm>
          <a:prstGeom prst="rect">
            <a:avLst/>
          </a:prstGeom>
          <a:noFill/>
          <a:ln/>
        </p:spPr>
        <p:txBody>
          <a:bodyPr wrap="square" lIns="0" tIns="0" rIns="0" bIns="0" rtlCol="0" anchor="ctr"/>
          <a:lstStyle/>
          <a:p>
            <a:pPr indent="0" marL="0">
              <a:buNone/>
            </a:pPr>
            <a:r>
              <a:rPr lang="en-US" sz="1200" dirty="0">
                <a:solidFill>
                  <a:srgbClr val="94A3B8"/>
                </a:solidFill>
                <a:latin typeface="Calibri" pitchFamily="34" charset="0"/>
                <a:ea typeface="Calibri" pitchFamily="34" charset="-122"/>
                <a:cs typeface="Calibri" pitchFamily="34" charset="-120"/>
              </a:rPr>
              <a:t>Resolves to 13.35.x.x</a:t>
            </a:r>
            <a:endParaRPr lang="en-US" sz="1200" dirty="0"/>
          </a:p>
        </p:txBody>
      </p:sp>
      <p:sp>
        <p:nvSpPr>
          <p:cNvPr id="16" name="Shape 14"/>
          <p:cNvSpPr/>
          <p:nvPr/>
        </p:nvSpPr>
        <p:spPr>
          <a:xfrm>
            <a:off x="274320" y="2157984"/>
            <a:ext cx="4206240" cy="758952"/>
          </a:xfrm>
          <a:prstGeom prst="rect">
            <a:avLst/>
          </a:prstGeom>
          <a:solidFill>
            <a:srgbClr val="1E3A5F"/>
          </a:solidFill>
          <a:ln w="12700">
            <a:solidFill>
              <a:srgbClr val="1E3A5F"/>
            </a:solidFill>
            <a:prstDash val="solid"/>
          </a:ln>
          <a:effectLst>
            <a:outerShdw sx="100000" sy="100000" kx="0" ky="0" algn="bl" rotWithShape="0" blurRad="101600" dist="38100" dir="8100000">
              <a:srgbClr val="000000">
                <a:alpha val="25000"/>
              </a:srgbClr>
            </a:outerShdw>
          </a:effectLst>
        </p:spPr>
      </p:sp>
      <p:sp>
        <p:nvSpPr>
          <p:cNvPr id="17" name="Shape 15"/>
          <p:cNvSpPr/>
          <p:nvPr/>
        </p:nvSpPr>
        <p:spPr>
          <a:xfrm>
            <a:off x="274320" y="2157984"/>
            <a:ext cx="502920" cy="758952"/>
          </a:xfrm>
          <a:prstGeom prst="rect">
            <a:avLst/>
          </a:prstGeom>
          <a:solidFill>
            <a:srgbClr val="7C3AED"/>
          </a:solidFill>
          <a:ln w="12700">
            <a:solidFill>
              <a:srgbClr val="7C3AED"/>
            </a:solidFill>
            <a:prstDash val="solid"/>
          </a:ln>
        </p:spPr>
      </p:sp>
      <p:sp>
        <p:nvSpPr>
          <p:cNvPr id="18" name="Text 16"/>
          <p:cNvSpPr/>
          <p:nvPr/>
        </p:nvSpPr>
        <p:spPr>
          <a:xfrm>
            <a:off x="274320" y="2157984"/>
            <a:ext cx="502920" cy="758952"/>
          </a:xfrm>
          <a:prstGeom prst="rect">
            <a:avLst/>
          </a:prstGeom>
          <a:noFill/>
          <a:ln/>
        </p:spPr>
        <p:txBody>
          <a:bodyPr wrap="square" lIns="0" tIns="0" rIns="0" bIns="0" rtlCol="0" anchor="ctr"/>
          <a:lstStyle/>
          <a:p>
            <a:pPr algn="ctr" indent="0" marL="0">
              <a:buNone/>
            </a:pPr>
            <a:r>
              <a:rPr lang="en-US" sz="1800" b="1" dirty="0">
                <a:solidFill>
                  <a:srgbClr val="0D1B2A"/>
                </a:solidFill>
                <a:latin typeface="Calibri" pitchFamily="34" charset="0"/>
                <a:ea typeface="Calibri" pitchFamily="34" charset="-122"/>
                <a:cs typeface="Calibri" pitchFamily="34" charset="-120"/>
              </a:rPr>
              <a:t>3</a:t>
            </a:r>
            <a:endParaRPr lang="en-US" sz="1800" dirty="0"/>
          </a:p>
        </p:txBody>
      </p:sp>
      <p:sp>
        <p:nvSpPr>
          <p:cNvPr id="19" name="Text 17"/>
          <p:cNvSpPr/>
          <p:nvPr/>
        </p:nvSpPr>
        <p:spPr>
          <a:xfrm>
            <a:off x="868680" y="2221992"/>
            <a:ext cx="3520440" cy="320040"/>
          </a:xfrm>
          <a:prstGeom prst="rect">
            <a:avLst/>
          </a:prstGeom>
          <a:noFill/>
          <a:ln/>
        </p:spPr>
        <p:txBody>
          <a:bodyPr wrap="square" lIns="0" tIns="0" rIns="0" bIns="0" rtlCol="0" anchor="ctr"/>
          <a:lstStyle/>
          <a:p>
            <a:pPr indent="0" marL="0">
              <a:buNone/>
            </a:pPr>
            <a:r>
              <a:rPr lang="en-US" sz="1350" b="1" dirty="0">
                <a:solidFill>
                  <a:srgbClr val="7C3AED"/>
                </a:solidFill>
                <a:latin typeface="Calibri" pitchFamily="34" charset="0"/>
                <a:ea typeface="Calibri" pitchFamily="34" charset="-122"/>
                <a:cs typeface="Calibri" pitchFamily="34" charset="-120"/>
              </a:rPr>
              <a:t>HTTP Request Sent</a:t>
            </a:r>
            <a:endParaRPr lang="en-US" sz="1350" dirty="0"/>
          </a:p>
        </p:txBody>
      </p:sp>
      <p:sp>
        <p:nvSpPr>
          <p:cNvPr id="20" name="Text 18"/>
          <p:cNvSpPr/>
          <p:nvPr/>
        </p:nvSpPr>
        <p:spPr>
          <a:xfrm>
            <a:off x="868680" y="2542032"/>
            <a:ext cx="3520440" cy="274320"/>
          </a:xfrm>
          <a:prstGeom prst="rect">
            <a:avLst/>
          </a:prstGeom>
          <a:noFill/>
          <a:ln/>
        </p:spPr>
        <p:txBody>
          <a:bodyPr wrap="square" lIns="0" tIns="0" rIns="0" bIns="0" rtlCol="0" anchor="ctr"/>
          <a:lstStyle/>
          <a:p>
            <a:pPr indent="0" marL="0">
              <a:buNone/>
            </a:pPr>
            <a:r>
              <a:rPr lang="en-US" sz="1200" dirty="0">
                <a:solidFill>
                  <a:srgbClr val="94A3B8"/>
                </a:solidFill>
                <a:latin typeface="Calibri" pitchFamily="34" charset="0"/>
                <a:ea typeface="Calibri" pitchFamily="34" charset="-122"/>
                <a:cs typeface="Calibri" pitchFamily="34" charset="-120"/>
              </a:rPr>
              <a:t>GET /products HTTP/1.1</a:t>
            </a:r>
            <a:endParaRPr lang="en-US" sz="1200" dirty="0"/>
          </a:p>
        </p:txBody>
      </p:sp>
      <p:sp>
        <p:nvSpPr>
          <p:cNvPr id="21" name="Shape 19"/>
          <p:cNvSpPr/>
          <p:nvPr/>
        </p:nvSpPr>
        <p:spPr>
          <a:xfrm>
            <a:off x="502920" y="2944368"/>
            <a:ext cx="0" cy="91440"/>
          </a:xfrm>
          <a:prstGeom prst="line">
            <a:avLst/>
          </a:prstGeom>
          <a:noFill/>
          <a:ln w="19050">
            <a:solidFill>
              <a:srgbClr val="7C3AED"/>
            </a:solidFill>
            <a:prstDash val="solid"/>
          </a:ln>
        </p:spPr>
      </p:sp>
      <p:sp>
        <p:nvSpPr>
          <p:cNvPr id="22" name="Shape 20"/>
          <p:cNvSpPr/>
          <p:nvPr/>
        </p:nvSpPr>
        <p:spPr>
          <a:xfrm>
            <a:off x="4709160" y="2157984"/>
            <a:ext cx="4206240" cy="758952"/>
          </a:xfrm>
          <a:prstGeom prst="rect">
            <a:avLst/>
          </a:prstGeom>
          <a:solidFill>
            <a:srgbClr val="1E3A5F"/>
          </a:solidFill>
          <a:ln w="12700">
            <a:solidFill>
              <a:srgbClr val="1E3A5F"/>
            </a:solidFill>
            <a:prstDash val="solid"/>
          </a:ln>
          <a:effectLst>
            <a:outerShdw sx="100000" sy="100000" kx="0" ky="0" algn="bl" rotWithShape="0" blurRad="101600" dist="38100" dir="8100000">
              <a:srgbClr val="000000">
                <a:alpha val="25000"/>
              </a:srgbClr>
            </a:outerShdw>
          </a:effectLst>
        </p:spPr>
      </p:sp>
      <p:sp>
        <p:nvSpPr>
          <p:cNvPr id="23" name="Shape 21"/>
          <p:cNvSpPr/>
          <p:nvPr/>
        </p:nvSpPr>
        <p:spPr>
          <a:xfrm>
            <a:off x="4709160" y="2157984"/>
            <a:ext cx="502920" cy="758952"/>
          </a:xfrm>
          <a:prstGeom prst="rect">
            <a:avLst/>
          </a:prstGeom>
          <a:solidFill>
            <a:srgbClr val="F59E0B"/>
          </a:solidFill>
          <a:ln w="12700">
            <a:solidFill>
              <a:srgbClr val="F59E0B"/>
            </a:solidFill>
            <a:prstDash val="solid"/>
          </a:ln>
        </p:spPr>
      </p:sp>
      <p:sp>
        <p:nvSpPr>
          <p:cNvPr id="24" name="Text 22"/>
          <p:cNvSpPr/>
          <p:nvPr/>
        </p:nvSpPr>
        <p:spPr>
          <a:xfrm>
            <a:off x="4709160" y="2157984"/>
            <a:ext cx="502920" cy="758952"/>
          </a:xfrm>
          <a:prstGeom prst="rect">
            <a:avLst/>
          </a:prstGeom>
          <a:noFill/>
          <a:ln/>
        </p:spPr>
        <p:txBody>
          <a:bodyPr wrap="square" lIns="0" tIns="0" rIns="0" bIns="0" rtlCol="0" anchor="ctr"/>
          <a:lstStyle/>
          <a:p>
            <a:pPr algn="ctr" indent="0" marL="0">
              <a:buNone/>
            </a:pPr>
            <a:r>
              <a:rPr lang="en-US" sz="1800" b="1" dirty="0">
                <a:solidFill>
                  <a:srgbClr val="0D1B2A"/>
                </a:solidFill>
                <a:latin typeface="Calibri" pitchFamily="34" charset="0"/>
                <a:ea typeface="Calibri" pitchFamily="34" charset="-122"/>
                <a:cs typeface="Calibri" pitchFamily="34" charset="-120"/>
              </a:rPr>
              <a:t>4</a:t>
            </a:r>
            <a:endParaRPr lang="en-US" sz="1800" dirty="0"/>
          </a:p>
        </p:txBody>
      </p:sp>
      <p:sp>
        <p:nvSpPr>
          <p:cNvPr id="25" name="Text 23"/>
          <p:cNvSpPr/>
          <p:nvPr/>
        </p:nvSpPr>
        <p:spPr>
          <a:xfrm>
            <a:off x="5303520" y="2221992"/>
            <a:ext cx="3520440" cy="320040"/>
          </a:xfrm>
          <a:prstGeom prst="rect">
            <a:avLst/>
          </a:prstGeom>
          <a:noFill/>
          <a:ln/>
        </p:spPr>
        <p:txBody>
          <a:bodyPr wrap="square" lIns="0" tIns="0" rIns="0" bIns="0" rtlCol="0" anchor="ctr"/>
          <a:lstStyle/>
          <a:p>
            <a:pPr indent="0" marL="0">
              <a:buNone/>
            </a:pPr>
            <a:r>
              <a:rPr lang="en-US" sz="1350" b="1" dirty="0">
                <a:solidFill>
                  <a:srgbClr val="F59E0B"/>
                </a:solidFill>
                <a:latin typeface="Calibri" pitchFamily="34" charset="0"/>
                <a:ea typeface="Calibri" pitchFamily="34" charset="-122"/>
                <a:cs typeface="Calibri" pitchFamily="34" charset="-120"/>
              </a:rPr>
              <a:t>Load Balancer Routes</a:t>
            </a:r>
            <a:endParaRPr lang="en-US" sz="1350" dirty="0"/>
          </a:p>
        </p:txBody>
      </p:sp>
      <p:sp>
        <p:nvSpPr>
          <p:cNvPr id="26" name="Text 24"/>
          <p:cNvSpPr/>
          <p:nvPr/>
        </p:nvSpPr>
        <p:spPr>
          <a:xfrm>
            <a:off x="5303520" y="2542032"/>
            <a:ext cx="3520440" cy="274320"/>
          </a:xfrm>
          <a:prstGeom prst="rect">
            <a:avLst/>
          </a:prstGeom>
          <a:noFill/>
          <a:ln/>
        </p:spPr>
        <p:txBody>
          <a:bodyPr wrap="square" lIns="0" tIns="0" rIns="0" bIns="0" rtlCol="0" anchor="ctr"/>
          <a:lstStyle/>
          <a:p>
            <a:pPr indent="0" marL="0">
              <a:buNone/>
            </a:pPr>
            <a:r>
              <a:rPr lang="en-US" sz="1200" dirty="0">
                <a:solidFill>
                  <a:srgbClr val="94A3B8"/>
                </a:solidFill>
                <a:latin typeface="Calibri" pitchFamily="34" charset="0"/>
                <a:ea typeface="Calibri" pitchFamily="34" charset="-122"/>
                <a:cs typeface="Calibri" pitchFamily="34" charset="-120"/>
              </a:rPr>
              <a:t>Picks least loaded server</a:t>
            </a:r>
            <a:endParaRPr lang="en-US" sz="1200" dirty="0"/>
          </a:p>
        </p:txBody>
      </p:sp>
      <p:sp>
        <p:nvSpPr>
          <p:cNvPr id="27" name="Shape 25"/>
          <p:cNvSpPr/>
          <p:nvPr/>
        </p:nvSpPr>
        <p:spPr>
          <a:xfrm>
            <a:off x="274320" y="3054096"/>
            <a:ext cx="4206240" cy="758952"/>
          </a:xfrm>
          <a:prstGeom prst="rect">
            <a:avLst/>
          </a:prstGeom>
          <a:solidFill>
            <a:srgbClr val="1E3A5F"/>
          </a:solidFill>
          <a:ln w="12700">
            <a:solidFill>
              <a:srgbClr val="1E3A5F"/>
            </a:solidFill>
            <a:prstDash val="solid"/>
          </a:ln>
          <a:effectLst>
            <a:outerShdw sx="100000" sy="100000" kx="0" ky="0" algn="bl" rotWithShape="0" blurRad="101600" dist="38100" dir="8100000">
              <a:srgbClr val="000000">
                <a:alpha val="25000"/>
              </a:srgbClr>
            </a:outerShdw>
          </a:effectLst>
        </p:spPr>
      </p:sp>
      <p:sp>
        <p:nvSpPr>
          <p:cNvPr id="28" name="Shape 26"/>
          <p:cNvSpPr/>
          <p:nvPr/>
        </p:nvSpPr>
        <p:spPr>
          <a:xfrm>
            <a:off x="274320" y="3054096"/>
            <a:ext cx="502920" cy="758952"/>
          </a:xfrm>
          <a:prstGeom prst="rect">
            <a:avLst/>
          </a:prstGeom>
          <a:solidFill>
            <a:srgbClr val="10B981"/>
          </a:solidFill>
          <a:ln w="12700">
            <a:solidFill>
              <a:srgbClr val="10B981"/>
            </a:solidFill>
            <a:prstDash val="solid"/>
          </a:ln>
        </p:spPr>
      </p:sp>
      <p:sp>
        <p:nvSpPr>
          <p:cNvPr id="29" name="Text 27"/>
          <p:cNvSpPr/>
          <p:nvPr/>
        </p:nvSpPr>
        <p:spPr>
          <a:xfrm>
            <a:off x="274320" y="3054096"/>
            <a:ext cx="502920" cy="758952"/>
          </a:xfrm>
          <a:prstGeom prst="rect">
            <a:avLst/>
          </a:prstGeom>
          <a:noFill/>
          <a:ln/>
        </p:spPr>
        <p:txBody>
          <a:bodyPr wrap="square" lIns="0" tIns="0" rIns="0" bIns="0" rtlCol="0" anchor="ctr"/>
          <a:lstStyle/>
          <a:p>
            <a:pPr algn="ctr" indent="0" marL="0">
              <a:buNone/>
            </a:pPr>
            <a:r>
              <a:rPr lang="en-US" sz="1800" b="1" dirty="0">
                <a:solidFill>
                  <a:srgbClr val="0D1B2A"/>
                </a:solidFill>
                <a:latin typeface="Calibri" pitchFamily="34" charset="0"/>
                <a:ea typeface="Calibri" pitchFamily="34" charset="-122"/>
                <a:cs typeface="Calibri" pitchFamily="34" charset="-120"/>
              </a:rPr>
              <a:t>5</a:t>
            </a:r>
            <a:endParaRPr lang="en-US" sz="1800" dirty="0"/>
          </a:p>
        </p:txBody>
      </p:sp>
      <p:sp>
        <p:nvSpPr>
          <p:cNvPr id="30" name="Text 28"/>
          <p:cNvSpPr/>
          <p:nvPr/>
        </p:nvSpPr>
        <p:spPr>
          <a:xfrm>
            <a:off x="868680" y="3118104"/>
            <a:ext cx="3520440" cy="320040"/>
          </a:xfrm>
          <a:prstGeom prst="rect">
            <a:avLst/>
          </a:prstGeom>
          <a:noFill/>
          <a:ln/>
        </p:spPr>
        <p:txBody>
          <a:bodyPr wrap="square" lIns="0" tIns="0" rIns="0" bIns="0" rtlCol="0" anchor="ctr"/>
          <a:lstStyle/>
          <a:p>
            <a:pPr indent="0" marL="0">
              <a:buNone/>
            </a:pPr>
            <a:r>
              <a:rPr lang="en-US" sz="1350" b="1" dirty="0">
                <a:solidFill>
                  <a:srgbClr val="10B981"/>
                </a:solidFill>
                <a:latin typeface="Calibri" pitchFamily="34" charset="0"/>
                <a:ea typeface="Calibri" pitchFamily="34" charset="-122"/>
                <a:cs typeface="Calibri" pitchFamily="34" charset="-120"/>
              </a:rPr>
              <a:t>App Server Runs Logic</a:t>
            </a:r>
            <a:endParaRPr lang="en-US" sz="1350" dirty="0"/>
          </a:p>
        </p:txBody>
      </p:sp>
      <p:sp>
        <p:nvSpPr>
          <p:cNvPr id="31" name="Text 29"/>
          <p:cNvSpPr/>
          <p:nvPr/>
        </p:nvSpPr>
        <p:spPr>
          <a:xfrm>
            <a:off x="868680" y="3438144"/>
            <a:ext cx="3520440" cy="274320"/>
          </a:xfrm>
          <a:prstGeom prst="rect">
            <a:avLst/>
          </a:prstGeom>
          <a:noFill/>
          <a:ln/>
        </p:spPr>
        <p:txBody>
          <a:bodyPr wrap="square" lIns="0" tIns="0" rIns="0" bIns="0" rtlCol="0" anchor="ctr"/>
          <a:lstStyle/>
          <a:p>
            <a:pPr indent="0" marL="0">
              <a:buNone/>
            </a:pPr>
            <a:r>
              <a:rPr lang="en-US" sz="1200" dirty="0">
                <a:solidFill>
                  <a:srgbClr val="94A3B8"/>
                </a:solidFill>
                <a:latin typeface="Calibri" pitchFamily="34" charset="0"/>
                <a:ea typeface="Calibri" pitchFamily="34" charset="-122"/>
                <a:cs typeface="Calibri" pitchFamily="34" charset="-120"/>
              </a:rPr>
              <a:t>Validates &amp; processes request</a:t>
            </a:r>
            <a:endParaRPr lang="en-US" sz="1200" dirty="0"/>
          </a:p>
        </p:txBody>
      </p:sp>
      <p:sp>
        <p:nvSpPr>
          <p:cNvPr id="32" name="Shape 30"/>
          <p:cNvSpPr/>
          <p:nvPr/>
        </p:nvSpPr>
        <p:spPr>
          <a:xfrm>
            <a:off x="502920" y="3840480"/>
            <a:ext cx="0" cy="91440"/>
          </a:xfrm>
          <a:prstGeom prst="line">
            <a:avLst/>
          </a:prstGeom>
          <a:noFill/>
          <a:ln w="19050">
            <a:solidFill>
              <a:srgbClr val="10B981"/>
            </a:solidFill>
            <a:prstDash val="solid"/>
          </a:ln>
        </p:spPr>
      </p:sp>
      <p:sp>
        <p:nvSpPr>
          <p:cNvPr id="33" name="Shape 31"/>
          <p:cNvSpPr/>
          <p:nvPr/>
        </p:nvSpPr>
        <p:spPr>
          <a:xfrm>
            <a:off x="4709160" y="3054096"/>
            <a:ext cx="4206240" cy="758952"/>
          </a:xfrm>
          <a:prstGeom prst="rect">
            <a:avLst/>
          </a:prstGeom>
          <a:solidFill>
            <a:srgbClr val="1E3A5F"/>
          </a:solidFill>
          <a:ln w="12700">
            <a:solidFill>
              <a:srgbClr val="1E3A5F"/>
            </a:solidFill>
            <a:prstDash val="solid"/>
          </a:ln>
          <a:effectLst>
            <a:outerShdw sx="100000" sy="100000" kx="0" ky="0" algn="bl" rotWithShape="0" blurRad="101600" dist="38100" dir="8100000">
              <a:srgbClr val="000000">
                <a:alpha val="25000"/>
              </a:srgbClr>
            </a:outerShdw>
          </a:effectLst>
        </p:spPr>
      </p:sp>
      <p:sp>
        <p:nvSpPr>
          <p:cNvPr id="34" name="Shape 32"/>
          <p:cNvSpPr/>
          <p:nvPr/>
        </p:nvSpPr>
        <p:spPr>
          <a:xfrm>
            <a:off x="4709160" y="3054096"/>
            <a:ext cx="502920" cy="758952"/>
          </a:xfrm>
          <a:prstGeom prst="rect">
            <a:avLst/>
          </a:prstGeom>
          <a:solidFill>
            <a:srgbClr val="EF4444"/>
          </a:solidFill>
          <a:ln w="12700">
            <a:solidFill>
              <a:srgbClr val="EF4444"/>
            </a:solidFill>
            <a:prstDash val="solid"/>
          </a:ln>
        </p:spPr>
      </p:sp>
      <p:sp>
        <p:nvSpPr>
          <p:cNvPr id="35" name="Text 33"/>
          <p:cNvSpPr/>
          <p:nvPr/>
        </p:nvSpPr>
        <p:spPr>
          <a:xfrm>
            <a:off x="4709160" y="3054096"/>
            <a:ext cx="502920" cy="758952"/>
          </a:xfrm>
          <a:prstGeom prst="rect">
            <a:avLst/>
          </a:prstGeom>
          <a:noFill/>
          <a:ln/>
        </p:spPr>
        <p:txBody>
          <a:bodyPr wrap="square" lIns="0" tIns="0" rIns="0" bIns="0" rtlCol="0" anchor="ctr"/>
          <a:lstStyle/>
          <a:p>
            <a:pPr algn="ctr" indent="0" marL="0">
              <a:buNone/>
            </a:pPr>
            <a:r>
              <a:rPr lang="en-US" sz="1800" b="1" dirty="0">
                <a:solidFill>
                  <a:srgbClr val="0D1B2A"/>
                </a:solidFill>
                <a:latin typeface="Calibri" pitchFamily="34" charset="0"/>
                <a:ea typeface="Calibri" pitchFamily="34" charset="-122"/>
                <a:cs typeface="Calibri" pitchFamily="34" charset="-120"/>
              </a:rPr>
              <a:t>6</a:t>
            </a:r>
            <a:endParaRPr lang="en-US" sz="1800" dirty="0"/>
          </a:p>
        </p:txBody>
      </p:sp>
      <p:sp>
        <p:nvSpPr>
          <p:cNvPr id="36" name="Text 34"/>
          <p:cNvSpPr/>
          <p:nvPr/>
        </p:nvSpPr>
        <p:spPr>
          <a:xfrm>
            <a:off x="5303520" y="3118104"/>
            <a:ext cx="3520440" cy="320040"/>
          </a:xfrm>
          <a:prstGeom prst="rect">
            <a:avLst/>
          </a:prstGeom>
          <a:noFill/>
          <a:ln/>
        </p:spPr>
        <p:txBody>
          <a:bodyPr wrap="square" lIns="0" tIns="0" rIns="0" bIns="0" rtlCol="0" anchor="ctr"/>
          <a:lstStyle/>
          <a:p>
            <a:pPr indent="0" marL="0">
              <a:buNone/>
            </a:pPr>
            <a:r>
              <a:rPr lang="en-US" sz="1350" b="1" dirty="0">
                <a:solidFill>
                  <a:srgbClr val="EF4444"/>
                </a:solidFill>
                <a:latin typeface="Calibri" pitchFamily="34" charset="0"/>
                <a:ea typeface="Calibri" pitchFamily="34" charset="-122"/>
                <a:cs typeface="Calibri" pitchFamily="34" charset="-120"/>
              </a:rPr>
              <a:t>Database Query</a:t>
            </a:r>
            <a:endParaRPr lang="en-US" sz="1350" dirty="0"/>
          </a:p>
        </p:txBody>
      </p:sp>
      <p:sp>
        <p:nvSpPr>
          <p:cNvPr id="37" name="Text 35"/>
          <p:cNvSpPr/>
          <p:nvPr/>
        </p:nvSpPr>
        <p:spPr>
          <a:xfrm>
            <a:off x="5303520" y="3438144"/>
            <a:ext cx="3520440" cy="274320"/>
          </a:xfrm>
          <a:prstGeom prst="rect">
            <a:avLst/>
          </a:prstGeom>
          <a:noFill/>
          <a:ln/>
        </p:spPr>
        <p:txBody>
          <a:bodyPr wrap="square" lIns="0" tIns="0" rIns="0" bIns="0" rtlCol="0" anchor="ctr"/>
          <a:lstStyle/>
          <a:p>
            <a:pPr indent="0" marL="0">
              <a:buNone/>
            </a:pPr>
            <a:r>
              <a:rPr lang="en-US" sz="1200" dirty="0">
                <a:solidFill>
                  <a:srgbClr val="94A3B8"/>
                </a:solidFill>
                <a:latin typeface="Calibri" pitchFamily="34" charset="0"/>
                <a:ea typeface="Calibri" pitchFamily="34" charset="-122"/>
                <a:cs typeface="Calibri" pitchFamily="34" charset="-120"/>
              </a:rPr>
              <a:t>SELECT * FROM products...</a:t>
            </a:r>
            <a:endParaRPr lang="en-US" sz="1200" dirty="0"/>
          </a:p>
        </p:txBody>
      </p:sp>
      <p:sp>
        <p:nvSpPr>
          <p:cNvPr id="38" name="Shape 36"/>
          <p:cNvSpPr/>
          <p:nvPr/>
        </p:nvSpPr>
        <p:spPr>
          <a:xfrm>
            <a:off x="274320" y="3950208"/>
            <a:ext cx="4206240" cy="758952"/>
          </a:xfrm>
          <a:prstGeom prst="rect">
            <a:avLst/>
          </a:prstGeom>
          <a:solidFill>
            <a:srgbClr val="1E3A5F"/>
          </a:solidFill>
          <a:ln w="12700">
            <a:solidFill>
              <a:srgbClr val="1E3A5F"/>
            </a:solidFill>
            <a:prstDash val="solid"/>
          </a:ln>
          <a:effectLst>
            <a:outerShdw sx="100000" sy="100000" kx="0" ky="0" algn="bl" rotWithShape="0" blurRad="101600" dist="38100" dir="8100000">
              <a:srgbClr val="000000">
                <a:alpha val="25000"/>
              </a:srgbClr>
            </a:outerShdw>
          </a:effectLst>
        </p:spPr>
      </p:sp>
      <p:sp>
        <p:nvSpPr>
          <p:cNvPr id="39" name="Shape 37"/>
          <p:cNvSpPr/>
          <p:nvPr/>
        </p:nvSpPr>
        <p:spPr>
          <a:xfrm>
            <a:off x="274320" y="3950208"/>
            <a:ext cx="502920" cy="758952"/>
          </a:xfrm>
          <a:prstGeom prst="rect">
            <a:avLst/>
          </a:prstGeom>
          <a:solidFill>
            <a:srgbClr val="0EA5E9"/>
          </a:solidFill>
          <a:ln w="12700">
            <a:solidFill>
              <a:srgbClr val="0EA5E9"/>
            </a:solidFill>
            <a:prstDash val="solid"/>
          </a:ln>
        </p:spPr>
      </p:sp>
      <p:sp>
        <p:nvSpPr>
          <p:cNvPr id="40" name="Text 38"/>
          <p:cNvSpPr/>
          <p:nvPr/>
        </p:nvSpPr>
        <p:spPr>
          <a:xfrm>
            <a:off x="274320" y="3950208"/>
            <a:ext cx="502920" cy="758952"/>
          </a:xfrm>
          <a:prstGeom prst="rect">
            <a:avLst/>
          </a:prstGeom>
          <a:noFill/>
          <a:ln/>
        </p:spPr>
        <p:txBody>
          <a:bodyPr wrap="square" lIns="0" tIns="0" rIns="0" bIns="0" rtlCol="0" anchor="ctr"/>
          <a:lstStyle/>
          <a:p>
            <a:pPr algn="ctr" indent="0" marL="0">
              <a:buNone/>
            </a:pPr>
            <a:r>
              <a:rPr lang="en-US" sz="1800" b="1" dirty="0">
                <a:solidFill>
                  <a:srgbClr val="0D1B2A"/>
                </a:solidFill>
                <a:latin typeface="Calibri" pitchFamily="34" charset="0"/>
                <a:ea typeface="Calibri" pitchFamily="34" charset="-122"/>
                <a:cs typeface="Calibri" pitchFamily="34" charset="-120"/>
              </a:rPr>
              <a:t>7</a:t>
            </a:r>
            <a:endParaRPr lang="en-US" sz="1800" dirty="0"/>
          </a:p>
        </p:txBody>
      </p:sp>
      <p:sp>
        <p:nvSpPr>
          <p:cNvPr id="41" name="Text 39"/>
          <p:cNvSpPr/>
          <p:nvPr/>
        </p:nvSpPr>
        <p:spPr>
          <a:xfrm>
            <a:off x="868680" y="4014216"/>
            <a:ext cx="3520440" cy="320040"/>
          </a:xfrm>
          <a:prstGeom prst="rect">
            <a:avLst/>
          </a:prstGeom>
          <a:noFill/>
          <a:ln/>
        </p:spPr>
        <p:txBody>
          <a:bodyPr wrap="square" lIns="0" tIns="0" rIns="0" bIns="0" rtlCol="0" anchor="ctr"/>
          <a:lstStyle/>
          <a:p>
            <a:pPr indent="0" marL="0">
              <a:buNone/>
            </a:pPr>
            <a:r>
              <a:rPr lang="en-US" sz="1350" b="1" dirty="0">
                <a:solidFill>
                  <a:srgbClr val="0EA5E9"/>
                </a:solidFill>
                <a:latin typeface="Calibri" pitchFamily="34" charset="0"/>
                <a:ea typeface="Calibri" pitchFamily="34" charset="-122"/>
                <a:cs typeface="Calibri" pitchFamily="34" charset="-120"/>
              </a:rPr>
              <a:t>JSON Response Built</a:t>
            </a:r>
            <a:endParaRPr lang="en-US" sz="1350" dirty="0"/>
          </a:p>
        </p:txBody>
      </p:sp>
      <p:sp>
        <p:nvSpPr>
          <p:cNvPr id="42" name="Text 40"/>
          <p:cNvSpPr/>
          <p:nvPr/>
        </p:nvSpPr>
        <p:spPr>
          <a:xfrm>
            <a:off x="868680" y="4334256"/>
            <a:ext cx="3520440" cy="274320"/>
          </a:xfrm>
          <a:prstGeom prst="rect">
            <a:avLst/>
          </a:prstGeom>
          <a:noFill/>
          <a:ln/>
        </p:spPr>
        <p:txBody>
          <a:bodyPr wrap="square" lIns="0" tIns="0" rIns="0" bIns="0" rtlCol="0" anchor="ctr"/>
          <a:lstStyle/>
          <a:p>
            <a:pPr indent="0" marL="0">
              <a:buNone/>
            </a:pPr>
            <a:r>
              <a:rPr lang="en-US" sz="1200" dirty="0">
                <a:solidFill>
                  <a:srgbClr val="94A3B8"/>
                </a:solidFill>
                <a:latin typeface="Calibri" pitchFamily="34" charset="0"/>
                <a:ea typeface="Calibri" pitchFamily="34" charset="-122"/>
                <a:cs typeface="Calibri" pitchFamily="34" charset="-120"/>
              </a:rPr>
              <a:t>Formats data as JSON payload</a:t>
            </a:r>
            <a:endParaRPr lang="en-US" sz="1200" dirty="0"/>
          </a:p>
        </p:txBody>
      </p:sp>
      <p:sp>
        <p:nvSpPr>
          <p:cNvPr id="43" name="Shape 41"/>
          <p:cNvSpPr/>
          <p:nvPr/>
        </p:nvSpPr>
        <p:spPr>
          <a:xfrm>
            <a:off x="4709160" y="3950208"/>
            <a:ext cx="4206240" cy="758952"/>
          </a:xfrm>
          <a:prstGeom prst="rect">
            <a:avLst/>
          </a:prstGeom>
          <a:solidFill>
            <a:srgbClr val="1E3A5F"/>
          </a:solidFill>
          <a:ln w="12700">
            <a:solidFill>
              <a:srgbClr val="1E3A5F"/>
            </a:solidFill>
            <a:prstDash val="solid"/>
          </a:ln>
          <a:effectLst>
            <a:outerShdw sx="100000" sy="100000" kx="0" ky="0" algn="bl" rotWithShape="0" blurRad="101600" dist="38100" dir="8100000">
              <a:srgbClr val="000000">
                <a:alpha val="25000"/>
              </a:srgbClr>
            </a:outerShdw>
          </a:effectLst>
        </p:spPr>
      </p:sp>
      <p:sp>
        <p:nvSpPr>
          <p:cNvPr id="44" name="Shape 42"/>
          <p:cNvSpPr/>
          <p:nvPr/>
        </p:nvSpPr>
        <p:spPr>
          <a:xfrm>
            <a:off x="4709160" y="3950208"/>
            <a:ext cx="502920" cy="758952"/>
          </a:xfrm>
          <a:prstGeom prst="rect">
            <a:avLst/>
          </a:prstGeom>
          <a:solidFill>
            <a:srgbClr val="00D4FF"/>
          </a:solidFill>
          <a:ln w="12700">
            <a:solidFill>
              <a:srgbClr val="00D4FF"/>
            </a:solidFill>
            <a:prstDash val="solid"/>
          </a:ln>
        </p:spPr>
      </p:sp>
      <p:sp>
        <p:nvSpPr>
          <p:cNvPr id="45" name="Text 43"/>
          <p:cNvSpPr/>
          <p:nvPr/>
        </p:nvSpPr>
        <p:spPr>
          <a:xfrm>
            <a:off x="4709160" y="3950208"/>
            <a:ext cx="502920" cy="758952"/>
          </a:xfrm>
          <a:prstGeom prst="rect">
            <a:avLst/>
          </a:prstGeom>
          <a:noFill/>
          <a:ln/>
        </p:spPr>
        <p:txBody>
          <a:bodyPr wrap="square" lIns="0" tIns="0" rIns="0" bIns="0" rtlCol="0" anchor="ctr"/>
          <a:lstStyle/>
          <a:p>
            <a:pPr algn="ctr" indent="0" marL="0">
              <a:buNone/>
            </a:pPr>
            <a:r>
              <a:rPr lang="en-US" sz="1800" b="1" dirty="0">
                <a:solidFill>
                  <a:srgbClr val="0D1B2A"/>
                </a:solidFill>
                <a:latin typeface="Calibri" pitchFamily="34" charset="0"/>
                <a:ea typeface="Calibri" pitchFamily="34" charset="-122"/>
                <a:cs typeface="Calibri" pitchFamily="34" charset="-120"/>
              </a:rPr>
              <a:t>8</a:t>
            </a:r>
            <a:endParaRPr lang="en-US" sz="1800" dirty="0"/>
          </a:p>
        </p:txBody>
      </p:sp>
      <p:sp>
        <p:nvSpPr>
          <p:cNvPr id="46" name="Text 44"/>
          <p:cNvSpPr/>
          <p:nvPr/>
        </p:nvSpPr>
        <p:spPr>
          <a:xfrm>
            <a:off x="5303520" y="4014216"/>
            <a:ext cx="3520440" cy="320040"/>
          </a:xfrm>
          <a:prstGeom prst="rect">
            <a:avLst/>
          </a:prstGeom>
          <a:noFill/>
          <a:ln/>
        </p:spPr>
        <p:txBody>
          <a:bodyPr wrap="square" lIns="0" tIns="0" rIns="0" bIns="0" rtlCol="0" anchor="ctr"/>
          <a:lstStyle/>
          <a:p>
            <a:pPr indent="0" marL="0">
              <a:buNone/>
            </a:pPr>
            <a:r>
              <a:rPr lang="en-US" sz="1350" b="1" dirty="0">
                <a:solidFill>
                  <a:srgbClr val="00D4FF"/>
                </a:solidFill>
                <a:latin typeface="Calibri" pitchFamily="34" charset="0"/>
                <a:ea typeface="Calibri" pitchFamily="34" charset="-122"/>
                <a:cs typeface="Calibri" pitchFamily="34" charset="-120"/>
              </a:rPr>
              <a:t>Browser Renders Page</a:t>
            </a:r>
            <a:endParaRPr lang="en-US" sz="1350" dirty="0"/>
          </a:p>
        </p:txBody>
      </p:sp>
      <p:sp>
        <p:nvSpPr>
          <p:cNvPr id="47" name="Text 45"/>
          <p:cNvSpPr/>
          <p:nvPr/>
        </p:nvSpPr>
        <p:spPr>
          <a:xfrm>
            <a:off x="5303520" y="4334256"/>
            <a:ext cx="3520440" cy="274320"/>
          </a:xfrm>
          <a:prstGeom prst="rect">
            <a:avLst/>
          </a:prstGeom>
          <a:noFill/>
          <a:ln/>
        </p:spPr>
        <p:txBody>
          <a:bodyPr wrap="square" lIns="0" tIns="0" rIns="0" bIns="0" rtlCol="0" anchor="ctr"/>
          <a:lstStyle/>
          <a:p>
            <a:pPr indent="0" marL="0">
              <a:buNone/>
            </a:pPr>
            <a:r>
              <a:rPr lang="en-US" sz="1200" dirty="0">
                <a:solidFill>
                  <a:srgbClr val="94A3B8"/>
                </a:solidFill>
                <a:latin typeface="Calibri" pitchFamily="34" charset="0"/>
                <a:ea typeface="Calibri" pitchFamily="34" charset="-122"/>
                <a:cs typeface="Calibri" pitchFamily="34" charset="-120"/>
              </a:rPr>
              <a:t>HTML/CSS/JS paint the UI</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D1B2A"/>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D4FF"/>
          </a:solidFill>
          <a:ln w="12700">
            <a:solidFill>
              <a:srgbClr val="00D4FF"/>
            </a:solidFill>
            <a:prstDash val="solid"/>
          </a:ln>
        </p:spPr>
      </p:sp>
      <p:sp>
        <p:nvSpPr>
          <p:cNvPr id="3" name="Text 1"/>
          <p:cNvSpPr/>
          <p:nvPr/>
        </p:nvSpPr>
        <p:spPr>
          <a:xfrm>
            <a:off x="457200" y="137160"/>
            <a:ext cx="8229600" cy="640080"/>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Live Example: Login Flow</a:t>
            </a:r>
            <a:endParaRPr lang="en-US" sz="3200" dirty="0"/>
          </a:p>
        </p:txBody>
      </p:sp>
      <p:sp>
        <p:nvSpPr>
          <p:cNvPr id="4" name="Text 2"/>
          <p:cNvSpPr/>
          <p:nvPr/>
        </p:nvSpPr>
        <p:spPr>
          <a:xfrm>
            <a:off x="457200" y="749808"/>
            <a:ext cx="8229600" cy="320040"/>
          </a:xfrm>
          <a:prstGeom prst="rect">
            <a:avLst/>
          </a:prstGeom>
          <a:noFill/>
          <a:ln/>
        </p:spPr>
        <p:txBody>
          <a:bodyPr wrap="square" lIns="0" tIns="0" rIns="0" bIns="0" rtlCol="0" anchor="ctr"/>
          <a:lstStyle/>
          <a:p>
            <a:pPr indent="0" marL="0">
              <a:buNone/>
            </a:pPr>
            <a:r>
              <a:rPr lang="en-US" sz="1400" i="1" dirty="0">
                <a:solidFill>
                  <a:srgbClr val="00D4FF"/>
                </a:solidFill>
                <a:latin typeface="Calibri" pitchFamily="34" charset="0"/>
                <a:ea typeface="Calibri" pitchFamily="34" charset="-122"/>
                <a:cs typeface="Calibri" pitchFamily="34" charset="-120"/>
              </a:rPr>
              <a:t>Section 08 · Step-by-Step Walkthrough</a:t>
            </a:r>
            <a:endParaRPr lang="en-US" sz="1400" dirty="0"/>
          </a:p>
        </p:txBody>
      </p:sp>
      <p:sp>
        <p:nvSpPr>
          <p:cNvPr id="5" name="Shape 3"/>
          <p:cNvSpPr/>
          <p:nvPr/>
        </p:nvSpPr>
        <p:spPr>
          <a:xfrm>
            <a:off x="274320" y="1280160"/>
            <a:ext cx="438912" cy="411480"/>
          </a:xfrm>
          <a:prstGeom prst="rect">
            <a:avLst/>
          </a:prstGeom>
          <a:solidFill>
            <a:srgbClr val="0EA5E9"/>
          </a:solidFill>
          <a:ln w="12700">
            <a:solidFill>
              <a:srgbClr val="0EA5E9"/>
            </a:solidFill>
            <a:prstDash val="solid"/>
          </a:ln>
        </p:spPr>
      </p:sp>
      <p:sp>
        <p:nvSpPr>
          <p:cNvPr id="6" name="Text 4"/>
          <p:cNvSpPr/>
          <p:nvPr/>
        </p:nvSpPr>
        <p:spPr>
          <a:xfrm>
            <a:off x="274320" y="1280160"/>
            <a:ext cx="438912" cy="411480"/>
          </a:xfrm>
          <a:prstGeom prst="rect">
            <a:avLst/>
          </a:prstGeom>
          <a:noFill/>
          <a:ln/>
        </p:spPr>
        <p:txBody>
          <a:bodyPr wrap="square" lIns="0" tIns="0" rIns="0" bIns="0" rtlCol="0" anchor="ctr"/>
          <a:lstStyle/>
          <a:p>
            <a:pPr algn="ctr" indent="0" marL="0">
              <a:buNone/>
            </a:pPr>
            <a:r>
              <a:rPr lang="en-US" sz="1400" b="1" dirty="0">
                <a:solidFill>
                  <a:srgbClr val="0D1B2A"/>
                </a:solidFill>
                <a:latin typeface="Calibri" pitchFamily="34" charset="0"/>
                <a:ea typeface="Calibri" pitchFamily="34" charset="-122"/>
                <a:cs typeface="Calibri" pitchFamily="34" charset="-120"/>
              </a:rPr>
              <a:t>1</a:t>
            </a:r>
            <a:endParaRPr lang="en-US" sz="1400" dirty="0"/>
          </a:p>
        </p:txBody>
      </p:sp>
      <p:sp>
        <p:nvSpPr>
          <p:cNvPr id="7" name="Shape 5"/>
          <p:cNvSpPr/>
          <p:nvPr/>
        </p:nvSpPr>
        <p:spPr>
          <a:xfrm>
            <a:off x="777240" y="1280160"/>
            <a:ext cx="1371600" cy="411480"/>
          </a:xfrm>
          <a:prstGeom prst="roundRect">
            <a:avLst>
              <a:gd name="adj" fmla="val 11111"/>
            </a:avLst>
          </a:prstGeom>
          <a:solidFill>
            <a:srgbClr val="1E3A5F"/>
          </a:solidFill>
          <a:ln w="12700">
            <a:solidFill>
              <a:srgbClr val="0EA5E9"/>
            </a:solidFill>
            <a:prstDash val="solid"/>
          </a:ln>
        </p:spPr>
      </p:sp>
      <p:sp>
        <p:nvSpPr>
          <p:cNvPr id="8" name="Text 6"/>
          <p:cNvSpPr/>
          <p:nvPr/>
        </p:nvSpPr>
        <p:spPr>
          <a:xfrm>
            <a:off x="777240" y="1280160"/>
            <a:ext cx="1371600" cy="411480"/>
          </a:xfrm>
          <a:prstGeom prst="rect">
            <a:avLst/>
          </a:prstGeom>
          <a:noFill/>
          <a:ln/>
        </p:spPr>
        <p:txBody>
          <a:bodyPr wrap="square" lIns="0" tIns="0" rIns="0" bIns="0" rtlCol="0" anchor="ctr"/>
          <a:lstStyle/>
          <a:p>
            <a:pPr algn="ctr" indent="0" marL="0">
              <a:buNone/>
            </a:pPr>
            <a:r>
              <a:rPr lang="en-US" sz="1200" b="1" dirty="0">
                <a:solidFill>
                  <a:srgbClr val="0EA5E9"/>
                </a:solidFill>
                <a:latin typeface="Calibri" pitchFamily="34" charset="0"/>
                <a:ea typeface="Calibri" pitchFamily="34" charset="-122"/>
                <a:cs typeface="Calibri" pitchFamily="34" charset="-120"/>
              </a:rPr>
              <a:t>User</a:t>
            </a:r>
            <a:endParaRPr lang="en-US" sz="1200" dirty="0"/>
          </a:p>
        </p:txBody>
      </p:sp>
      <p:sp>
        <p:nvSpPr>
          <p:cNvPr id="9" name="Text 7"/>
          <p:cNvSpPr/>
          <p:nvPr/>
        </p:nvSpPr>
        <p:spPr>
          <a:xfrm>
            <a:off x="2286000" y="1298448"/>
            <a:ext cx="649224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Enters email + password in form</a:t>
            </a:r>
            <a:endParaRPr lang="en-US" sz="1300" dirty="0"/>
          </a:p>
        </p:txBody>
      </p:sp>
      <p:sp>
        <p:nvSpPr>
          <p:cNvPr id="10" name="Shape 8"/>
          <p:cNvSpPr/>
          <p:nvPr/>
        </p:nvSpPr>
        <p:spPr>
          <a:xfrm>
            <a:off x="493776" y="1709928"/>
            <a:ext cx="0" cy="64008"/>
          </a:xfrm>
          <a:prstGeom prst="line">
            <a:avLst/>
          </a:prstGeom>
          <a:noFill/>
          <a:ln w="19050">
            <a:solidFill>
              <a:srgbClr val="0EA5E9"/>
            </a:solidFill>
            <a:prstDash val="solid"/>
          </a:ln>
        </p:spPr>
      </p:sp>
      <p:sp>
        <p:nvSpPr>
          <p:cNvPr id="11" name="Shape 9"/>
          <p:cNvSpPr/>
          <p:nvPr/>
        </p:nvSpPr>
        <p:spPr>
          <a:xfrm>
            <a:off x="274320" y="1755648"/>
            <a:ext cx="438912" cy="411480"/>
          </a:xfrm>
          <a:prstGeom prst="rect">
            <a:avLst/>
          </a:prstGeom>
          <a:solidFill>
            <a:srgbClr val="00D4FF"/>
          </a:solidFill>
          <a:ln w="12700">
            <a:solidFill>
              <a:srgbClr val="00D4FF"/>
            </a:solidFill>
            <a:prstDash val="solid"/>
          </a:ln>
        </p:spPr>
      </p:sp>
      <p:sp>
        <p:nvSpPr>
          <p:cNvPr id="12" name="Text 10"/>
          <p:cNvSpPr/>
          <p:nvPr/>
        </p:nvSpPr>
        <p:spPr>
          <a:xfrm>
            <a:off x="274320" y="1755648"/>
            <a:ext cx="438912" cy="411480"/>
          </a:xfrm>
          <a:prstGeom prst="rect">
            <a:avLst/>
          </a:prstGeom>
          <a:noFill/>
          <a:ln/>
        </p:spPr>
        <p:txBody>
          <a:bodyPr wrap="square" lIns="0" tIns="0" rIns="0" bIns="0" rtlCol="0" anchor="ctr"/>
          <a:lstStyle/>
          <a:p>
            <a:pPr algn="ctr" indent="0" marL="0">
              <a:buNone/>
            </a:pPr>
            <a:r>
              <a:rPr lang="en-US" sz="1400" b="1" dirty="0">
                <a:solidFill>
                  <a:srgbClr val="0D1B2A"/>
                </a:solidFill>
                <a:latin typeface="Calibri" pitchFamily="34" charset="0"/>
                <a:ea typeface="Calibri" pitchFamily="34" charset="-122"/>
                <a:cs typeface="Calibri" pitchFamily="34" charset="-120"/>
              </a:rPr>
              <a:t>2</a:t>
            </a:r>
            <a:endParaRPr lang="en-US" sz="1400" dirty="0"/>
          </a:p>
        </p:txBody>
      </p:sp>
      <p:sp>
        <p:nvSpPr>
          <p:cNvPr id="13" name="Shape 11"/>
          <p:cNvSpPr/>
          <p:nvPr/>
        </p:nvSpPr>
        <p:spPr>
          <a:xfrm>
            <a:off x="777240" y="1755648"/>
            <a:ext cx="1371600" cy="411480"/>
          </a:xfrm>
          <a:prstGeom prst="roundRect">
            <a:avLst>
              <a:gd name="adj" fmla="val 11111"/>
            </a:avLst>
          </a:prstGeom>
          <a:solidFill>
            <a:srgbClr val="1E3A5F"/>
          </a:solidFill>
          <a:ln w="12700">
            <a:solidFill>
              <a:srgbClr val="00D4FF"/>
            </a:solidFill>
            <a:prstDash val="solid"/>
          </a:ln>
        </p:spPr>
      </p:sp>
      <p:sp>
        <p:nvSpPr>
          <p:cNvPr id="14" name="Text 12"/>
          <p:cNvSpPr/>
          <p:nvPr/>
        </p:nvSpPr>
        <p:spPr>
          <a:xfrm>
            <a:off x="777240" y="1755648"/>
            <a:ext cx="1371600" cy="411480"/>
          </a:xfrm>
          <a:prstGeom prst="rect">
            <a:avLst/>
          </a:prstGeom>
          <a:noFill/>
          <a:ln/>
        </p:spPr>
        <p:txBody>
          <a:bodyPr wrap="square" lIns="0" tIns="0" rIns="0" bIns="0" rtlCol="0" anchor="ctr"/>
          <a:lstStyle/>
          <a:p>
            <a:pPr algn="ctr" indent="0" marL="0">
              <a:buNone/>
            </a:pPr>
            <a:r>
              <a:rPr lang="en-US" sz="1200" b="1" dirty="0">
                <a:solidFill>
                  <a:srgbClr val="00D4FF"/>
                </a:solidFill>
                <a:latin typeface="Calibri" pitchFamily="34" charset="0"/>
                <a:ea typeface="Calibri" pitchFamily="34" charset="-122"/>
                <a:cs typeface="Calibri" pitchFamily="34" charset="-120"/>
              </a:rPr>
              <a:t>Browser</a:t>
            </a:r>
            <a:endParaRPr lang="en-US" sz="1200" dirty="0"/>
          </a:p>
        </p:txBody>
      </p:sp>
      <p:sp>
        <p:nvSpPr>
          <p:cNvPr id="15" name="Text 13"/>
          <p:cNvSpPr/>
          <p:nvPr/>
        </p:nvSpPr>
        <p:spPr>
          <a:xfrm>
            <a:off x="2286000" y="1773936"/>
            <a:ext cx="649224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JS sends POST /api/login with JSON body</a:t>
            </a:r>
            <a:endParaRPr lang="en-US" sz="1300" dirty="0"/>
          </a:p>
        </p:txBody>
      </p:sp>
      <p:sp>
        <p:nvSpPr>
          <p:cNvPr id="16" name="Shape 14"/>
          <p:cNvSpPr/>
          <p:nvPr/>
        </p:nvSpPr>
        <p:spPr>
          <a:xfrm>
            <a:off x="493776" y="2185416"/>
            <a:ext cx="0" cy="64008"/>
          </a:xfrm>
          <a:prstGeom prst="line">
            <a:avLst/>
          </a:prstGeom>
          <a:noFill/>
          <a:ln w="19050">
            <a:solidFill>
              <a:srgbClr val="00D4FF"/>
            </a:solidFill>
            <a:prstDash val="solid"/>
          </a:ln>
        </p:spPr>
      </p:sp>
      <p:sp>
        <p:nvSpPr>
          <p:cNvPr id="17" name="Shape 15"/>
          <p:cNvSpPr/>
          <p:nvPr/>
        </p:nvSpPr>
        <p:spPr>
          <a:xfrm>
            <a:off x="274320" y="2231136"/>
            <a:ext cx="438912" cy="411480"/>
          </a:xfrm>
          <a:prstGeom prst="rect">
            <a:avLst/>
          </a:prstGeom>
          <a:solidFill>
            <a:srgbClr val="7C3AED"/>
          </a:solidFill>
          <a:ln w="12700">
            <a:solidFill>
              <a:srgbClr val="7C3AED"/>
            </a:solidFill>
            <a:prstDash val="solid"/>
          </a:ln>
        </p:spPr>
      </p:sp>
      <p:sp>
        <p:nvSpPr>
          <p:cNvPr id="18" name="Text 16"/>
          <p:cNvSpPr/>
          <p:nvPr/>
        </p:nvSpPr>
        <p:spPr>
          <a:xfrm>
            <a:off x="274320" y="2231136"/>
            <a:ext cx="438912" cy="411480"/>
          </a:xfrm>
          <a:prstGeom prst="rect">
            <a:avLst/>
          </a:prstGeom>
          <a:noFill/>
          <a:ln/>
        </p:spPr>
        <p:txBody>
          <a:bodyPr wrap="square" lIns="0" tIns="0" rIns="0" bIns="0" rtlCol="0" anchor="ctr"/>
          <a:lstStyle/>
          <a:p>
            <a:pPr algn="ctr" indent="0" marL="0">
              <a:buNone/>
            </a:pPr>
            <a:r>
              <a:rPr lang="en-US" sz="1400" b="1" dirty="0">
                <a:solidFill>
                  <a:srgbClr val="0D1B2A"/>
                </a:solidFill>
                <a:latin typeface="Calibri" pitchFamily="34" charset="0"/>
                <a:ea typeface="Calibri" pitchFamily="34" charset="-122"/>
                <a:cs typeface="Calibri" pitchFamily="34" charset="-120"/>
              </a:rPr>
              <a:t>3</a:t>
            </a:r>
            <a:endParaRPr lang="en-US" sz="1400" dirty="0"/>
          </a:p>
        </p:txBody>
      </p:sp>
      <p:sp>
        <p:nvSpPr>
          <p:cNvPr id="19" name="Shape 17"/>
          <p:cNvSpPr/>
          <p:nvPr/>
        </p:nvSpPr>
        <p:spPr>
          <a:xfrm>
            <a:off x="777240" y="2231136"/>
            <a:ext cx="1371600" cy="411480"/>
          </a:xfrm>
          <a:prstGeom prst="roundRect">
            <a:avLst>
              <a:gd name="adj" fmla="val 11111"/>
            </a:avLst>
          </a:prstGeom>
          <a:solidFill>
            <a:srgbClr val="1E3A5F"/>
          </a:solidFill>
          <a:ln w="12700">
            <a:solidFill>
              <a:srgbClr val="7C3AED"/>
            </a:solidFill>
            <a:prstDash val="solid"/>
          </a:ln>
        </p:spPr>
      </p:sp>
      <p:sp>
        <p:nvSpPr>
          <p:cNvPr id="20" name="Text 18"/>
          <p:cNvSpPr/>
          <p:nvPr/>
        </p:nvSpPr>
        <p:spPr>
          <a:xfrm>
            <a:off x="777240" y="2231136"/>
            <a:ext cx="1371600" cy="411480"/>
          </a:xfrm>
          <a:prstGeom prst="rect">
            <a:avLst/>
          </a:prstGeom>
          <a:noFill/>
          <a:ln/>
        </p:spPr>
        <p:txBody>
          <a:bodyPr wrap="square" lIns="0" tIns="0" rIns="0" bIns="0" rtlCol="0" anchor="ctr"/>
          <a:lstStyle/>
          <a:p>
            <a:pPr algn="ctr" indent="0" marL="0">
              <a:buNone/>
            </a:pPr>
            <a:r>
              <a:rPr lang="en-US" sz="1200" b="1" dirty="0">
                <a:solidFill>
                  <a:srgbClr val="7C3AED"/>
                </a:solidFill>
                <a:latin typeface="Calibri" pitchFamily="34" charset="0"/>
                <a:ea typeface="Calibri" pitchFamily="34" charset="-122"/>
                <a:cs typeface="Calibri" pitchFamily="34" charset="-120"/>
              </a:rPr>
              <a:t>Server</a:t>
            </a:r>
            <a:endParaRPr lang="en-US" sz="1200" dirty="0"/>
          </a:p>
        </p:txBody>
      </p:sp>
      <p:sp>
        <p:nvSpPr>
          <p:cNvPr id="21" name="Text 19"/>
          <p:cNvSpPr/>
          <p:nvPr/>
        </p:nvSpPr>
        <p:spPr>
          <a:xfrm>
            <a:off x="2286000" y="2249424"/>
            <a:ext cx="649224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Receives request, validates input format</a:t>
            </a:r>
            <a:endParaRPr lang="en-US" sz="1300" dirty="0"/>
          </a:p>
        </p:txBody>
      </p:sp>
      <p:sp>
        <p:nvSpPr>
          <p:cNvPr id="22" name="Shape 20"/>
          <p:cNvSpPr/>
          <p:nvPr/>
        </p:nvSpPr>
        <p:spPr>
          <a:xfrm>
            <a:off x="493776" y="2660904"/>
            <a:ext cx="0" cy="64008"/>
          </a:xfrm>
          <a:prstGeom prst="line">
            <a:avLst/>
          </a:prstGeom>
          <a:noFill/>
          <a:ln w="19050">
            <a:solidFill>
              <a:srgbClr val="7C3AED"/>
            </a:solidFill>
            <a:prstDash val="solid"/>
          </a:ln>
        </p:spPr>
      </p:sp>
      <p:sp>
        <p:nvSpPr>
          <p:cNvPr id="23" name="Shape 21"/>
          <p:cNvSpPr/>
          <p:nvPr/>
        </p:nvSpPr>
        <p:spPr>
          <a:xfrm>
            <a:off x="274320" y="2706624"/>
            <a:ext cx="438912" cy="411480"/>
          </a:xfrm>
          <a:prstGeom prst="rect">
            <a:avLst/>
          </a:prstGeom>
          <a:solidFill>
            <a:srgbClr val="F59E0B"/>
          </a:solidFill>
          <a:ln w="12700">
            <a:solidFill>
              <a:srgbClr val="F59E0B"/>
            </a:solidFill>
            <a:prstDash val="solid"/>
          </a:ln>
        </p:spPr>
      </p:sp>
      <p:sp>
        <p:nvSpPr>
          <p:cNvPr id="24" name="Text 22"/>
          <p:cNvSpPr/>
          <p:nvPr/>
        </p:nvSpPr>
        <p:spPr>
          <a:xfrm>
            <a:off x="274320" y="2706624"/>
            <a:ext cx="438912" cy="411480"/>
          </a:xfrm>
          <a:prstGeom prst="rect">
            <a:avLst/>
          </a:prstGeom>
          <a:noFill/>
          <a:ln/>
        </p:spPr>
        <p:txBody>
          <a:bodyPr wrap="square" lIns="0" tIns="0" rIns="0" bIns="0" rtlCol="0" anchor="ctr"/>
          <a:lstStyle/>
          <a:p>
            <a:pPr algn="ctr" indent="0" marL="0">
              <a:buNone/>
            </a:pPr>
            <a:r>
              <a:rPr lang="en-US" sz="1400" b="1" dirty="0">
                <a:solidFill>
                  <a:srgbClr val="0D1B2A"/>
                </a:solidFill>
                <a:latin typeface="Calibri" pitchFamily="34" charset="0"/>
                <a:ea typeface="Calibri" pitchFamily="34" charset="-122"/>
                <a:cs typeface="Calibri" pitchFamily="34" charset="-120"/>
              </a:rPr>
              <a:t>4</a:t>
            </a:r>
            <a:endParaRPr lang="en-US" sz="1400" dirty="0"/>
          </a:p>
        </p:txBody>
      </p:sp>
      <p:sp>
        <p:nvSpPr>
          <p:cNvPr id="25" name="Shape 23"/>
          <p:cNvSpPr/>
          <p:nvPr/>
        </p:nvSpPr>
        <p:spPr>
          <a:xfrm>
            <a:off x="777240" y="2706624"/>
            <a:ext cx="1371600" cy="411480"/>
          </a:xfrm>
          <a:prstGeom prst="roundRect">
            <a:avLst>
              <a:gd name="adj" fmla="val 11111"/>
            </a:avLst>
          </a:prstGeom>
          <a:solidFill>
            <a:srgbClr val="1E3A5F"/>
          </a:solidFill>
          <a:ln w="12700">
            <a:solidFill>
              <a:srgbClr val="F59E0B"/>
            </a:solidFill>
            <a:prstDash val="solid"/>
          </a:ln>
        </p:spPr>
      </p:sp>
      <p:sp>
        <p:nvSpPr>
          <p:cNvPr id="26" name="Text 24"/>
          <p:cNvSpPr/>
          <p:nvPr/>
        </p:nvSpPr>
        <p:spPr>
          <a:xfrm>
            <a:off x="777240" y="2706624"/>
            <a:ext cx="1371600" cy="411480"/>
          </a:xfrm>
          <a:prstGeom prst="rect">
            <a:avLst/>
          </a:prstGeom>
          <a:noFill/>
          <a:ln/>
        </p:spPr>
        <p:txBody>
          <a:bodyPr wrap="square" lIns="0" tIns="0" rIns="0" bIns="0" rtlCol="0" anchor="ctr"/>
          <a:lstStyle/>
          <a:p>
            <a:pPr algn="ctr" indent="0" marL="0">
              <a:buNone/>
            </a:pPr>
            <a:r>
              <a:rPr lang="en-US" sz="1200" b="1" dirty="0">
                <a:solidFill>
                  <a:srgbClr val="F59E0B"/>
                </a:solidFill>
                <a:latin typeface="Calibri" pitchFamily="34" charset="0"/>
                <a:ea typeface="Calibri" pitchFamily="34" charset="-122"/>
                <a:cs typeface="Calibri" pitchFamily="34" charset="-120"/>
              </a:rPr>
              <a:t>Server</a:t>
            </a:r>
            <a:endParaRPr lang="en-US" sz="1200" dirty="0"/>
          </a:p>
        </p:txBody>
      </p:sp>
      <p:sp>
        <p:nvSpPr>
          <p:cNvPr id="27" name="Text 25"/>
          <p:cNvSpPr/>
          <p:nvPr/>
        </p:nvSpPr>
        <p:spPr>
          <a:xfrm>
            <a:off x="2286000" y="2724912"/>
            <a:ext cx="649224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Queries DB: SELECT * WHERE email=?</a:t>
            </a:r>
            <a:endParaRPr lang="en-US" sz="1300" dirty="0"/>
          </a:p>
        </p:txBody>
      </p:sp>
      <p:sp>
        <p:nvSpPr>
          <p:cNvPr id="28" name="Shape 26"/>
          <p:cNvSpPr/>
          <p:nvPr/>
        </p:nvSpPr>
        <p:spPr>
          <a:xfrm>
            <a:off x="493776" y="3136392"/>
            <a:ext cx="0" cy="64008"/>
          </a:xfrm>
          <a:prstGeom prst="line">
            <a:avLst/>
          </a:prstGeom>
          <a:noFill/>
          <a:ln w="19050">
            <a:solidFill>
              <a:srgbClr val="F59E0B"/>
            </a:solidFill>
            <a:prstDash val="solid"/>
          </a:ln>
        </p:spPr>
      </p:sp>
      <p:sp>
        <p:nvSpPr>
          <p:cNvPr id="29" name="Shape 27"/>
          <p:cNvSpPr/>
          <p:nvPr/>
        </p:nvSpPr>
        <p:spPr>
          <a:xfrm>
            <a:off x="274320" y="3182112"/>
            <a:ext cx="438912" cy="411480"/>
          </a:xfrm>
          <a:prstGeom prst="rect">
            <a:avLst/>
          </a:prstGeom>
          <a:solidFill>
            <a:srgbClr val="F59E0B"/>
          </a:solidFill>
          <a:ln w="12700">
            <a:solidFill>
              <a:srgbClr val="F59E0B"/>
            </a:solidFill>
            <a:prstDash val="solid"/>
          </a:ln>
        </p:spPr>
      </p:sp>
      <p:sp>
        <p:nvSpPr>
          <p:cNvPr id="30" name="Text 28"/>
          <p:cNvSpPr/>
          <p:nvPr/>
        </p:nvSpPr>
        <p:spPr>
          <a:xfrm>
            <a:off x="274320" y="3182112"/>
            <a:ext cx="438912" cy="411480"/>
          </a:xfrm>
          <a:prstGeom prst="rect">
            <a:avLst/>
          </a:prstGeom>
          <a:noFill/>
          <a:ln/>
        </p:spPr>
        <p:txBody>
          <a:bodyPr wrap="square" lIns="0" tIns="0" rIns="0" bIns="0" rtlCol="0" anchor="ctr"/>
          <a:lstStyle/>
          <a:p>
            <a:pPr algn="ctr" indent="0" marL="0">
              <a:buNone/>
            </a:pPr>
            <a:r>
              <a:rPr lang="en-US" sz="1400" b="1" dirty="0">
                <a:solidFill>
                  <a:srgbClr val="0D1B2A"/>
                </a:solidFill>
                <a:latin typeface="Calibri" pitchFamily="34" charset="0"/>
                <a:ea typeface="Calibri" pitchFamily="34" charset="-122"/>
                <a:cs typeface="Calibri" pitchFamily="34" charset="-120"/>
              </a:rPr>
              <a:t>5</a:t>
            </a:r>
            <a:endParaRPr lang="en-US" sz="1400" dirty="0"/>
          </a:p>
        </p:txBody>
      </p:sp>
      <p:sp>
        <p:nvSpPr>
          <p:cNvPr id="31" name="Shape 29"/>
          <p:cNvSpPr/>
          <p:nvPr/>
        </p:nvSpPr>
        <p:spPr>
          <a:xfrm>
            <a:off x="777240" y="3182112"/>
            <a:ext cx="1371600" cy="411480"/>
          </a:xfrm>
          <a:prstGeom prst="roundRect">
            <a:avLst>
              <a:gd name="adj" fmla="val 11111"/>
            </a:avLst>
          </a:prstGeom>
          <a:solidFill>
            <a:srgbClr val="1E3A5F"/>
          </a:solidFill>
          <a:ln w="12700">
            <a:solidFill>
              <a:srgbClr val="F59E0B"/>
            </a:solidFill>
            <a:prstDash val="solid"/>
          </a:ln>
        </p:spPr>
      </p:sp>
      <p:sp>
        <p:nvSpPr>
          <p:cNvPr id="32" name="Text 30"/>
          <p:cNvSpPr/>
          <p:nvPr/>
        </p:nvSpPr>
        <p:spPr>
          <a:xfrm>
            <a:off x="777240" y="3182112"/>
            <a:ext cx="1371600" cy="411480"/>
          </a:xfrm>
          <a:prstGeom prst="rect">
            <a:avLst/>
          </a:prstGeom>
          <a:noFill/>
          <a:ln/>
        </p:spPr>
        <p:txBody>
          <a:bodyPr wrap="square" lIns="0" tIns="0" rIns="0" bIns="0" rtlCol="0" anchor="ctr"/>
          <a:lstStyle/>
          <a:p>
            <a:pPr algn="ctr" indent="0" marL="0">
              <a:buNone/>
            </a:pPr>
            <a:r>
              <a:rPr lang="en-US" sz="1200" b="1" dirty="0">
                <a:solidFill>
                  <a:srgbClr val="F59E0B"/>
                </a:solidFill>
                <a:latin typeface="Calibri" pitchFamily="34" charset="0"/>
                <a:ea typeface="Calibri" pitchFamily="34" charset="-122"/>
                <a:cs typeface="Calibri" pitchFamily="34" charset="-120"/>
              </a:rPr>
              <a:t>Server</a:t>
            </a:r>
            <a:endParaRPr lang="en-US" sz="1200" dirty="0"/>
          </a:p>
        </p:txBody>
      </p:sp>
      <p:sp>
        <p:nvSpPr>
          <p:cNvPr id="33" name="Text 31"/>
          <p:cNvSpPr/>
          <p:nvPr/>
        </p:nvSpPr>
        <p:spPr>
          <a:xfrm>
            <a:off x="2286000" y="3200400"/>
            <a:ext cx="649224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Hashes password, compares to DB hash</a:t>
            </a:r>
            <a:endParaRPr lang="en-US" sz="1300" dirty="0"/>
          </a:p>
        </p:txBody>
      </p:sp>
      <p:sp>
        <p:nvSpPr>
          <p:cNvPr id="34" name="Shape 32"/>
          <p:cNvSpPr/>
          <p:nvPr/>
        </p:nvSpPr>
        <p:spPr>
          <a:xfrm>
            <a:off x="493776" y="3611880"/>
            <a:ext cx="0" cy="64008"/>
          </a:xfrm>
          <a:prstGeom prst="line">
            <a:avLst/>
          </a:prstGeom>
          <a:noFill/>
          <a:ln w="19050">
            <a:solidFill>
              <a:srgbClr val="F59E0B"/>
            </a:solidFill>
            <a:prstDash val="solid"/>
          </a:ln>
        </p:spPr>
      </p:sp>
      <p:sp>
        <p:nvSpPr>
          <p:cNvPr id="35" name="Shape 33"/>
          <p:cNvSpPr/>
          <p:nvPr/>
        </p:nvSpPr>
        <p:spPr>
          <a:xfrm>
            <a:off x="274320" y="3657600"/>
            <a:ext cx="438912" cy="411480"/>
          </a:xfrm>
          <a:prstGeom prst="rect">
            <a:avLst/>
          </a:prstGeom>
          <a:solidFill>
            <a:srgbClr val="10B981"/>
          </a:solidFill>
          <a:ln w="12700">
            <a:solidFill>
              <a:srgbClr val="10B981"/>
            </a:solidFill>
            <a:prstDash val="solid"/>
          </a:ln>
        </p:spPr>
      </p:sp>
      <p:sp>
        <p:nvSpPr>
          <p:cNvPr id="36" name="Text 34"/>
          <p:cNvSpPr/>
          <p:nvPr/>
        </p:nvSpPr>
        <p:spPr>
          <a:xfrm>
            <a:off x="274320" y="3657600"/>
            <a:ext cx="438912" cy="411480"/>
          </a:xfrm>
          <a:prstGeom prst="rect">
            <a:avLst/>
          </a:prstGeom>
          <a:noFill/>
          <a:ln/>
        </p:spPr>
        <p:txBody>
          <a:bodyPr wrap="square" lIns="0" tIns="0" rIns="0" bIns="0" rtlCol="0" anchor="ctr"/>
          <a:lstStyle/>
          <a:p>
            <a:pPr algn="ctr" indent="0" marL="0">
              <a:buNone/>
            </a:pPr>
            <a:r>
              <a:rPr lang="en-US" sz="1400" b="1" dirty="0">
                <a:solidFill>
                  <a:srgbClr val="0D1B2A"/>
                </a:solidFill>
                <a:latin typeface="Calibri" pitchFamily="34" charset="0"/>
                <a:ea typeface="Calibri" pitchFamily="34" charset="-122"/>
                <a:cs typeface="Calibri" pitchFamily="34" charset="-120"/>
              </a:rPr>
              <a:t>6</a:t>
            </a:r>
            <a:endParaRPr lang="en-US" sz="1400" dirty="0"/>
          </a:p>
        </p:txBody>
      </p:sp>
      <p:sp>
        <p:nvSpPr>
          <p:cNvPr id="37" name="Shape 35"/>
          <p:cNvSpPr/>
          <p:nvPr/>
        </p:nvSpPr>
        <p:spPr>
          <a:xfrm>
            <a:off x="777240" y="3657600"/>
            <a:ext cx="1371600" cy="411480"/>
          </a:xfrm>
          <a:prstGeom prst="roundRect">
            <a:avLst>
              <a:gd name="adj" fmla="val 11111"/>
            </a:avLst>
          </a:prstGeom>
          <a:solidFill>
            <a:srgbClr val="1E3A5F"/>
          </a:solidFill>
          <a:ln w="12700">
            <a:solidFill>
              <a:srgbClr val="10B981"/>
            </a:solidFill>
            <a:prstDash val="solid"/>
          </a:ln>
        </p:spPr>
      </p:sp>
      <p:sp>
        <p:nvSpPr>
          <p:cNvPr id="38" name="Text 36"/>
          <p:cNvSpPr/>
          <p:nvPr/>
        </p:nvSpPr>
        <p:spPr>
          <a:xfrm>
            <a:off x="777240" y="3657600"/>
            <a:ext cx="1371600" cy="411480"/>
          </a:xfrm>
          <a:prstGeom prst="rect">
            <a:avLst/>
          </a:prstGeom>
          <a:noFill/>
          <a:ln/>
        </p:spPr>
        <p:txBody>
          <a:bodyPr wrap="square" lIns="0" tIns="0" rIns="0" bIns="0" rtlCol="0" anchor="ctr"/>
          <a:lstStyle/>
          <a:p>
            <a:pPr algn="ctr" indent="0" marL="0">
              <a:buNone/>
            </a:pPr>
            <a:r>
              <a:rPr lang="en-US" sz="1200" b="1" dirty="0">
                <a:solidFill>
                  <a:srgbClr val="10B981"/>
                </a:solidFill>
                <a:latin typeface="Calibri" pitchFamily="34" charset="0"/>
                <a:ea typeface="Calibri" pitchFamily="34" charset="-122"/>
                <a:cs typeface="Calibri" pitchFamily="34" charset="-120"/>
              </a:rPr>
              <a:t>Server</a:t>
            </a:r>
            <a:endParaRPr lang="en-US" sz="1200" dirty="0"/>
          </a:p>
        </p:txBody>
      </p:sp>
      <p:sp>
        <p:nvSpPr>
          <p:cNvPr id="39" name="Text 37"/>
          <p:cNvSpPr/>
          <p:nvPr/>
        </p:nvSpPr>
        <p:spPr>
          <a:xfrm>
            <a:off x="2286000" y="3675888"/>
            <a:ext cx="649224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Generates JWT token on success</a:t>
            </a:r>
            <a:endParaRPr lang="en-US" sz="1300" dirty="0"/>
          </a:p>
        </p:txBody>
      </p:sp>
      <p:sp>
        <p:nvSpPr>
          <p:cNvPr id="40" name="Shape 38"/>
          <p:cNvSpPr/>
          <p:nvPr/>
        </p:nvSpPr>
        <p:spPr>
          <a:xfrm>
            <a:off x="493776" y="4087368"/>
            <a:ext cx="0" cy="64008"/>
          </a:xfrm>
          <a:prstGeom prst="line">
            <a:avLst/>
          </a:prstGeom>
          <a:noFill/>
          <a:ln w="19050">
            <a:solidFill>
              <a:srgbClr val="10B981"/>
            </a:solidFill>
            <a:prstDash val="solid"/>
          </a:ln>
        </p:spPr>
      </p:sp>
      <p:sp>
        <p:nvSpPr>
          <p:cNvPr id="41" name="Shape 39"/>
          <p:cNvSpPr/>
          <p:nvPr/>
        </p:nvSpPr>
        <p:spPr>
          <a:xfrm>
            <a:off x="274320" y="4133088"/>
            <a:ext cx="438912" cy="411480"/>
          </a:xfrm>
          <a:prstGeom prst="rect">
            <a:avLst/>
          </a:prstGeom>
          <a:solidFill>
            <a:srgbClr val="10B981"/>
          </a:solidFill>
          <a:ln w="12700">
            <a:solidFill>
              <a:srgbClr val="10B981"/>
            </a:solidFill>
            <a:prstDash val="solid"/>
          </a:ln>
        </p:spPr>
      </p:sp>
      <p:sp>
        <p:nvSpPr>
          <p:cNvPr id="42" name="Text 40"/>
          <p:cNvSpPr/>
          <p:nvPr/>
        </p:nvSpPr>
        <p:spPr>
          <a:xfrm>
            <a:off x="274320" y="4133088"/>
            <a:ext cx="438912" cy="411480"/>
          </a:xfrm>
          <a:prstGeom prst="rect">
            <a:avLst/>
          </a:prstGeom>
          <a:noFill/>
          <a:ln/>
        </p:spPr>
        <p:txBody>
          <a:bodyPr wrap="square" lIns="0" tIns="0" rIns="0" bIns="0" rtlCol="0" anchor="ctr"/>
          <a:lstStyle/>
          <a:p>
            <a:pPr algn="ctr" indent="0" marL="0">
              <a:buNone/>
            </a:pPr>
            <a:r>
              <a:rPr lang="en-US" sz="1400" b="1" dirty="0">
                <a:solidFill>
                  <a:srgbClr val="0D1B2A"/>
                </a:solidFill>
                <a:latin typeface="Calibri" pitchFamily="34" charset="0"/>
                <a:ea typeface="Calibri" pitchFamily="34" charset="-122"/>
                <a:cs typeface="Calibri" pitchFamily="34" charset="-120"/>
              </a:rPr>
              <a:t>7</a:t>
            </a:r>
            <a:endParaRPr lang="en-US" sz="1400" dirty="0"/>
          </a:p>
        </p:txBody>
      </p:sp>
      <p:sp>
        <p:nvSpPr>
          <p:cNvPr id="43" name="Shape 41"/>
          <p:cNvSpPr/>
          <p:nvPr/>
        </p:nvSpPr>
        <p:spPr>
          <a:xfrm>
            <a:off x="777240" y="4133088"/>
            <a:ext cx="1371600" cy="411480"/>
          </a:xfrm>
          <a:prstGeom prst="roundRect">
            <a:avLst>
              <a:gd name="adj" fmla="val 11111"/>
            </a:avLst>
          </a:prstGeom>
          <a:solidFill>
            <a:srgbClr val="1E3A5F"/>
          </a:solidFill>
          <a:ln w="12700">
            <a:solidFill>
              <a:srgbClr val="10B981"/>
            </a:solidFill>
            <a:prstDash val="solid"/>
          </a:ln>
        </p:spPr>
      </p:sp>
      <p:sp>
        <p:nvSpPr>
          <p:cNvPr id="44" name="Text 42"/>
          <p:cNvSpPr/>
          <p:nvPr/>
        </p:nvSpPr>
        <p:spPr>
          <a:xfrm>
            <a:off x="777240" y="4133088"/>
            <a:ext cx="1371600" cy="411480"/>
          </a:xfrm>
          <a:prstGeom prst="rect">
            <a:avLst/>
          </a:prstGeom>
          <a:noFill/>
          <a:ln/>
        </p:spPr>
        <p:txBody>
          <a:bodyPr wrap="square" lIns="0" tIns="0" rIns="0" bIns="0" rtlCol="0" anchor="ctr"/>
          <a:lstStyle/>
          <a:p>
            <a:pPr algn="ctr" indent="0" marL="0">
              <a:buNone/>
            </a:pPr>
            <a:r>
              <a:rPr lang="en-US" sz="1200" b="1" dirty="0">
                <a:solidFill>
                  <a:srgbClr val="10B981"/>
                </a:solidFill>
                <a:latin typeface="Calibri" pitchFamily="34" charset="0"/>
                <a:ea typeface="Calibri" pitchFamily="34" charset="-122"/>
                <a:cs typeface="Calibri" pitchFamily="34" charset="-120"/>
              </a:rPr>
              <a:t>Browser</a:t>
            </a:r>
            <a:endParaRPr lang="en-US" sz="1200" dirty="0"/>
          </a:p>
        </p:txBody>
      </p:sp>
      <p:sp>
        <p:nvSpPr>
          <p:cNvPr id="45" name="Text 43"/>
          <p:cNvSpPr/>
          <p:nvPr/>
        </p:nvSpPr>
        <p:spPr>
          <a:xfrm>
            <a:off x="2286000" y="4151376"/>
            <a:ext cx="649224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Stores token, redirects to Dashboard</a:t>
            </a:r>
            <a:endParaRPr lang="en-US" sz="1300" dirty="0"/>
          </a:p>
        </p:txBody>
      </p:sp>
      <p:sp>
        <p:nvSpPr>
          <p:cNvPr id="46" name="Shape 44"/>
          <p:cNvSpPr/>
          <p:nvPr/>
        </p:nvSpPr>
        <p:spPr>
          <a:xfrm>
            <a:off x="493776" y="4562856"/>
            <a:ext cx="0" cy="64008"/>
          </a:xfrm>
          <a:prstGeom prst="line">
            <a:avLst/>
          </a:prstGeom>
          <a:noFill/>
          <a:ln w="19050">
            <a:solidFill>
              <a:srgbClr val="10B981"/>
            </a:solidFill>
            <a:prstDash val="solid"/>
          </a:ln>
        </p:spPr>
      </p:sp>
      <p:sp>
        <p:nvSpPr>
          <p:cNvPr id="47" name="Shape 45"/>
          <p:cNvSpPr/>
          <p:nvPr/>
        </p:nvSpPr>
        <p:spPr>
          <a:xfrm>
            <a:off x="274320" y="4608576"/>
            <a:ext cx="438912" cy="411480"/>
          </a:xfrm>
          <a:prstGeom prst="rect">
            <a:avLst/>
          </a:prstGeom>
          <a:solidFill>
            <a:srgbClr val="0EA5E9"/>
          </a:solidFill>
          <a:ln w="12700">
            <a:solidFill>
              <a:srgbClr val="0EA5E9"/>
            </a:solidFill>
            <a:prstDash val="solid"/>
          </a:ln>
        </p:spPr>
      </p:sp>
      <p:sp>
        <p:nvSpPr>
          <p:cNvPr id="48" name="Text 46"/>
          <p:cNvSpPr/>
          <p:nvPr/>
        </p:nvSpPr>
        <p:spPr>
          <a:xfrm>
            <a:off x="274320" y="4608576"/>
            <a:ext cx="438912" cy="411480"/>
          </a:xfrm>
          <a:prstGeom prst="rect">
            <a:avLst/>
          </a:prstGeom>
          <a:noFill/>
          <a:ln/>
        </p:spPr>
        <p:txBody>
          <a:bodyPr wrap="square" lIns="0" tIns="0" rIns="0" bIns="0" rtlCol="0" anchor="ctr"/>
          <a:lstStyle/>
          <a:p>
            <a:pPr algn="ctr" indent="0" marL="0">
              <a:buNone/>
            </a:pPr>
            <a:r>
              <a:rPr lang="en-US" sz="1400" b="1" dirty="0">
                <a:solidFill>
                  <a:srgbClr val="0D1B2A"/>
                </a:solidFill>
                <a:latin typeface="Calibri" pitchFamily="34" charset="0"/>
                <a:ea typeface="Calibri" pitchFamily="34" charset="-122"/>
                <a:cs typeface="Calibri" pitchFamily="34" charset="-120"/>
              </a:rPr>
              <a:t>8</a:t>
            </a:r>
            <a:endParaRPr lang="en-US" sz="1400" dirty="0"/>
          </a:p>
        </p:txBody>
      </p:sp>
      <p:sp>
        <p:nvSpPr>
          <p:cNvPr id="49" name="Shape 47"/>
          <p:cNvSpPr/>
          <p:nvPr/>
        </p:nvSpPr>
        <p:spPr>
          <a:xfrm>
            <a:off x="777240" y="4608576"/>
            <a:ext cx="1371600" cy="411480"/>
          </a:xfrm>
          <a:prstGeom prst="roundRect">
            <a:avLst>
              <a:gd name="adj" fmla="val 11111"/>
            </a:avLst>
          </a:prstGeom>
          <a:solidFill>
            <a:srgbClr val="1E3A5F"/>
          </a:solidFill>
          <a:ln w="12700">
            <a:solidFill>
              <a:srgbClr val="0EA5E9"/>
            </a:solidFill>
            <a:prstDash val="solid"/>
          </a:ln>
        </p:spPr>
      </p:sp>
      <p:sp>
        <p:nvSpPr>
          <p:cNvPr id="50" name="Text 48"/>
          <p:cNvSpPr/>
          <p:nvPr/>
        </p:nvSpPr>
        <p:spPr>
          <a:xfrm>
            <a:off x="777240" y="4608576"/>
            <a:ext cx="1371600" cy="411480"/>
          </a:xfrm>
          <a:prstGeom prst="rect">
            <a:avLst/>
          </a:prstGeom>
          <a:noFill/>
          <a:ln/>
        </p:spPr>
        <p:txBody>
          <a:bodyPr wrap="square" lIns="0" tIns="0" rIns="0" bIns="0" rtlCol="0" anchor="ctr"/>
          <a:lstStyle/>
          <a:p>
            <a:pPr algn="ctr" indent="0" marL="0">
              <a:buNone/>
            </a:pPr>
            <a:r>
              <a:rPr lang="en-US" sz="1200" b="1" dirty="0">
                <a:solidFill>
                  <a:srgbClr val="0EA5E9"/>
                </a:solidFill>
                <a:latin typeface="Calibri" pitchFamily="34" charset="0"/>
                <a:ea typeface="Calibri" pitchFamily="34" charset="-122"/>
                <a:cs typeface="Calibri" pitchFamily="34" charset="-120"/>
              </a:rPr>
              <a:t>User</a:t>
            </a:r>
            <a:endParaRPr lang="en-US" sz="1200" dirty="0"/>
          </a:p>
        </p:txBody>
      </p:sp>
      <p:sp>
        <p:nvSpPr>
          <p:cNvPr id="51" name="Text 49"/>
          <p:cNvSpPr/>
          <p:nvPr/>
        </p:nvSpPr>
        <p:spPr>
          <a:xfrm>
            <a:off x="2286000" y="4626864"/>
            <a:ext cx="649224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Sees their personalised dashboard 🎉</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D1B2A"/>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D4FF"/>
          </a:solidFill>
          <a:ln w="12700">
            <a:solidFill>
              <a:srgbClr val="00D4FF"/>
            </a:solidFill>
            <a:prstDash val="solid"/>
          </a:ln>
        </p:spPr>
      </p:sp>
      <p:sp>
        <p:nvSpPr>
          <p:cNvPr id="3" name="Text 1"/>
          <p:cNvSpPr/>
          <p:nvPr/>
        </p:nvSpPr>
        <p:spPr>
          <a:xfrm>
            <a:off x="457200" y="137160"/>
            <a:ext cx="8229600" cy="640080"/>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Quick Revision</a:t>
            </a:r>
            <a:endParaRPr lang="en-US" sz="3200" dirty="0"/>
          </a:p>
        </p:txBody>
      </p:sp>
      <p:sp>
        <p:nvSpPr>
          <p:cNvPr id="4" name="Text 2"/>
          <p:cNvSpPr/>
          <p:nvPr/>
        </p:nvSpPr>
        <p:spPr>
          <a:xfrm>
            <a:off x="457200" y="749808"/>
            <a:ext cx="8229600" cy="320040"/>
          </a:xfrm>
          <a:prstGeom prst="rect">
            <a:avLst/>
          </a:prstGeom>
          <a:noFill/>
          <a:ln/>
        </p:spPr>
        <p:txBody>
          <a:bodyPr wrap="square" lIns="0" tIns="0" rIns="0" bIns="0" rtlCol="0" anchor="ctr"/>
          <a:lstStyle/>
          <a:p>
            <a:pPr indent="0" marL="0">
              <a:buNone/>
            </a:pPr>
            <a:r>
              <a:rPr lang="en-US" sz="1400" i="1" dirty="0">
                <a:solidFill>
                  <a:srgbClr val="00D4FF"/>
                </a:solidFill>
                <a:latin typeface="Calibri" pitchFamily="34" charset="0"/>
                <a:ea typeface="Calibri" pitchFamily="34" charset="-122"/>
                <a:cs typeface="Calibri" pitchFamily="34" charset="-120"/>
              </a:rPr>
              <a:t>Key Concepts at a Glance</a:t>
            </a:r>
            <a:endParaRPr lang="en-US" sz="1400" dirty="0"/>
          </a:p>
        </p:txBody>
      </p:sp>
      <p:sp>
        <p:nvSpPr>
          <p:cNvPr id="5" name="Shape 3"/>
          <p:cNvSpPr/>
          <p:nvPr/>
        </p:nvSpPr>
        <p:spPr>
          <a:xfrm>
            <a:off x="274320" y="1298448"/>
            <a:ext cx="4206240" cy="640080"/>
          </a:xfrm>
          <a:prstGeom prst="rect">
            <a:avLst/>
          </a:prstGeom>
          <a:solidFill>
            <a:srgbClr val="1E3A5F"/>
          </a:solidFill>
          <a:ln w="12700">
            <a:solidFill>
              <a:srgbClr val="1E3A5F"/>
            </a:solidFill>
            <a:prstDash val="solid"/>
          </a:ln>
          <a:effectLst>
            <a:outerShdw sx="100000" sy="100000" kx="0" ky="0" algn="bl" rotWithShape="0" blurRad="101600" dist="38100" dir="8100000">
              <a:srgbClr val="000000">
                <a:alpha val="25000"/>
              </a:srgbClr>
            </a:outerShdw>
          </a:effectLst>
        </p:spPr>
      </p:sp>
      <p:sp>
        <p:nvSpPr>
          <p:cNvPr id="6" name="Shape 4"/>
          <p:cNvSpPr/>
          <p:nvPr/>
        </p:nvSpPr>
        <p:spPr>
          <a:xfrm>
            <a:off x="274320" y="1298448"/>
            <a:ext cx="91440" cy="640080"/>
          </a:xfrm>
          <a:prstGeom prst="rect">
            <a:avLst/>
          </a:prstGeom>
          <a:solidFill>
            <a:srgbClr val="0EA5E9"/>
          </a:solidFill>
          <a:ln w="12700">
            <a:solidFill>
              <a:srgbClr val="0EA5E9"/>
            </a:solidFill>
            <a:prstDash val="solid"/>
          </a:ln>
        </p:spPr>
      </p:sp>
      <p:sp>
        <p:nvSpPr>
          <p:cNvPr id="7" name="Text 5"/>
          <p:cNvSpPr/>
          <p:nvPr/>
        </p:nvSpPr>
        <p:spPr>
          <a:xfrm>
            <a:off x="438912" y="1344168"/>
            <a:ext cx="1371600" cy="256032"/>
          </a:xfrm>
          <a:prstGeom prst="rect">
            <a:avLst/>
          </a:prstGeom>
          <a:noFill/>
          <a:ln/>
        </p:spPr>
        <p:txBody>
          <a:bodyPr wrap="square" lIns="0" tIns="0" rIns="0" bIns="0" rtlCol="0" anchor="ctr"/>
          <a:lstStyle/>
          <a:p>
            <a:pPr indent="0" marL="0">
              <a:buNone/>
            </a:pPr>
            <a:r>
              <a:rPr lang="en-US" sz="1300" b="1" dirty="0">
                <a:solidFill>
                  <a:srgbClr val="0EA5E9"/>
                </a:solidFill>
                <a:latin typeface="Calibri" pitchFamily="34" charset="0"/>
                <a:ea typeface="Calibri" pitchFamily="34" charset="-122"/>
                <a:cs typeface="Calibri" pitchFamily="34" charset="-120"/>
              </a:rPr>
              <a:t>Web App</a:t>
            </a:r>
            <a:endParaRPr lang="en-US" sz="1300" dirty="0"/>
          </a:p>
        </p:txBody>
      </p:sp>
      <p:sp>
        <p:nvSpPr>
          <p:cNvPr id="8" name="Text 6"/>
          <p:cNvSpPr/>
          <p:nvPr/>
        </p:nvSpPr>
        <p:spPr>
          <a:xfrm>
            <a:off x="438912" y="1600200"/>
            <a:ext cx="3913632" cy="274320"/>
          </a:xfrm>
          <a:prstGeom prst="rect">
            <a:avLst/>
          </a:prstGeom>
          <a:noFill/>
          <a:ln/>
        </p:spPr>
        <p:txBody>
          <a:bodyPr wrap="square" lIns="0" tIns="0" rIns="0" bIns="0" rtlCol="0" anchor="ctr"/>
          <a:lstStyle/>
          <a:p>
            <a:pPr indent="0" marL="0">
              <a:buNone/>
            </a:pPr>
            <a:r>
              <a:rPr lang="en-US" sz="1150" dirty="0">
                <a:solidFill>
                  <a:srgbClr val="FFFFFF"/>
                </a:solidFill>
                <a:latin typeface="Calibri" pitchFamily="34" charset="0"/>
                <a:ea typeface="Calibri" pitchFamily="34" charset="-122"/>
                <a:cs typeface="Calibri" pitchFamily="34" charset="-120"/>
              </a:rPr>
              <a:t>Interactive software running in a browser</a:t>
            </a:r>
            <a:endParaRPr lang="en-US" sz="1150" dirty="0"/>
          </a:p>
        </p:txBody>
      </p:sp>
      <p:sp>
        <p:nvSpPr>
          <p:cNvPr id="9" name="Shape 7"/>
          <p:cNvSpPr/>
          <p:nvPr/>
        </p:nvSpPr>
        <p:spPr>
          <a:xfrm>
            <a:off x="4709160" y="1298448"/>
            <a:ext cx="4206240" cy="640080"/>
          </a:xfrm>
          <a:prstGeom prst="rect">
            <a:avLst/>
          </a:prstGeom>
          <a:solidFill>
            <a:srgbClr val="1E3A5F"/>
          </a:solidFill>
          <a:ln w="12700">
            <a:solidFill>
              <a:srgbClr val="1E3A5F"/>
            </a:solidFill>
            <a:prstDash val="solid"/>
          </a:ln>
          <a:effectLst>
            <a:outerShdw sx="100000" sy="100000" kx="0" ky="0" algn="bl" rotWithShape="0" blurRad="101600" dist="38100" dir="8100000">
              <a:srgbClr val="000000">
                <a:alpha val="25000"/>
              </a:srgbClr>
            </a:outerShdw>
          </a:effectLst>
        </p:spPr>
      </p:sp>
      <p:sp>
        <p:nvSpPr>
          <p:cNvPr id="10" name="Shape 8"/>
          <p:cNvSpPr/>
          <p:nvPr/>
        </p:nvSpPr>
        <p:spPr>
          <a:xfrm>
            <a:off x="4709160" y="1298448"/>
            <a:ext cx="91440" cy="640080"/>
          </a:xfrm>
          <a:prstGeom prst="rect">
            <a:avLst/>
          </a:prstGeom>
          <a:solidFill>
            <a:srgbClr val="00D4FF"/>
          </a:solidFill>
          <a:ln w="12700">
            <a:solidFill>
              <a:srgbClr val="00D4FF"/>
            </a:solidFill>
            <a:prstDash val="solid"/>
          </a:ln>
        </p:spPr>
      </p:sp>
      <p:sp>
        <p:nvSpPr>
          <p:cNvPr id="11" name="Text 9"/>
          <p:cNvSpPr/>
          <p:nvPr/>
        </p:nvSpPr>
        <p:spPr>
          <a:xfrm>
            <a:off x="4873752" y="1344168"/>
            <a:ext cx="1371600" cy="256032"/>
          </a:xfrm>
          <a:prstGeom prst="rect">
            <a:avLst/>
          </a:prstGeom>
          <a:noFill/>
          <a:ln/>
        </p:spPr>
        <p:txBody>
          <a:bodyPr wrap="square" lIns="0" tIns="0" rIns="0" bIns="0" rtlCol="0" anchor="ctr"/>
          <a:lstStyle/>
          <a:p>
            <a:pPr indent="0" marL="0">
              <a:buNone/>
            </a:pPr>
            <a:r>
              <a:rPr lang="en-US" sz="1300" b="1" dirty="0">
                <a:solidFill>
                  <a:srgbClr val="00D4FF"/>
                </a:solidFill>
                <a:latin typeface="Calibri" pitchFamily="34" charset="0"/>
                <a:ea typeface="Calibri" pitchFamily="34" charset="-122"/>
                <a:cs typeface="Calibri" pitchFamily="34" charset="-120"/>
              </a:rPr>
              <a:t>Client-Server</a:t>
            </a:r>
            <a:endParaRPr lang="en-US" sz="1300" dirty="0"/>
          </a:p>
        </p:txBody>
      </p:sp>
      <p:sp>
        <p:nvSpPr>
          <p:cNvPr id="12" name="Text 10"/>
          <p:cNvSpPr/>
          <p:nvPr/>
        </p:nvSpPr>
        <p:spPr>
          <a:xfrm>
            <a:off x="4873752" y="1600200"/>
            <a:ext cx="3913632" cy="274320"/>
          </a:xfrm>
          <a:prstGeom prst="rect">
            <a:avLst/>
          </a:prstGeom>
          <a:noFill/>
          <a:ln/>
        </p:spPr>
        <p:txBody>
          <a:bodyPr wrap="square" lIns="0" tIns="0" rIns="0" bIns="0" rtlCol="0" anchor="ctr"/>
          <a:lstStyle/>
          <a:p>
            <a:pPr indent="0" marL="0">
              <a:buNone/>
            </a:pPr>
            <a:r>
              <a:rPr lang="en-US" sz="1150" dirty="0">
                <a:solidFill>
                  <a:srgbClr val="FFFFFF"/>
                </a:solidFill>
                <a:latin typeface="Calibri" pitchFamily="34" charset="0"/>
                <a:ea typeface="Calibri" pitchFamily="34" charset="-122"/>
                <a:cs typeface="Calibri" pitchFamily="34" charset="-120"/>
              </a:rPr>
              <a:t>Client requests → Server responds</a:t>
            </a:r>
            <a:endParaRPr lang="en-US" sz="1150" dirty="0"/>
          </a:p>
        </p:txBody>
      </p:sp>
      <p:sp>
        <p:nvSpPr>
          <p:cNvPr id="13" name="Shape 11"/>
          <p:cNvSpPr/>
          <p:nvPr/>
        </p:nvSpPr>
        <p:spPr>
          <a:xfrm>
            <a:off x="274320" y="2029968"/>
            <a:ext cx="4206240" cy="640080"/>
          </a:xfrm>
          <a:prstGeom prst="rect">
            <a:avLst/>
          </a:prstGeom>
          <a:solidFill>
            <a:srgbClr val="1E3A5F"/>
          </a:solidFill>
          <a:ln w="12700">
            <a:solidFill>
              <a:srgbClr val="1E3A5F"/>
            </a:solidFill>
            <a:prstDash val="solid"/>
          </a:ln>
          <a:effectLst>
            <a:outerShdw sx="100000" sy="100000" kx="0" ky="0" algn="bl" rotWithShape="0" blurRad="101600" dist="38100" dir="8100000">
              <a:srgbClr val="000000">
                <a:alpha val="25000"/>
              </a:srgbClr>
            </a:outerShdw>
          </a:effectLst>
        </p:spPr>
      </p:sp>
      <p:sp>
        <p:nvSpPr>
          <p:cNvPr id="14" name="Shape 12"/>
          <p:cNvSpPr/>
          <p:nvPr/>
        </p:nvSpPr>
        <p:spPr>
          <a:xfrm>
            <a:off x="274320" y="2029968"/>
            <a:ext cx="91440" cy="640080"/>
          </a:xfrm>
          <a:prstGeom prst="rect">
            <a:avLst/>
          </a:prstGeom>
          <a:solidFill>
            <a:srgbClr val="7C3AED"/>
          </a:solidFill>
          <a:ln w="12700">
            <a:solidFill>
              <a:srgbClr val="7C3AED"/>
            </a:solidFill>
            <a:prstDash val="solid"/>
          </a:ln>
        </p:spPr>
      </p:sp>
      <p:sp>
        <p:nvSpPr>
          <p:cNvPr id="15" name="Text 13"/>
          <p:cNvSpPr/>
          <p:nvPr/>
        </p:nvSpPr>
        <p:spPr>
          <a:xfrm>
            <a:off x="438912" y="2075688"/>
            <a:ext cx="1371600" cy="256032"/>
          </a:xfrm>
          <a:prstGeom prst="rect">
            <a:avLst/>
          </a:prstGeom>
          <a:noFill/>
          <a:ln/>
        </p:spPr>
        <p:txBody>
          <a:bodyPr wrap="square" lIns="0" tIns="0" rIns="0" bIns="0" rtlCol="0" anchor="ctr"/>
          <a:lstStyle/>
          <a:p>
            <a:pPr indent="0" marL="0">
              <a:buNone/>
            </a:pPr>
            <a:r>
              <a:rPr lang="en-US" sz="1300" b="1" dirty="0">
                <a:solidFill>
                  <a:srgbClr val="7C3AED"/>
                </a:solidFill>
                <a:latin typeface="Calibri" pitchFamily="34" charset="0"/>
                <a:ea typeface="Calibri" pitchFamily="34" charset="-122"/>
                <a:cs typeface="Calibri" pitchFamily="34" charset="-120"/>
              </a:rPr>
              <a:t>DNS</a:t>
            </a:r>
            <a:endParaRPr lang="en-US" sz="1300" dirty="0"/>
          </a:p>
        </p:txBody>
      </p:sp>
      <p:sp>
        <p:nvSpPr>
          <p:cNvPr id="16" name="Text 14"/>
          <p:cNvSpPr/>
          <p:nvPr/>
        </p:nvSpPr>
        <p:spPr>
          <a:xfrm>
            <a:off x="438912" y="2331720"/>
            <a:ext cx="3913632" cy="274320"/>
          </a:xfrm>
          <a:prstGeom prst="rect">
            <a:avLst/>
          </a:prstGeom>
          <a:noFill/>
          <a:ln/>
        </p:spPr>
        <p:txBody>
          <a:bodyPr wrap="square" lIns="0" tIns="0" rIns="0" bIns="0" rtlCol="0" anchor="ctr"/>
          <a:lstStyle/>
          <a:p>
            <a:pPr indent="0" marL="0">
              <a:buNone/>
            </a:pPr>
            <a:r>
              <a:rPr lang="en-US" sz="1150" dirty="0">
                <a:solidFill>
                  <a:srgbClr val="FFFFFF"/>
                </a:solidFill>
                <a:latin typeface="Calibri" pitchFamily="34" charset="0"/>
                <a:ea typeface="Calibri" pitchFamily="34" charset="-122"/>
                <a:cs typeface="Calibri" pitchFamily="34" charset="-120"/>
              </a:rPr>
              <a:t>Translates domain name to IP address</a:t>
            </a:r>
            <a:endParaRPr lang="en-US" sz="1150" dirty="0"/>
          </a:p>
        </p:txBody>
      </p:sp>
      <p:sp>
        <p:nvSpPr>
          <p:cNvPr id="17" name="Shape 15"/>
          <p:cNvSpPr/>
          <p:nvPr/>
        </p:nvSpPr>
        <p:spPr>
          <a:xfrm>
            <a:off x="4709160" y="2029968"/>
            <a:ext cx="4206240" cy="640080"/>
          </a:xfrm>
          <a:prstGeom prst="rect">
            <a:avLst/>
          </a:prstGeom>
          <a:solidFill>
            <a:srgbClr val="1E3A5F"/>
          </a:solidFill>
          <a:ln w="12700">
            <a:solidFill>
              <a:srgbClr val="1E3A5F"/>
            </a:solidFill>
            <a:prstDash val="solid"/>
          </a:ln>
          <a:effectLst>
            <a:outerShdw sx="100000" sy="100000" kx="0" ky="0" algn="bl" rotWithShape="0" blurRad="101600" dist="38100" dir="8100000">
              <a:srgbClr val="000000">
                <a:alpha val="25000"/>
              </a:srgbClr>
            </a:outerShdw>
          </a:effectLst>
        </p:spPr>
      </p:sp>
      <p:sp>
        <p:nvSpPr>
          <p:cNvPr id="18" name="Shape 16"/>
          <p:cNvSpPr/>
          <p:nvPr/>
        </p:nvSpPr>
        <p:spPr>
          <a:xfrm>
            <a:off x="4709160" y="2029968"/>
            <a:ext cx="91440" cy="640080"/>
          </a:xfrm>
          <a:prstGeom prst="rect">
            <a:avLst/>
          </a:prstGeom>
          <a:solidFill>
            <a:srgbClr val="F59E0B"/>
          </a:solidFill>
          <a:ln w="12700">
            <a:solidFill>
              <a:srgbClr val="F59E0B"/>
            </a:solidFill>
            <a:prstDash val="solid"/>
          </a:ln>
        </p:spPr>
      </p:sp>
      <p:sp>
        <p:nvSpPr>
          <p:cNvPr id="19" name="Text 17"/>
          <p:cNvSpPr/>
          <p:nvPr/>
        </p:nvSpPr>
        <p:spPr>
          <a:xfrm>
            <a:off x="4873752" y="2075688"/>
            <a:ext cx="1371600" cy="256032"/>
          </a:xfrm>
          <a:prstGeom prst="rect">
            <a:avLst/>
          </a:prstGeom>
          <a:noFill/>
          <a:ln/>
        </p:spPr>
        <p:txBody>
          <a:bodyPr wrap="square" lIns="0" tIns="0" rIns="0" bIns="0" rtlCol="0" anchor="ctr"/>
          <a:lstStyle/>
          <a:p>
            <a:pPr indent="0" marL="0">
              <a:buNone/>
            </a:pPr>
            <a:r>
              <a:rPr lang="en-US" sz="1300" b="1" dirty="0">
                <a:solidFill>
                  <a:srgbClr val="F59E0B"/>
                </a:solidFill>
                <a:latin typeface="Calibri" pitchFamily="34" charset="0"/>
                <a:ea typeface="Calibri" pitchFamily="34" charset="-122"/>
                <a:cs typeface="Calibri" pitchFamily="34" charset="-120"/>
              </a:rPr>
              <a:t>HTTP</a:t>
            </a:r>
            <a:endParaRPr lang="en-US" sz="1300" dirty="0"/>
          </a:p>
        </p:txBody>
      </p:sp>
      <p:sp>
        <p:nvSpPr>
          <p:cNvPr id="20" name="Text 18"/>
          <p:cNvSpPr/>
          <p:nvPr/>
        </p:nvSpPr>
        <p:spPr>
          <a:xfrm>
            <a:off x="4873752" y="2331720"/>
            <a:ext cx="3913632" cy="274320"/>
          </a:xfrm>
          <a:prstGeom prst="rect">
            <a:avLst/>
          </a:prstGeom>
          <a:noFill/>
          <a:ln/>
        </p:spPr>
        <p:txBody>
          <a:bodyPr wrap="square" lIns="0" tIns="0" rIns="0" bIns="0" rtlCol="0" anchor="ctr"/>
          <a:lstStyle/>
          <a:p>
            <a:pPr indent="0" marL="0">
              <a:buNone/>
            </a:pPr>
            <a:r>
              <a:rPr lang="en-US" sz="1150" dirty="0">
                <a:solidFill>
                  <a:srgbClr val="FFFFFF"/>
                </a:solidFill>
                <a:latin typeface="Calibri" pitchFamily="34" charset="0"/>
                <a:ea typeface="Calibri" pitchFamily="34" charset="-122"/>
                <a:cs typeface="Calibri" pitchFamily="34" charset="-120"/>
              </a:rPr>
              <a:t>Protocol for browser-server communication</a:t>
            </a:r>
            <a:endParaRPr lang="en-US" sz="1150" dirty="0"/>
          </a:p>
        </p:txBody>
      </p:sp>
      <p:sp>
        <p:nvSpPr>
          <p:cNvPr id="21" name="Shape 19"/>
          <p:cNvSpPr/>
          <p:nvPr/>
        </p:nvSpPr>
        <p:spPr>
          <a:xfrm>
            <a:off x="274320" y="2761488"/>
            <a:ext cx="4206240" cy="640080"/>
          </a:xfrm>
          <a:prstGeom prst="rect">
            <a:avLst/>
          </a:prstGeom>
          <a:solidFill>
            <a:srgbClr val="1E3A5F"/>
          </a:solidFill>
          <a:ln w="12700">
            <a:solidFill>
              <a:srgbClr val="1E3A5F"/>
            </a:solidFill>
            <a:prstDash val="solid"/>
          </a:ln>
          <a:effectLst>
            <a:outerShdw sx="100000" sy="100000" kx="0" ky="0" algn="bl" rotWithShape="0" blurRad="101600" dist="38100" dir="8100000">
              <a:srgbClr val="000000">
                <a:alpha val="25000"/>
              </a:srgbClr>
            </a:outerShdw>
          </a:effectLst>
        </p:spPr>
      </p:sp>
      <p:sp>
        <p:nvSpPr>
          <p:cNvPr id="22" name="Shape 20"/>
          <p:cNvSpPr/>
          <p:nvPr/>
        </p:nvSpPr>
        <p:spPr>
          <a:xfrm>
            <a:off x="274320" y="2761488"/>
            <a:ext cx="91440" cy="640080"/>
          </a:xfrm>
          <a:prstGeom prst="rect">
            <a:avLst/>
          </a:prstGeom>
          <a:solidFill>
            <a:srgbClr val="10B981"/>
          </a:solidFill>
          <a:ln w="12700">
            <a:solidFill>
              <a:srgbClr val="10B981"/>
            </a:solidFill>
            <a:prstDash val="solid"/>
          </a:ln>
        </p:spPr>
      </p:sp>
      <p:sp>
        <p:nvSpPr>
          <p:cNvPr id="23" name="Text 21"/>
          <p:cNvSpPr/>
          <p:nvPr/>
        </p:nvSpPr>
        <p:spPr>
          <a:xfrm>
            <a:off x="438912" y="2807208"/>
            <a:ext cx="1371600" cy="256032"/>
          </a:xfrm>
          <a:prstGeom prst="rect">
            <a:avLst/>
          </a:prstGeom>
          <a:noFill/>
          <a:ln/>
        </p:spPr>
        <p:txBody>
          <a:bodyPr wrap="square" lIns="0" tIns="0" rIns="0" bIns="0" rtlCol="0" anchor="ctr"/>
          <a:lstStyle/>
          <a:p>
            <a:pPr indent="0" marL="0">
              <a:buNone/>
            </a:pPr>
            <a:r>
              <a:rPr lang="en-US" sz="1300" b="1" dirty="0">
                <a:solidFill>
                  <a:srgbClr val="10B981"/>
                </a:solidFill>
                <a:latin typeface="Calibri" pitchFamily="34" charset="0"/>
                <a:ea typeface="Calibri" pitchFamily="34" charset="-122"/>
                <a:cs typeface="Calibri" pitchFamily="34" charset="-120"/>
              </a:rPr>
              <a:t>REST API</a:t>
            </a:r>
            <a:endParaRPr lang="en-US" sz="1300" dirty="0"/>
          </a:p>
        </p:txBody>
      </p:sp>
      <p:sp>
        <p:nvSpPr>
          <p:cNvPr id="24" name="Text 22"/>
          <p:cNvSpPr/>
          <p:nvPr/>
        </p:nvSpPr>
        <p:spPr>
          <a:xfrm>
            <a:off x="438912" y="3063240"/>
            <a:ext cx="3913632" cy="274320"/>
          </a:xfrm>
          <a:prstGeom prst="rect">
            <a:avLst/>
          </a:prstGeom>
          <a:noFill/>
          <a:ln/>
        </p:spPr>
        <p:txBody>
          <a:bodyPr wrap="square" lIns="0" tIns="0" rIns="0" bIns="0" rtlCol="0" anchor="ctr"/>
          <a:lstStyle/>
          <a:p>
            <a:pPr indent="0" marL="0">
              <a:buNone/>
            </a:pPr>
            <a:r>
              <a:rPr lang="en-US" sz="1150" dirty="0">
                <a:solidFill>
                  <a:srgbClr val="FFFFFF"/>
                </a:solidFill>
                <a:latin typeface="Calibri" pitchFamily="34" charset="0"/>
                <a:ea typeface="Calibri" pitchFamily="34" charset="-122"/>
                <a:cs typeface="Calibri" pitchFamily="34" charset="-120"/>
              </a:rPr>
              <a:t>Standard interface using HTTP verbs (GET/POST/PUT/DEL)</a:t>
            </a:r>
            <a:endParaRPr lang="en-US" sz="1150" dirty="0"/>
          </a:p>
        </p:txBody>
      </p:sp>
      <p:sp>
        <p:nvSpPr>
          <p:cNvPr id="25" name="Shape 23"/>
          <p:cNvSpPr/>
          <p:nvPr/>
        </p:nvSpPr>
        <p:spPr>
          <a:xfrm>
            <a:off x="4709160" y="2761488"/>
            <a:ext cx="4206240" cy="640080"/>
          </a:xfrm>
          <a:prstGeom prst="rect">
            <a:avLst/>
          </a:prstGeom>
          <a:solidFill>
            <a:srgbClr val="1E3A5F"/>
          </a:solidFill>
          <a:ln w="12700">
            <a:solidFill>
              <a:srgbClr val="1E3A5F"/>
            </a:solidFill>
            <a:prstDash val="solid"/>
          </a:ln>
          <a:effectLst>
            <a:outerShdw sx="100000" sy="100000" kx="0" ky="0" algn="bl" rotWithShape="0" blurRad="101600" dist="38100" dir="8100000">
              <a:srgbClr val="000000">
                <a:alpha val="25000"/>
              </a:srgbClr>
            </a:outerShdw>
          </a:effectLst>
        </p:spPr>
      </p:sp>
      <p:sp>
        <p:nvSpPr>
          <p:cNvPr id="26" name="Shape 24"/>
          <p:cNvSpPr/>
          <p:nvPr/>
        </p:nvSpPr>
        <p:spPr>
          <a:xfrm>
            <a:off x="4709160" y="2761488"/>
            <a:ext cx="91440" cy="640080"/>
          </a:xfrm>
          <a:prstGeom prst="rect">
            <a:avLst/>
          </a:prstGeom>
          <a:solidFill>
            <a:srgbClr val="EF4444"/>
          </a:solidFill>
          <a:ln w="12700">
            <a:solidFill>
              <a:srgbClr val="EF4444"/>
            </a:solidFill>
            <a:prstDash val="solid"/>
          </a:ln>
        </p:spPr>
      </p:sp>
      <p:sp>
        <p:nvSpPr>
          <p:cNvPr id="27" name="Text 25"/>
          <p:cNvSpPr/>
          <p:nvPr/>
        </p:nvSpPr>
        <p:spPr>
          <a:xfrm>
            <a:off x="4873752" y="2807208"/>
            <a:ext cx="1371600" cy="256032"/>
          </a:xfrm>
          <a:prstGeom prst="rect">
            <a:avLst/>
          </a:prstGeom>
          <a:noFill/>
          <a:ln/>
        </p:spPr>
        <p:txBody>
          <a:bodyPr wrap="square" lIns="0" tIns="0" rIns="0" bIns="0" rtlCol="0" anchor="ctr"/>
          <a:lstStyle/>
          <a:p>
            <a:pPr indent="0" marL="0">
              <a:buNone/>
            </a:pPr>
            <a:r>
              <a:rPr lang="en-US" sz="1300" b="1" dirty="0">
                <a:solidFill>
                  <a:srgbClr val="EF4444"/>
                </a:solidFill>
                <a:latin typeface="Calibri" pitchFamily="34" charset="0"/>
                <a:ea typeface="Calibri" pitchFamily="34" charset="-122"/>
                <a:cs typeface="Calibri" pitchFamily="34" charset="-120"/>
              </a:rPr>
              <a:t>Monolith</a:t>
            </a:r>
            <a:endParaRPr lang="en-US" sz="1300" dirty="0"/>
          </a:p>
        </p:txBody>
      </p:sp>
      <p:sp>
        <p:nvSpPr>
          <p:cNvPr id="28" name="Text 26"/>
          <p:cNvSpPr/>
          <p:nvPr/>
        </p:nvSpPr>
        <p:spPr>
          <a:xfrm>
            <a:off x="4873752" y="3063240"/>
            <a:ext cx="3913632" cy="274320"/>
          </a:xfrm>
          <a:prstGeom prst="rect">
            <a:avLst/>
          </a:prstGeom>
          <a:noFill/>
          <a:ln/>
        </p:spPr>
        <p:txBody>
          <a:bodyPr wrap="square" lIns="0" tIns="0" rIns="0" bIns="0" rtlCol="0" anchor="ctr"/>
          <a:lstStyle/>
          <a:p>
            <a:pPr indent="0" marL="0">
              <a:buNone/>
            </a:pPr>
            <a:r>
              <a:rPr lang="en-US" sz="1150" dirty="0">
                <a:solidFill>
                  <a:srgbClr val="FFFFFF"/>
                </a:solidFill>
                <a:latin typeface="Calibri" pitchFamily="34" charset="0"/>
                <a:ea typeface="Calibri" pitchFamily="34" charset="-122"/>
                <a:cs typeface="Calibri" pitchFamily="34" charset="-120"/>
              </a:rPr>
              <a:t>All modules in one deployable unit</a:t>
            </a:r>
            <a:endParaRPr lang="en-US" sz="1150" dirty="0"/>
          </a:p>
        </p:txBody>
      </p:sp>
      <p:sp>
        <p:nvSpPr>
          <p:cNvPr id="29" name="Shape 27"/>
          <p:cNvSpPr/>
          <p:nvPr/>
        </p:nvSpPr>
        <p:spPr>
          <a:xfrm>
            <a:off x="274320" y="3493008"/>
            <a:ext cx="4206240" cy="640080"/>
          </a:xfrm>
          <a:prstGeom prst="rect">
            <a:avLst/>
          </a:prstGeom>
          <a:solidFill>
            <a:srgbClr val="1E3A5F"/>
          </a:solidFill>
          <a:ln w="12700">
            <a:solidFill>
              <a:srgbClr val="1E3A5F"/>
            </a:solidFill>
            <a:prstDash val="solid"/>
          </a:ln>
          <a:effectLst>
            <a:outerShdw sx="100000" sy="100000" kx="0" ky="0" algn="bl" rotWithShape="0" blurRad="101600" dist="38100" dir="8100000">
              <a:srgbClr val="000000">
                <a:alpha val="25000"/>
              </a:srgbClr>
            </a:outerShdw>
          </a:effectLst>
        </p:spPr>
      </p:sp>
      <p:sp>
        <p:nvSpPr>
          <p:cNvPr id="30" name="Shape 28"/>
          <p:cNvSpPr/>
          <p:nvPr/>
        </p:nvSpPr>
        <p:spPr>
          <a:xfrm>
            <a:off x="274320" y="3493008"/>
            <a:ext cx="91440" cy="640080"/>
          </a:xfrm>
          <a:prstGeom prst="rect">
            <a:avLst/>
          </a:prstGeom>
          <a:solidFill>
            <a:srgbClr val="0EA5E9"/>
          </a:solidFill>
          <a:ln w="12700">
            <a:solidFill>
              <a:srgbClr val="0EA5E9"/>
            </a:solidFill>
            <a:prstDash val="solid"/>
          </a:ln>
        </p:spPr>
      </p:sp>
      <p:sp>
        <p:nvSpPr>
          <p:cNvPr id="31" name="Text 29"/>
          <p:cNvSpPr/>
          <p:nvPr/>
        </p:nvSpPr>
        <p:spPr>
          <a:xfrm>
            <a:off x="438912" y="3538728"/>
            <a:ext cx="1371600" cy="256032"/>
          </a:xfrm>
          <a:prstGeom prst="rect">
            <a:avLst/>
          </a:prstGeom>
          <a:noFill/>
          <a:ln/>
        </p:spPr>
        <p:txBody>
          <a:bodyPr wrap="square" lIns="0" tIns="0" rIns="0" bIns="0" rtlCol="0" anchor="ctr"/>
          <a:lstStyle/>
          <a:p>
            <a:pPr indent="0" marL="0">
              <a:buNone/>
            </a:pPr>
            <a:r>
              <a:rPr lang="en-US" sz="1300" b="1" dirty="0">
                <a:solidFill>
                  <a:srgbClr val="0EA5E9"/>
                </a:solidFill>
                <a:latin typeface="Calibri" pitchFamily="34" charset="0"/>
                <a:ea typeface="Calibri" pitchFamily="34" charset="-122"/>
                <a:cs typeface="Calibri" pitchFamily="34" charset="-120"/>
              </a:rPr>
              <a:t>Microservices</a:t>
            </a:r>
            <a:endParaRPr lang="en-US" sz="1300" dirty="0"/>
          </a:p>
        </p:txBody>
      </p:sp>
      <p:sp>
        <p:nvSpPr>
          <p:cNvPr id="32" name="Text 30"/>
          <p:cNvSpPr/>
          <p:nvPr/>
        </p:nvSpPr>
        <p:spPr>
          <a:xfrm>
            <a:off x="438912" y="3794760"/>
            <a:ext cx="3913632" cy="274320"/>
          </a:xfrm>
          <a:prstGeom prst="rect">
            <a:avLst/>
          </a:prstGeom>
          <a:noFill/>
          <a:ln/>
        </p:spPr>
        <p:txBody>
          <a:bodyPr wrap="square" lIns="0" tIns="0" rIns="0" bIns="0" rtlCol="0" anchor="ctr"/>
          <a:lstStyle/>
          <a:p>
            <a:pPr indent="0" marL="0">
              <a:buNone/>
            </a:pPr>
            <a:r>
              <a:rPr lang="en-US" sz="1150" dirty="0">
                <a:solidFill>
                  <a:srgbClr val="FFFFFF"/>
                </a:solidFill>
                <a:latin typeface="Calibri" pitchFamily="34" charset="0"/>
                <a:ea typeface="Calibri" pitchFamily="34" charset="-122"/>
                <a:cs typeface="Calibri" pitchFamily="34" charset="-120"/>
              </a:rPr>
              <a:t>Independent services, each with its own DB</a:t>
            </a:r>
            <a:endParaRPr lang="en-US" sz="1150" dirty="0"/>
          </a:p>
        </p:txBody>
      </p:sp>
      <p:sp>
        <p:nvSpPr>
          <p:cNvPr id="33" name="Shape 31"/>
          <p:cNvSpPr/>
          <p:nvPr/>
        </p:nvSpPr>
        <p:spPr>
          <a:xfrm>
            <a:off x="4709160" y="3493008"/>
            <a:ext cx="4206240" cy="640080"/>
          </a:xfrm>
          <a:prstGeom prst="rect">
            <a:avLst/>
          </a:prstGeom>
          <a:solidFill>
            <a:srgbClr val="1E3A5F"/>
          </a:solidFill>
          <a:ln w="12700">
            <a:solidFill>
              <a:srgbClr val="1E3A5F"/>
            </a:solidFill>
            <a:prstDash val="solid"/>
          </a:ln>
          <a:effectLst>
            <a:outerShdw sx="100000" sy="100000" kx="0" ky="0" algn="bl" rotWithShape="0" blurRad="101600" dist="38100" dir="8100000">
              <a:srgbClr val="000000">
                <a:alpha val="25000"/>
              </a:srgbClr>
            </a:outerShdw>
          </a:effectLst>
        </p:spPr>
      </p:sp>
      <p:sp>
        <p:nvSpPr>
          <p:cNvPr id="34" name="Shape 32"/>
          <p:cNvSpPr/>
          <p:nvPr/>
        </p:nvSpPr>
        <p:spPr>
          <a:xfrm>
            <a:off x="4709160" y="3493008"/>
            <a:ext cx="91440" cy="640080"/>
          </a:xfrm>
          <a:prstGeom prst="rect">
            <a:avLst/>
          </a:prstGeom>
          <a:solidFill>
            <a:srgbClr val="00D4FF"/>
          </a:solidFill>
          <a:ln w="12700">
            <a:solidFill>
              <a:srgbClr val="00D4FF"/>
            </a:solidFill>
            <a:prstDash val="solid"/>
          </a:ln>
        </p:spPr>
      </p:sp>
      <p:sp>
        <p:nvSpPr>
          <p:cNvPr id="35" name="Text 33"/>
          <p:cNvSpPr/>
          <p:nvPr/>
        </p:nvSpPr>
        <p:spPr>
          <a:xfrm>
            <a:off x="4873752" y="3538728"/>
            <a:ext cx="1371600" cy="256032"/>
          </a:xfrm>
          <a:prstGeom prst="rect">
            <a:avLst/>
          </a:prstGeom>
          <a:noFill/>
          <a:ln/>
        </p:spPr>
        <p:txBody>
          <a:bodyPr wrap="square" lIns="0" tIns="0" rIns="0" bIns="0" rtlCol="0" anchor="ctr"/>
          <a:lstStyle/>
          <a:p>
            <a:pPr indent="0" marL="0">
              <a:buNone/>
            </a:pPr>
            <a:r>
              <a:rPr lang="en-US" sz="1300" b="1" dirty="0">
                <a:solidFill>
                  <a:srgbClr val="00D4FF"/>
                </a:solidFill>
                <a:latin typeface="Calibri" pitchFamily="34" charset="0"/>
                <a:ea typeface="Calibri" pitchFamily="34" charset="-122"/>
                <a:cs typeface="Calibri" pitchFamily="34" charset="-120"/>
              </a:rPr>
              <a:t>Load Balancer</a:t>
            </a:r>
            <a:endParaRPr lang="en-US" sz="1300" dirty="0"/>
          </a:p>
        </p:txBody>
      </p:sp>
      <p:sp>
        <p:nvSpPr>
          <p:cNvPr id="36" name="Text 34"/>
          <p:cNvSpPr/>
          <p:nvPr/>
        </p:nvSpPr>
        <p:spPr>
          <a:xfrm>
            <a:off x="4873752" y="3794760"/>
            <a:ext cx="3913632" cy="274320"/>
          </a:xfrm>
          <a:prstGeom prst="rect">
            <a:avLst/>
          </a:prstGeom>
          <a:noFill/>
          <a:ln/>
        </p:spPr>
        <p:txBody>
          <a:bodyPr wrap="square" lIns="0" tIns="0" rIns="0" bIns="0" rtlCol="0" anchor="ctr"/>
          <a:lstStyle/>
          <a:p>
            <a:pPr indent="0" marL="0">
              <a:buNone/>
            </a:pPr>
            <a:r>
              <a:rPr lang="en-US" sz="1150" dirty="0">
                <a:solidFill>
                  <a:srgbClr val="FFFFFF"/>
                </a:solidFill>
                <a:latin typeface="Calibri" pitchFamily="34" charset="0"/>
                <a:ea typeface="Calibri" pitchFamily="34" charset="-122"/>
                <a:cs typeface="Calibri" pitchFamily="34" charset="-120"/>
              </a:rPr>
              <a:t>Distributes traffic across multiple servers</a:t>
            </a:r>
            <a:endParaRPr lang="en-US" sz="1150" dirty="0"/>
          </a:p>
        </p:txBody>
      </p:sp>
      <p:sp>
        <p:nvSpPr>
          <p:cNvPr id="37" name="Shape 35"/>
          <p:cNvSpPr/>
          <p:nvPr/>
        </p:nvSpPr>
        <p:spPr>
          <a:xfrm>
            <a:off x="274320" y="4224528"/>
            <a:ext cx="4206240" cy="640080"/>
          </a:xfrm>
          <a:prstGeom prst="rect">
            <a:avLst/>
          </a:prstGeom>
          <a:solidFill>
            <a:srgbClr val="1E3A5F"/>
          </a:solidFill>
          <a:ln w="12700">
            <a:solidFill>
              <a:srgbClr val="1E3A5F"/>
            </a:solidFill>
            <a:prstDash val="solid"/>
          </a:ln>
          <a:effectLst>
            <a:outerShdw sx="100000" sy="100000" kx="0" ky="0" algn="bl" rotWithShape="0" blurRad="101600" dist="38100" dir="8100000">
              <a:srgbClr val="000000">
                <a:alpha val="25000"/>
              </a:srgbClr>
            </a:outerShdw>
          </a:effectLst>
        </p:spPr>
      </p:sp>
      <p:sp>
        <p:nvSpPr>
          <p:cNvPr id="38" name="Shape 36"/>
          <p:cNvSpPr/>
          <p:nvPr/>
        </p:nvSpPr>
        <p:spPr>
          <a:xfrm>
            <a:off x="274320" y="4224528"/>
            <a:ext cx="91440" cy="640080"/>
          </a:xfrm>
          <a:prstGeom prst="rect">
            <a:avLst/>
          </a:prstGeom>
          <a:solidFill>
            <a:srgbClr val="7C3AED"/>
          </a:solidFill>
          <a:ln w="12700">
            <a:solidFill>
              <a:srgbClr val="7C3AED"/>
            </a:solidFill>
            <a:prstDash val="solid"/>
          </a:ln>
        </p:spPr>
      </p:sp>
      <p:sp>
        <p:nvSpPr>
          <p:cNvPr id="39" name="Text 37"/>
          <p:cNvSpPr/>
          <p:nvPr/>
        </p:nvSpPr>
        <p:spPr>
          <a:xfrm>
            <a:off x="438912" y="4270248"/>
            <a:ext cx="1371600" cy="256032"/>
          </a:xfrm>
          <a:prstGeom prst="rect">
            <a:avLst/>
          </a:prstGeom>
          <a:noFill/>
          <a:ln/>
        </p:spPr>
        <p:txBody>
          <a:bodyPr wrap="square" lIns="0" tIns="0" rIns="0" bIns="0" rtlCol="0" anchor="ctr"/>
          <a:lstStyle/>
          <a:p>
            <a:pPr indent="0" marL="0">
              <a:buNone/>
            </a:pPr>
            <a:r>
              <a:rPr lang="en-US" sz="1300" b="1" dirty="0">
                <a:solidFill>
                  <a:srgbClr val="7C3AED"/>
                </a:solidFill>
                <a:latin typeface="Calibri" pitchFamily="34" charset="0"/>
                <a:ea typeface="Calibri" pitchFamily="34" charset="-122"/>
                <a:cs typeface="Calibri" pitchFamily="34" charset="-120"/>
              </a:rPr>
              <a:t>JSON</a:t>
            </a:r>
            <a:endParaRPr lang="en-US" sz="1300" dirty="0"/>
          </a:p>
        </p:txBody>
      </p:sp>
      <p:sp>
        <p:nvSpPr>
          <p:cNvPr id="40" name="Text 38"/>
          <p:cNvSpPr/>
          <p:nvPr/>
        </p:nvSpPr>
        <p:spPr>
          <a:xfrm>
            <a:off x="438912" y="4526280"/>
            <a:ext cx="3913632" cy="274320"/>
          </a:xfrm>
          <a:prstGeom prst="rect">
            <a:avLst/>
          </a:prstGeom>
          <a:noFill/>
          <a:ln/>
        </p:spPr>
        <p:txBody>
          <a:bodyPr wrap="square" lIns="0" tIns="0" rIns="0" bIns="0" rtlCol="0" anchor="ctr"/>
          <a:lstStyle/>
          <a:p>
            <a:pPr indent="0" marL="0">
              <a:buNone/>
            </a:pPr>
            <a:r>
              <a:rPr lang="en-US" sz="1150" dirty="0">
                <a:solidFill>
                  <a:srgbClr val="FFFFFF"/>
                </a:solidFill>
                <a:latin typeface="Calibri" pitchFamily="34" charset="0"/>
                <a:ea typeface="Calibri" pitchFamily="34" charset="-122"/>
                <a:cs typeface="Calibri" pitchFamily="34" charset="-120"/>
              </a:rPr>
              <a:t>Lightweight data format for API communication</a:t>
            </a:r>
            <a:endParaRPr lang="en-US" sz="1150" dirty="0"/>
          </a:p>
        </p:txBody>
      </p:sp>
      <p:sp>
        <p:nvSpPr>
          <p:cNvPr id="41" name="Shape 39"/>
          <p:cNvSpPr/>
          <p:nvPr/>
        </p:nvSpPr>
        <p:spPr>
          <a:xfrm>
            <a:off x="4709160" y="4224528"/>
            <a:ext cx="4206240" cy="640080"/>
          </a:xfrm>
          <a:prstGeom prst="rect">
            <a:avLst/>
          </a:prstGeom>
          <a:solidFill>
            <a:srgbClr val="1E3A5F"/>
          </a:solidFill>
          <a:ln w="12700">
            <a:solidFill>
              <a:srgbClr val="1E3A5F"/>
            </a:solidFill>
            <a:prstDash val="solid"/>
          </a:ln>
          <a:effectLst>
            <a:outerShdw sx="100000" sy="100000" kx="0" ky="0" algn="bl" rotWithShape="0" blurRad="101600" dist="38100" dir="8100000">
              <a:srgbClr val="000000">
                <a:alpha val="25000"/>
              </a:srgbClr>
            </a:outerShdw>
          </a:effectLst>
        </p:spPr>
      </p:sp>
      <p:sp>
        <p:nvSpPr>
          <p:cNvPr id="42" name="Shape 40"/>
          <p:cNvSpPr/>
          <p:nvPr/>
        </p:nvSpPr>
        <p:spPr>
          <a:xfrm>
            <a:off x="4709160" y="4224528"/>
            <a:ext cx="91440" cy="640080"/>
          </a:xfrm>
          <a:prstGeom prst="rect">
            <a:avLst/>
          </a:prstGeom>
          <a:solidFill>
            <a:srgbClr val="F59E0B"/>
          </a:solidFill>
          <a:ln w="12700">
            <a:solidFill>
              <a:srgbClr val="F59E0B"/>
            </a:solidFill>
            <a:prstDash val="solid"/>
          </a:ln>
        </p:spPr>
      </p:sp>
      <p:sp>
        <p:nvSpPr>
          <p:cNvPr id="43" name="Text 41"/>
          <p:cNvSpPr/>
          <p:nvPr/>
        </p:nvSpPr>
        <p:spPr>
          <a:xfrm>
            <a:off x="4873752" y="4270248"/>
            <a:ext cx="1371600" cy="256032"/>
          </a:xfrm>
          <a:prstGeom prst="rect">
            <a:avLst/>
          </a:prstGeom>
          <a:noFill/>
          <a:ln/>
        </p:spPr>
        <p:txBody>
          <a:bodyPr wrap="square" lIns="0" tIns="0" rIns="0" bIns="0" rtlCol="0" anchor="ctr"/>
          <a:lstStyle/>
          <a:p>
            <a:pPr indent="0" marL="0">
              <a:buNone/>
            </a:pPr>
            <a:r>
              <a:rPr lang="en-US" sz="1300" b="1" dirty="0">
                <a:solidFill>
                  <a:srgbClr val="F59E0B"/>
                </a:solidFill>
                <a:latin typeface="Calibri" pitchFamily="34" charset="0"/>
                <a:ea typeface="Calibri" pitchFamily="34" charset="-122"/>
                <a:cs typeface="Calibri" pitchFamily="34" charset="-120"/>
              </a:rPr>
              <a:t>Status Codes</a:t>
            </a:r>
            <a:endParaRPr lang="en-US" sz="1300" dirty="0"/>
          </a:p>
        </p:txBody>
      </p:sp>
      <p:sp>
        <p:nvSpPr>
          <p:cNvPr id="44" name="Text 42"/>
          <p:cNvSpPr/>
          <p:nvPr/>
        </p:nvSpPr>
        <p:spPr>
          <a:xfrm>
            <a:off x="4873752" y="4526280"/>
            <a:ext cx="3913632" cy="274320"/>
          </a:xfrm>
          <a:prstGeom prst="rect">
            <a:avLst/>
          </a:prstGeom>
          <a:noFill/>
          <a:ln/>
        </p:spPr>
        <p:txBody>
          <a:bodyPr wrap="square" lIns="0" tIns="0" rIns="0" bIns="0" rtlCol="0" anchor="ctr"/>
          <a:lstStyle/>
          <a:p>
            <a:pPr indent="0" marL="0">
              <a:buNone/>
            </a:pPr>
            <a:r>
              <a:rPr lang="en-US" sz="1150" dirty="0">
                <a:solidFill>
                  <a:srgbClr val="FFFFFF"/>
                </a:solidFill>
                <a:latin typeface="Calibri" pitchFamily="34" charset="0"/>
                <a:ea typeface="Calibri" pitchFamily="34" charset="-122"/>
                <a:cs typeface="Calibri" pitchFamily="34" charset="-120"/>
              </a:rPr>
              <a:t>200=OK, 404=Not Found, 500=Server Error</a:t>
            </a:r>
            <a:endParaRPr lang="en-US" sz="11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D1B2A"/>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D4FF"/>
          </a:solidFill>
          <a:ln w="12700">
            <a:solidFill>
              <a:srgbClr val="00D4FF"/>
            </a:solidFill>
            <a:prstDash val="solid"/>
          </a:ln>
        </p:spPr>
      </p:sp>
      <p:sp>
        <p:nvSpPr>
          <p:cNvPr id="3" name="Text 1"/>
          <p:cNvSpPr/>
          <p:nvPr/>
        </p:nvSpPr>
        <p:spPr>
          <a:xfrm>
            <a:off x="457200" y="137160"/>
            <a:ext cx="8229600" cy="640080"/>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What to Learn Next</a:t>
            </a:r>
            <a:endParaRPr lang="en-US" sz="3200" dirty="0"/>
          </a:p>
        </p:txBody>
      </p:sp>
      <p:sp>
        <p:nvSpPr>
          <p:cNvPr id="4" name="Text 2"/>
          <p:cNvSpPr/>
          <p:nvPr/>
        </p:nvSpPr>
        <p:spPr>
          <a:xfrm>
            <a:off x="457200" y="749808"/>
            <a:ext cx="8229600" cy="320040"/>
          </a:xfrm>
          <a:prstGeom prst="rect">
            <a:avLst/>
          </a:prstGeom>
          <a:noFill/>
          <a:ln/>
        </p:spPr>
        <p:txBody>
          <a:bodyPr wrap="square" lIns="0" tIns="0" rIns="0" bIns="0" rtlCol="0" anchor="ctr"/>
          <a:lstStyle/>
          <a:p>
            <a:pPr indent="0" marL="0">
              <a:buNone/>
            </a:pPr>
            <a:r>
              <a:rPr lang="en-US" sz="1400" i="1" dirty="0">
                <a:solidFill>
                  <a:srgbClr val="00D4FF"/>
                </a:solidFill>
                <a:latin typeface="Calibri" pitchFamily="34" charset="0"/>
                <a:ea typeface="Calibri" pitchFamily="34" charset="-122"/>
                <a:cs typeface="Calibri" pitchFamily="34" charset="-120"/>
              </a:rPr>
              <a:t>Your Learning Path Forward 🚀</a:t>
            </a:r>
            <a:endParaRPr lang="en-US" sz="1400" dirty="0"/>
          </a:p>
        </p:txBody>
      </p:sp>
      <p:sp>
        <p:nvSpPr>
          <p:cNvPr id="5" name="Shape 3"/>
          <p:cNvSpPr/>
          <p:nvPr/>
        </p:nvSpPr>
        <p:spPr>
          <a:xfrm>
            <a:off x="274320" y="1234440"/>
            <a:ext cx="2697480" cy="2697480"/>
          </a:xfrm>
          <a:prstGeom prst="rect">
            <a:avLst/>
          </a:prstGeom>
          <a:solidFill>
            <a:srgbClr val="1E3A5F"/>
          </a:solidFill>
          <a:ln w="12700">
            <a:solidFill>
              <a:srgbClr val="1E3A5F"/>
            </a:solidFill>
            <a:prstDash val="solid"/>
          </a:ln>
          <a:effectLst>
            <a:outerShdw sx="100000" sy="100000" kx="0" ky="0" algn="bl" rotWithShape="0" blurRad="101600" dist="38100" dir="8100000">
              <a:srgbClr val="000000">
                <a:alpha val="25000"/>
              </a:srgbClr>
            </a:outerShdw>
          </a:effectLst>
        </p:spPr>
      </p:sp>
      <p:sp>
        <p:nvSpPr>
          <p:cNvPr id="6" name="Shape 4"/>
          <p:cNvSpPr/>
          <p:nvPr/>
        </p:nvSpPr>
        <p:spPr>
          <a:xfrm>
            <a:off x="274320" y="1234440"/>
            <a:ext cx="2697480" cy="64008"/>
          </a:xfrm>
          <a:prstGeom prst="rect">
            <a:avLst/>
          </a:prstGeom>
          <a:solidFill>
            <a:srgbClr val="10B981"/>
          </a:solidFill>
          <a:ln w="12700">
            <a:solidFill>
              <a:srgbClr val="10B981"/>
            </a:solidFill>
            <a:prstDash val="solid"/>
          </a:ln>
        </p:spPr>
      </p:sp>
      <p:sp>
        <p:nvSpPr>
          <p:cNvPr id="7" name="Text 5"/>
          <p:cNvSpPr/>
          <p:nvPr/>
        </p:nvSpPr>
        <p:spPr>
          <a:xfrm>
            <a:off x="274320" y="1353312"/>
            <a:ext cx="2697480" cy="594360"/>
          </a:xfrm>
          <a:prstGeom prst="rect">
            <a:avLst/>
          </a:prstGeom>
          <a:noFill/>
          <a:ln/>
        </p:spPr>
        <p:txBody>
          <a:bodyPr wrap="square" lIns="0" tIns="0" rIns="0" bIns="0" rtlCol="0" anchor="ctr"/>
          <a:lstStyle/>
          <a:p>
            <a:pPr algn="ctr" indent="0" marL="0">
              <a:buNone/>
            </a:pPr>
            <a:r>
              <a:rPr lang="en-US" sz="2600" dirty="0">
                <a:solidFill>
                  <a:srgbClr val="000000"/>
                </a:solidFill>
              </a:rPr>
              <a:t>🌱</a:t>
            </a:r>
            <a:endParaRPr lang="en-US" sz="2600" dirty="0"/>
          </a:p>
        </p:txBody>
      </p:sp>
      <p:sp>
        <p:nvSpPr>
          <p:cNvPr id="8" name="Text 6"/>
          <p:cNvSpPr/>
          <p:nvPr/>
        </p:nvSpPr>
        <p:spPr>
          <a:xfrm>
            <a:off x="274320" y="1920240"/>
            <a:ext cx="2697480" cy="384048"/>
          </a:xfrm>
          <a:prstGeom prst="rect">
            <a:avLst/>
          </a:prstGeom>
          <a:noFill/>
          <a:ln/>
        </p:spPr>
        <p:txBody>
          <a:bodyPr wrap="square" lIns="0" tIns="0" rIns="0" bIns="0" rtlCol="0" anchor="ctr"/>
          <a:lstStyle/>
          <a:p>
            <a:pPr algn="ctr" indent="0" marL="0">
              <a:buNone/>
            </a:pPr>
            <a:r>
              <a:rPr lang="en-US" sz="1400" b="1" dirty="0">
                <a:solidFill>
                  <a:srgbClr val="10B981"/>
                </a:solidFill>
                <a:latin typeface="Calibri" pitchFamily="34" charset="0"/>
                <a:ea typeface="Calibri" pitchFamily="34" charset="-122"/>
                <a:cs typeface="Calibri" pitchFamily="34" charset="-120"/>
              </a:rPr>
              <a:t>BEGINNER</a:t>
            </a:r>
            <a:endParaRPr lang="en-US" sz="1400" dirty="0"/>
          </a:p>
        </p:txBody>
      </p:sp>
      <p:sp>
        <p:nvSpPr>
          <p:cNvPr id="9" name="Shape 7"/>
          <p:cNvSpPr/>
          <p:nvPr/>
        </p:nvSpPr>
        <p:spPr>
          <a:xfrm>
            <a:off x="475488" y="2404872"/>
            <a:ext cx="146304" cy="146304"/>
          </a:xfrm>
          <a:prstGeom prst="ellipse">
            <a:avLst/>
          </a:prstGeom>
          <a:solidFill>
            <a:srgbClr val="10B981"/>
          </a:solidFill>
          <a:ln w="12700">
            <a:solidFill>
              <a:srgbClr val="10B981"/>
            </a:solidFill>
            <a:prstDash val="solid"/>
          </a:ln>
        </p:spPr>
      </p:sp>
      <p:sp>
        <p:nvSpPr>
          <p:cNvPr id="10" name="Text 8"/>
          <p:cNvSpPr/>
          <p:nvPr/>
        </p:nvSpPr>
        <p:spPr>
          <a:xfrm>
            <a:off x="713232" y="2377440"/>
            <a:ext cx="2176272" cy="384048"/>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HTML, CSS, JavaScript basics</a:t>
            </a:r>
            <a:endParaRPr lang="en-US" sz="1200" dirty="0"/>
          </a:p>
        </p:txBody>
      </p:sp>
      <p:sp>
        <p:nvSpPr>
          <p:cNvPr id="11" name="Shape 9"/>
          <p:cNvSpPr/>
          <p:nvPr/>
        </p:nvSpPr>
        <p:spPr>
          <a:xfrm>
            <a:off x="475488" y="2862072"/>
            <a:ext cx="146304" cy="146304"/>
          </a:xfrm>
          <a:prstGeom prst="ellipse">
            <a:avLst/>
          </a:prstGeom>
          <a:solidFill>
            <a:srgbClr val="10B981"/>
          </a:solidFill>
          <a:ln w="12700">
            <a:solidFill>
              <a:srgbClr val="10B981"/>
            </a:solidFill>
            <a:prstDash val="solid"/>
          </a:ln>
        </p:spPr>
      </p:sp>
      <p:sp>
        <p:nvSpPr>
          <p:cNvPr id="12" name="Text 10"/>
          <p:cNvSpPr/>
          <p:nvPr/>
        </p:nvSpPr>
        <p:spPr>
          <a:xfrm>
            <a:off x="713232" y="2834640"/>
            <a:ext cx="2176272" cy="384048"/>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Git &amp; GitHub</a:t>
            </a:r>
            <a:endParaRPr lang="en-US" sz="1200" dirty="0"/>
          </a:p>
        </p:txBody>
      </p:sp>
      <p:sp>
        <p:nvSpPr>
          <p:cNvPr id="13" name="Shape 11"/>
          <p:cNvSpPr/>
          <p:nvPr/>
        </p:nvSpPr>
        <p:spPr>
          <a:xfrm>
            <a:off x="475488" y="3319272"/>
            <a:ext cx="146304" cy="146304"/>
          </a:xfrm>
          <a:prstGeom prst="ellipse">
            <a:avLst/>
          </a:prstGeom>
          <a:solidFill>
            <a:srgbClr val="10B981"/>
          </a:solidFill>
          <a:ln w="12700">
            <a:solidFill>
              <a:srgbClr val="10B981"/>
            </a:solidFill>
            <a:prstDash val="solid"/>
          </a:ln>
        </p:spPr>
      </p:sp>
      <p:sp>
        <p:nvSpPr>
          <p:cNvPr id="14" name="Text 12"/>
          <p:cNvSpPr/>
          <p:nvPr/>
        </p:nvSpPr>
        <p:spPr>
          <a:xfrm>
            <a:off x="713232" y="3291840"/>
            <a:ext cx="2176272" cy="384048"/>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Basic REST API with Postman</a:t>
            </a:r>
            <a:endParaRPr lang="en-US" sz="1200" dirty="0"/>
          </a:p>
        </p:txBody>
      </p:sp>
      <p:sp>
        <p:nvSpPr>
          <p:cNvPr id="15" name="Shape 13"/>
          <p:cNvSpPr/>
          <p:nvPr/>
        </p:nvSpPr>
        <p:spPr>
          <a:xfrm>
            <a:off x="3246120" y="1234440"/>
            <a:ext cx="2697480" cy="2697480"/>
          </a:xfrm>
          <a:prstGeom prst="rect">
            <a:avLst/>
          </a:prstGeom>
          <a:solidFill>
            <a:srgbClr val="1E3A5F"/>
          </a:solidFill>
          <a:ln w="12700">
            <a:solidFill>
              <a:srgbClr val="1E3A5F"/>
            </a:solidFill>
            <a:prstDash val="solid"/>
          </a:ln>
          <a:effectLst>
            <a:outerShdw sx="100000" sy="100000" kx="0" ky="0" algn="bl" rotWithShape="0" blurRad="101600" dist="38100" dir="8100000">
              <a:srgbClr val="000000">
                <a:alpha val="25000"/>
              </a:srgbClr>
            </a:outerShdw>
          </a:effectLst>
        </p:spPr>
      </p:sp>
      <p:sp>
        <p:nvSpPr>
          <p:cNvPr id="16" name="Shape 14"/>
          <p:cNvSpPr/>
          <p:nvPr/>
        </p:nvSpPr>
        <p:spPr>
          <a:xfrm>
            <a:off x="3246120" y="1234440"/>
            <a:ext cx="2697480" cy="64008"/>
          </a:xfrm>
          <a:prstGeom prst="rect">
            <a:avLst/>
          </a:prstGeom>
          <a:solidFill>
            <a:srgbClr val="00D4FF"/>
          </a:solidFill>
          <a:ln w="12700">
            <a:solidFill>
              <a:srgbClr val="00D4FF"/>
            </a:solidFill>
            <a:prstDash val="solid"/>
          </a:ln>
        </p:spPr>
      </p:sp>
      <p:sp>
        <p:nvSpPr>
          <p:cNvPr id="17" name="Text 15"/>
          <p:cNvSpPr/>
          <p:nvPr/>
        </p:nvSpPr>
        <p:spPr>
          <a:xfrm>
            <a:off x="3246120" y="1353312"/>
            <a:ext cx="2697480" cy="594360"/>
          </a:xfrm>
          <a:prstGeom prst="rect">
            <a:avLst/>
          </a:prstGeom>
          <a:noFill/>
          <a:ln/>
        </p:spPr>
        <p:txBody>
          <a:bodyPr wrap="square" lIns="0" tIns="0" rIns="0" bIns="0" rtlCol="0" anchor="ctr"/>
          <a:lstStyle/>
          <a:p>
            <a:pPr algn="ctr" indent="0" marL="0">
              <a:buNone/>
            </a:pPr>
            <a:r>
              <a:rPr lang="en-US" sz="2600" dirty="0">
                <a:solidFill>
                  <a:srgbClr val="000000"/>
                </a:solidFill>
              </a:rPr>
              <a:t>⚡</a:t>
            </a:r>
            <a:endParaRPr lang="en-US" sz="2600" dirty="0"/>
          </a:p>
        </p:txBody>
      </p:sp>
      <p:sp>
        <p:nvSpPr>
          <p:cNvPr id="18" name="Text 16"/>
          <p:cNvSpPr/>
          <p:nvPr/>
        </p:nvSpPr>
        <p:spPr>
          <a:xfrm>
            <a:off x="3246120" y="1920240"/>
            <a:ext cx="2697480" cy="384048"/>
          </a:xfrm>
          <a:prstGeom prst="rect">
            <a:avLst/>
          </a:prstGeom>
          <a:noFill/>
          <a:ln/>
        </p:spPr>
        <p:txBody>
          <a:bodyPr wrap="square" lIns="0" tIns="0" rIns="0" bIns="0" rtlCol="0" anchor="ctr"/>
          <a:lstStyle/>
          <a:p>
            <a:pPr algn="ctr" indent="0" marL="0">
              <a:buNone/>
            </a:pPr>
            <a:r>
              <a:rPr lang="en-US" sz="1400" b="1" dirty="0">
                <a:solidFill>
                  <a:srgbClr val="00D4FF"/>
                </a:solidFill>
                <a:latin typeface="Calibri" pitchFamily="34" charset="0"/>
                <a:ea typeface="Calibri" pitchFamily="34" charset="-122"/>
                <a:cs typeface="Calibri" pitchFamily="34" charset="-120"/>
              </a:rPr>
              <a:t>INTERMEDIATE</a:t>
            </a:r>
            <a:endParaRPr lang="en-US" sz="1400" dirty="0"/>
          </a:p>
        </p:txBody>
      </p:sp>
      <p:sp>
        <p:nvSpPr>
          <p:cNvPr id="19" name="Shape 17"/>
          <p:cNvSpPr/>
          <p:nvPr/>
        </p:nvSpPr>
        <p:spPr>
          <a:xfrm>
            <a:off x="3447288" y="2404872"/>
            <a:ext cx="146304" cy="146304"/>
          </a:xfrm>
          <a:prstGeom prst="ellipse">
            <a:avLst/>
          </a:prstGeom>
          <a:solidFill>
            <a:srgbClr val="00D4FF"/>
          </a:solidFill>
          <a:ln w="12700">
            <a:solidFill>
              <a:srgbClr val="00D4FF"/>
            </a:solidFill>
            <a:prstDash val="solid"/>
          </a:ln>
        </p:spPr>
      </p:sp>
      <p:sp>
        <p:nvSpPr>
          <p:cNvPr id="20" name="Text 18"/>
          <p:cNvSpPr/>
          <p:nvPr/>
        </p:nvSpPr>
        <p:spPr>
          <a:xfrm>
            <a:off x="3685032" y="2377440"/>
            <a:ext cx="2176272" cy="384048"/>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Spring Boot / Node.js</a:t>
            </a:r>
            <a:endParaRPr lang="en-US" sz="1200" dirty="0"/>
          </a:p>
        </p:txBody>
      </p:sp>
      <p:sp>
        <p:nvSpPr>
          <p:cNvPr id="21" name="Shape 19"/>
          <p:cNvSpPr/>
          <p:nvPr/>
        </p:nvSpPr>
        <p:spPr>
          <a:xfrm>
            <a:off x="3447288" y="2862072"/>
            <a:ext cx="146304" cy="146304"/>
          </a:xfrm>
          <a:prstGeom prst="ellipse">
            <a:avLst/>
          </a:prstGeom>
          <a:solidFill>
            <a:srgbClr val="00D4FF"/>
          </a:solidFill>
          <a:ln w="12700">
            <a:solidFill>
              <a:srgbClr val="00D4FF"/>
            </a:solidFill>
            <a:prstDash val="solid"/>
          </a:ln>
        </p:spPr>
      </p:sp>
      <p:sp>
        <p:nvSpPr>
          <p:cNvPr id="22" name="Text 20"/>
          <p:cNvSpPr/>
          <p:nvPr/>
        </p:nvSpPr>
        <p:spPr>
          <a:xfrm>
            <a:off x="3685032" y="2834640"/>
            <a:ext cx="2176272" cy="384048"/>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SQL + NoSQL Databases</a:t>
            </a:r>
            <a:endParaRPr lang="en-US" sz="1200" dirty="0"/>
          </a:p>
        </p:txBody>
      </p:sp>
      <p:sp>
        <p:nvSpPr>
          <p:cNvPr id="23" name="Shape 21"/>
          <p:cNvSpPr/>
          <p:nvPr/>
        </p:nvSpPr>
        <p:spPr>
          <a:xfrm>
            <a:off x="3447288" y="3319272"/>
            <a:ext cx="146304" cy="146304"/>
          </a:xfrm>
          <a:prstGeom prst="ellipse">
            <a:avLst/>
          </a:prstGeom>
          <a:solidFill>
            <a:srgbClr val="00D4FF"/>
          </a:solidFill>
          <a:ln w="12700">
            <a:solidFill>
              <a:srgbClr val="00D4FF"/>
            </a:solidFill>
            <a:prstDash val="solid"/>
          </a:ln>
        </p:spPr>
      </p:sp>
      <p:sp>
        <p:nvSpPr>
          <p:cNvPr id="24" name="Text 22"/>
          <p:cNvSpPr/>
          <p:nvPr/>
        </p:nvSpPr>
        <p:spPr>
          <a:xfrm>
            <a:off x="3685032" y="3291840"/>
            <a:ext cx="2176272" cy="384048"/>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Authentication (JWT, OAuth)</a:t>
            </a:r>
            <a:endParaRPr lang="en-US" sz="1200" dirty="0"/>
          </a:p>
        </p:txBody>
      </p:sp>
      <p:sp>
        <p:nvSpPr>
          <p:cNvPr id="25" name="Shape 23"/>
          <p:cNvSpPr/>
          <p:nvPr/>
        </p:nvSpPr>
        <p:spPr>
          <a:xfrm>
            <a:off x="6217920" y="1234440"/>
            <a:ext cx="2697480" cy="2697480"/>
          </a:xfrm>
          <a:prstGeom prst="rect">
            <a:avLst/>
          </a:prstGeom>
          <a:solidFill>
            <a:srgbClr val="1E3A5F"/>
          </a:solidFill>
          <a:ln w="12700">
            <a:solidFill>
              <a:srgbClr val="1E3A5F"/>
            </a:solidFill>
            <a:prstDash val="solid"/>
          </a:ln>
          <a:effectLst>
            <a:outerShdw sx="100000" sy="100000" kx="0" ky="0" algn="bl" rotWithShape="0" blurRad="101600" dist="38100" dir="8100000">
              <a:srgbClr val="000000">
                <a:alpha val="25000"/>
              </a:srgbClr>
            </a:outerShdw>
          </a:effectLst>
        </p:spPr>
      </p:sp>
      <p:sp>
        <p:nvSpPr>
          <p:cNvPr id="26" name="Shape 24"/>
          <p:cNvSpPr/>
          <p:nvPr/>
        </p:nvSpPr>
        <p:spPr>
          <a:xfrm>
            <a:off x="6217920" y="1234440"/>
            <a:ext cx="2697480" cy="64008"/>
          </a:xfrm>
          <a:prstGeom prst="rect">
            <a:avLst/>
          </a:prstGeom>
          <a:solidFill>
            <a:srgbClr val="7C3AED"/>
          </a:solidFill>
          <a:ln w="12700">
            <a:solidFill>
              <a:srgbClr val="7C3AED"/>
            </a:solidFill>
            <a:prstDash val="solid"/>
          </a:ln>
        </p:spPr>
      </p:sp>
      <p:sp>
        <p:nvSpPr>
          <p:cNvPr id="27" name="Text 25"/>
          <p:cNvSpPr/>
          <p:nvPr/>
        </p:nvSpPr>
        <p:spPr>
          <a:xfrm>
            <a:off x="6217920" y="1353312"/>
            <a:ext cx="2697480" cy="594360"/>
          </a:xfrm>
          <a:prstGeom prst="rect">
            <a:avLst/>
          </a:prstGeom>
          <a:noFill/>
          <a:ln/>
        </p:spPr>
        <p:txBody>
          <a:bodyPr wrap="square" lIns="0" tIns="0" rIns="0" bIns="0" rtlCol="0" anchor="ctr"/>
          <a:lstStyle/>
          <a:p>
            <a:pPr algn="ctr" indent="0" marL="0">
              <a:buNone/>
            </a:pPr>
            <a:r>
              <a:rPr lang="en-US" sz="2600" dirty="0">
                <a:solidFill>
                  <a:srgbClr val="000000"/>
                </a:solidFill>
              </a:rPr>
              <a:t>🚀</a:t>
            </a:r>
            <a:endParaRPr lang="en-US" sz="2600" dirty="0"/>
          </a:p>
        </p:txBody>
      </p:sp>
      <p:sp>
        <p:nvSpPr>
          <p:cNvPr id="28" name="Text 26"/>
          <p:cNvSpPr/>
          <p:nvPr/>
        </p:nvSpPr>
        <p:spPr>
          <a:xfrm>
            <a:off x="6217920" y="1920240"/>
            <a:ext cx="2697480" cy="384048"/>
          </a:xfrm>
          <a:prstGeom prst="rect">
            <a:avLst/>
          </a:prstGeom>
          <a:noFill/>
          <a:ln/>
        </p:spPr>
        <p:txBody>
          <a:bodyPr wrap="square" lIns="0" tIns="0" rIns="0" bIns="0" rtlCol="0" anchor="ctr"/>
          <a:lstStyle/>
          <a:p>
            <a:pPr algn="ctr" indent="0" marL="0">
              <a:buNone/>
            </a:pPr>
            <a:r>
              <a:rPr lang="en-US" sz="1400" b="1" dirty="0">
                <a:solidFill>
                  <a:srgbClr val="7C3AED"/>
                </a:solidFill>
                <a:latin typeface="Calibri" pitchFamily="34" charset="0"/>
                <a:ea typeface="Calibri" pitchFamily="34" charset="-122"/>
                <a:cs typeface="Calibri" pitchFamily="34" charset="-120"/>
              </a:rPr>
              <a:t>ADVANCED</a:t>
            </a:r>
            <a:endParaRPr lang="en-US" sz="1400" dirty="0"/>
          </a:p>
        </p:txBody>
      </p:sp>
      <p:sp>
        <p:nvSpPr>
          <p:cNvPr id="29" name="Shape 27"/>
          <p:cNvSpPr/>
          <p:nvPr/>
        </p:nvSpPr>
        <p:spPr>
          <a:xfrm>
            <a:off x="6419088" y="2404872"/>
            <a:ext cx="146304" cy="146304"/>
          </a:xfrm>
          <a:prstGeom prst="ellipse">
            <a:avLst/>
          </a:prstGeom>
          <a:solidFill>
            <a:srgbClr val="7C3AED"/>
          </a:solidFill>
          <a:ln w="12700">
            <a:solidFill>
              <a:srgbClr val="7C3AED"/>
            </a:solidFill>
            <a:prstDash val="solid"/>
          </a:ln>
        </p:spPr>
      </p:sp>
      <p:sp>
        <p:nvSpPr>
          <p:cNvPr id="30" name="Text 28"/>
          <p:cNvSpPr/>
          <p:nvPr/>
        </p:nvSpPr>
        <p:spPr>
          <a:xfrm>
            <a:off x="6656832" y="2377440"/>
            <a:ext cx="2176272" cy="384048"/>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Docker &amp; Kubernetes</a:t>
            </a:r>
            <a:endParaRPr lang="en-US" sz="1200" dirty="0"/>
          </a:p>
        </p:txBody>
      </p:sp>
      <p:sp>
        <p:nvSpPr>
          <p:cNvPr id="31" name="Shape 29"/>
          <p:cNvSpPr/>
          <p:nvPr/>
        </p:nvSpPr>
        <p:spPr>
          <a:xfrm>
            <a:off x="6419088" y="2862072"/>
            <a:ext cx="146304" cy="146304"/>
          </a:xfrm>
          <a:prstGeom prst="ellipse">
            <a:avLst/>
          </a:prstGeom>
          <a:solidFill>
            <a:srgbClr val="7C3AED"/>
          </a:solidFill>
          <a:ln w="12700">
            <a:solidFill>
              <a:srgbClr val="7C3AED"/>
            </a:solidFill>
            <a:prstDash val="solid"/>
          </a:ln>
        </p:spPr>
      </p:sp>
      <p:sp>
        <p:nvSpPr>
          <p:cNvPr id="32" name="Text 30"/>
          <p:cNvSpPr/>
          <p:nvPr/>
        </p:nvSpPr>
        <p:spPr>
          <a:xfrm>
            <a:off x="6656832" y="2834640"/>
            <a:ext cx="2176272" cy="384048"/>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System Design patterns</a:t>
            </a:r>
            <a:endParaRPr lang="en-US" sz="1200" dirty="0"/>
          </a:p>
        </p:txBody>
      </p:sp>
      <p:sp>
        <p:nvSpPr>
          <p:cNvPr id="33" name="Shape 31"/>
          <p:cNvSpPr/>
          <p:nvPr/>
        </p:nvSpPr>
        <p:spPr>
          <a:xfrm>
            <a:off x="6419088" y="3319272"/>
            <a:ext cx="146304" cy="146304"/>
          </a:xfrm>
          <a:prstGeom prst="ellipse">
            <a:avLst/>
          </a:prstGeom>
          <a:solidFill>
            <a:srgbClr val="7C3AED"/>
          </a:solidFill>
          <a:ln w="12700">
            <a:solidFill>
              <a:srgbClr val="7C3AED"/>
            </a:solidFill>
            <a:prstDash val="solid"/>
          </a:ln>
        </p:spPr>
      </p:sp>
      <p:sp>
        <p:nvSpPr>
          <p:cNvPr id="34" name="Text 32"/>
          <p:cNvSpPr/>
          <p:nvPr/>
        </p:nvSpPr>
        <p:spPr>
          <a:xfrm>
            <a:off x="6656832" y="3291840"/>
            <a:ext cx="2176272" cy="384048"/>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CI/CD Pipelines</a:t>
            </a:r>
            <a:endParaRPr lang="en-US" sz="1200" dirty="0"/>
          </a:p>
        </p:txBody>
      </p:sp>
      <p:sp>
        <p:nvSpPr>
          <p:cNvPr id="35" name="Shape 33"/>
          <p:cNvSpPr/>
          <p:nvPr/>
        </p:nvSpPr>
        <p:spPr>
          <a:xfrm>
            <a:off x="274320" y="4069080"/>
            <a:ext cx="8549640" cy="502920"/>
          </a:xfrm>
          <a:prstGeom prst="rect">
            <a:avLst/>
          </a:prstGeom>
          <a:solidFill>
            <a:srgbClr val="172554"/>
          </a:solidFill>
          <a:ln w="12700">
            <a:solidFill>
              <a:srgbClr val="1E3A5F"/>
            </a:solidFill>
            <a:prstDash val="solid"/>
          </a:ln>
          <a:effectLst>
            <a:outerShdw sx="100000" sy="100000" kx="0" ky="0" algn="bl" rotWithShape="0" blurRad="101600" dist="38100" dir="8100000">
              <a:srgbClr val="000000">
                <a:alpha val="25000"/>
              </a:srgbClr>
            </a:outerShdw>
          </a:effectLst>
        </p:spPr>
      </p:sp>
      <p:sp>
        <p:nvSpPr>
          <p:cNvPr id="36" name="Shape 34"/>
          <p:cNvSpPr/>
          <p:nvPr/>
        </p:nvSpPr>
        <p:spPr>
          <a:xfrm>
            <a:off x="274320" y="4069080"/>
            <a:ext cx="64008" cy="502920"/>
          </a:xfrm>
          <a:prstGeom prst="rect">
            <a:avLst/>
          </a:prstGeom>
          <a:solidFill>
            <a:srgbClr val="00D4FF"/>
          </a:solidFill>
          <a:ln w="12700">
            <a:solidFill>
              <a:srgbClr val="00D4FF"/>
            </a:solidFill>
            <a:prstDash val="solid"/>
          </a:ln>
        </p:spPr>
      </p:sp>
      <p:sp>
        <p:nvSpPr>
          <p:cNvPr id="37" name="Text 35"/>
          <p:cNvSpPr/>
          <p:nvPr/>
        </p:nvSpPr>
        <p:spPr>
          <a:xfrm>
            <a:off x="411480" y="4096512"/>
            <a:ext cx="8321040" cy="438912"/>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 Free Resources:  MDN Web Docs  ·  Spring Boot Docs  ·  freeCodeCamp  ·  roadmap.sh  ·  YouTube (Telusko, CodeWithHarry)</a:t>
            </a:r>
            <a:endParaRPr lang="en-US" sz="12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D1B2A"/>
        </a:solidFill>
      </p:bgPr>
    </p:bg>
    <p:spTree>
      <p:nvGrpSpPr>
        <p:cNvPr id="1" name=""/>
        <p:cNvGrpSpPr/>
        <p:nvPr/>
      </p:nvGrpSpPr>
      <p:grpSpPr>
        <a:xfrm>
          <a:off x="0" y="0"/>
          <a:ext cx="0" cy="0"/>
          <a:chOff x="0" y="0"/>
          <a:chExt cx="0" cy="0"/>
        </a:xfrm>
      </p:grpSpPr>
      <p:sp>
        <p:nvSpPr>
          <p:cNvPr id="2" name="Shape 0"/>
          <p:cNvSpPr/>
          <p:nvPr/>
        </p:nvSpPr>
        <p:spPr>
          <a:xfrm>
            <a:off x="2743200" y="-1371600"/>
            <a:ext cx="6400800" cy="6400800"/>
          </a:xfrm>
          <a:prstGeom prst="ellipse">
            <a:avLst/>
          </a:prstGeom>
          <a:solidFill>
            <a:srgbClr val="112240"/>
          </a:solidFill>
          <a:ln w="12700">
            <a:solidFill>
              <a:srgbClr val="1E3A5F"/>
            </a:solidFill>
            <a:prstDash val="solid"/>
          </a:ln>
        </p:spPr>
      </p:sp>
      <p:sp>
        <p:nvSpPr>
          <p:cNvPr id="3" name="Shape 1"/>
          <p:cNvSpPr/>
          <p:nvPr/>
        </p:nvSpPr>
        <p:spPr>
          <a:xfrm>
            <a:off x="3474720" y="-731520"/>
            <a:ext cx="4572000" cy="4572000"/>
          </a:xfrm>
          <a:prstGeom prst="ellipse">
            <a:avLst/>
          </a:prstGeom>
          <a:solidFill>
            <a:srgbClr val="1E3A5F"/>
          </a:solidFill>
          <a:ln w="6350">
            <a:solidFill>
              <a:srgbClr val="00D4FF"/>
            </a:solidFill>
            <a:prstDash val="solid"/>
          </a:ln>
        </p:spPr>
      </p:sp>
      <p:sp>
        <p:nvSpPr>
          <p:cNvPr id="4" name="Shape 2"/>
          <p:cNvSpPr/>
          <p:nvPr/>
        </p:nvSpPr>
        <p:spPr>
          <a:xfrm>
            <a:off x="0" y="0"/>
            <a:ext cx="9144000" cy="64008"/>
          </a:xfrm>
          <a:prstGeom prst="rect">
            <a:avLst/>
          </a:prstGeom>
          <a:solidFill>
            <a:srgbClr val="00D4FF"/>
          </a:solidFill>
          <a:ln w="12700">
            <a:solidFill>
              <a:srgbClr val="00D4FF"/>
            </a:solidFill>
            <a:prstDash val="solid"/>
          </a:ln>
        </p:spPr>
      </p:sp>
      <p:sp>
        <p:nvSpPr>
          <p:cNvPr id="5" name="Text 3"/>
          <p:cNvSpPr/>
          <p:nvPr/>
        </p:nvSpPr>
        <p:spPr>
          <a:xfrm>
            <a:off x="0" y="457200"/>
            <a:ext cx="9144000" cy="1097280"/>
          </a:xfrm>
          <a:prstGeom prst="rect">
            <a:avLst/>
          </a:prstGeom>
          <a:noFill/>
          <a:ln/>
        </p:spPr>
        <p:txBody>
          <a:bodyPr wrap="square" lIns="0" tIns="0" rIns="0" bIns="0" rtlCol="0" anchor="ctr"/>
          <a:lstStyle/>
          <a:p>
            <a:pPr algn="ctr" indent="0" marL="0">
              <a:buNone/>
            </a:pPr>
            <a:r>
              <a:rPr lang="en-US" sz="5500" dirty="0">
                <a:solidFill>
                  <a:srgbClr val="000000"/>
                </a:solidFill>
              </a:rPr>
              <a:t>🙋</a:t>
            </a:r>
            <a:endParaRPr lang="en-US" sz="5500" dirty="0"/>
          </a:p>
        </p:txBody>
      </p:sp>
      <p:sp>
        <p:nvSpPr>
          <p:cNvPr id="6" name="Text 4"/>
          <p:cNvSpPr/>
          <p:nvPr/>
        </p:nvSpPr>
        <p:spPr>
          <a:xfrm>
            <a:off x="457200" y="1508760"/>
            <a:ext cx="8229600" cy="777240"/>
          </a:xfrm>
          <a:prstGeom prst="rect">
            <a:avLst/>
          </a:prstGeom>
          <a:noFill/>
          <a:ln/>
        </p:spPr>
        <p:txBody>
          <a:bodyPr wrap="square" lIns="0" tIns="0" rIns="0" bIns="0" rtlCol="0" anchor="ctr"/>
          <a:lstStyle/>
          <a:p>
            <a:pPr algn="ctr" indent="0" marL="0">
              <a:buNone/>
            </a:pPr>
            <a:r>
              <a:rPr lang="en-US" sz="3800" b="1" dirty="0">
                <a:solidFill>
                  <a:srgbClr val="FFFFFF"/>
                </a:solidFill>
                <a:latin typeface="Calibri" pitchFamily="34" charset="0"/>
                <a:ea typeface="Calibri" pitchFamily="34" charset="-122"/>
                <a:cs typeface="Calibri" pitchFamily="34" charset="-120"/>
              </a:rPr>
              <a:t>Questions &amp; Discussion</a:t>
            </a:r>
            <a:endParaRPr lang="en-US" sz="3800" dirty="0"/>
          </a:p>
        </p:txBody>
      </p:sp>
      <p:sp>
        <p:nvSpPr>
          <p:cNvPr id="7" name="Text 5"/>
          <p:cNvSpPr/>
          <p:nvPr/>
        </p:nvSpPr>
        <p:spPr>
          <a:xfrm>
            <a:off x="914400" y="2286000"/>
            <a:ext cx="7315200" cy="411480"/>
          </a:xfrm>
          <a:prstGeom prst="rect">
            <a:avLst/>
          </a:prstGeom>
          <a:noFill/>
          <a:ln/>
        </p:spPr>
        <p:txBody>
          <a:bodyPr wrap="square" lIns="0" tIns="0" rIns="0" bIns="0" rtlCol="0" anchor="ctr"/>
          <a:lstStyle/>
          <a:p>
            <a:pPr algn="ctr" indent="0" marL="0">
              <a:buNone/>
            </a:pPr>
            <a:r>
              <a:rPr lang="en-US" sz="1700" i="1" dirty="0">
                <a:solidFill>
                  <a:srgbClr val="00D4FF"/>
                </a:solidFill>
                <a:latin typeface="Calibri" pitchFamily="34" charset="0"/>
                <a:ea typeface="Calibri" pitchFamily="34" charset="-122"/>
                <a:cs typeface="Calibri" pitchFamily="34" charset="-120"/>
              </a:rPr>
              <a:t>Ask anything — the only bad question is the one not asked!</a:t>
            </a:r>
            <a:endParaRPr lang="en-US" sz="1700" dirty="0"/>
          </a:p>
        </p:txBody>
      </p:sp>
      <p:sp>
        <p:nvSpPr>
          <p:cNvPr id="8" name="Shape 6"/>
          <p:cNvSpPr/>
          <p:nvPr/>
        </p:nvSpPr>
        <p:spPr>
          <a:xfrm>
            <a:off x="1371600" y="2852928"/>
            <a:ext cx="6400800" cy="420624"/>
          </a:xfrm>
          <a:prstGeom prst="roundRect">
            <a:avLst>
              <a:gd name="adj" fmla="val 17391"/>
            </a:avLst>
          </a:prstGeom>
          <a:solidFill>
            <a:srgbClr val="1E3A5F"/>
          </a:solidFill>
          <a:ln w="12700">
            <a:solidFill>
              <a:srgbClr val="00D4FF"/>
            </a:solidFill>
            <a:prstDash val="solid"/>
          </a:ln>
        </p:spPr>
      </p:sp>
      <p:sp>
        <p:nvSpPr>
          <p:cNvPr id="9" name="Text 7"/>
          <p:cNvSpPr/>
          <p:nvPr/>
        </p:nvSpPr>
        <p:spPr>
          <a:xfrm>
            <a:off x="1463040" y="2871216"/>
            <a:ext cx="62179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 What part of today's session was most surprising?</a:t>
            </a:r>
            <a:endParaRPr lang="en-US" sz="1300" dirty="0"/>
          </a:p>
        </p:txBody>
      </p:sp>
      <p:sp>
        <p:nvSpPr>
          <p:cNvPr id="10" name="Shape 8"/>
          <p:cNvSpPr/>
          <p:nvPr/>
        </p:nvSpPr>
        <p:spPr>
          <a:xfrm>
            <a:off x="1371600" y="3346704"/>
            <a:ext cx="6400800" cy="420624"/>
          </a:xfrm>
          <a:prstGeom prst="roundRect">
            <a:avLst>
              <a:gd name="adj" fmla="val 17391"/>
            </a:avLst>
          </a:prstGeom>
          <a:solidFill>
            <a:srgbClr val="1E3A5F"/>
          </a:solidFill>
          <a:ln w="12700">
            <a:solidFill>
              <a:srgbClr val="00D4FF"/>
            </a:solidFill>
            <a:prstDash val="solid"/>
          </a:ln>
        </p:spPr>
      </p:sp>
      <p:sp>
        <p:nvSpPr>
          <p:cNvPr id="11" name="Text 9"/>
          <p:cNvSpPr/>
          <p:nvPr/>
        </p:nvSpPr>
        <p:spPr>
          <a:xfrm>
            <a:off x="1463040" y="3364992"/>
            <a:ext cx="62179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 Can you now explain what happens when you type google.com?</a:t>
            </a:r>
            <a:endParaRPr lang="en-US" sz="1300" dirty="0"/>
          </a:p>
        </p:txBody>
      </p:sp>
      <p:sp>
        <p:nvSpPr>
          <p:cNvPr id="12" name="Shape 10"/>
          <p:cNvSpPr/>
          <p:nvPr/>
        </p:nvSpPr>
        <p:spPr>
          <a:xfrm>
            <a:off x="1371600" y="3840480"/>
            <a:ext cx="6400800" cy="420624"/>
          </a:xfrm>
          <a:prstGeom prst="roundRect">
            <a:avLst>
              <a:gd name="adj" fmla="val 17391"/>
            </a:avLst>
          </a:prstGeom>
          <a:solidFill>
            <a:srgbClr val="1E3A5F"/>
          </a:solidFill>
          <a:ln w="12700">
            <a:solidFill>
              <a:srgbClr val="00D4FF"/>
            </a:solidFill>
            <a:prstDash val="solid"/>
          </a:ln>
        </p:spPr>
      </p:sp>
      <p:sp>
        <p:nvSpPr>
          <p:cNvPr id="13" name="Text 11"/>
          <p:cNvSpPr/>
          <p:nvPr/>
        </p:nvSpPr>
        <p:spPr>
          <a:xfrm>
            <a:off x="1463040" y="3858768"/>
            <a:ext cx="62179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 What's the difference between a monolith and microservices?</a:t>
            </a:r>
            <a:endParaRPr lang="en-US" sz="1300" dirty="0"/>
          </a:p>
        </p:txBody>
      </p:sp>
      <p:sp>
        <p:nvSpPr>
          <p:cNvPr id="14" name="Shape 12"/>
          <p:cNvSpPr/>
          <p:nvPr/>
        </p:nvSpPr>
        <p:spPr>
          <a:xfrm>
            <a:off x="0" y="4892040"/>
            <a:ext cx="9144000" cy="251460"/>
          </a:xfrm>
          <a:prstGeom prst="rect">
            <a:avLst/>
          </a:prstGeom>
          <a:solidFill>
            <a:srgbClr val="1E3A5F"/>
          </a:solidFill>
          <a:ln w="12700">
            <a:solidFill>
              <a:srgbClr val="1E3A5F"/>
            </a:solidFill>
            <a:prstDash val="solid"/>
          </a:ln>
        </p:spPr>
      </p:sp>
      <p:sp>
        <p:nvSpPr>
          <p:cNvPr id="15" name="Text 13"/>
          <p:cNvSpPr/>
          <p:nvPr/>
        </p:nvSpPr>
        <p:spPr>
          <a:xfrm>
            <a:off x="0" y="4892040"/>
            <a:ext cx="9144000" cy="251460"/>
          </a:xfrm>
          <a:prstGeom prst="rect">
            <a:avLst/>
          </a:prstGeom>
          <a:noFill/>
          <a:ln/>
        </p:spPr>
        <p:txBody>
          <a:bodyPr wrap="square" lIns="0" tIns="0" rIns="0" bIns="0" rtlCol="0" anchor="ctr"/>
          <a:lstStyle/>
          <a:p>
            <a:pPr algn="ctr" indent="0" marL="0">
              <a:buNone/>
            </a:pPr>
            <a:r>
              <a:rPr lang="en-US" sz="1200" dirty="0">
                <a:solidFill>
                  <a:srgbClr val="94A3B8"/>
                </a:solidFill>
                <a:latin typeface="Calibri" pitchFamily="34" charset="0"/>
                <a:ea typeface="Calibri" pitchFamily="34" charset="-122"/>
                <a:cs typeface="Calibri" pitchFamily="34" charset="-120"/>
              </a:rPr>
              <a:t>Web Application Fundamentals  |  Beginner Track  |  Thank You! 🎉</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Web Application Fundamentals &amp; Server Architecture</dc:title>
  <dc:subject>PptxGenJS Presentation</dc:subject>
  <dc:creator>Tech Education Series</dc:creator>
  <cp:lastModifiedBy>Tech Education Series</cp:lastModifiedBy>
  <cp:revision>1</cp:revision>
  <dcterms:created xsi:type="dcterms:W3CDTF">2026-04-21T14:44:55Z</dcterms:created>
  <dcterms:modified xsi:type="dcterms:W3CDTF">2026-04-21T14:44:55Z</dcterms:modified>
</cp:coreProperties>
</file>