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1" d="100"/>
          <a:sy n="121" d="100"/>
        </p:scale>
        <p:origin x="77"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7768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we'll go on a journey to understand how web applications actually work — from the moment you type a URL to seeing a page on your screen. No prior deep knowledge needed. Just curiosity!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agenda. We'll go through 8 major topics, each building on the previous. Think of it like building a house — foundation first, then walls, then the roof. Each module is about 5–7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regular website is like a brochure — it just displays info. A web application is interactive: you log in, it knows who you are, it shows YOU your data. Examples: Gmail shows YOUR emails, Amazon shows YOUR cart. These run in a browser but behave like full-fledged applications.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Think of a newspaper online. You read it but can't change what others see. Web App: Think of a bank account. You log in, see YOUR balance, and can transfer money. The key difference is INTERACTIVITY and PERSONALIZATION.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When you order pizza — you call a number (DNS lookup), they find your address (IP), send a delivery person (HTTP request), and you get pizza (response). The internet works the same way! Your browser is constantly having mini-conversations with servers.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 the person asking (your browser). Server = the one who does the work and answers. This is like a restaurant: you (client) place an order (request), kitchen (server) cooks it and sends back food (response). They communicate over the internet using HTTP protocol.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you click a button or visit a page, this 9-step dance happens in milliseconds. Step 1-5 is the REQUEST journey. Step 6-9 is the RESPONSE journey back. The browser then paints what the server sent. This is the heartbeat of every web app!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server isn't magic — it's just a computer with one job: wait for requests and respond. What makes it different from your laptop? It runs 24/7, has high memory and processing power, and is connected to the internet with high-speed links. Cloud servers are virtual servers rented from AWS, Azure, etc.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Monolithic = one big app where all features are bundled together. Think of early-stage startups — they usually start with a monolith because it's fast to build. The problem comes at scale: if the Payments module crashes, the whole app goes down. Netflix and Amazon started as monoliths before splitting into microservices.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Microservices = split the monolith into small, independent services. Like Amazon: User Service handles accounts, Order Service handles purchases, Payment Service handles billing — each can be updated/scaled independently. Netflix runs 700+ microservices! This is the modern industry standard for large apps.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balancing is why Amazon doesn't crash during Prime Day with millions of users shopping at once. Instead of one server dying, multiple servers share the load. The load balancer is the traffic cop. If one server fails, the balancer stops sending traffic to it automatically — users don't even notice.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 a contract between two systems. You don't need to know how Google Maps works internally — you just call their API and get map data. APIs are everywhere: your weather app uses a Weather API, Ola uses Maps API, Zomato uses Restaurant APIs. They're the glue connecting the digital world.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is an architectural style (not a technology) for building APIs over HTTP. Think of it as a set of rules: every resource has a URL (/users, /products), you use verbs to act on them (GET, POST, DELETE), and requests are stateless (no memory of previous calls). It's the most popular API style in the industry today.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CRUD = Create, Read, Update, Delete — these are the four basic operations of any data-driven system. REST maps each to an HTTP verb. Memory trick: GET = Go get it, POST = Post a new letter, PUT = Put it in the right place, DELETE = Delete it. Every API you use follows this pattern.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codes are like the server's way of texting back. '200 OK' = everything worked. '404 Not Found' = the page you're looking for doesn't exist (like a wrong address). '500 Internal Server Error' = the server itself broke. You've seen 404 pages on websites — now you know what that code means!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collects data (like a login form), sends a JSON request to the backend via HTTP. The backend (your Java Spring Boot service) validates the data, queries the database, then sends back a JSON response. The frontend then reads that response and updates what the user sees. This 3-tier cycle is the backbone of every web app.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is the skeleton — the structure. CSS is the skin and clothes — makes it look good. JavaScript is the brain and muscles — makes it move and react. Every website you've ever visited is built with these three. Modern frameworks like React (JS) and Tailwind (CSS) are built on top of these basics.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picture! The user's browser sends a request, it hits a CDN for static files, then the Load Balancer routes it to one of the App Servers. The App Server queries the Database. Supporting services like Cache (Redis), Message Queue, and Email run in the background. Monitoring watches everything 24/7.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8-step flow happens every time you visit a website. The whole cycle typically completes in 200-500ms. Step 1-2 is network-level, 3-5 is the server, 6 is database, 7-8 is the return journey. When Google serves results in under 200ms, they've optimised every single one of these steps.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flow that runs when you log in to ANY modern web app — Gmail, LinkedIn, your bank. Notice: passwords are NEVER stored in plain text (they're hashed). JWT tokens are used to keep you logged in without re-entering passwords every page. This is industry-standard authentication.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quick cheatsheet. Each term appears constantly in industry. If you remember just these 10 concepts, you have a solid foundation to build upon. In interviews, being able to explain these with examples (like I've shown today) will impress any interviewer.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is a journey. Start with the basics — don't jump straight to Kubernetes! Build a simple to-do app, then add a login system, then a database. Each project teaches you more than any course. Roadmap.sh has great visual learning paths for Backend, Frontend, and DevOps. Check it out after this session!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session! Encourage questions using the three prompts on screen. These are designed to check understanding at different levels. Good sign-off question: Ask each student to explain ONE thing they learned to the person next to them — peer teaching is the fastest way to solidify knowledge.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914400"/>
            <a:ext cx="4114800" cy="4114800"/>
          </a:xfrm>
          <a:prstGeom prst="ellipse">
            <a:avLst/>
          </a:prstGeom>
          <a:solidFill>
            <a:srgbClr val="112240"/>
          </a:solidFill>
          <a:ln w="12700">
            <a:solidFill>
              <a:srgbClr val="1E3A5F"/>
            </a:solidFill>
            <a:prstDash val="solid"/>
          </a:ln>
        </p:spPr>
      </p:sp>
      <p:sp>
        <p:nvSpPr>
          <p:cNvPr id="3" name="Shape 1"/>
          <p:cNvSpPr/>
          <p:nvPr/>
        </p:nvSpPr>
        <p:spPr>
          <a:xfrm>
            <a:off x="7132320" y="-365760"/>
            <a:ext cx="2926080" cy="2926080"/>
          </a:xfrm>
          <a:prstGeom prst="ellipse">
            <a:avLst/>
          </a:prstGeom>
          <a:solidFill>
            <a:srgbClr val="1E3A5F"/>
          </a:solidFill>
          <a:ln w="12700">
            <a:solidFill>
              <a:srgbClr val="0EA5E9"/>
            </a:solidFill>
            <a:prstDash val="solid"/>
          </a:ln>
        </p:spPr>
      </p:sp>
      <p:sp>
        <p:nvSpPr>
          <p:cNvPr id="4" name="Shape 2"/>
          <p:cNvSpPr/>
          <p:nvPr/>
        </p:nvSpPr>
        <p:spPr>
          <a:xfrm>
            <a:off x="0" y="0"/>
            <a:ext cx="9144000" cy="73152"/>
          </a:xfrm>
          <a:prstGeom prst="rect">
            <a:avLst/>
          </a:prstGeom>
          <a:solidFill>
            <a:srgbClr val="00D4FF"/>
          </a:solidFill>
          <a:ln w="12700">
            <a:solidFill>
              <a:srgbClr val="00D4FF"/>
            </a:solidFill>
            <a:prstDash val="solid"/>
          </a:ln>
        </p:spPr>
      </p:sp>
      <p:sp>
        <p:nvSpPr>
          <p:cNvPr id="5" name="Shape 3"/>
          <p:cNvSpPr/>
          <p:nvPr/>
        </p:nvSpPr>
        <p:spPr>
          <a:xfrm>
            <a:off x="457200" y="914400"/>
            <a:ext cx="73152" cy="2926080"/>
          </a:xfrm>
          <a:prstGeom prst="rect">
            <a:avLst/>
          </a:prstGeom>
          <a:solidFill>
            <a:srgbClr val="00D4FF"/>
          </a:solidFill>
          <a:ln w="12700">
            <a:solidFill>
              <a:srgbClr val="00D4FF"/>
            </a:solidFill>
            <a:prstDash val="solid"/>
          </a:ln>
        </p:spPr>
      </p:sp>
      <p:sp>
        <p:nvSpPr>
          <p:cNvPr id="6" name="Text 4"/>
          <p:cNvSpPr/>
          <p:nvPr/>
        </p:nvSpPr>
        <p:spPr>
          <a:xfrm>
            <a:off x="685800" y="914400"/>
            <a:ext cx="64008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Web Application</a:t>
            </a:r>
            <a:endParaRPr lang="en-US" sz="4400" dirty="0"/>
          </a:p>
        </p:txBody>
      </p:sp>
      <p:sp>
        <p:nvSpPr>
          <p:cNvPr id="7" name="Text 5"/>
          <p:cNvSpPr/>
          <p:nvPr/>
        </p:nvSpPr>
        <p:spPr>
          <a:xfrm>
            <a:off x="685800" y="1737360"/>
            <a:ext cx="6400800" cy="777240"/>
          </a:xfrm>
          <a:prstGeom prst="rect">
            <a:avLst/>
          </a:prstGeom>
          <a:noFill/>
          <a:ln/>
        </p:spPr>
        <p:txBody>
          <a:bodyPr wrap="square" lIns="0" tIns="0" rIns="0" bIns="0" rtlCol="0" anchor="ctr"/>
          <a:lstStyle/>
          <a:p>
            <a:pPr marL="0" indent="0">
              <a:buNone/>
            </a:pPr>
            <a:r>
              <a:rPr lang="en-US" sz="4400" b="1" dirty="0">
                <a:solidFill>
                  <a:srgbClr val="00D4FF"/>
                </a:solidFill>
                <a:latin typeface="Calibri" pitchFamily="34" charset="0"/>
                <a:ea typeface="Calibri" pitchFamily="34" charset="-122"/>
                <a:cs typeface="Calibri" pitchFamily="34" charset="-120"/>
              </a:rPr>
              <a:t>Fundamentals &amp;</a:t>
            </a:r>
            <a:endParaRPr lang="en-US" sz="4400" dirty="0"/>
          </a:p>
        </p:txBody>
      </p:sp>
      <p:sp>
        <p:nvSpPr>
          <p:cNvPr id="8" name="Text 6"/>
          <p:cNvSpPr/>
          <p:nvPr/>
        </p:nvSpPr>
        <p:spPr>
          <a:xfrm>
            <a:off x="685800" y="2468880"/>
            <a:ext cx="6858000" cy="77724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Server Architecture</a:t>
            </a:r>
            <a:endParaRPr lang="en-US" sz="4400" dirty="0"/>
          </a:p>
        </p:txBody>
      </p:sp>
      <p:sp>
        <p:nvSpPr>
          <p:cNvPr id="9" name="Text 7"/>
          <p:cNvSpPr/>
          <p:nvPr/>
        </p:nvSpPr>
        <p:spPr>
          <a:xfrm>
            <a:off x="685800" y="3337560"/>
            <a:ext cx="7315200" cy="365760"/>
          </a:xfrm>
          <a:prstGeom prst="rect">
            <a:avLst/>
          </a:prstGeom>
          <a:noFill/>
          <a:ln/>
        </p:spPr>
        <p:txBody>
          <a:bodyPr wrap="square" lIns="0" tIns="0" rIns="0" bIns="0" rtlCol="0" anchor="ctr"/>
          <a:lstStyle/>
          <a:p>
            <a:pPr marL="0" indent="0">
              <a:buNone/>
            </a:pPr>
            <a:r>
              <a:rPr lang="en-US" sz="1600" i="1" dirty="0">
                <a:solidFill>
                  <a:srgbClr val="94A3B8"/>
                </a:solidFill>
                <a:latin typeface="Calibri" pitchFamily="34" charset="0"/>
                <a:ea typeface="Calibri" pitchFamily="34" charset="-122"/>
                <a:cs typeface="Calibri" pitchFamily="34" charset="-120"/>
              </a:rPr>
              <a:t>A Beginner-Friendly Guide to How the Web Works</a:t>
            </a:r>
            <a:endParaRPr lang="en-US" sz="1600" dirty="0"/>
          </a:p>
        </p:txBody>
      </p:sp>
      <p:sp>
        <p:nvSpPr>
          <p:cNvPr id="10" name="Shape 8"/>
          <p:cNvSpPr/>
          <p:nvPr/>
        </p:nvSpPr>
        <p:spPr>
          <a:xfrm>
            <a:off x="685800" y="3840480"/>
            <a:ext cx="1920240" cy="384048"/>
          </a:xfrm>
          <a:prstGeom prst="roundRect">
            <a:avLst>
              <a:gd name="adj" fmla="val 23810"/>
            </a:avLst>
          </a:prstGeom>
          <a:solidFill>
            <a:srgbClr val="1E3A5F"/>
          </a:solidFill>
          <a:ln w="12700">
            <a:solidFill>
              <a:srgbClr val="00D4FF"/>
            </a:solidFill>
            <a:prstDash val="solid"/>
          </a:ln>
        </p:spPr>
      </p:sp>
      <p:sp>
        <p:nvSpPr>
          <p:cNvPr id="11" name="Text 9"/>
          <p:cNvSpPr/>
          <p:nvPr/>
        </p:nvSpPr>
        <p:spPr>
          <a:xfrm>
            <a:off x="685800" y="3840480"/>
            <a:ext cx="1920240" cy="384048"/>
          </a:xfrm>
          <a:prstGeom prst="rect">
            <a:avLst/>
          </a:prstGeom>
          <a:noFill/>
          <a:ln/>
        </p:spPr>
        <p:txBody>
          <a:bodyPr wrap="square" lIns="0" tIns="0" rIns="0" bIns="0" rtlCol="0" anchor="ctr"/>
          <a:lstStyle/>
          <a:p>
            <a:pPr marL="0" indent="0" algn="ctr">
              <a:buNone/>
            </a:pPr>
            <a:r>
              <a:rPr lang="en-US" sz="1100" dirty="0">
                <a:solidFill>
                  <a:srgbClr val="00D4FF"/>
                </a:solidFill>
                <a:latin typeface="Calibri" pitchFamily="34" charset="0"/>
                <a:ea typeface="Calibri" pitchFamily="34" charset="-122"/>
                <a:cs typeface="Calibri" pitchFamily="34" charset="-120"/>
              </a:rPr>
              <a:t>🌐 Client-Server</a:t>
            </a:r>
            <a:endParaRPr lang="en-US" sz="1100" dirty="0"/>
          </a:p>
        </p:txBody>
      </p:sp>
      <p:sp>
        <p:nvSpPr>
          <p:cNvPr id="12" name="Shape 10"/>
          <p:cNvSpPr/>
          <p:nvPr/>
        </p:nvSpPr>
        <p:spPr>
          <a:xfrm>
            <a:off x="2743200" y="3840480"/>
            <a:ext cx="1920240" cy="384048"/>
          </a:xfrm>
          <a:prstGeom prst="roundRect">
            <a:avLst>
              <a:gd name="adj" fmla="val 23810"/>
            </a:avLst>
          </a:prstGeom>
          <a:solidFill>
            <a:srgbClr val="1E3A5F"/>
          </a:solidFill>
          <a:ln w="12700">
            <a:solidFill>
              <a:srgbClr val="00D4FF"/>
            </a:solidFill>
            <a:prstDash val="solid"/>
          </a:ln>
        </p:spPr>
      </p:sp>
      <p:sp>
        <p:nvSpPr>
          <p:cNvPr id="13" name="Text 11"/>
          <p:cNvSpPr/>
          <p:nvPr/>
        </p:nvSpPr>
        <p:spPr>
          <a:xfrm>
            <a:off x="2743200" y="3840480"/>
            <a:ext cx="1920240" cy="384048"/>
          </a:xfrm>
          <a:prstGeom prst="rect">
            <a:avLst/>
          </a:prstGeom>
          <a:noFill/>
          <a:ln/>
        </p:spPr>
        <p:txBody>
          <a:bodyPr wrap="square" lIns="0" tIns="0" rIns="0" bIns="0" rtlCol="0" anchor="ctr"/>
          <a:lstStyle/>
          <a:p>
            <a:pPr marL="0" indent="0" algn="ctr">
              <a:buNone/>
            </a:pPr>
            <a:r>
              <a:rPr lang="en-US" sz="1100" dirty="0">
                <a:solidFill>
                  <a:srgbClr val="00D4FF"/>
                </a:solidFill>
                <a:latin typeface="Calibri" pitchFamily="34" charset="0"/>
                <a:ea typeface="Calibri" pitchFamily="34" charset="-122"/>
                <a:cs typeface="Calibri" pitchFamily="34" charset="-120"/>
              </a:rPr>
              <a:t>🔗 REST APIs</a:t>
            </a:r>
            <a:endParaRPr lang="en-US" sz="1100" dirty="0"/>
          </a:p>
        </p:txBody>
      </p:sp>
      <p:sp>
        <p:nvSpPr>
          <p:cNvPr id="14" name="Shape 12"/>
          <p:cNvSpPr/>
          <p:nvPr/>
        </p:nvSpPr>
        <p:spPr>
          <a:xfrm>
            <a:off x="4800600" y="3840480"/>
            <a:ext cx="1920240" cy="384048"/>
          </a:xfrm>
          <a:prstGeom prst="roundRect">
            <a:avLst>
              <a:gd name="adj" fmla="val 23810"/>
            </a:avLst>
          </a:prstGeom>
          <a:solidFill>
            <a:srgbClr val="1E3A5F"/>
          </a:solidFill>
          <a:ln w="12700">
            <a:solidFill>
              <a:srgbClr val="00D4FF"/>
            </a:solidFill>
            <a:prstDash val="solid"/>
          </a:ln>
        </p:spPr>
      </p:sp>
      <p:sp>
        <p:nvSpPr>
          <p:cNvPr id="15" name="Text 13"/>
          <p:cNvSpPr/>
          <p:nvPr/>
        </p:nvSpPr>
        <p:spPr>
          <a:xfrm>
            <a:off x="4800600" y="3840480"/>
            <a:ext cx="1920240" cy="384048"/>
          </a:xfrm>
          <a:prstGeom prst="rect">
            <a:avLst/>
          </a:prstGeom>
          <a:noFill/>
          <a:ln/>
        </p:spPr>
        <p:txBody>
          <a:bodyPr wrap="square" lIns="0" tIns="0" rIns="0" bIns="0" rtlCol="0" anchor="ctr"/>
          <a:lstStyle/>
          <a:p>
            <a:pPr marL="0" indent="0" algn="ctr">
              <a:buNone/>
            </a:pPr>
            <a:r>
              <a:rPr lang="en-US" sz="1100" dirty="0">
                <a:solidFill>
                  <a:srgbClr val="00D4FF"/>
                </a:solidFill>
                <a:latin typeface="Calibri" pitchFamily="34" charset="0"/>
                <a:ea typeface="Calibri" pitchFamily="34" charset="-122"/>
                <a:cs typeface="Calibri" pitchFamily="34" charset="-120"/>
              </a:rPr>
              <a:t>⚙️ Architecture</a:t>
            </a:r>
            <a:endParaRPr lang="en-US" sz="1100" dirty="0"/>
          </a:p>
        </p:txBody>
      </p:sp>
      <p:sp>
        <p:nvSpPr>
          <p:cNvPr id="16" name="Shape 14"/>
          <p:cNvSpPr/>
          <p:nvPr/>
        </p:nvSpPr>
        <p:spPr>
          <a:xfrm>
            <a:off x="6858000" y="3840480"/>
            <a:ext cx="1920240" cy="384048"/>
          </a:xfrm>
          <a:prstGeom prst="roundRect">
            <a:avLst>
              <a:gd name="adj" fmla="val 23810"/>
            </a:avLst>
          </a:prstGeom>
          <a:solidFill>
            <a:srgbClr val="1E3A5F"/>
          </a:solidFill>
          <a:ln w="12700">
            <a:solidFill>
              <a:srgbClr val="00D4FF"/>
            </a:solidFill>
            <a:prstDash val="solid"/>
          </a:ln>
        </p:spPr>
      </p:sp>
      <p:sp>
        <p:nvSpPr>
          <p:cNvPr id="17" name="Text 15"/>
          <p:cNvSpPr/>
          <p:nvPr/>
        </p:nvSpPr>
        <p:spPr>
          <a:xfrm>
            <a:off x="6858000" y="3840480"/>
            <a:ext cx="1920240" cy="384048"/>
          </a:xfrm>
          <a:prstGeom prst="rect">
            <a:avLst/>
          </a:prstGeom>
          <a:noFill/>
          <a:ln/>
        </p:spPr>
        <p:txBody>
          <a:bodyPr wrap="square" lIns="0" tIns="0" rIns="0" bIns="0" rtlCol="0" anchor="ctr"/>
          <a:lstStyle/>
          <a:p>
            <a:pPr marL="0" indent="0" algn="ctr">
              <a:buNone/>
            </a:pPr>
            <a:r>
              <a:rPr lang="en-US" sz="1100" dirty="0">
                <a:solidFill>
                  <a:srgbClr val="00D4FF"/>
                </a:solidFill>
                <a:latin typeface="Calibri" pitchFamily="34" charset="0"/>
                <a:ea typeface="Calibri" pitchFamily="34" charset="-122"/>
                <a:cs typeface="Calibri" pitchFamily="34" charset="-120"/>
              </a:rPr>
              <a:t>💻 Frontend Tech</a:t>
            </a:r>
            <a:endParaRPr lang="en-US" sz="1100" dirty="0"/>
          </a:p>
        </p:txBody>
      </p:sp>
      <p:sp>
        <p:nvSpPr>
          <p:cNvPr id="18" name="Shape 16"/>
          <p:cNvSpPr/>
          <p:nvPr/>
        </p:nvSpPr>
        <p:spPr>
          <a:xfrm>
            <a:off x="0" y="4892040"/>
            <a:ext cx="9144000" cy="251460"/>
          </a:xfrm>
          <a:prstGeom prst="rect">
            <a:avLst/>
          </a:prstGeom>
          <a:solidFill>
            <a:srgbClr val="1E3A5F"/>
          </a:solidFill>
          <a:ln w="12700">
            <a:solidFill>
              <a:srgbClr val="1E3A5F"/>
            </a:solidFill>
            <a:prstDash val="solid"/>
          </a:ln>
        </p:spPr>
      </p:sp>
      <p:sp>
        <p:nvSpPr>
          <p:cNvPr id="19" name="Text 17"/>
          <p:cNvSpPr/>
          <p:nvPr/>
        </p:nvSpPr>
        <p:spPr>
          <a:xfrm>
            <a:off x="0" y="4892040"/>
            <a:ext cx="9144000" cy="25146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Tech Education Series  |  Beginner Track  |  20 Slides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We'll Cover Today</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Your Learning Roadmap</a:t>
            </a:r>
            <a:endParaRPr lang="en-US" sz="1400" dirty="0"/>
          </a:p>
        </p:txBody>
      </p:sp>
      <p:sp>
        <p:nvSpPr>
          <p:cNvPr id="5" name="Shape 3"/>
          <p:cNvSpPr/>
          <p:nvPr/>
        </p:nvSpPr>
        <p:spPr>
          <a:xfrm>
            <a:off x="365760" y="1234440"/>
            <a:ext cx="42062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365760" y="1234440"/>
            <a:ext cx="411480" cy="777240"/>
          </a:xfrm>
          <a:prstGeom prst="rect">
            <a:avLst/>
          </a:prstGeom>
          <a:solidFill>
            <a:srgbClr val="00D4FF"/>
          </a:solidFill>
          <a:ln w="12700">
            <a:solidFill>
              <a:srgbClr val="00D4FF"/>
            </a:solidFill>
            <a:prstDash val="solid"/>
          </a:ln>
        </p:spPr>
      </p:sp>
      <p:sp>
        <p:nvSpPr>
          <p:cNvPr id="7" name="Text 5"/>
          <p:cNvSpPr/>
          <p:nvPr/>
        </p:nvSpPr>
        <p:spPr>
          <a:xfrm>
            <a:off x="365760" y="1234440"/>
            <a:ext cx="411480" cy="7772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841248" y="1280160"/>
            <a:ext cx="3657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Introduction to Web Applications</a:t>
            </a:r>
            <a:endParaRPr lang="en-US" sz="1300" dirty="0"/>
          </a:p>
        </p:txBody>
      </p:sp>
      <p:sp>
        <p:nvSpPr>
          <p:cNvPr id="9" name="Shape 7"/>
          <p:cNvSpPr/>
          <p:nvPr/>
        </p:nvSpPr>
        <p:spPr>
          <a:xfrm>
            <a:off x="365760" y="2167128"/>
            <a:ext cx="42062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0" name="Shape 8"/>
          <p:cNvSpPr/>
          <p:nvPr/>
        </p:nvSpPr>
        <p:spPr>
          <a:xfrm>
            <a:off x="365760" y="2167128"/>
            <a:ext cx="411480" cy="777240"/>
          </a:xfrm>
          <a:prstGeom prst="rect">
            <a:avLst/>
          </a:prstGeom>
          <a:solidFill>
            <a:srgbClr val="0EA5E9"/>
          </a:solidFill>
          <a:ln w="12700">
            <a:solidFill>
              <a:srgbClr val="0EA5E9"/>
            </a:solidFill>
            <a:prstDash val="solid"/>
          </a:ln>
        </p:spPr>
      </p:sp>
      <p:sp>
        <p:nvSpPr>
          <p:cNvPr id="11" name="Text 9"/>
          <p:cNvSpPr/>
          <p:nvPr/>
        </p:nvSpPr>
        <p:spPr>
          <a:xfrm>
            <a:off x="365760" y="2167128"/>
            <a:ext cx="411480" cy="7772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841248" y="2212848"/>
            <a:ext cx="3657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How the Internet Works</a:t>
            </a:r>
            <a:endParaRPr lang="en-US" sz="1300" dirty="0"/>
          </a:p>
        </p:txBody>
      </p:sp>
      <p:sp>
        <p:nvSpPr>
          <p:cNvPr id="13" name="Shape 11"/>
          <p:cNvSpPr/>
          <p:nvPr/>
        </p:nvSpPr>
        <p:spPr>
          <a:xfrm>
            <a:off x="365760" y="3099816"/>
            <a:ext cx="42062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4" name="Shape 12"/>
          <p:cNvSpPr/>
          <p:nvPr/>
        </p:nvSpPr>
        <p:spPr>
          <a:xfrm>
            <a:off x="365760" y="3099816"/>
            <a:ext cx="411480" cy="777240"/>
          </a:xfrm>
          <a:prstGeom prst="rect">
            <a:avLst/>
          </a:prstGeom>
          <a:solidFill>
            <a:srgbClr val="7C3AED"/>
          </a:solidFill>
          <a:ln w="12700">
            <a:solidFill>
              <a:srgbClr val="7C3AED"/>
            </a:solidFill>
            <a:prstDash val="solid"/>
          </a:ln>
        </p:spPr>
      </p:sp>
      <p:sp>
        <p:nvSpPr>
          <p:cNvPr id="15" name="Text 13"/>
          <p:cNvSpPr/>
          <p:nvPr/>
        </p:nvSpPr>
        <p:spPr>
          <a:xfrm>
            <a:off x="365760" y="3099816"/>
            <a:ext cx="411480" cy="7772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03</a:t>
            </a:r>
            <a:endParaRPr lang="en-US" sz="1300" dirty="0"/>
          </a:p>
        </p:txBody>
      </p:sp>
      <p:sp>
        <p:nvSpPr>
          <p:cNvPr id="16" name="Text 14"/>
          <p:cNvSpPr/>
          <p:nvPr/>
        </p:nvSpPr>
        <p:spPr>
          <a:xfrm>
            <a:off x="841248" y="3145536"/>
            <a:ext cx="3657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Server Architecture</a:t>
            </a:r>
            <a:endParaRPr lang="en-US" sz="1300" dirty="0"/>
          </a:p>
        </p:txBody>
      </p:sp>
      <p:sp>
        <p:nvSpPr>
          <p:cNvPr id="17" name="Shape 15"/>
          <p:cNvSpPr/>
          <p:nvPr/>
        </p:nvSpPr>
        <p:spPr>
          <a:xfrm>
            <a:off x="365760" y="4032504"/>
            <a:ext cx="42062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8" name="Shape 16"/>
          <p:cNvSpPr/>
          <p:nvPr/>
        </p:nvSpPr>
        <p:spPr>
          <a:xfrm>
            <a:off x="365760" y="4032504"/>
            <a:ext cx="411480" cy="777240"/>
          </a:xfrm>
          <a:prstGeom prst="rect">
            <a:avLst/>
          </a:prstGeom>
          <a:solidFill>
            <a:srgbClr val="10B981"/>
          </a:solidFill>
          <a:ln w="12700">
            <a:solidFill>
              <a:srgbClr val="10B981"/>
            </a:solidFill>
            <a:prstDash val="solid"/>
          </a:ln>
        </p:spPr>
      </p:sp>
      <p:sp>
        <p:nvSpPr>
          <p:cNvPr id="19" name="Text 17"/>
          <p:cNvSpPr/>
          <p:nvPr/>
        </p:nvSpPr>
        <p:spPr>
          <a:xfrm>
            <a:off x="365760" y="4032504"/>
            <a:ext cx="411480" cy="7772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04</a:t>
            </a:r>
            <a:endParaRPr lang="en-US" sz="1300" dirty="0"/>
          </a:p>
        </p:txBody>
      </p:sp>
      <p:sp>
        <p:nvSpPr>
          <p:cNvPr id="20" name="Text 18"/>
          <p:cNvSpPr/>
          <p:nvPr/>
        </p:nvSpPr>
        <p:spPr>
          <a:xfrm>
            <a:off x="841248" y="4078224"/>
            <a:ext cx="3657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REST API Concepts</a:t>
            </a:r>
            <a:endParaRPr lang="en-US" sz="1300" dirty="0"/>
          </a:p>
        </p:txBody>
      </p:sp>
      <p:sp>
        <p:nvSpPr>
          <p:cNvPr id="21" name="Shape 19"/>
          <p:cNvSpPr/>
          <p:nvPr/>
        </p:nvSpPr>
        <p:spPr>
          <a:xfrm>
            <a:off x="4800600" y="1234440"/>
            <a:ext cx="42062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2" name="Shape 20"/>
          <p:cNvSpPr/>
          <p:nvPr/>
        </p:nvSpPr>
        <p:spPr>
          <a:xfrm>
            <a:off x="4800600" y="1234440"/>
            <a:ext cx="411480" cy="777240"/>
          </a:xfrm>
          <a:prstGeom prst="rect">
            <a:avLst/>
          </a:prstGeom>
          <a:solidFill>
            <a:srgbClr val="F59E0B"/>
          </a:solidFill>
          <a:ln w="12700">
            <a:solidFill>
              <a:srgbClr val="F59E0B"/>
            </a:solidFill>
            <a:prstDash val="solid"/>
          </a:ln>
        </p:spPr>
      </p:sp>
      <p:sp>
        <p:nvSpPr>
          <p:cNvPr id="23" name="Text 21"/>
          <p:cNvSpPr/>
          <p:nvPr/>
        </p:nvSpPr>
        <p:spPr>
          <a:xfrm>
            <a:off x="4800600" y="1234440"/>
            <a:ext cx="411480" cy="7772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05</a:t>
            </a:r>
            <a:endParaRPr lang="en-US" sz="1300" dirty="0"/>
          </a:p>
        </p:txBody>
      </p:sp>
      <p:sp>
        <p:nvSpPr>
          <p:cNvPr id="24" name="Text 22"/>
          <p:cNvSpPr/>
          <p:nvPr/>
        </p:nvSpPr>
        <p:spPr>
          <a:xfrm>
            <a:off x="5276088" y="1280160"/>
            <a:ext cx="3657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How API Calls Work</a:t>
            </a:r>
            <a:endParaRPr lang="en-US" sz="1300" dirty="0"/>
          </a:p>
        </p:txBody>
      </p:sp>
      <p:sp>
        <p:nvSpPr>
          <p:cNvPr id="25" name="Shape 23"/>
          <p:cNvSpPr/>
          <p:nvPr/>
        </p:nvSpPr>
        <p:spPr>
          <a:xfrm>
            <a:off x="4800600" y="2167128"/>
            <a:ext cx="42062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6" name="Shape 24"/>
          <p:cNvSpPr/>
          <p:nvPr/>
        </p:nvSpPr>
        <p:spPr>
          <a:xfrm>
            <a:off x="4800600" y="2167128"/>
            <a:ext cx="411480" cy="777240"/>
          </a:xfrm>
          <a:prstGeom prst="rect">
            <a:avLst/>
          </a:prstGeom>
          <a:solidFill>
            <a:srgbClr val="EF4444"/>
          </a:solidFill>
          <a:ln w="12700">
            <a:solidFill>
              <a:srgbClr val="EF4444"/>
            </a:solidFill>
            <a:prstDash val="solid"/>
          </a:ln>
        </p:spPr>
      </p:sp>
      <p:sp>
        <p:nvSpPr>
          <p:cNvPr id="27" name="Text 25"/>
          <p:cNvSpPr/>
          <p:nvPr/>
        </p:nvSpPr>
        <p:spPr>
          <a:xfrm>
            <a:off x="4800600" y="2167128"/>
            <a:ext cx="411480" cy="7772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06</a:t>
            </a:r>
            <a:endParaRPr lang="en-US" sz="1300" dirty="0"/>
          </a:p>
        </p:txBody>
      </p:sp>
      <p:sp>
        <p:nvSpPr>
          <p:cNvPr id="28" name="Text 26"/>
          <p:cNvSpPr/>
          <p:nvPr/>
        </p:nvSpPr>
        <p:spPr>
          <a:xfrm>
            <a:off x="5276088" y="2212848"/>
            <a:ext cx="3657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Frontend Technologies (HTML/CSS/JS)</a:t>
            </a:r>
            <a:endParaRPr lang="en-US" sz="1300" dirty="0"/>
          </a:p>
        </p:txBody>
      </p:sp>
      <p:sp>
        <p:nvSpPr>
          <p:cNvPr id="29" name="Shape 27"/>
          <p:cNvSpPr/>
          <p:nvPr/>
        </p:nvSpPr>
        <p:spPr>
          <a:xfrm>
            <a:off x="4800600" y="3099816"/>
            <a:ext cx="42062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0" name="Shape 28"/>
          <p:cNvSpPr/>
          <p:nvPr/>
        </p:nvSpPr>
        <p:spPr>
          <a:xfrm>
            <a:off x="4800600" y="3099816"/>
            <a:ext cx="411480" cy="777240"/>
          </a:xfrm>
          <a:prstGeom prst="rect">
            <a:avLst/>
          </a:prstGeom>
          <a:solidFill>
            <a:srgbClr val="00D4FF"/>
          </a:solidFill>
          <a:ln w="12700">
            <a:solidFill>
              <a:srgbClr val="00D4FF"/>
            </a:solidFill>
            <a:prstDash val="solid"/>
          </a:ln>
        </p:spPr>
      </p:sp>
      <p:sp>
        <p:nvSpPr>
          <p:cNvPr id="31" name="Text 29"/>
          <p:cNvSpPr/>
          <p:nvPr/>
        </p:nvSpPr>
        <p:spPr>
          <a:xfrm>
            <a:off x="4800600" y="3099816"/>
            <a:ext cx="411480" cy="7772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07</a:t>
            </a:r>
            <a:endParaRPr lang="en-US" sz="1300" dirty="0"/>
          </a:p>
        </p:txBody>
      </p:sp>
      <p:sp>
        <p:nvSpPr>
          <p:cNvPr id="32" name="Text 30"/>
          <p:cNvSpPr/>
          <p:nvPr/>
        </p:nvSpPr>
        <p:spPr>
          <a:xfrm>
            <a:off x="5276088" y="3145536"/>
            <a:ext cx="3657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End-to-End Flow</a:t>
            </a:r>
            <a:endParaRPr lang="en-US" sz="1300" dirty="0"/>
          </a:p>
        </p:txBody>
      </p:sp>
      <p:sp>
        <p:nvSpPr>
          <p:cNvPr id="33" name="Shape 31"/>
          <p:cNvSpPr/>
          <p:nvPr/>
        </p:nvSpPr>
        <p:spPr>
          <a:xfrm>
            <a:off x="4800600" y="4032504"/>
            <a:ext cx="42062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4" name="Shape 32"/>
          <p:cNvSpPr/>
          <p:nvPr/>
        </p:nvSpPr>
        <p:spPr>
          <a:xfrm>
            <a:off x="4800600" y="4032504"/>
            <a:ext cx="411480" cy="777240"/>
          </a:xfrm>
          <a:prstGeom prst="rect">
            <a:avLst/>
          </a:prstGeom>
          <a:solidFill>
            <a:srgbClr val="0EA5E9"/>
          </a:solidFill>
          <a:ln w="12700">
            <a:solidFill>
              <a:srgbClr val="0EA5E9"/>
            </a:solidFill>
            <a:prstDash val="solid"/>
          </a:ln>
        </p:spPr>
      </p:sp>
      <p:sp>
        <p:nvSpPr>
          <p:cNvPr id="35" name="Text 33"/>
          <p:cNvSpPr/>
          <p:nvPr/>
        </p:nvSpPr>
        <p:spPr>
          <a:xfrm>
            <a:off x="4800600" y="4032504"/>
            <a:ext cx="411480" cy="7772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08</a:t>
            </a:r>
            <a:endParaRPr lang="en-US" sz="1300" dirty="0"/>
          </a:p>
        </p:txBody>
      </p:sp>
      <p:sp>
        <p:nvSpPr>
          <p:cNvPr id="36" name="Text 34"/>
          <p:cNvSpPr/>
          <p:nvPr/>
        </p:nvSpPr>
        <p:spPr>
          <a:xfrm>
            <a:off x="5276088" y="4078224"/>
            <a:ext cx="3657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Live Example: Login System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is a Web Application?</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01 · Introduction</a:t>
            </a:r>
            <a:endParaRPr lang="en-US" sz="1400" dirty="0"/>
          </a:p>
        </p:txBody>
      </p:sp>
      <p:sp>
        <p:nvSpPr>
          <p:cNvPr id="5" name="Shape 3"/>
          <p:cNvSpPr/>
          <p:nvPr/>
        </p:nvSpPr>
        <p:spPr>
          <a:xfrm>
            <a:off x="365760" y="1234440"/>
            <a:ext cx="4572000" cy="1920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Text 4"/>
          <p:cNvSpPr/>
          <p:nvPr/>
        </p:nvSpPr>
        <p:spPr>
          <a:xfrm>
            <a:off x="457200" y="1280160"/>
            <a:ext cx="4389120" cy="365760"/>
          </a:xfrm>
          <a:prstGeom prst="rect">
            <a:avLst/>
          </a:prstGeom>
          <a:noFill/>
          <a:ln/>
        </p:spPr>
        <p:txBody>
          <a:bodyPr wrap="square" lIns="0" tIns="0" rIns="0" bIns="0"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Definition</a:t>
            </a:r>
            <a:endParaRPr lang="en-US" sz="1500" dirty="0"/>
          </a:p>
        </p:txBody>
      </p:sp>
      <p:sp>
        <p:nvSpPr>
          <p:cNvPr id="7" name="Text 5"/>
          <p:cNvSpPr/>
          <p:nvPr/>
        </p:nvSpPr>
        <p:spPr>
          <a:xfrm>
            <a:off x="457200" y="1664208"/>
            <a:ext cx="4389120" cy="141732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A web application is software that </a:t>
            </a:r>
            <a:r>
              <a:rPr lang="en-US" sz="1350" b="1" dirty="0">
                <a:solidFill>
                  <a:srgbClr val="00D4FF"/>
                </a:solidFill>
                <a:latin typeface="Calibri" pitchFamily="34" charset="0"/>
                <a:ea typeface="Calibri" pitchFamily="34" charset="-122"/>
                <a:cs typeface="Calibri" pitchFamily="34" charset="-120"/>
              </a:rPr>
              <a:t>runs in a browser</a:t>
            </a:r>
            <a:r>
              <a:rPr lang="en-US" sz="1350" dirty="0">
                <a:solidFill>
                  <a:srgbClr val="FFFFFF"/>
                </a:solidFill>
                <a:latin typeface="Calibri" pitchFamily="34" charset="0"/>
                <a:ea typeface="Calibri" pitchFamily="34" charset="-122"/>
                <a:cs typeface="Calibri" pitchFamily="34" charset="-120"/>
              </a:rPr>
              <a:t> and delivers </a:t>
            </a:r>
            <a:r>
              <a:rPr lang="en-US" sz="1350" b="1" dirty="0">
                <a:solidFill>
                  <a:srgbClr val="10B981"/>
                </a:solidFill>
                <a:latin typeface="Calibri" pitchFamily="34" charset="0"/>
                <a:ea typeface="Calibri" pitchFamily="34" charset="-122"/>
                <a:cs typeface="Calibri" pitchFamily="34" charset="-120"/>
              </a:rPr>
              <a:t>dynamic, interactive experiences</a:t>
            </a:r>
            <a:r>
              <a:rPr lang="en-US" sz="1350" dirty="0">
                <a:solidFill>
                  <a:srgbClr val="FFFFFF"/>
                </a:solidFill>
                <a:latin typeface="Calibri" pitchFamily="34" charset="0"/>
                <a:ea typeface="Calibri" pitchFamily="34" charset="-122"/>
                <a:cs typeface="Calibri" pitchFamily="34" charset="-120"/>
              </a:rPr>
              <a:t> to users — unlike a simple static webpage.</a:t>
            </a:r>
            <a:endParaRPr lang="en-US" sz="1350" dirty="0"/>
          </a:p>
        </p:txBody>
      </p:sp>
      <p:sp>
        <p:nvSpPr>
          <p:cNvPr id="8" name="Shape 6"/>
          <p:cNvSpPr/>
          <p:nvPr/>
        </p:nvSpPr>
        <p:spPr>
          <a:xfrm>
            <a:off x="5120640" y="1234440"/>
            <a:ext cx="3657600" cy="1920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9" name="Text 7"/>
          <p:cNvSpPr/>
          <p:nvPr/>
        </p:nvSpPr>
        <p:spPr>
          <a:xfrm>
            <a:off x="5212080" y="1280160"/>
            <a:ext cx="3474720" cy="365760"/>
          </a:xfrm>
          <a:prstGeom prst="rect">
            <a:avLst/>
          </a:prstGeom>
          <a:noFill/>
          <a:ln/>
        </p:spPr>
        <p:txBody>
          <a:bodyPr wrap="square" lIns="0" tIns="0" rIns="0" bIns="0" rtlCol="0" anchor="ctr"/>
          <a:lstStyle/>
          <a:p>
            <a:pPr marL="0" indent="0">
              <a:buNone/>
            </a:pPr>
            <a:r>
              <a:rPr lang="en-US" sz="1500" b="1" dirty="0">
                <a:solidFill>
                  <a:srgbClr val="F59E0B"/>
                </a:solidFill>
                <a:latin typeface="Calibri" pitchFamily="34" charset="0"/>
                <a:ea typeface="Calibri" pitchFamily="34" charset="-122"/>
                <a:cs typeface="Calibri" pitchFamily="34" charset="-120"/>
              </a:rPr>
              <a:t>🌐 Real-World Examples</a:t>
            </a:r>
            <a:endParaRPr lang="en-US" sz="1500" dirty="0"/>
          </a:p>
        </p:txBody>
      </p:sp>
      <p:sp>
        <p:nvSpPr>
          <p:cNvPr id="10" name="Text 8"/>
          <p:cNvSpPr/>
          <p:nvPr/>
        </p:nvSpPr>
        <p:spPr>
          <a:xfrm>
            <a:off x="5257800" y="1691640"/>
            <a:ext cx="3429000"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Amazon  — E-commerce</a:t>
            </a:r>
            <a:endParaRPr lang="en-US" sz="1300" dirty="0"/>
          </a:p>
        </p:txBody>
      </p:sp>
      <p:sp>
        <p:nvSpPr>
          <p:cNvPr id="11" name="Text 9"/>
          <p:cNvSpPr/>
          <p:nvPr/>
        </p:nvSpPr>
        <p:spPr>
          <a:xfrm>
            <a:off x="5257800" y="2039112"/>
            <a:ext cx="3429000"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Netflix  — Video Streaming</a:t>
            </a:r>
            <a:endParaRPr lang="en-US" sz="1300" dirty="0"/>
          </a:p>
        </p:txBody>
      </p:sp>
      <p:sp>
        <p:nvSpPr>
          <p:cNvPr id="12" name="Text 10"/>
          <p:cNvSpPr/>
          <p:nvPr/>
        </p:nvSpPr>
        <p:spPr>
          <a:xfrm>
            <a:off x="5257800" y="2386584"/>
            <a:ext cx="3429000"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Google  — Search Engine</a:t>
            </a:r>
            <a:endParaRPr lang="en-US" sz="1300" dirty="0"/>
          </a:p>
        </p:txBody>
      </p:sp>
      <p:sp>
        <p:nvSpPr>
          <p:cNvPr id="13" name="Text 11"/>
          <p:cNvSpPr/>
          <p:nvPr/>
        </p:nvSpPr>
        <p:spPr>
          <a:xfrm>
            <a:off x="5257800" y="2734056"/>
            <a:ext cx="3429000"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WhatsApp Web  — Messaging</a:t>
            </a:r>
            <a:endParaRPr lang="en-US" sz="1300" dirty="0"/>
          </a:p>
        </p:txBody>
      </p:sp>
      <p:sp>
        <p:nvSpPr>
          <p:cNvPr id="14" name="Shape 12"/>
          <p:cNvSpPr/>
          <p:nvPr/>
        </p:nvSpPr>
        <p:spPr>
          <a:xfrm>
            <a:off x="365760" y="3291840"/>
            <a:ext cx="8412480" cy="105156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15" name="Shape 13"/>
          <p:cNvSpPr/>
          <p:nvPr/>
        </p:nvSpPr>
        <p:spPr>
          <a:xfrm>
            <a:off x="365760" y="3291840"/>
            <a:ext cx="54864" cy="1051560"/>
          </a:xfrm>
          <a:prstGeom prst="rect">
            <a:avLst/>
          </a:prstGeom>
          <a:solidFill>
            <a:srgbClr val="F59E0B"/>
          </a:solidFill>
          <a:ln w="12700">
            <a:solidFill>
              <a:srgbClr val="F59E0B"/>
            </a:solidFill>
            <a:prstDash val="solid"/>
          </a:ln>
        </p:spPr>
      </p:sp>
      <p:sp>
        <p:nvSpPr>
          <p:cNvPr id="16" name="Text 14"/>
          <p:cNvSpPr/>
          <p:nvPr/>
        </p:nvSpPr>
        <p:spPr>
          <a:xfrm>
            <a:off x="502920" y="3337560"/>
            <a:ext cx="1371600" cy="347472"/>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Analogy</a:t>
            </a:r>
            <a:endParaRPr lang="en-US" sz="1300" dirty="0"/>
          </a:p>
        </p:txBody>
      </p:sp>
      <p:sp>
        <p:nvSpPr>
          <p:cNvPr id="17" name="Text 15"/>
          <p:cNvSpPr/>
          <p:nvPr/>
        </p:nvSpPr>
        <p:spPr>
          <a:xfrm>
            <a:off x="502920" y="3657600"/>
            <a:ext cx="8183880" cy="5943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Think of a web app like a TV channel on-demand (Netflix). You don't install a channel — you open a browser, tune in, and it streams content tailored to YOU in real time.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Website vs Web Application</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01 · What's the Difference?</a:t>
            </a:r>
            <a:endParaRPr lang="en-US" sz="1400" dirty="0"/>
          </a:p>
        </p:txBody>
      </p:sp>
      <p:sp>
        <p:nvSpPr>
          <p:cNvPr id="5" name="Shape 3"/>
          <p:cNvSpPr/>
          <p:nvPr/>
        </p:nvSpPr>
        <p:spPr>
          <a:xfrm>
            <a:off x="365760" y="1234440"/>
            <a:ext cx="3977640" cy="502920"/>
          </a:xfrm>
          <a:prstGeom prst="rect">
            <a:avLst/>
          </a:prstGeom>
          <a:solidFill>
            <a:srgbClr val="0EA5E9"/>
          </a:solidFill>
          <a:ln w="12700">
            <a:solidFill>
              <a:srgbClr val="1E3A5F"/>
            </a:solidFill>
            <a:prstDash val="solid"/>
          </a:ln>
          <a:effectLst>
            <a:outerShdw blurRad="101600" dist="38100" dir="8100000" algn="bl" rotWithShape="0">
              <a:srgbClr val="000000">
                <a:alpha val="25000"/>
              </a:srgbClr>
            </a:outerShdw>
          </a:effectLst>
        </p:spPr>
      </p:sp>
      <p:sp>
        <p:nvSpPr>
          <p:cNvPr id="6" name="Text 4"/>
          <p:cNvSpPr/>
          <p:nvPr/>
        </p:nvSpPr>
        <p:spPr>
          <a:xfrm>
            <a:off x="365760" y="1234440"/>
            <a:ext cx="3977640" cy="502920"/>
          </a:xfrm>
          <a:prstGeom prst="rect">
            <a:avLst/>
          </a:prstGeom>
          <a:noFill/>
          <a:ln/>
        </p:spPr>
        <p:txBody>
          <a:bodyPr wrap="square" lIns="0" tIns="0" rIns="0" bIns="0" rtlCol="0" anchor="ctr"/>
          <a:lstStyle/>
          <a:p>
            <a:pPr marL="0" indent="0" algn="ctr">
              <a:buNone/>
            </a:pPr>
            <a:r>
              <a:rPr lang="en-US" sz="1700" b="1" dirty="0">
                <a:solidFill>
                  <a:srgbClr val="0D1B2A"/>
                </a:solidFill>
                <a:latin typeface="Calibri" pitchFamily="34" charset="0"/>
                <a:ea typeface="Calibri" pitchFamily="34" charset="-122"/>
                <a:cs typeface="Calibri" pitchFamily="34" charset="-120"/>
              </a:rPr>
              <a:t>📄  WEBSITE</a:t>
            </a:r>
            <a:endParaRPr lang="en-US" sz="1700" dirty="0"/>
          </a:p>
        </p:txBody>
      </p:sp>
      <p:sp>
        <p:nvSpPr>
          <p:cNvPr id="7" name="Shape 5"/>
          <p:cNvSpPr/>
          <p:nvPr/>
        </p:nvSpPr>
        <p:spPr>
          <a:xfrm>
            <a:off x="4800600" y="1234440"/>
            <a:ext cx="3977640" cy="502920"/>
          </a:xfrm>
          <a:prstGeom prst="rect">
            <a:avLst/>
          </a:prstGeom>
          <a:solidFill>
            <a:srgbClr val="7C3AED"/>
          </a:solidFill>
          <a:ln w="12700">
            <a:solidFill>
              <a:srgbClr val="1E3A5F"/>
            </a:solidFill>
            <a:prstDash val="solid"/>
          </a:ln>
          <a:effectLst>
            <a:outerShdw blurRad="101600" dist="38100" dir="8100000" algn="bl" rotWithShape="0">
              <a:srgbClr val="000000">
                <a:alpha val="25000"/>
              </a:srgbClr>
            </a:outerShdw>
          </a:effectLst>
        </p:spPr>
      </p:sp>
      <p:sp>
        <p:nvSpPr>
          <p:cNvPr id="8" name="Text 6"/>
          <p:cNvSpPr/>
          <p:nvPr/>
        </p:nvSpPr>
        <p:spPr>
          <a:xfrm>
            <a:off x="4800600" y="1234440"/>
            <a:ext cx="397764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  WEB APPLICATION</a:t>
            </a:r>
            <a:endParaRPr lang="en-US" sz="1700" dirty="0"/>
          </a:p>
        </p:txBody>
      </p:sp>
      <p:sp>
        <p:nvSpPr>
          <p:cNvPr id="9" name="Shape 7"/>
          <p:cNvSpPr/>
          <p:nvPr/>
        </p:nvSpPr>
        <p:spPr>
          <a:xfrm>
            <a:off x="365760" y="1847088"/>
            <a:ext cx="3977640" cy="50292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0" name="Text 8"/>
          <p:cNvSpPr/>
          <p:nvPr/>
        </p:nvSpPr>
        <p:spPr>
          <a:xfrm>
            <a:off x="457200" y="1847088"/>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Static content</a:t>
            </a:r>
            <a:endParaRPr lang="en-US" sz="1350" dirty="0"/>
          </a:p>
        </p:txBody>
      </p:sp>
      <p:sp>
        <p:nvSpPr>
          <p:cNvPr id="11" name="Shape 9"/>
          <p:cNvSpPr/>
          <p:nvPr/>
        </p:nvSpPr>
        <p:spPr>
          <a:xfrm>
            <a:off x="4800600" y="1847088"/>
            <a:ext cx="3977640" cy="50292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2" name="Text 10"/>
          <p:cNvSpPr/>
          <p:nvPr/>
        </p:nvSpPr>
        <p:spPr>
          <a:xfrm>
            <a:off x="4892040" y="1847088"/>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Dynamic, personalised content</a:t>
            </a:r>
            <a:endParaRPr lang="en-US" sz="1350" dirty="0"/>
          </a:p>
        </p:txBody>
      </p:sp>
      <p:sp>
        <p:nvSpPr>
          <p:cNvPr id="13" name="Shape 11"/>
          <p:cNvSpPr/>
          <p:nvPr/>
        </p:nvSpPr>
        <p:spPr>
          <a:xfrm>
            <a:off x="4389120" y="2011680"/>
            <a:ext cx="201168" cy="201168"/>
          </a:xfrm>
          <a:prstGeom prst="ellipse">
            <a:avLst/>
          </a:prstGeom>
          <a:solidFill>
            <a:srgbClr val="00D4FF"/>
          </a:solidFill>
          <a:ln w="12700">
            <a:solidFill>
              <a:srgbClr val="00D4FF"/>
            </a:solidFill>
            <a:prstDash val="solid"/>
          </a:ln>
        </p:spPr>
      </p:sp>
      <p:sp>
        <p:nvSpPr>
          <p:cNvPr id="14" name="Shape 12"/>
          <p:cNvSpPr/>
          <p:nvPr/>
        </p:nvSpPr>
        <p:spPr>
          <a:xfrm>
            <a:off x="365760" y="2414016"/>
            <a:ext cx="3977640" cy="50292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15" name="Text 13"/>
          <p:cNvSpPr/>
          <p:nvPr/>
        </p:nvSpPr>
        <p:spPr>
          <a:xfrm>
            <a:off x="457200" y="2414016"/>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No user login needed</a:t>
            </a:r>
            <a:endParaRPr lang="en-US" sz="1350" dirty="0"/>
          </a:p>
        </p:txBody>
      </p:sp>
      <p:sp>
        <p:nvSpPr>
          <p:cNvPr id="16" name="Shape 14"/>
          <p:cNvSpPr/>
          <p:nvPr/>
        </p:nvSpPr>
        <p:spPr>
          <a:xfrm>
            <a:off x="4800600" y="2414016"/>
            <a:ext cx="3977640" cy="50292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17" name="Text 15"/>
          <p:cNvSpPr/>
          <p:nvPr/>
        </p:nvSpPr>
        <p:spPr>
          <a:xfrm>
            <a:off x="4892040" y="2414016"/>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Login &amp; user sessions</a:t>
            </a:r>
            <a:endParaRPr lang="en-US" sz="1350" dirty="0"/>
          </a:p>
        </p:txBody>
      </p:sp>
      <p:sp>
        <p:nvSpPr>
          <p:cNvPr id="18" name="Shape 16"/>
          <p:cNvSpPr/>
          <p:nvPr/>
        </p:nvSpPr>
        <p:spPr>
          <a:xfrm>
            <a:off x="4389120" y="2578608"/>
            <a:ext cx="201168" cy="201168"/>
          </a:xfrm>
          <a:prstGeom prst="ellipse">
            <a:avLst/>
          </a:prstGeom>
          <a:solidFill>
            <a:srgbClr val="00D4FF"/>
          </a:solidFill>
          <a:ln w="12700">
            <a:solidFill>
              <a:srgbClr val="00D4FF"/>
            </a:solidFill>
            <a:prstDash val="solid"/>
          </a:ln>
        </p:spPr>
      </p:sp>
      <p:sp>
        <p:nvSpPr>
          <p:cNvPr id="19" name="Shape 17"/>
          <p:cNvSpPr/>
          <p:nvPr/>
        </p:nvSpPr>
        <p:spPr>
          <a:xfrm>
            <a:off x="365760" y="2980944"/>
            <a:ext cx="3977640" cy="50292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0" name="Text 18"/>
          <p:cNvSpPr/>
          <p:nvPr/>
        </p:nvSpPr>
        <p:spPr>
          <a:xfrm>
            <a:off x="457200" y="2980944"/>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Same for everyone</a:t>
            </a:r>
            <a:endParaRPr lang="en-US" sz="1350" dirty="0"/>
          </a:p>
        </p:txBody>
      </p:sp>
      <p:sp>
        <p:nvSpPr>
          <p:cNvPr id="21" name="Shape 19"/>
          <p:cNvSpPr/>
          <p:nvPr/>
        </p:nvSpPr>
        <p:spPr>
          <a:xfrm>
            <a:off x="4800600" y="2980944"/>
            <a:ext cx="3977640" cy="50292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2" name="Text 20"/>
          <p:cNvSpPr/>
          <p:nvPr/>
        </p:nvSpPr>
        <p:spPr>
          <a:xfrm>
            <a:off x="4892040" y="2980944"/>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Different per user</a:t>
            </a:r>
            <a:endParaRPr lang="en-US" sz="1350" dirty="0"/>
          </a:p>
        </p:txBody>
      </p:sp>
      <p:sp>
        <p:nvSpPr>
          <p:cNvPr id="23" name="Shape 21"/>
          <p:cNvSpPr/>
          <p:nvPr/>
        </p:nvSpPr>
        <p:spPr>
          <a:xfrm>
            <a:off x="4389120" y="3145536"/>
            <a:ext cx="201168" cy="201168"/>
          </a:xfrm>
          <a:prstGeom prst="ellipse">
            <a:avLst/>
          </a:prstGeom>
          <a:solidFill>
            <a:srgbClr val="00D4FF"/>
          </a:solidFill>
          <a:ln w="12700">
            <a:solidFill>
              <a:srgbClr val="00D4FF"/>
            </a:solidFill>
            <a:prstDash val="solid"/>
          </a:ln>
        </p:spPr>
      </p:sp>
      <p:sp>
        <p:nvSpPr>
          <p:cNvPr id="24" name="Shape 22"/>
          <p:cNvSpPr/>
          <p:nvPr/>
        </p:nvSpPr>
        <p:spPr>
          <a:xfrm>
            <a:off x="365760" y="3547872"/>
            <a:ext cx="3977640" cy="50292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25" name="Text 23"/>
          <p:cNvSpPr/>
          <p:nvPr/>
        </p:nvSpPr>
        <p:spPr>
          <a:xfrm>
            <a:off x="457200" y="3547872"/>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Example: Wikipedia</a:t>
            </a:r>
            <a:endParaRPr lang="en-US" sz="1350" dirty="0"/>
          </a:p>
        </p:txBody>
      </p:sp>
      <p:sp>
        <p:nvSpPr>
          <p:cNvPr id="26" name="Shape 24"/>
          <p:cNvSpPr/>
          <p:nvPr/>
        </p:nvSpPr>
        <p:spPr>
          <a:xfrm>
            <a:off x="4800600" y="3547872"/>
            <a:ext cx="3977640" cy="50292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27" name="Text 25"/>
          <p:cNvSpPr/>
          <p:nvPr/>
        </p:nvSpPr>
        <p:spPr>
          <a:xfrm>
            <a:off x="4892040" y="3547872"/>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Example: Gmail, Spotify</a:t>
            </a:r>
            <a:endParaRPr lang="en-US" sz="1350" dirty="0"/>
          </a:p>
        </p:txBody>
      </p:sp>
      <p:sp>
        <p:nvSpPr>
          <p:cNvPr id="28" name="Shape 26"/>
          <p:cNvSpPr/>
          <p:nvPr/>
        </p:nvSpPr>
        <p:spPr>
          <a:xfrm>
            <a:off x="4389120" y="3712464"/>
            <a:ext cx="201168" cy="201168"/>
          </a:xfrm>
          <a:prstGeom prst="ellipse">
            <a:avLst/>
          </a:prstGeom>
          <a:solidFill>
            <a:srgbClr val="00D4FF"/>
          </a:solidFill>
          <a:ln w="12700">
            <a:solidFill>
              <a:srgbClr val="00D4FF"/>
            </a:solidFill>
            <a:prstDash val="solid"/>
          </a:ln>
        </p:spPr>
      </p:sp>
      <p:sp>
        <p:nvSpPr>
          <p:cNvPr id="29" name="Shape 27"/>
          <p:cNvSpPr/>
          <p:nvPr/>
        </p:nvSpPr>
        <p:spPr>
          <a:xfrm>
            <a:off x="365760" y="4114800"/>
            <a:ext cx="3977640" cy="50292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0" name="Text 28"/>
          <p:cNvSpPr/>
          <p:nvPr/>
        </p:nvSpPr>
        <p:spPr>
          <a:xfrm>
            <a:off x="457200" y="4114800"/>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Read-only</a:t>
            </a:r>
            <a:endParaRPr lang="en-US" sz="1350" dirty="0"/>
          </a:p>
        </p:txBody>
      </p:sp>
      <p:sp>
        <p:nvSpPr>
          <p:cNvPr id="31" name="Shape 29"/>
          <p:cNvSpPr/>
          <p:nvPr/>
        </p:nvSpPr>
        <p:spPr>
          <a:xfrm>
            <a:off x="4800600" y="4114800"/>
            <a:ext cx="3977640" cy="50292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2" name="Text 30"/>
          <p:cNvSpPr/>
          <p:nvPr/>
        </p:nvSpPr>
        <p:spPr>
          <a:xfrm>
            <a:off x="4892040" y="4114800"/>
            <a:ext cx="379476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Read + Write</a:t>
            </a:r>
            <a:endParaRPr lang="en-US" sz="1350" dirty="0"/>
          </a:p>
        </p:txBody>
      </p:sp>
      <p:sp>
        <p:nvSpPr>
          <p:cNvPr id="33" name="Shape 31"/>
          <p:cNvSpPr/>
          <p:nvPr/>
        </p:nvSpPr>
        <p:spPr>
          <a:xfrm>
            <a:off x="4389120" y="4279392"/>
            <a:ext cx="201168" cy="201168"/>
          </a:xfrm>
          <a:prstGeom prst="ellipse">
            <a:avLst/>
          </a:prstGeom>
          <a:solidFill>
            <a:srgbClr val="00D4FF"/>
          </a:solidFill>
          <a:ln w="12700">
            <a:solidFill>
              <a:srgbClr val="00D4F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How the Internet Works</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02 · The Big Picture</a:t>
            </a:r>
            <a:endParaRPr lang="en-US" sz="1400" dirty="0"/>
          </a:p>
        </p:txBody>
      </p:sp>
      <p:sp>
        <p:nvSpPr>
          <p:cNvPr id="5" name="Shape 3"/>
          <p:cNvSpPr/>
          <p:nvPr/>
        </p:nvSpPr>
        <p:spPr>
          <a:xfrm>
            <a:off x="274320" y="1234440"/>
            <a:ext cx="1572768" cy="13716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Text 4"/>
          <p:cNvSpPr/>
          <p:nvPr/>
        </p:nvSpPr>
        <p:spPr>
          <a:xfrm>
            <a:off x="274320" y="1298448"/>
            <a:ext cx="1572768"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274320" y="1801368"/>
            <a:ext cx="1572768" cy="320040"/>
          </a:xfrm>
          <a:prstGeom prst="rect">
            <a:avLst/>
          </a:prstGeom>
          <a:noFill/>
          <a:ln/>
        </p:spPr>
        <p:txBody>
          <a:bodyPr wrap="square" lIns="0" tIns="0" rIns="0" bIns="0" rtlCol="0" anchor="ctr"/>
          <a:lstStyle/>
          <a:p>
            <a:pPr marL="0" indent="0" algn="ctr">
              <a:buNone/>
            </a:pPr>
            <a:r>
              <a:rPr lang="en-US" sz="1200" b="1" dirty="0">
                <a:solidFill>
                  <a:srgbClr val="0EA5E9"/>
                </a:solidFill>
                <a:latin typeface="Calibri" pitchFamily="34" charset="0"/>
                <a:ea typeface="Calibri" pitchFamily="34" charset="-122"/>
                <a:cs typeface="Calibri" pitchFamily="34" charset="-120"/>
              </a:rPr>
              <a:t>Your Device</a:t>
            </a:r>
            <a:endParaRPr lang="en-US" sz="1200" dirty="0"/>
          </a:p>
        </p:txBody>
      </p:sp>
      <p:sp>
        <p:nvSpPr>
          <p:cNvPr id="8" name="Text 6"/>
          <p:cNvSpPr/>
          <p:nvPr/>
        </p:nvSpPr>
        <p:spPr>
          <a:xfrm>
            <a:off x="274320" y="2103120"/>
            <a:ext cx="1572768" cy="4114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Browser / App</a:t>
            </a:r>
            <a:endParaRPr lang="en-US" sz="1100" dirty="0"/>
          </a:p>
        </p:txBody>
      </p:sp>
      <p:sp>
        <p:nvSpPr>
          <p:cNvPr id="9" name="Shape 7"/>
          <p:cNvSpPr/>
          <p:nvPr/>
        </p:nvSpPr>
        <p:spPr>
          <a:xfrm>
            <a:off x="1883664" y="1901952"/>
            <a:ext cx="73152" cy="0"/>
          </a:xfrm>
          <a:prstGeom prst="line">
            <a:avLst/>
          </a:prstGeom>
          <a:noFill/>
          <a:ln w="31750">
            <a:solidFill>
              <a:srgbClr val="00D4FF"/>
            </a:solidFill>
            <a:prstDash val="solid"/>
            <a:tailEnd type="none"/>
          </a:ln>
        </p:spPr>
      </p:sp>
      <p:sp>
        <p:nvSpPr>
          <p:cNvPr id="10" name="Shape 8"/>
          <p:cNvSpPr/>
          <p:nvPr/>
        </p:nvSpPr>
        <p:spPr>
          <a:xfrm>
            <a:off x="1993392" y="1234440"/>
            <a:ext cx="1572768" cy="13716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1" name="Text 9"/>
          <p:cNvSpPr/>
          <p:nvPr/>
        </p:nvSpPr>
        <p:spPr>
          <a:xfrm>
            <a:off x="1993392" y="1298448"/>
            <a:ext cx="1572768"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2" name="Text 10"/>
          <p:cNvSpPr/>
          <p:nvPr/>
        </p:nvSpPr>
        <p:spPr>
          <a:xfrm>
            <a:off x="1993392" y="1801368"/>
            <a:ext cx="1572768" cy="320040"/>
          </a:xfrm>
          <a:prstGeom prst="rect">
            <a:avLst/>
          </a:prstGeom>
          <a:noFill/>
          <a:ln/>
        </p:spPr>
        <p:txBody>
          <a:bodyPr wrap="square" lIns="0" tIns="0" rIns="0" bIns="0" rtlCol="0" anchor="ctr"/>
          <a:lstStyle/>
          <a:p>
            <a:pPr marL="0" indent="0" algn="ctr">
              <a:buNone/>
            </a:pPr>
            <a:r>
              <a:rPr lang="en-US" sz="1200" b="1" dirty="0">
                <a:solidFill>
                  <a:srgbClr val="00D4FF"/>
                </a:solidFill>
                <a:latin typeface="Calibri" pitchFamily="34" charset="0"/>
                <a:ea typeface="Calibri" pitchFamily="34" charset="-122"/>
                <a:cs typeface="Calibri" pitchFamily="34" charset="-120"/>
              </a:rPr>
              <a:t>ISP</a:t>
            </a:r>
            <a:endParaRPr lang="en-US" sz="1200" dirty="0"/>
          </a:p>
        </p:txBody>
      </p:sp>
      <p:sp>
        <p:nvSpPr>
          <p:cNvPr id="13" name="Text 11"/>
          <p:cNvSpPr/>
          <p:nvPr/>
        </p:nvSpPr>
        <p:spPr>
          <a:xfrm>
            <a:off x="1993392" y="2103120"/>
            <a:ext cx="1572768" cy="4114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Internet Provider</a:t>
            </a:r>
            <a:endParaRPr lang="en-US" sz="1100" dirty="0"/>
          </a:p>
        </p:txBody>
      </p:sp>
      <p:sp>
        <p:nvSpPr>
          <p:cNvPr id="14" name="Shape 12"/>
          <p:cNvSpPr/>
          <p:nvPr/>
        </p:nvSpPr>
        <p:spPr>
          <a:xfrm>
            <a:off x="3602736" y="1901952"/>
            <a:ext cx="73152" cy="0"/>
          </a:xfrm>
          <a:prstGeom prst="line">
            <a:avLst/>
          </a:prstGeom>
          <a:noFill/>
          <a:ln w="31750">
            <a:solidFill>
              <a:srgbClr val="00D4FF"/>
            </a:solidFill>
            <a:prstDash val="solid"/>
            <a:tailEnd type="none"/>
          </a:ln>
        </p:spPr>
      </p:sp>
      <p:sp>
        <p:nvSpPr>
          <p:cNvPr id="15" name="Shape 13"/>
          <p:cNvSpPr/>
          <p:nvPr/>
        </p:nvSpPr>
        <p:spPr>
          <a:xfrm>
            <a:off x="3712464" y="1234440"/>
            <a:ext cx="1572768" cy="13716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6" name="Text 14"/>
          <p:cNvSpPr/>
          <p:nvPr/>
        </p:nvSpPr>
        <p:spPr>
          <a:xfrm>
            <a:off x="3712464" y="1298448"/>
            <a:ext cx="1572768"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7" name="Text 15"/>
          <p:cNvSpPr/>
          <p:nvPr/>
        </p:nvSpPr>
        <p:spPr>
          <a:xfrm>
            <a:off x="3712464" y="1801368"/>
            <a:ext cx="1572768" cy="320040"/>
          </a:xfrm>
          <a:prstGeom prst="rect">
            <a:avLst/>
          </a:prstGeom>
          <a:noFill/>
          <a:ln/>
        </p:spPr>
        <p:txBody>
          <a:bodyPr wrap="square" lIns="0" tIns="0" rIns="0" bIns="0" rtlCol="0" anchor="ctr"/>
          <a:lstStyle/>
          <a:p>
            <a:pPr marL="0" indent="0" algn="ctr">
              <a:buNone/>
            </a:pPr>
            <a:r>
              <a:rPr lang="en-US" sz="1200" b="1" dirty="0">
                <a:solidFill>
                  <a:srgbClr val="7C3AED"/>
                </a:solidFill>
                <a:latin typeface="Calibri" pitchFamily="34" charset="0"/>
                <a:ea typeface="Calibri" pitchFamily="34" charset="-122"/>
                <a:cs typeface="Calibri" pitchFamily="34" charset="-120"/>
              </a:rPr>
              <a:t>DNS Server</a:t>
            </a:r>
            <a:endParaRPr lang="en-US" sz="1200" dirty="0"/>
          </a:p>
        </p:txBody>
      </p:sp>
      <p:sp>
        <p:nvSpPr>
          <p:cNvPr id="18" name="Text 16"/>
          <p:cNvSpPr/>
          <p:nvPr/>
        </p:nvSpPr>
        <p:spPr>
          <a:xfrm>
            <a:off x="3712464" y="2103120"/>
            <a:ext cx="1572768" cy="4114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Phone Book of Web</a:t>
            </a:r>
            <a:endParaRPr lang="en-US" sz="1100" dirty="0"/>
          </a:p>
        </p:txBody>
      </p:sp>
      <p:sp>
        <p:nvSpPr>
          <p:cNvPr id="19" name="Shape 17"/>
          <p:cNvSpPr/>
          <p:nvPr/>
        </p:nvSpPr>
        <p:spPr>
          <a:xfrm>
            <a:off x="5321808" y="1901952"/>
            <a:ext cx="73152" cy="0"/>
          </a:xfrm>
          <a:prstGeom prst="line">
            <a:avLst/>
          </a:prstGeom>
          <a:noFill/>
          <a:ln w="31750">
            <a:solidFill>
              <a:srgbClr val="00D4FF"/>
            </a:solidFill>
            <a:prstDash val="solid"/>
            <a:tailEnd type="none"/>
          </a:ln>
        </p:spPr>
      </p:sp>
      <p:sp>
        <p:nvSpPr>
          <p:cNvPr id="20" name="Shape 18"/>
          <p:cNvSpPr/>
          <p:nvPr/>
        </p:nvSpPr>
        <p:spPr>
          <a:xfrm>
            <a:off x="5431536" y="1234440"/>
            <a:ext cx="1572768" cy="13716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1" name="Text 19"/>
          <p:cNvSpPr/>
          <p:nvPr/>
        </p:nvSpPr>
        <p:spPr>
          <a:xfrm>
            <a:off x="5431536" y="1298448"/>
            <a:ext cx="1572768"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2" name="Text 20"/>
          <p:cNvSpPr/>
          <p:nvPr/>
        </p:nvSpPr>
        <p:spPr>
          <a:xfrm>
            <a:off x="5431536" y="1801368"/>
            <a:ext cx="1572768" cy="320040"/>
          </a:xfrm>
          <a:prstGeom prst="rect">
            <a:avLst/>
          </a:prstGeom>
          <a:noFill/>
          <a:ln/>
        </p:spPr>
        <p:txBody>
          <a:bodyPr wrap="square" lIns="0" tIns="0" rIns="0" bIns="0"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IP Address</a:t>
            </a:r>
            <a:endParaRPr lang="en-US" sz="1200" dirty="0"/>
          </a:p>
        </p:txBody>
      </p:sp>
      <p:sp>
        <p:nvSpPr>
          <p:cNvPr id="23" name="Text 21"/>
          <p:cNvSpPr/>
          <p:nvPr/>
        </p:nvSpPr>
        <p:spPr>
          <a:xfrm>
            <a:off x="5431536" y="2103120"/>
            <a:ext cx="1572768" cy="4114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Finds the Server</a:t>
            </a:r>
            <a:endParaRPr lang="en-US" sz="1100" dirty="0"/>
          </a:p>
        </p:txBody>
      </p:sp>
      <p:sp>
        <p:nvSpPr>
          <p:cNvPr id="24" name="Shape 22"/>
          <p:cNvSpPr/>
          <p:nvPr/>
        </p:nvSpPr>
        <p:spPr>
          <a:xfrm>
            <a:off x="7040880" y="1901952"/>
            <a:ext cx="73152" cy="0"/>
          </a:xfrm>
          <a:prstGeom prst="line">
            <a:avLst/>
          </a:prstGeom>
          <a:noFill/>
          <a:ln w="31750">
            <a:solidFill>
              <a:srgbClr val="00D4FF"/>
            </a:solidFill>
            <a:prstDash val="solid"/>
            <a:tailEnd type="none"/>
          </a:ln>
        </p:spPr>
      </p:sp>
      <p:sp>
        <p:nvSpPr>
          <p:cNvPr id="25" name="Shape 23"/>
          <p:cNvSpPr/>
          <p:nvPr/>
        </p:nvSpPr>
        <p:spPr>
          <a:xfrm>
            <a:off x="7150608" y="1234440"/>
            <a:ext cx="1572768" cy="13716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6" name="Text 24"/>
          <p:cNvSpPr/>
          <p:nvPr/>
        </p:nvSpPr>
        <p:spPr>
          <a:xfrm>
            <a:off x="7150608" y="1298448"/>
            <a:ext cx="1572768"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7" name="Text 25"/>
          <p:cNvSpPr/>
          <p:nvPr/>
        </p:nvSpPr>
        <p:spPr>
          <a:xfrm>
            <a:off x="7150608" y="1801368"/>
            <a:ext cx="1572768" cy="320040"/>
          </a:xfrm>
          <a:prstGeom prst="rect">
            <a:avLst/>
          </a:prstGeom>
          <a:noFill/>
          <a:ln/>
        </p:spPr>
        <p:txBody>
          <a:bodyPr wrap="square" lIns="0" tIns="0" rIns="0" bIns="0"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Web Server</a:t>
            </a:r>
            <a:endParaRPr lang="en-US" sz="1200" dirty="0"/>
          </a:p>
        </p:txBody>
      </p:sp>
      <p:sp>
        <p:nvSpPr>
          <p:cNvPr id="28" name="Text 26"/>
          <p:cNvSpPr/>
          <p:nvPr/>
        </p:nvSpPr>
        <p:spPr>
          <a:xfrm>
            <a:off x="7150608" y="2103120"/>
            <a:ext cx="1572768" cy="4114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Sends Response</a:t>
            </a:r>
            <a:endParaRPr lang="en-US" sz="1100" dirty="0"/>
          </a:p>
        </p:txBody>
      </p:sp>
      <p:sp>
        <p:nvSpPr>
          <p:cNvPr id="29" name="Shape 27"/>
          <p:cNvSpPr/>
          <p:nvPr/>
        </p:nvSpPr>
        <p:spPr>
          <a:xfrm>
            <a:off x="365760" y="2834640"/>
            <a:ext cx="2651760" cy="128016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0" name="Shape 28"/>
          <p:cNvSpPr/>
          <p:nvPr/>
        </p:nvSpPr>
        <p:spPr>
          <a:xfrm>
            <a:off x="365760" y="2834640"/>
            <a:ext cx="2651760" cy="64008"/>
          </a:xfrm>
          <a:prstGeom prst="rect">
            <a:avLst/>
          </a:prstGeom>
          <a:solidFill>
            <a:srgbClr val="00D4FF"/>
          </a:solidFill>
          <a:ln w="12700">
            <a:solidFill>
              <a:srgbClr val="00D4FF"/>
            </a:solidFill>
            <a:prstDash val="solid"/>
          </a:ln>
        </p:spPr>
      </p:sp>
      <p:sp>
        <p:nvSpPr>
          <p:cNvPr id="31" name="Text 29"/>
          <p:cNvSpPr/>
          <p:nvPr/>
        </p:nvSpPr>
        <p:spPr>
          <a:xfrm>
            <a:off x="457200" y="2907792"/>
            <a:ext cx="2468880" cy="347472"/>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DNS (Domain Name System)</a:t>
            </a:r>
            <a:endParaRPr lang="en-US" sz="1300" dirty="0"/>
          </a:p>
        </p:txBody>
      </p:sp>
      <p:sp>
        <p:nvSpPr>
          <p:cNvPr id="32" name="Text 30"/>
          <p:cNvSpPr/>
          <p:nvPr/>
        </p:nvSpPr>
        <p:spPr>
          <a:xfrm>
            <a:off x="457200" y="3255264"/>
            <a:ext cx="246888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Translates 'google.com' → 142.250.x.x</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Like a phonebook for the internet</a:t>
            </a:r>
            <a:endParaRPr lang="en-US" sz="1200" dirty="0"/>
          </a:p>
        </p:txBody>
      </p:sp>
      <p:sp>
        <p:nvSpPr>
          <p:cNvPr id="33" name="Shape 31"/>
          <p:cNvSpPr/>
          <p:nvPr/>
        </p:nvSpPr>
        <p:spPr>
          <a:xfrm>
            <a:off x="3218688" y="2834640"/>
            <a:ext cx="2651760" cy="128016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4" name="Shape 32"/>
          <p:cNvSpPr/>
          <p:nvPr/>
        </p:nvSpPr>
        <p:spPr>
          <a:xfrm>
            <a:off x="3218688" y="2834640"/>
            <a:ext cx="2651760" cy="64008"/>
          </a:xfrm>
          <a:prstGeom prst="rect">
            <a:avLst/>
          </a:prstGeom>
          <a:solidFill>
            <a:srgbClr val="00D4FF"/>
          </a:solidFill>
          <a:ln w="12700">
            <a:solidFill>
              <a:srgbClr val="00D4FF"/>
            </a:solidFill>
            <a:prstDash val="solid"/>
          </a:ln>
        </p:spPr>
      </p:sp>
      <p:sp>
        <p:nvSpPr>
          <p:cNvPr id="35" name="Text 33"/>
          <p:cNvSpPr/>
          <p:nvPr/>
        </p:nvSpPr>
        <p:spPr>
          <a:xfrm>
            <a:off x="3310128" y="2907792"/>
            <a:ext cx="2468880" cy="347472"/>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IP Address</a:t>
            </a:r>
            <a:endParaRPr lang="en-US" sz="1300" dirty="0"/>
          </a:p>
        </p:txBody>
      </p:sp>
      <p:sp>
        <p:nvSpPr>
          <p:cNvPr id="36" name="Text 34"/>
          <p:cNvSpPr/>
          <p:nvPr/>
        </p:nvSpPr>
        <p:spPr>
          <a:xfrm>
            <a:off x="3310128" y="3255264"/>
            <a:ext cx="246888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Unique ID for every device/server</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Like a home address for computers</a:t>
            </a:r>
            <a:endParaRPr lang="en-US" sz="1200" dirty="0"/>
          </a:p>
        </p:txBody>
      </p:sp>
      <p:sp>
        <p:nvSpPr>
          <p:cNvPr id="37" name="Shape 35"/>
          <p:cNvSpPr/>
          <p:nvPr/>
        </p:nvSpPr>
        <p:spPr>
          <a:xfrm>
            <a:off x="6071616" y="2834640"/>
            <a:ext cx="2651760" cy="128016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8" name="Shape 36"/>
          <p:cNvSpPr/>
          <p:nvPr/>
        </p:nvSpPr>
        <p:spPr>
          <a:xfrm>
            <a:off x="6071616" y="2834640"/>
            <a:ext cx="2651760" cy="64008"/>
          </a:xfrm>
          <a:prstGeom prst="rect">
            <a:avLst/>
          </a:prstGeom>
          <a:solidFill>
            <a:srgbClr val="00D4FF"/>
          </a:solidFill>
          <a:ln w="12700">
            <a:solidFill>
              <a:srgbClr val="00D4FF"/>
            </a:solidFill>
            <a:prstDash val="solid"/>
          </a:ln>
        </p:spPr>
      </p:sp>
      <p:sp>
        <p:nvSpPr>
          <p:cNvPr id="39" name="Text 37"/>
          <p:cNvSpPr/>
          <p:nvPr/>
        </p:nvSpPr>
        <p:spPr>
          <a:xfrm>
            <a:off x="6163056" y="2907792"/>
            <a:ext cx="2468880" cy="347472"/>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HTTP/HTTPS</a:t>
            </a:r>
            <a:endParaRPr lang="en-US" sz="1300" dirty="0"/>
          </a:p>
        </p:txBody>
      </p:sp>
      <p:sp>
        <p:nvSpPr>
          <p:cNvPr id="40" name="Text 38"/>
          <p:cNvSpPr/>
          <p:nvPr/>
        </p:nvSpPr>
        <p:spPr>
          <a:xfrm>
            <a:off x="6163056" y="3255264"/>
            <a:ext cx="246888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Protocol for browser↔server communication</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HTTPS = encrypted (secure)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Client vs Server</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02 · The Two-Side Model</a:t>
            </a:r>
            <a:endParaRPr lang="en-US" sz="1400" dirty="0"/>
          </a:p>
        </p:txBody>
      </p:sp>
      <p:sp>
        <p:nvSpPr>
          <p:cNvPr id="5" name="Shape 3"/>
          <p:cNvSpPr/>
          <p:nvPr/>
        </p:nvSpPr>
        <p:spPr>
          <a:xfrm>
            <a:off x="320040" y="1234440"/>
            <a:ext cx="3840480" cy="32004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320040" y="1234440"/>
            <a:ext cx="3840480" cy="64008"/>
          </a:xfrm>
          <a:prstGeom prst="rect">
            <a:avLst/>
          </a:prstGeom>
          <a:solidFill>
            <a:srgbClr val="0EA5E9"/>
          </a:solidFill>
          <a:ln w="12700">
            <a:solidFill>
              <a:srgbClr val="0EA5E9"/>
            </a:solidFill>
            <a:prstDash val="solid"/>
          </a:ln>
        </p:spPr>
      </p:sp>
      <p:sp>
        <p:nvSpPr>
          <p:cNvPr id="7" name="Text 5"/>
          <p:cNvSpPr/>
          <p:nvPr/>
        </p:nvSpPr>
        <p:spPr>
          <a:xfrm>
            <a:off x="411480" y="1298448"/>
            <a:ext cx="3657600" cy="457200"/>
          </a:xfrm>
          <a:prstGeom prst="rect">
            <a:avLst/>
          </a:prstGeom>
          <a:noFill/>
          <a:ln/>
        </p:spPr>
        <p:txBody>
          <a:bodyPr wrap="square" lIns="0" tIns="0" rIns="0" bIns="0" rtlCol="0" anchor="ctr"/>
          <a:lstStyle/>
          <a:p>
            <a:pPr marL="0" indent="0">
              <a:buNone/>
            </a:pPr>
            <a:r>
              <a:rPr lang="en-US" sz="2000" b="1" dirty="0">
                <a:solidFill>
                  <a:srgbClr val="0EA5E9"/>
                </a:solidFill>
                <a:latin typeface="Calibri" pitchFamily="34" charset="0"/>
                <a:ea typeface="Calibri" pitchFamily="34" charset="-122"/>
                <a:cs typeface="Calibri" pitchFamily="34" charset="-120"/>
              </a:rPr>
              <a:t>CLIENT (You)</a:t>
            </a:r>
            <a:endParaRPr lang="en-US" sz="2000" dirty="0"/>
          </a:p>
        </p:txBody>
      </p:sp>
      <p:sp>
        <p:nvSpPr>
          <p:cNvPr id="8" name="Text 6"/>
          <p:cNvSpPr/>
          <p:nvPr/>
        </p:nvSpPr>
        <p:spPr>
          <a:xfrm>
            <a:off x="411480" y="1783080"/>
            <a:ext cx="3566160" cy="8229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Desktop Browser</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Mobile App</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Laptop / Tablet</a:t>
            </a:r>
            <a:endParaRPr lang="en-US" sz="1300" dirty="0"/>
          </a:p>
        </p:txBody>
      </p:sp>
      <p:sp>
        <p:nvSpPr>
          <p:cNvPr id="9" name="Shape 7"/>
          <p:cNvSpPr/>
          <p:nvPr/>
        </p:nvSpPr>
        <p:spPr>
          <a:xfrm>
            <a:off x="457200" y="2724912"/>
            <a:ext cx="164592" cy="164592"/>
          </a:xfrm>
          <a:prstGeom prst="ellipse">
            <a:avLst/>
          </a:prstGeom>
          <a:solidFill>
            <a:srgbClr val="0EA5E9"/>
          </a:solidFill>
          <a:ln w="12700">
            <a:solidFill>
              <a:srgbClr val="0EA5E9"/>
            </a:solidFill>
            <a:prstDash val="solid"/>
          </a:ln>
        </p:spPr>
      </p:sp>
      <p:sp>
        <p:nvSpPr>
          <p:cNvPr id="10" name="Text 8"/>
          <p:cNvSpPr/>
          <p:nvPr/>
        </p:nvSpPr>
        <p:spPr>
          <a:xfrm>
            <a:off x="713232" y="2697480"/>
            <a:ext cx="3200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Sends REQUESTS</a:t>
            </a:r>
            <a:endParaRPr lang="en-US" sz="1250" dirty="0"/>
          </a:p>
        </p:txBody>
      </p:sp>
      <p:sp>
        <p:nvSpPr>
          <p:cNvPr id="11" name="Shape 9"/>
          <p:cNvSpPr/>
          <p:nvPr/>
        </p:nvSpPr>
        <p:spPr>
          <a:xfrm>
            <a:off x="457200" y="3127248"/>
            <a:ext cx="164592" cy="164592"/>
          </a:xfrm>
          <a:prstGeom prst="ellipse">
            <a:avLst/>
          </a:prstGeom>
          <a:solidFill>
            <a:srgbClr val="0EA5E9"/>
          </a:solidFill>
          <a:ln w="12700">
            <a:solidFill>
              <a:srgbClr val="0EA5E9"/>
            </a:solidFill>
            <a:prstDash val="solid"/>
          </a:ln>
        </p:spPr>
      </p:sp>
      <p:sp>
        <p:nvSpPr>
          <p:cNvPr id="12" name="Text 10"/>
          <p:cNvSpPr/>
          <p:nvPr/>
        </p:nvSpPr>
        <p:spPr>
          <a:xfrm>
            <a:off x="713232" y="3099816"/>
            <a:ext cx="3200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Displays responses in UI</a:t>
            </a:r>
            <a:endParaRPr lang="en-US" sz="1250" dirty="0"/>
          </a:p>
        </p:txBody>
      </p:sp>
      <p:sp>
        <p:nvSpPr>
          <p:cNvPr id="13" name="Shape 11"/>
          <p:cNvSpPr/>
          <p:nvPr/>
        </p:nvSpPr>
        <p:spPr>
          <a:xfrm>
            <a:off x="457200" y="3529584"/>
            <a:ext cx="164592" cy="164592"/>
          </a:xfrm>
          <a:prstGeom prst="ellipse">
            <a:avLst/>
          </a:prstGeom>
          <a:solidFill>
            <a:srgbClr val="0EA5E9"/>
          </a:solidFill>
          <a:ln w="12700">
            <a:solidFill>
              <a:srgbClr val="0EA5E9"/>
            </a:solidFill>
            <a:prstDash val="solid"/>
          </a:ln>
        </p:spPr>
      </p:sp>
      <p:sp>
        <p:nvSpPr>
          <p:cNvPr id="14" name="Text 12"/>
          <p:cNvSpPr/>
          <p:nvPr/>
        </p:nvSpPr>
        <p:spPr>
          <a:xfrm>
            <a:off x="713232" y="3502152"/>
            <a:ext cx="3200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Runs HTML, CSS, JavaScript</a:t>
            </a:r>
            <a:endParaRPr lang="en-US" sz="1250" dirty="0"/>
          </a:p>
        </p:txBody>
      </p:sp>
      <p:sp>
        <p:nvSpPr>
          <p:cNvPr id="15" name="Shape 13"/>
          <p:cNvSpPr/>
          <p:nvPr/>
        </p:nvSpPr>
        <p:spPr>
          <a:xfrm>
            <a:off x="457200" y="3931920"/>
            <a:ext cx="164592" cy="164592"/>
          </a:xfrm>
          <a:prstGeom prst="ellipse">
            <a:avLst/>
          </a:prstGeom>
          <a:solidFill>
            <a:srgbClr val="0EA5E9"/>
          </a:solidFill>
          <a:ln w="12700">
            <a:solidFill>
              <a:srgbClr val="0EA5E9"/>
            </a:solidFill>
            <a:prstDash val="solid"/>
          </a:ln>
        </p:spPr>
      </p:sp>
      <p:sp>
        <p:nvSpPr>
          <p:cNvPr id="16" name="Text 14"/>
          <p:cNvSpPr/>
          <p:nvPr/>
        </p:nvSpPr>
        <p:spPr>
          <a:xfrm>
            <a:off x="713232" y="3904488"/>
            <a:ext cx="3200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Never holds raw database</a:t>
            </a:r>
            <a:endParaRPr lang="en-US" sz="1250" dirty="0"/>
          </a:p>
        </p:txBody>
      </p:sp>
      <p:sp>
        <p:nvSpPr>
          <p:cNvPr id="17" name="Text 15"/>
          <p:cNvSpPr/>
          <p:nvPr/>
        </p:nvSpPr>
        <p:spPr>
          <a:xfrm>
            <a:off x="4160520" y="2331720"/>
            <a:ext cx="822960" cy="274320"/>
          </a:xfrm>
          <a:prstGeom prst="rect">
            <a:avLst/>
          </a:prstGeom>
          <a:noFill/>
          <a:ln/>
        </p:spPr>
        <p:txBody>
          <a:bodyPr wrap="square" lIns="0" tIns="0" rIns="0" bIns="0" rtlCol="0" anchor="ctr"/>
          <a:lstStyle/>
          <a:p>
            <a:pPr marL="0" indent="0" algn="ctr">
              <a:buNone/>
            </a:pPr>
            <a:r>
              <a:rPr lang="en-US" sz="1000" b="1" dirty="0">
                <a:solidFill>
                  <a:srgbClr val="00D4FF"/>
                </a:solidFill>
                <a:latin typeface="Calibri" pitchFamily="34" charset="0"/>
                <a:ea typeface="Calibri" pitchFamily="34" charset="-122"/>
                <a:cs typeface="Calibri" pitchFamily="34" charset="-120"/>
              </a:rPr>
              <a:t>REQ →</a:t>
            </a:r>
            <a:endParaRPr lang="en-US" sz="1000" dirty="0"/>
          </a:p>
        </p:txBody>
      </p:sp>
      <p:sp>
        <p:nvSpPr>
          <p:cNvPr id="18" name="Shape 16"/>
          <p:cNvSpPr/>
          <p:nvPr/>
        </p:nvSpPr>
        <p:spPr>
          <a:xfrm>
            <a:off x="4178808" y="2633472"/>
            <a:ext cx="749808" cy="0"/>
          </a:xfrm>
          <a:prstGeom prst="line">
            <a:avLst/>
          </a:prstGeom>
          <a:noFill/>
          <a:ln w="25400">
            <a:solidFill>
              <a:srgbClr val="00D4FF"/>
            </a:solidFill>
            <a:prstDash val="solid"/>
            <a:tailEnd type="none"/>
          </a:ln>
        </p:spPr>
      </p:sp>
      <p:sp>
        <p:nvSpPr>
          <p:cNvPr id="19" name="Text 17"/>
          <p:cNvSpPr/>
          <p:nvPr/>
        </p:nvSpPr>
        <p:spPr>
          <a:xfrm>
            <a:off x="4160520" y="2834640"/>
            <a:ext cx="822960" cy="274320"/>
          </a:xfrm>
          <a:prstGeom prst="rect">
            <a:avLst/>
          </a:prstGeom>
          <a:noFill/>
          <a:ln/>
        </p:spPr>
        <p:txBody>
          <a:bodyPr wrap="square" lIns="0" tIns="0" rIns="0" bIns="0"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 RESP</a:t>
            </a:r>
            <a:endParaRPr lang="en-US" sz="1000" dirty="0"/>
          </a:p>
        </p:txBody>
      </p:sp>
      <p:sp>
        <p:nvSpPr>
          <p:cNvPr id="20" name="Shape 18"/>
          <p:cNvSpPr/>
          <p:nvPr/>
        </p:nvSpPr>
        <p:spPr>
          <a:xfrm>
            <a:off x="4937760" y="2944368"/>
            <a:ext cx="0" cy="0"/>
          </a:xfrm>
          <a:prstGeom prst="line">
            <a:avLst/>
          </a:prstGeom>
          <a:noFill/>
          <a:ln w="25400">
            <a:solidFill>
              <a:srgbClr val="10B981"/>
            </a:solidFill>
            <a:prstDash val="solid"/>
            <a:tailEnd type="none"/>
          </a:ln>
        </p:spPr>
      </p:sp>
      <p:sp>
        <p:nvSpPr>
          <p:cNvPr id="21" name="Shape 19"/>
          <p:cNvSpPr/>
          <p:nvPr/>
        </p:nvSpPr>
        <p:spPr>
          <a:xfrm>
            <a:off x="4983480" y="1234440"/>
            <a:ext cx="3840480" cy="32004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2" name="Shape 20"/>
          <p:cNvSpPr/>
          <p:nvPr/>
        </p:nvSpPr>
        <p:spPr>
          <a:xfrm>
            <a:off x="4983480" y="1234440"/>
            <a:ext cx="3840480" cy="64008"/>
          </a:xfrm>
          <a:prstGeom prst="rect">
            <a:avLst/>
          </a:prstGeom>
          <a:solidFill>
            <a:srgbClr val="10B981"/>
          </a:solidFill>
          <a:ln w="12700">
            <a:solidFill>
              <a:srgbClr val="10B981"/>
            </a:solidFill>
            <a:prstDash val="solid"/>
          </a:ln>
        </p:spPr>
      </p:sp>
      <p:sp>
        <p:nvSpPr>
          <p:cNvPr id="23" name="Text 21"/>
          <p:cNvSpPr/>
          <p:nvPr/>
        </p:nvSpPr>
        <p:spPr>
          <a:xfrm>
            <a:off x="5074920" y="1298448"/>
            <a:ext cx="3657600" cy="457200"/>
          </a:xfrm>
          <a:prstGeom prst="rect">
            <a:avLst/>
          </a:prstGeom>
          <a:noFill/>
          <a:ln/>
        </p:spPr>
        <p:txBody>
          <a:bodyPr wrap="square" lIns="0" tIns="0" rIns="0" bIns="0" rtlCol="0" anchor="ctr"/>
          <a:lstStyle/>
          <a:p>
            <a:pPr marL="0" indent="0">
              <a:buNone/>
            </a:pPr>
            <a:r>
              <a:rPr lang="en-US" sz="2000" b="1" dirty="0">
                <a:solidFill>
                  <a:srgbClr val="10B981"/>
                </a:solidFill>
                <a:latin typeface="Calibri" pitchFamily="34" charset="0"/>
                <a:ea typeface="Calibri" pitchFamily="34" charset="-122"/>
                <a:cs typeface="Calibri" pitchFamily="34" charset="-120"/>
              </a:rPr>
              <a:t>SERVER (Remote)</a:t>
            </a:r>
            <a:endParaRPr lang="en-US" sz="2000" dirty="0"/>
          </a:p>
        </p:txBody>
      </p:sp>
      <p:sp>
        <p:nvSpPr>
          <p:cNvPr id="24" name="Text 22"/>
          <p:cNvSpPr/>
          <p:nvPr/>
        </p:nvSpPr>
        <p:spPr>
          <a:xfrm>
            <a:off x="5074920" y="1783080"/>
            <a:ext cx="3657600" cy="8229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Web Server  (Apache, Nginx)</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App Server  (Java, Node.js)</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Database  (MySQL, MongoDB)</a:t>
            </a:r>
            <a:endParaRPr lang="en-US" sz="1300" dirty="0"/>
          </a:p>
        </p:txBody>
      </p:sp>
      <p:sp>
        <p:nvSpPr>
          <p:cNvPr id="25" name="Shape 23"/>
          <p:cNvSpPr/>
          <p:nvPr/>
        </p:nvSpPr>
        <p:spPr>
          <a:xfrm>
            <a:off x="5120640" y="2724912"/>
            <a:ext cx="164592" cy="164592"/>
          </a:xfrm>
          <a:prstGeom prst="ellipse">
            <a:avLst/>
          </a:prstGeom>
          <a:solidFill>
            <a:srgbClr val="10B981"/>
          </a:solidFill>
          <a:ln w="12700">
            <a:solidFill>
              <a:srgbClr val="10B981"/>
            </a:solidFill>
            <a:prstDash val="solid"/>
          </a:ln>
        </p:spPr>
      </p:sp>
      <p:sp>
        <p:nvSpPr>
          <p:cNvPr id="26" name="Text 24"/>
          <p:cNvSpPr/>
          <p:nvPr/>
        </p:nvSpPr>
        <p:spPr>
          <a:xfrm>
            <a:off x="5376672" y="2697480"/>
            <a:ext cx="3200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Receives &amp; processes REQUESTS</a:t>
            </a:r>
            <a:endParaRPr lang="en-US" sz="1250" dirty="0"/>
          </a:p>
        </p:txBody>
      </p:sp>
      <p:sp>
        <p:nvSpPr>
          <p:cNvPr id="27" name="Shape 25"/>
          <p:cNvSpPr/>
          <p:nvPr/>
        </p:nvSpPr>
        <p:spPr>
          <a:xfrm>
            <a:off x="5120640" y="3127248"/>
            <a:ext cx="164592" cy="164592"/>
          </a:xfrm>
          <a:prstGeom prst="ellipse">
            <a:avLst/>
          </a:prstGeom>
          <a:solidFill>
            <a:srgbClr val="10B981"/>
          </a:solidFill>
          <a:ln w="12700">
            <a:solidFill>
              <a:srgbClr val="10B981"/>
            </a:solidFill>
            <a:prstDash val="solid"/>
          </a:ln>
        </p:spPr>
      </p:sp>
      <p:sp>
        <p:nvSpPr>
          <p:cNvPr id="28" name="Text 26"/>
          <p:cNvSpPr/>
          <p:nvPr/>
        </p:nvSpPr>
        <p:spPr>
          <a:xfrm>
            <a:off x="5376672" y="3099816"/>
            <a:ext cx="3200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Runs business logic</a:t>
            </a:r>
            <a:endParaRPr lang="en-US" sz="1250" dirty="0"/>
          </a:p>
        </p:txBody>
      </p:sp>
      <p:sp>
        <p:nvSpPr>
          <p:cNvPr id="29" name="Shape 27"/>
          <p:cNvSpPr/>
          <p:nvPr/>
        </p:nvSpPr>
        <p:spPr>
          <a:xfrm>
            <a:off x="5120640" y="3529584"/>
            <a:ext cx="164592" cy="164592"/>
          </a:xfrm>
          <a:prstGeom prst="ellipse">
            <a:avLst/>
          </a:prstGeom>
          <a:solidFill>
            <a:srgbClr val="10B981"/>
          </a:solidFill>
          <a:ln w="12700">
            <a:solidFill>
              <a:srgbClr val="10B981"/>
            </a:solidFill>
            <a:prstDash val="solid"/>
          </a:ln>
        </p:spPr>
      </p:sp>
      <p:sp>
        <p:nvSpPr>
          <p:cNvPr id="30" name="Text 28"/>
          <p:cNvSpPr/>
          <p:nvPr/>
        </p:nvSpPr>
        <p:spPr>
          <a:xfrm>
            <a:off x="5376672" y="3502152"/>
            <a:ext cx="3200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Reads/writes the database</a:t>
            </a:r>
            <a:endParaRPr lang="en-US" sz="1250" dirty="0"/>
          </a:p>
        </p:txBody>
      </p:sp>
      <p:sp>
        <p:nvSpPr>
          <p:cNvPr id="31" name="Shape 29"/>
          <p:cNvSpPr/>
          <p:nvPr/>
        </p:nvSpPr>
        <p:spPr>
          <a:xfrm>
            <a:off x="5120640" y="3931920"/>
            <a:ext cx="164592" cy="164592"/>
          </a:xfrm>
          <a:prstGeom prst="ellipse">
            <a:avLst/>
          </a:prstGeom>
          <a:solidFill>
            <a:srgbClr val="10B981"/>
          </a:solidFill>
          <a:ln w="12700">
            <a:solidFill>
              <a:srgbClr val="10B981"/>
            </a:solidFill>
            <a:prstDash val="solid"/>
          </a:ln>
        </p:spPr>
      </p:sp>
      <p:sp>
        <p:nvSpPr>
          <p:cNvPr id="32" name="Text 30"/>
          <p:cNvSpPr/>
          <p:nvPr/>
        </p:nvSpPr>
        <p:spPr>
          <a:xfrm>
            <a:off x="5376672" y="3904488"/>
            <a:ext cx="3200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Sends back responses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The Request–Response Cycle</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02 · How Every Web Interaction Works</a:t>
            </a:r>
            <a:endParaRPr lang="en-US" sz="1400" dirty="0"/>
          </a:p>
        </p:txBody>
      </p:sp>
      <p:sp>
        <p:nvSpPr>
          <p:cNvPr id="5" name="Shape 3"/>
          <p:cNvSpPr/>
          <p:nvPr/>
        </p:nvSpPr>
        <p:spPr>
          <a:xfrm>
            <a:off x="274320" y="1417320"/>
            <a:ext cx="1481328" cy="13258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804672" y="1527048"/>
            <a:ext cx="420624" cy="420624"/>
          </a:xfrm>
          <a:prstGeom prst="ellipse">
            <a:avLst/>
          </a:prstGeom>
          <a:solidFill>
            <a:srgbClr val="0EA5E9"/>
          </a:solidFill>
          <a:ln w="12700">
            <a:solidFill>
              <a:srgbClr val="0EA5E9"/>
            </a:solidFill>
            <a:prstDash val="solid"/>
          </a:ln>
        </p:spPr>
      </p:sp>
      <p:sp>
        <p:nvSpPr>
          <p:cNvPr id="7" name="Text 5"/>
          <p:cNvSpPr/>
          <p:nvPr/>
        </p:nvSpPr>
        <p:spPr>
          <a:xfrm>
            <a:off x="804672" y="1527048"/>
            <a:ext cx="420624" cy="42062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329184" y="2029968"/>
            <a:ext cx="1371600" cy="6400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User types URL</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in browser</a:t>
            </a:r>
            <a:endParaRPr lang="en-US" sz="1150" dirty="0"/>
          </a:p>
        </p:txBody>
      </p:sp>
      <p:sp>
        <p:nvSpPr>
          <p:cNvPr id="9" name="Shape 7"/>
          <p:cNvSpPr/>
          <p:nvPr/>
        </p:nvSpPr>
        <p:spPr>
          <a:xfrm>
            <a:off x="1783080" y="2057400"/>
            <a:ext cx="338328" cy="0"/>
          </a:xfrm>
          <a:prstGeom prst="line">
            <a:avLst/>
          </a:prstGeom>
          <a:noFill/>
          <a:ln w="25400">
            <a:solidFill>
              <a:srgbClr val="00D4FF"/>
            </a:solidFill>
            <a:prstDash val="solid"/>
            <a:tailEnd type="none"/>
          </a:ln>
        </p:spPr>
      </p:sp>
      <p:sp>
        <p:nvSpPr>
          <p:cNvPr id="10" name="Shape 8"/>
          <p:cNvSpPr/>
          <p:nvPr/>
        </p:nvSpPr>
        <p:spPr>
          <a:xfrm>
            <a:off x="1874520" y="1417320"/>
            <a:ext cx="1481328" cy="13258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1" name="Shape 9"/>
          <p:cNvSpPr/>
          <p:nvPr/>
        </p:nvSpPr>
        <p:spPr>
          <a:xfrm>
            <a:off x="2404872" y="1527048"/>
            <a:ext cx="420624" cy="420624"/>
          </a:xfrm>
          <a:prstGeom prst="ellipse">
            <a:avLst/>
          </a:prstGeom>
          <a:solidFill>
            <a:srgbClr val="00D4FF"/>
          </a:solidFill>
          <a:ln w="12700">
            <a:solidFill>
              <a:srgbClr val="00D4FF"/>
            </a:solidFill>
            <a:prstDash val="solid"/>
          </a:ln>
        </p:spPr>
      </p:sp>
      <p:sp>
        <p:nvSpPr>
          <p:cNvPr id="12" name="Text 10"/>
          <p:cNvSpPr/>
          <p:nvPr/>
        </p:nvSpPr>
        <p:spPr>
          <a:xfrm>
            <a:off x="2404872" y="1527048"/>
            <a:ext cx="420624" cy="42062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929384" y="2029968"/>
            <a:ext cx="1371600" cy="6400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DNS resolves</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domain → IP</a:t>
            </a:r>
            <a:endParaRPr lang="en-US" sz="1150" dirty="0"/>
          </a:p>
        </p:txBody>
      </p:sp>
      <p:sp>
        <p:nvSpPr>
          <p:cNvPr id="14" name="Shape 12"/>
          <p:cNvSpPr/>
          <p:nvPr/>
        </p:nvSpPr>
        <p:spPr>
          <a:xfrm>
            <a:off x="3383280" y="2057400"/>
            <a:ext cx="338328" cy="0"/>
          </a:xfrm>
          <a:prstGeom prst="line">
            <a:avLst/>
          </a:prstGeom>
          <a:noFill/>
          <a:ln w="25400">
            <a:solidFill>
              <a:srgbClr val="00D4FF"/>
            </a:solidFill>
            <a:prstDash val="solid"/>
            <a:tailEnd type="none"/>
          </a:ln>
        </p:spPr>
      </p:sp>
      <p:sp>
        <p:nvSpPr>
          <p:cNvPr id="15" name="Shape 13"/>
          <p:cNvSpPr/>
          <p:nvPr/>
        </p:nvSpPr>
        <p:spPr>
          <a:xfrm>
            <a:off x="3474720" y="1417320"/>
            <a:ext cx="1481328" cy="13258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6" name="Shape 14"/>
          <p:cNvSpPr/>
          <p:nvPr/>
        </p:nvSpPr>
        <p:spPr>
          <a:xfrm>
            <a:off x="4005072" y="1527048"/>
            <a:ext cx="420624" cy="420624"/>
          </a:xfrm>
          <a:prstGeom prst="ellipse">
            <a:avLst/>
          </a:prstGeom>
          <a:solidFill>
            <a:srgbClr val="7C3AED"/>
          </a:solidFill>
          <a:ln w="12700">
            <a:solidFill>
              <a:srgbClr val="7C3AED"/>
            </a:solidFill>
            <a:prstDash val="solid"/>
          </a:ln>
        </p:spPr>
      </p:sp>
      <p:sp>
        <p:nvSpPr>
          <p:cNvPr id="17" name="Text 15"/>
          <p:cNvSpPr/>
          <p:nvPr/>
        </p:nvSpPr>
        <p:spPr>
          <a:xfrm>
            <a:off x="4005072" y="1527048"/>
            <a:ext cx="420624" cy="42062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3529584" y="2029968"/>
            <a:ext cx="1371600" cy="6400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Browser sends</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HTTP Request</a:t>
            </a:r>
            <a:endParaRPr lang="en-US" sz="1150" dirty="0"/>
          </a:p>
        </p:txBody>
      </p:sp>
      <p:sp>
        <p:nvSpPr>
          <p:cNvPr id="19" name="Shape 17"/>
          <p:cNvSpPr/>
          <p:nvPr/>
        </p:nvSpPr>
        <p:spPr>
          <a:xfrm>
            <a:off x="4983480" y="2057400"/>
            <a:ext cx="338328" cy="0"/>
          </a:xfrm>
          <a:prstGeom prst="line">
            <a:avLst/>
          </a:prstGeom>
          <a:noFill/>
          <a:ln w="25400">
            <a:solidFill>
              <a:srgbClr val="00D4FF"/>
            </a:solidFill>
            <a:prstDash val="solid"/>
            <a:tailEnd type="none"/>
          </a:ln>
        </p:spPr>
      </p:sp>
      <p:sp>
        <p:nvSpPr>
          <p:cNvPr id="20" name="Shape 18"/>
          <p:cNvSpPr/>
          <p:nvPr/>
        </p:nvSpPr>
        <p:spPr>
          <a:xfrm>
            <a:off x="5074920" y="1417320"/>
            <a:ext cx="1481328" cy="13258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1" name="Shape 19"/>
          <p:cNvSpPr/>
          <p:nvPr/>
        </p:nvSpPr>
        <p:spPr>
          <a:xfrm>
            <a:off x="5605272" y="1527048"/>
            <a:ext cx="420624" cy="420624"/>
          </a:xfrm>
          <a:prstGeom prst="ellipse">
            <a:avLst/>
          </a:prstGeom>
          <a:solidFill>
            <a:srgbClr val="F59E0B"/>
          </a:solidFill>
          <a:ln w="12700">
            <a:solidFill>
              <a:srgbClr val="F59E0B"/>
            </a:solidFill>
            <a:prstDash val="solid"/>
          </a:ln>
        </p:spPr>
      </p:sp>
      <p:sp>
        <p:nvSpPr>
          <p:cNvPr id="22" name="Text 20"/>
          <p:cNvSpPr/>
          <p:nvPr/>
        </p:nvSpPr>
        <p:spPr>
          <a:xfrm>
            <a:off x="5605272" y="1527048"/>
            <a:ext cx="420624" cy="42062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5129784" y="2029968"/>
            <a:ext cx="1371600" cy="6400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Server processes</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the request</a:t>
            </a:r>
            <a:endParaRPr lang="en-US" sz="1150" dirty="0"/>
          </a:p>
        </p:txBody>
      </p:sp>
      <p:sp>
        <p:nvSpPr>
          <p:cNvPr id="24" name="Shape 22"/>
          <p:cNvSpPr/>
          <p:nvPr/>
        </p:nvSpPr>
        <p:spPr>
          <a:xfrm>
            <a:off x="6583680" y="2057400"/>
            <a:ext cx="338328" cy="0"/>
          </a:xfrm>
          <a:prstGeom prst="line">
            <a:avLst/>
          </a:prstGeom>
          <a:noFill/>
          <a:ln w="25400">
            <a:solidFill>
              <a:srgbClr val="00D4FF"/>
            </a:solidFill>
            <a:prstDash val="solid"/>
            <a:tailEnd type="none"/>
          </a:ln>
        </p:spPr>
      </p:sp>
      <p:sp>
        <p:nvSpPr>
          <p:cNvPr id="25" name="Shape 23"/>
          <p:cNvSpPr/>
          <p:nvPr/>
        </p:nvSpPr>
        <p:spPr>
          <a:xfrm>
            <a:off x="6675120" y="1417320"/>
            <a:ext cx="1481328" cy="13258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6" name="Shape 24"/>
          <p:cNvSpPr/>
          <p:nvPr/>
        </p:nvSpPr>
        <p:spPr>
          <a:xfrm>
            <a:off x="7205472" y="1527048"/>
            <a:ext cx="420624" cy="420624"/>
          </a:xfrm>
          <a:prstGeom prst="ellipse">
            <a:avLst/>
          </a:prstGeom>
          <a:solidFill>
            <a:srgbClr val="10B981"/>
          </a:solidFill>
          <a:ln w="12700">
            <a:solidFill>
              <a:srgbClr val="10B981"/>
            </a:solidFill>
            <a:prstDash val="solid"/>
          </a:ln>
        </p:spPr>
      </p:sp>
      <p:sp>
        <p:nvSpPr>
          <p:cNvPr id="27" name="Text 25"/>
          <p:cNvSpPr/>
          <p:nvPr/>
        </p:nvSpPr>
        <p:spPr>
          <a:xfrm>
            <a:off x="7205472" y="1527048"/>
            <a:ext cx="420624" cy="42062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6729984" y="2029968"/>
            <a:ext cx="1371600" cy="6400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Server queries</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Database</a:t>
            </a:r>
            <a:endParaRPr lang="en-US" sz="1150" dirty="0"/>
          </a:p>
        </p:txBody>
      </p:sp>
      <p:sp>
        <p:nvSpPr>
          <p:cNvPr id="29" name="Shape 27"/>
          <p:cNvSpPr/>
          <p:nvPr/>
        </p:nvSpPr>
        <p:spPr>
          <a:xfrm>
            <a:off x="274320" y="3017520"/>
            <a:ext cx="8595360" cy="123444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0" name="Shape 28"/>
          <p:cNvSpPr/>
          <p:nvPr/>
        </p:nvSpPr>
        <p:spPr>
          <a:xfrm>
            <a:off x="274320" y="3017520"/>
            <a:ext cx="8595360" cy="54864"/>
          </a:xfrm>
          <a:prstGeom prst="rect">
            <a:avLst/>
          </a:prstGeom>
          <a:solidFill>
            <a:srgbClr val="10B981"/>
          </a:solidFill>
          <a:ln w="12700">
            <a:solidFill>
              <a:srgbClr val="10B981"/>
            </a:solidFill>
            <a:prstDash val="solid"/>
          </a:ln>
        </p:spPr>
      </p:sp>
      <p:sp>
        <p:nvSpPr>
          <p:cNvPr id="31" name="Text 29"/>
          <p:cNvSpPr/>
          <p:nvPr/>
        </p:nvSpPr>
        <p:spPr>
          <a:xfrm>
            <a:off x="365760" y="3072384"/>
            <a:ext cx="8412480" cy="347472"/>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  RESPONSE PATH  (Server → Browser)</a:t>
            </a:r>
            <a:endParaRPr lang="en-US" sz="1400" dirty="0"/>
          </a:p>
        </p:txBody>
      </p:sp>
      <p:sp>
        <p:nvSpPr>
          <p:cNvPr id="32" name="Shape 30"/>
          <p:cNvSpPr/>
          <p:nvPr/>
        </p:nvSpPr>
        <p:spPr>
          <a:xfrm>
            <a:off x="457200" y="3493008"/>
            <a:ext cx="1965960" cy="621792"/>
          </a:xfrm>
          <a:prstGeom prst="roundRect">
            <a:avLst>
              <a:gd name="adj" fmla="val 8824"/>
            </a:avLst>
          </a:prstGeom>
          <a:solidFill>
            <a:srgbClr val="10B981"/>
          </a:solidFill>
          <a:ln w="12700">
            <a:solidFill>
              <a:srgbClr val="10B981"/>
            </a:solidFill>
            <a:prstDash val="solid"/>
          </a:ln>
        </p:spPr>
      </p:sp>
      <p:sp>
        <p:nvSpPr>
          <p:cNvPr id="33" name="Text 31"/>
          <p:cNvSpPr/>
          <p:nvPr/>
        </p:nvSpPr>
        <p:spPr>
          <a:xfrm>
            <a:off x="457200" y="3493008"/>
            <a:ext cx="1965960" cy="62179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6. DB returns data</a:t>
            </a:r>
            <a:endParaRPr lang="en-US" sz="1200" dirty="0"/>
          </a:p>
        </p:txBody>
      </p:sp>
      <p:sp>
        <p:nvSpPr>
          <p:cNvPr id="34" name="Shape 32"/>
          <p:cNvSpPr/>
          <p:nvPr/>
        </p:nvSpPr>
        <p:spPr>
          <a:xfrm>
            <a:off x="2560320" y="3493008"/>
            <a:ext cx="1965960" cy="621792"/>
          </a:xfrm>
          <a:prstGeom prst="roundRect">
            <a:avLst>
              <a:gd name="adj" fmla="val 8824"/>
            </a:avLst>
          </a:prstGeom>
          <a:solidFill>
            <a:srgbClr val="F59E0B"/>
          </a:solidFill>
          <a:ln w="12700">
            <a:solidFill>
              <a:srgbClr val="F59E0B"/>
            </a:solidFill>
            <a:prstDash val="solid"/>
          </a:ln>
        </p:spPr>
      </p:sp>
      <p:sp>
        <p:nvSpPr>
          <p:cNvPr id="35" name="Text 33"/>
          <p:cNvSpPr/>
          <p:nvPr/>
        </p:nvSpPr>
        <p:spPr>
          <a:xfrm>
            <a:off x="2560320" y="3493008"/>
            <a:ext cx="1965960" cy="62179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7. Server builds HTML/JSON</a:t>
            </a:r>
            <a:endParaRPr lang="en-US" sz="1200" dirty="0"/>
          </a:p>
        </p:txBody>
      </p:sp>
      <p:sp>
        <p:nvSpPr>
          <p:cNvPr id="36" name="Shape 34"/>
          <p:cNvSpPr/>
          <p:nvPr/>
        </p:nvSpPr>
        <p:spPr>
          <a:xfrm>
            <a:off x="2450592" y="3803904"/>
            <a:ext cx="0" cy="0"/>
          </a:xfrm>
          <a:prstGeom prst="line">
            <a:avLst/>
          </a:prstGeom>
          <a:noFill/>
          <a:ln w="19050">
            <a:solidFill>
              <a:srgbClr val="FFFFFF"/>
            </a:solidFill>
            <a:prstDash val="solid"/>
            <a:tailEnd type="none"/>
          </a:ln>
        </p:spPr>
      </p:sp>
      <p:sp>
        <p:nvSpPr>
          <p:cNvPr id="37" name="Shape 35"/>
          <p:cNvSpPr/>
          <p:nvPr/>
        </p:nvSpPr>
        <p:spPr>
          <a:xfrm>
            <a:off x="4663440" y="3493008"/>
            <a:ext cx="1965960" cy="621792"/>
          </a:xfrm>
          <a:prstGeom prst="roundRect">
            <a:avLst>
              <a:gd name="adj" fmla="val 8824"/>
            </a:avLst>
          </a:prstGeom>
          <a:solidFill>
            <a:srgbClr val="7C3AED"/>
          </a:solidFill>
          <a:ln w="12700">
            <a:solidFill>
              <a:srgbClr val="7C3AED"/>
            </a:solidFill>
            <a:prstDash val="solid"/>
          </a:ln>
        </p:spPr>
      </p:sp>
      <p:sp>
        <p:nvSpPr>
          <p:cNvPr id="38" name="Text 36"/>
          <p:cNvSpPr/>
          <p:nvPr/>
        </p:nvSpPr>
        <p:spPr>
          <a:xfrm>
            <a:off x="4663440" y="3493008"/>
            <a:ext cx="1965960" cy="62179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8. HTTP Response sent</a:t>
            </a:r>
            <a:endParaRPr lang="en-US" sz="1200" dirty="0"/>
          </a:p>
        </p:txBody>
      </p:sp>
      <p:sp>
        <p:nvSpPr>
          <p:cNvPr id="39" name="Shape 37"/>
          <p:cNvSpPr/>
          <p:nvPr/>
        </p:nvSpPr>
        <p:spPr>
          <a:xfrm>
            <a:off x="4553712" y="3803904"/>
            <a:ext cx="0" cy="0"/>
          </a:xfrm>
          <a:prstGeom prst="line">
            <a:avLst/>
          </a:prstGeom>
          <a:noFill/>
          <a:ln w="19050">
            <a:solidFill>
              <a:srgbClr val="FFFFFF"/>
            </a:solidFill>
            <a:prstDash val="solid"/>
            <a:tailEnd type="none"/>
          </a:ln>
        </p:spPr>
      </p:sp>
      <p:sp>
        <p:nvSpPr>
          <p:cNvPr id="40" name="Shape 38"/>
          <p:cNvSpPr/>
          <p:nvPr/>
        </p:nvSpPr>
        <p:spPr>
          <a:xfrm>
            <a:off x="6766560" y="3493008"/>
            <a:ext cx="1965960" cy="621792"/>
          </a:xfrm>
          <a:prstGeom prst="roundRect">
            <a:avLst>
              <a:gd name="adj" fmla="val 8824"/>
            </a:avLst>
          </a:prstGeom>
          <a:solidFill>
            <a:srgbClr val="0EA5E9"/>
          </a:solidFill>
          <a:ln w="12700">
            <a:solidFill>
              <a:srgbClr val="0EA5E9"/>
            </a:solidFill>
            <a:prstDash val="solid"/>
          </a:ln>
        </p:spPr>
      </p:sp>
      <p:sp>
        <p:nvSpPr>
          <p:cNvPr id="41" name="Text 39"/>
          <p:cNvSpPr/>
          <p:nvPr/>
        </p:nvSpPr>
        <p:spPr>
          <a:xfrm>
            <a:off x="6766560" y="3493008"/>
            <a:ext cx="1965960" cy="62179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9. Browser renders page</a:t>
            </a:r>
            <a:endParaRPr lang="en-US" sz="1200" dirty="0"/>
          </a:p>
        </p:txBody>
      </p:sp>
      <p:sp>
        <p:nvSpPr>
          <p:cNvPr id="42" name="Shape 40"/>
          <p:cNvSpPr/>
          <p:nvPr/>
        </p:nvSpPr>
        <p:spPr>
          <a:xfrm>
            <a:off x="6656832" y="3803904"/>
            <a:ext cx="0" cy="0"/>
          </a:xfrm>
          <a:prstGeom prst="line">
            <a:avLst/>
          </a:prstGeom>
          <a:noFill/>
          <a:ln w="19050">
            <a:solidFill>
              <a:srgbClr val="FFFFFF"/>
            </a:solidFill>
            <a:prstDash val="solid"/>
            <a:tailEnd type="none"/>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is a Server?</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03 · Server Architecture Basics</a:t>
            </a:r>
            <a:endParaRPr lang="en-US" sz="1400" dirty="0"/>
          </a:p>
        </p:txBody>
      </p:sp>
      <p:sp>
        <p:nvSpPr>
          <p:cNvPr id="5" name="Shape 3"/>
          <p:cNvSpPr/>
          <p:nvPr/>
        </p:nvSpPr>
        <p:spPr>
          <a:xfrm>
            <a:off x="320040" y="1234440"/>
            <a:ext cx="2011680" cy="3108960"/>
          </a:xfrm>
          <a:prstGeom prst="rect">
            <a:avLst/>
          </a:prstGeom>
          <a:solidFill>
            <a:srgbClr val="0A1628"/>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411480" y="1417320"/>
            <a:ext cx="1828800" cy="365760"/>
          </a:xfrm>
          <a:prstGeom prst="rect">
            <a:avLst/>
          </a:prstGeom>
          <a:solidFill>
            <a:srgbClr val="1E3A5F"/>
          </a:solidFill>
          <a:ln w="12700">
            <a:solidFill>
              <a:srgbClr val="2D4A6E"/>
            </a:solidFill>
            <a:prstDash val="solid"/>
          </a:ln>
        </p:spPr>
      </p:sp>
      <p:sp>
        <p:nvSpPr>
          <p:cNvPr id="7" name="Shape 5"/>
          <p:cNvSpPr/>
          <p:nvPr/>
        </p:nvSpPr>
        <p:spPr>
          <a:xfrm>
            <a:off x="1783080" y="1508760"/>
            <a:ext cx="182880" cy="182880"/>
          </a:xfrm>
          <a:prstGeom prst="ellipse">
            <a:avLst/>
          </a:prstGeom>
          <a:solidFill>
            <a:srgbClr val="10B981"/>
          </a:solidFill>
          <a:ln w="12700">
            <a:solidFill>
              <a:srgbClr val="10B981"/>
            </a:solidFill>
            <a:prstDash val="solid"/>
          </a:ln>
        </p:spPr>
      </p:sp>
      <p:sp>
        <p:nvSpPr>
          <p:cNvPr id="8" name="Shape 6"/>
          <p:cNvSpPr/>
          <p:nvPr/>
        </p:nvSpPr>
        <p:spPr>
          <a:xfrm>
            <a:off x="411480" y="1920240"/>
            <a:ext cx="1828800" cy="310896"/>
          </a:xfrm>
          <a:prstGeom prst="rect">
            <a:avLst/>
          </a:prstGeom>
          <a:solidFill>
            <a:srgbClr val="172554"/>
          </a:solidFill>
          <a:ln w="12700">
            <a:solidFill>
              <a:srgbClr val="2D4A6E"/>
            </a:solidFill>
            <a:prstDash val="solid"/>
          </a:ln>
        </p:spPr>
      </p:sp>
      <p:sp>
        <p:nvSpPr>
          <p:cNvPr id="9" name="Shape 7"/>
          <p:cNvSpPr/>
          <p:nvPr/>
        </p:nvSpPr>
        <p:spPr>
          <a:xfrm>
            <a:off x="1783080" y="1993392"/>
            <a:ext cx="146304" cy="146304"/>
          </a:xfrm>
          <a:prstGeom prst="ellipse">
            <a:avLst/>
          </a:prstGeom>
          <a:solidFill>
            <a:srgbClr val="0EA5E9"/>
          </a:solidFill>
          <a:ln w="12700">
            <a:solidFill>
              <a:srgbClr val="0EA5E9"/>
            </a:solidFill>
            <a:prstDash val="solid"/>
          </a:ln>
        </p:spPr>
      </p:sp>
      <p:sp>
        <p:nvSpPr>
          <p:cNvPr id="10" name="Shape 8"/>
          <p:cNvSpPr/>
          <p:nvPr/>
        </p:nvSpPr>
        <p:spPr>
          <a:xfrm>
            <a:off x="411480" y="2331720"/>
            <a:ext cx="1828800" cy="310896"/>
          </a:xfrm>
          <a:prstGeom prst="rect">
            <a:avLst/>
          </a:prstGeom>
          <a:solidFill>
            <a:srgbClr val="172554"/>
          </a:solidFill>
          <a:ln w="12700">
            <a:solidFill>
              <a:srgbClr val="2D4A6E"/>
            </a:solidFill>
            <a:prstDash val="solid"/>
          </a:ln>
        </p:spPr>
      </p:sp>
      <p:sp>
        <p:nvSpPr>
          <p:cNvPr id="11" name="Shape 9"/>
          <p:cNvSpPr/>
          <p:nvPr/>
        </p:nvSpPr>
        <p:spPr>
          <a:xfrm>
            <a:off x="1783080" y="2404872"/>
            <a:ext cx="146304" cy="146304"/>
          </a:xfrm>
          <a:prstGeom prst="ellipse">
            <a:avLst/>
          </a:prstGeom>
          <a:solidFill>
            <a:srgbClr val="0EA5E9"/>
          </a:solidFill>
          <a:ln w="12700">
            <a:solidFill>
              <a:srgbClr val="0EA5E9"/>
            </a:solidFill>
            <a:prstDash val="solid"/>
          </a:ln>
        </p:spPr>
      </p:sp>
      <p:sp>
        <p:nvSpPr>
          <p:cNvPr id="12" name="Shape 10"/>
          <p:cNvSpPr/>
          <p:nvPr/>
        </p:nvSpPr>
        <p:spPr>
          <a:xfrm>
            <a:off x="411480" y="2743200"/>
            <a:ext cx="1828800" cy="310896"/>
          </a:xfrm>
          <a:prstGeom prst="rect">
            <a:avLst/>
          </a:prstGeom>
          <a:solidFill>
            <a:srgbClr val="172554"/>
          </a:solidFill>
          <a:ln w="12700">
            <a:solidFill>
              <a:srgbClr val="2D4A6E"/>
            </a:solidFill>
            <a:prstDash val="solid"/>
          </a:ln>
        </p:spPr>
      </p:sp>
      <p:sp>
        <p:nvSpPr>
          <p:cNvPr id="13" name="Shape 11"/>
          <p:cNvSpPr/>
          <p:nvPr/>
        </p:nvSpPr>
        <p:spPr>
          <a:xfrm>
            <a:off x="1783080" y="2816352"/>
            <a:ext cx="146304" cy="146304"/>
          </a:xfrm>
          <a:prstGeom prst="ellipse">
            <a:avLst/>
          </a:prstGeom>
          <a:solidFill>
            <a:srgbClr val="0EA5E9"/>
          </a:solidFill>
          <a:ln w="12700">
            <a:solidFill>
              <a:srgbClr val="0EA5E9"/>
            </a:solidFill>
            <a:prstDash val="solid"/>
          </a:ln>
        </p:spPr>
      </p:sp>
      <p:sp>
        <p:nvSpPr>
          <p:cNvPr id="14" name="Shape 12"/>
          <p:cNvSpPr/>
          <p:nvPr/>
        </p:nvSpPr>
        <p:spPr>
          <a:xfrm>
            <a:off x="411480" y="3154680"/>
            <a:ext cx="1828800" cy="310896"/>
          </a:xfrm>
          <a:prstGeom prst="rect">
            <a:avLst/>
          </a:prstGeom>
          <a:solidFill>
            <a:srgbClr val="172554"/>
          </a:solidFill>
          <a:ln w="12700">
            <a:solidFill>
              <a:srgbClr val="2D4A6E"/>
            </a:solidFill>
            <a:prstDash val="solid"/>
          </a:ln>
        </p:spPr>
      </p:sp>
      <p:sp>
        <p:nvSpPr>
          <p:cNvPr id="15" name="Shape 13"/>
          <p:cNvSpPr/>
          <p:nvPr/>
        </p:nvSpPr>
        <p:spPr>
          <a:xfrm>
            <a:off x="1783080" y="3227832"/>
            <a:ext cx="146304" cy="146304"/>
          </a:xfrm>
          <a:prstGeom prst="ellipse">
            <a:avLst/>
          </a:prstGeom>
          <a:solidFill>
            <a:srgbClr val="0EA5E9"/>
          </a:solidFill>
          <a:ln w="12700">
            <a:solidFill>
              <a:srgbClr val="0EA5E9"/>
            </a:solidFill>
            <a:prstDash val="solid"/>
          </a:ln>
        </p:spPr>
      </p:sp>
      <p:sp>
        <p:nvSpPr>
          <p:cNvPr id="16" name="Shape 14"/>
          <p:cNvSpPr/>
          <p:nvPr/>
        </p:nvSpPr>
        <p:spPr>
          <a:xfrm>
            <a:off x="411480" y="3566160"/>
            <a:ext cx="1828800" cy="310896"/>
          </a:xfrm>
          <a:prstGeom prst="rect">
            <a:avLst/>
          </a:prstGeom>
          <a:solidFill>
            <a:srgbClr val="172554"/>
          </a:solidFill>
          <a:ln w="12700">
            <a:solidFill>
              <a:srgbClr val="2D4A6E"/>
            </a:solidFill>
            <a:prstDash val="solid"/>
          </a:ln>
        </p:spPr>
      </p:sp>
      <p:sp>
        <p:nvSpPr>
          <p:cNvPr id="17" name="Shape 15"/>
          <p:cNvSpPr/>
          <p:nvPr/>
        </p:nvSpPr>
        <p:spPr>
          <a:xfrm>
            <a:off x="1783080" y="3639312"/>
            <a:ext cx="146304" cy="146304"/>
          </a:xfrm>
          <a:prstGeom prst="ellipse">
            <a:avLst/>
          </a:prstGeom>
          <a:solidFill>
            <a:srgbClr val="0EA5E9"/>
          </a:solidFill>
          <a:ln w="12700">
            <a:solidFill>
              <a:srgbClr val="0EA5E9"/>
            </a:solidFill>
            <a:prstDash val="solid"/>
          </a:ln>
        </p:spPr>
      </p:sp>
      <p:sp>
        <p:nvSpPr>
          <p:cNvPr id="18" name="Text 16"/>
          <p:cNvSpPr/>
          <p:nvPr/>
        </p:nvSpPr>
        <p:spPr>
          <a:xfrm>
            <a:off x="320040" y="4050792"/>
            <a:ext cx="2011680" cy="256032"/>
          </a:xfrm>
          <a:prstGeom prst="rect">
            <a:avLst/>
          </a:prstGeom>
          <a:noFill/>
          <a:ln/>
        </p:spPr>
        <p:txBody>
          <a:bodyPr wrap="square" lIns="0" tIns="0" rIns="0" bIns="0" rtlCol="0" anchor="ctr"/>
          <a:lstStyle/>
          <a:p>
            <a:pPr marL="0" indent="0" algn="ctr">
              <a:buNone/>
            </a:pPr>
            <a:r>
              <a:rPr lang="en-US" sz="1100" b="1" dirty="0">
                <a:solidFill>
                  <a:srgbClr val="94A3B8"/>
                </a:solidFill>
                <a:latin typeface="Calibri" pitchFamily="34" charset="0"/>
                <a:ea typeface="Calibri" pitchFamily="34" charset="-122"/>
                <a:cs typeface="Calibri" pitchFamily="34" charset="-120"/>
              </a:rPr>
              <a:t>SERVER</a:t>
            </a:r>
            <a:endParaRPr lang="en-US" sz="1100" dirty="0"/>
          </a:p>
          <a:p>
            <a:pPr marL="0" indent="0" algn="ctr">
              <a:buNone/>
            </a:pPr>
            <a:r>
              <a:rPr lang="en-US" sz="1100" b="1" dirty="0">
                <a:solidFill>
                  <a:srgbClr val="94A3B8"/>
                </a:solidFill>
                <a:latin typeface="Calibri" pitchFamily="34" charset="0"/>
                <a:ea typeface="Calibri" pitchFamily="34" charset="-122"/>
                <a:cs typeface="Calibri" pitchFamily="34" charset="-120"/>
              </a:rPr>
              <a:t>HARDWARE</a:t>
            </a:r>
            <a:endParaRPr lang="en-US" sz="1100" dirty="0"/>
          </a:p>
        </p:txBody>
      </p:sp>
      <p:sp>
        <p:nvSpPr>
          <p:cNvPr id="19" name="Shape 17"/>
          <p:cNvSpPr/>
          <p:nvPr/>
        </p:nvSpPr>
        <p:spPr>
          <a:xfrm>
            <a:off x="2560320" y="1261872"/>
            <a:ext cx="6217920" cy="722376"/>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0" name="Text 18"/>
          <p:cNvSpPr/>
          <p:nvPr/>
        </p:nvSpPr>
        <p:spPr>
          <a:xfrm>
            <a:off x="2633472" y="1261872"/>
            <a:ext cx="594360" cy="72237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3246120" y="1316736"/>
            <a:ext cx="5394960" cy="274320"/>
          </a:xfrm>
          <a:prstGeom prst="rect">
            <a:avLst/>
          </a:prstGeom>
          <a:noFill/>
          <a:ln/>
        </p:spPr>
        <p:txBody>
          <a:bodyPr wrap="square" lIns="0" tIns="0" rIns="0" bIns="0"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A server is just a computer</a:t>
            </a:r>
            <a:endParaRPr lang="en-US" sz="1400" dirty="0"/>
          </a:p>
        </p:txBody>
      </p:sp>
      <p:sp>
        <p:nvSpPr>
          <p:cNvPr id="22" name="Text 20"/>
          <p:cNvSpPr/>
          <p:nvPr/>
        </p:nvSpPr>
        <p:spPr>
          <a:xfrm>
            <a:off x="3246120" y="1581912"/>
            <a:ext cx="539496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That runs 24/7 to answer requests</a:t>
            </a:r>
            <a:endParaRPr lang="en-US" sz="1250" dirty="0"/>
          </a:p>
        </p:txBody>
      </p:sp>
      <p:sp>
        <p:nvSpPr>
          <p:cNvPr id="23" name="Shape 21"/>
          <p:cNvSpPr/>
          <p:nvPr/>
        </p:nvSpPr>
        <p:spPr>
          <a:xfrm>
            <a:off x="2560320" y="2057400"/>
            <a:ext cx="6217920" cy="722376"/>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4" name="Text 22"/>
          <p:cNvSpPr/>
          <p:nvPr/>
        </p:nvSpPr>
        <p:spPr>
          <a:xfrm>
            <a:off x="2633472" y="2057400"/>
            <a:ext cx="594360" cy="72237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5" name="Text 23"/>
          <p:cNvSpPr/>
          <p:nvPr/>
        </p:nvSpPr>
        <p:spPr>
          <a:xfrm>
            <a:off x="3246120" y="2112264"/>
            <a:ext cx="5394960" cy="274320"/>
          </a:xfrm>
          <a:prstGeom prst="rect">
            <a:avLst/>
          </a:prstGeom>
          <a:noFill/>
          <a:ln/>
        </p:spPr>
        <p:txBody>
          <a:bodyPr wrap="square" lIns="0" tIns="0" rIns="0" bIns="0" rtlCol="0" anchor="ctr"/>
          <a:lstStyle/>
          <a:p>
            <a:pPr marL="0" indent="0">
              <a:buNone/>
            </a:pPr>
            <a:r>
              <a:rPr lang="en-US" sz="1400" b="1" dirty="0">
                <a:solidFill>
                  <a:srgbClr val="0EA5E9"/>
                </a:solidFill>
                <a:latin typeface="Calibri" pitchFamily="34" charset="0"/>
                <a:ea typeface="Calibri" pitchFamily="34" charset="-122"/>
                <a:cs typeface="Calibri" pitchFamily="34" charset="-120"/>
              </a:rPr>
              <a:t>Can be physical hardware</a:t>
            </a:r>
            <a:endParaRPr lang="en-US" sz="1400" dirty="0"/>
          </a:p>
        </p:txBody>
      </p:sp>
      <p:sp>
        <p:nvSpPr>
          <p:cNvPr id="26" name="Text 24"/>
          <p:cNvSpPr/>
          <p:nvPr/>
        </p:nvSpPr>
        <p:spPr>
          <a:xfrm>
            <a:off x="3246120" y="2377440"/>
            <a:ext cx="539496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Or a virtual machine in the cloud</a:t>
            </a:r>
            <a:endParaRPr lang="en-US" sz="1250" dirty="0"/>
          </a:p>
        </p:txBody>
      </p:sp>
      <p:sp>
        <p:nvSpPr>
          <p:cNvPr id="27" name="Shape 25"/>
          <p:cNvSpPr/>
          <p:nvPr/>
        </p:nvSpPr>
        <p:spPr>
          <a:xfrm>
            <a:off x="2560320" y="2852928"/>
            <a:ext cx="6217920" cy="722376"/>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8" name="Text 26"/>
          <p:cNvSpPr/>
          <p:nvPr/>
        </p:nvSpPr>
        <p:spPr>
          <a:xfrm>
            <a:off x="2633472" y="2852928"/>
            <a:ext cx="594360" cy="72237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9" name="Text 27"/>
          <p:cNvSpPr/>
          <p:nvPr/>
        </p:nvSpPr>
        <p:spPr>
          <a:xfrm>
            <a:off x="3246120" y="2907792"/>
            <a:ext cx="5394960" cy="274320"/>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Cloud = servers you rent</a:t>
            </a:r>
            <a:endParaRPr lang="en-US" sz="1400" dirty="0"/>
          </a:p>
        </p:txBody>
      </p:sp>
      <p:sp>
        <p:nvSpPr>
          <p:cNvPr id="30" name="Text 28"/>
          <p:cNvSpPr/>
          <p:nvPr/>
        </p:nvSpPr>
        <p:spPr>
          <a:xfrm>
            <a:off x="3246120" y="3172968"/>
            <a:ext cx="539496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AWS, Azure, Google Cloud Platform</a:t>
            </a:r>
            <a:endParaRPr lang="en-US" sz="1250" dirty="0"/>
          </a:p>
        </p:txBody>
      </p:sp>
      <p:sp>
        <p:nvSpPr>
          <p:cNvPr id="31" name="Shape 29"/>
          <p:cNvSpPr/>
          <p:nvPr/>
        </p:nvSpPr>
        <p:spPr>
          <a:xfrm>
            <a:off x="2560320" y="3648456"/>
            <a:ext cx="6217920" cy="722376"/>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2" name="Text 30"/>
          <p:cNvSpPr/>
          <p:nvPr/>
        </p:nvSpPr>
        <p:spPr>
          <a:xfrm>
            <a:off x="2633472" y="3648456"/>
            <a:ext cx="594360" cy="72237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3246120" y="3703320"/>
            <a:ext cx="5394960" cy="27432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Always on, never sleeps</a:t>
            </a:r>
            <a:endParaRPr lang="en-US" sz="1400" dirty="0"/>
          </a:p>
        </p:txBody>
      </p:sp>
      <p:sp>
        <p:nvSpPr>
          <p:cNvPr id="34" name="Text 32"/>
          <p:cNvSpPr/>
          <p:nvPr/>
        </p:nvSpPr>
        <p:spPr>
          <a:xfrm>
            <a:off x="3246120" y="3968496"/>
            <a:ext cx="539496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Designed for high availability</a:t>
            </a:r>
            <a:endParaRPr lang="en-US" sz="1250" dirty="0"/>
          </a:p>
        </p:txBody>
      </p:sp>
      <p:sp>
        <p:nvSpPr>
          <p:cNvPr id="35" name="Shape 33"/>
          <p:cNvSpPr/>
          <p:nvPr/>
        </p:nvSpPr>
        <p:spPr>
          <a:xfrm>
            <a:off x="320040" y="4480560"/>
            <a:ext cx="8458200" cy="54864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6" name="Shape 34"/>
          <p:cNvSpPr/>
          <p:nvPr/>
        </p:nvSpPr>
        <p:spPr>
          <a:xfrm>
            <a:off x="320040" y="4480560"/>
            <a:ext cx="54864" cy="548640"/>
          </a:xfrm>
          <a:prstGeom prst="rect">
            <a:avLst/>
          </a:prstGeom>
          <a:solidFill>
            <a:srgbClr val="F59E0B"/>
          </a:solidFill>
          <a:ln w="12700">
            <a:solidFill>
              <a:srgbClr val="F59E0B"/>
            </a:solidFill>
            <a:prstDash val="solid"/>
          </a:ln>
        </p:spPr>
      </p:sp>
      <p:sp>
        <p:nvSpPr>
          <p:cNvPr id="37" name="Text 35"/>
          <p:cNvSpPr/>
          <p:nvPr/>
        </p:nvSpPr>
        <p:spPr>
          <a:xfrm>
            <a:off x="457200" y="4507992"/>
            <a:ext cx="8229600" cy="45720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 Analogy: A server is like a librarian — always on duty, waiting for your question, finds the book (data) and hands it to you.</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Monolithic Architecture</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03 · Server Design Pattern #1</a:t>
            </a:r>
            <a:endParaRPr lang="en-US" sz="1400" dirty="0"/>
          </a:p>
        </p:txBody>
      </p:sp>
      <p:sp>
        <p:nvSpPr>
          <p:cNvPr id="5" name="Shape 3"/>
          <p:cNvSpPr/>
          <p:nvPr/>
        </p:nvSpPr>
        <p:spPr>
          <a:xfrm>
            <a:off x="3200400" y="1234440"/>
            <a:ext cx="2834640" cy="3017520"/>
          </a:xfrm>
          <a:prstGeom prst="rect">
            <a:avLst/>
          </a:prstGeom>
          <a:solidFill>
            <a:srgbClr val="1A1035"/>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3200400" y="1234440"/>
            <a:ext cx="2834640" cy="64008"/>
          </a:xfrm>
          <a:prstGeom prst="rect">
            <a:avLst/>
          </a:prstGeom>
          <a:solidFill>
            <a:srgbClr val="7C3AED"/>
          </a:solidFill>
          <a:ln w="12700">
            <a:solidFill>
              <a:srgbClr val="7C3AED"/>
            </a:solidFill>
            <a:prstDash val="solid"/>
          </a:ln>
        </p:spPr>
      </p:sp>
      <p:sp>
        <p:nvSpPr>
          <p:cNvPr id="7" name="Text 5"/>
          <p:cNvSpPr/>
          <p:nvPr/>
        </p:nvSpPr>
        <p:spPr>
          <a:xfrm>
            <a:off x="3200400" y="1298448"/>
            <a:ext cx="2834640" cy="457200"/>
          </a:xfrm>
          <a:prstGeom prst="rect">
            <a:avLst/>
          </a:prstGeom>
          <a:noFill/>
          <a:ln/>
        </p:spPr>
        <p:txBody>
          <a:bodyPr wrap="square" lIns="0" tIns="0" rIns="0" bIns="0" rtlCol="0" anchor="ctr"/>
          <a:lstStyle/>
          <a:p>
            <a:pPr marL="0" indent="0" algn="ctr">
              <a:buNone/>
            </a:pPr>
            <a:r>
              <a:rPr lang="en-US" sz="1500" b="1" dirty="0">
                <a:solidFill>
                  <a:srgbClr val="7C3AED"/>
                </a:solidFill>
                <a:latin typeface="Calibri" pitchFamily="34" charset="0"/>
                <a:ea typeface="Calibri" pitchFamily="34" charset="-122"/>
                <a:cs typeface="Calibri" pitchFamily="34" charset="-120"/>
              </a:rPr>
              <a:t>MONOLITH APP</a:t>
            </a:r>
            <a:endParaRPr lang="en-US" sz="1500" dirty="0"/>
          </a:p>
        </p:txBody>
      </p:sp>
      <p:sp>
        <p:nvSpPr>
          <p:cNvPr id="8" name="Shape 6"/>
          <p:cNvSpPr/>
          <p:nvPr/>
        </p:nvSpPr>
        <p:spPr>
          <a:xfrm>
            <a:off x="3291840" y="1801368"/>
            <a:ext cx="2651760" cy="338328"/>
          </a:xfrm>
          <a:prstGeom prst="rect">
            <a:avLst/>
          </a:prstGeom>
          <a:solidFill>
            <a:srgbClr val="2D1B69"/>
          </a:solidFill>
          <a:ln w="6350">
            <a:solidFill>
              <a:srgbClr val="7C3AED"/>
            </a:solidFill>
            <a:prstDash val="solid"/>
          </a:ln>
        </p:spPr>
      </p:sp>
      <p:sp>
        <p:nvSpPr>
          <p:cNvPr id="9" name="Text 7"/>
          <p:cNvSpPr/>
          <p:nvPr/>
        </p:nvSpPr>
        <p:spPr>
          <a:xfrm>
            <a:off x="3337560" y="1801368"/>
            <a:ext cx="2560320" cy="3383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UI Layer</a:t>
            </a:r>
            <a:endParaRPr lang="en-US" sz="1200" dirty="0"/>
          </a:p>
        </p:txBody>
      </p:sp>
      <p:sp>
        <p:nvSpPr>
          <p:cNvPr id="10" name="Shape 8"/>
          <p:cNvSpPr/>
          <p:nvPr/>
        </p:nvSpPr>
        <p:spPr>
          <a:xfrm>
            <a:off x="3291840" y="2194560"/>
            <a:ext cx="2651760" cy="338328"/>
          </a:xfrm>
          <a:prstGeom prst="rect">
            <a:avLst/>
          </a:prstGeom>
          <a:solidFill>
            <a:srgbClr val="3B1F82"/>
          </a:solidFill>
          <a:ln w="6350">
            <a:solidFill>
              <a:srgbClr val="7C3AED"/>
            </a:solidFill>
            <a:prstDash val="solid"/>
          </a:ln>
        </p:spPr>
      </p:sp>
      <p:sp>
        <p:nvSpPr>
          <p:cNvPr id="11" name="Text 9"/>
          <p:cNvSpPr/>
          <p:nvPr/>
        </p:nvSpPr>
        <p:spPr>
          <a:xfrm>
            <a:off x="3337560" y="2194560"/>
            <a:ext cx="2560320" cy="3383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Business Logic</a:t>
            </a:r>
            <a:endParaRPr lang="en-US" sz="1200" dirty="0"/>
          </a:p>
        </p:txBody>
      </p:sp>
      <p:sp>
        <p:nvSpPr>
          <p:cNvPr id="12" name="Shape 10"/>
          <p:cNvSpPr/>
          <p:nvPr/>
        </p:nvSpPr>
        <p:spPr>
          <a:xfrm>
            <a:off x="3291840" y="2587752"/>
            <a:ext cx="2651760" cy="338328"/>
          </a:xfrm>
          <a:prstGeom prst="rect">
            <a:avLst/>
          </a:prstGeom>
          <a:solidFill>
            <a:srgbClr val="4A239B"/>
          </a:solidFill>
          <a:ln w="6350">
            <a:solidFill>
              <a:srgbClr val="7C3AED"/>
            </a:solidFill>
            <a:prstDash val="solid"/>
          </a:ln>
        </p:spPr>
      </p:sp>
      <p:sp>
        <p:nvSpPr>
          <p:cNvPr id="13" name="Text 11"/>
          <p:cNvSpPr/>
          <p:nvPr/>
        </p:nvSpPr>
        <p:spPr>
          <a:xfrm>
            <a:off x="3337560" y="2587752"/>
            <a:ext cx="2560320" cy="3383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Auth Module</a:t>
            </a:r>
            <a:endParaRPr lang="en-US" sz="1200" dirty="0"/>
          </a:p>
        </p:txBody>
      </p:sp>
      <p:sp>
        <p:nvSpPr>
          <p:cNvPr id="14" name="Shape 12"/>
          <p:cNvSpPr/>
          <p:nvPr/>
        </p:nvSpPr>
        <p:spPr>
          <a:xfrm>
            <a:off x="3291840" y="2980944"/>
            <a:ext cx="2651760" cy="338328"/>
          </a:xfrm>
          <a:prstGeom prst="rect">
            <a:avLst/>
          </a:prstGeom>
          <a:solidFill>
            <a:srgbClr val="5929B4"/>
          </a:solidFill>
          <a:ln w="6350">
            <a:solidFill>
              <a:srgbClr val="7C3AED"/>
            </a:solidFill>
            <a:prstDash val="solid"/>
          </a:ln>
        </p:spPr>
      </p:sp>
      <p:sp>
        <p:nvSpPr>
          <p:cNvPr id="15" name="Text 13"/>
          <p:cNvSpPr/>
          <p:nvPr/>
        </p:nvSpPr>
        <p:spPr>
          <a:xfrm>
            <a:off x="3337560" y="2980944"/>
            <a:ext cx="2560320" cy="3383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Orders Module</a:t>
            </a:r>
            <a:endParaRPr lang="en-US" sz="1200" dirty="0"/>
          </a:p>
        </p:txBody>
      </p:sp>
      <p:sp>
        <p:nvSpPr>
          <p:cNvPr id="16" name="Shape 14"/>
          <p:cNvSpPr/>
          <p:nvPr/>
        </p:nvSpPr>
        <p:spPr>
          <a:xfrm>
            <a:off x="3291840" y="3374136"/>
            <a:ext cx="2651760" cy="338328"/>
          </a:xfrm>
          <a:prstGeom prst="rect">
            <a:avLst/>
          </a:prstGeom>
          <a:solidFill>
            <a:srgbClr val="682ECD"/>
          </a:solidFill>
          <a:ln w="6350">
            <a:solidFill>
              <a:srgbClr val="7C3AED"/>
            </a:solidFill>
            <a:prstDash val="solid"/>
          </a:ln>
        </p:spPr>
      </p:sp>
      <p:sp>
        <p:nvSpPr>
          <p:cNvPr id="17" name="Text 15"/>
          <p:cNvSpPr/>
          <p:nvPr/>
        </p:nvSpPr>
        <p:spPr>
          <a:xfrm>
            <a:off x="3337560" y="3374136"/>
            <a:ext cx="2560320" cy="3383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Payments Module</a:t>
            </a:r>
            <a:endParaRPr lang="en-US" sz="1200" dirty="0"/>
          </a:p>
        </p:txBody>
      </p:sp>
      <p:sp>
        <p:nvSpPr>
          <p:cNvPr id="18" name="Shape 16"/>
          <p:cNvSpPr/>
          <p:nvPr/>
        </p:nvSpPr>
        <p:spPr>
          <a:xfrm>
            <a:off x="3291840" y="3767328"/>
            <a:ext cx="2651760" cy="338328"/>
          </a:xfrm>
          <a:prstGeom prst="rect">
            <a:avLst/>
          </a:prstGeom>
          <a:solidFill>
            <a:srgbClr val="7732E6"/>
          </a:solidFill>
          <a:ln w="6350">
            <a:solidFill>
              <a:srgbClr val="7C3AED"/>
            </a:solidFill>
            <a:prstDash val="solid"/>
          </a:ln>
        </p:spPr>
      </p:sp>
      <p:sp>
        <p:nvSpPr>
          <p:cNvPr id="19" name="Text 17"/>
          <p:cNvSpPr/>
          <p:nvPr/>
        </p:nvSpPr>
        <p:spPr>
          <a:xfrm>
            <a:off x="3337560" y="3767328"/>
            <a:ext cx="2560320" cy="3383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Database Layer</a:t>
            </a:r>
            <a:endParaRPr lang="en-US" sz="1200" dirty="0"/>
          </a:p>
        </p:txBody>
      </p:sp>
      <p:sp>
        <p:nvSpPr>
          <p:cNvPr id="20" name="Shape 18"/>
          <p:cNvSpPr/>
          <p:nvPr/>
        </p:nvSpPr>
        <p:spPr>
          <a:xfrm>
            <a:off x="274320" y="1234440"/>
            <a:ext cx="2697480" cy="301752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1" name="Text 19"/>
          <p:cNvSpPr/>
          <p:nvPr/>
        </p:nvSpPr>
        <p:spPr>
          <a:xfrm>
            <a:off x="365760" y="1261872"/>
            <a:ext cx="2514600" cy="411480"/>
          </a:xfrm>
          <a:prstGeom prst="rect">
            <a:avLst/>
          </a:prstGeom>
          <a:noFill/>
          <a:ln/>
        </p:spPr>
        <p:txBody>
          <a:bodyPr wrap="square" lIns="0" tIns="0" rIns="0" bIns="0" rtlCol="0" anchor="ctr"/>
          <a:lstStyle/>
          <a:p>
            <a:pPr marL="0" indent="0">
              <a:buNone/>
            </a:pPr>
            <a:r>
              <a:rPr lang="en-US" sz="1500" b="1" dirty="0">
                <a:solidFill>
                  <a:srgbClr val="10B981"/>
                </a:solidFill>
                <a:latin typeface="Calibri" pitchFamily="34" charset="0"/>
                <a:ea typeface="Calibri" pitchFamily="34" charset="-122"/>
                <a:cs typeface="Calibri" pitchFamily="34" charset="-120"/>
              </a:rPr>
              <a:t>PROS</a:t>
            </a:r>
            <a:endParaRPr lang="en-US" sz="1500" dirty="0"/>
          </a:p>
        </p:txBody>
      </p:sp>
      <p:sp>
        <p:nvSpPr>
          <p:cNvPr id="22" name="Text 20"/>
          <p:cNvSpPr/>
          <p:nvPr/>
        </p:nvSpPr>
        <p:spPr>
          <a:xfrm>
            <a:off x="365760" y="1719072"/>
            <a:ext cx="2514600"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Simple to develop (early stage)</a:t>
            </a:r>
            <a:endParaRPr lang="en-US" sz="1250" dirty="0"/>
          </a:p>
        </p:txBody>
      </p:sp>
      <p:sp>
        <p:nvSpPr>
          <p:cNvPr id="23" name="Text 21"/>
          <p:cNvSpPr/>
          <p:nvPr/>
        </p:nvSpPr>
        <p:spPr>
          <a:xfrm>
            <a:off x="365760" y="2267712"/>
            <a:ext cx="2514600"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Easy to test as a whole</a:t>
            </a:r>
            <a:endParaRPr lang="en-US" sz="1250" dirty="0"/>
          </a:p>
        </p:txBody>
      </p:sp>
      <p:sp>
        <p:nvSpPr>
          <p:cNvPr id="24" name="Text 22"/>
          <p:cNvSpPr/>
          <p:nvPr/>
        </p:nvSpPr>
        <p:spPr>
          <a:xfrm>
            <a:off x="365760" y="2816352"/>
            <a:ext cx="2514600"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One deployment unit</a:t>
            </a:r>
            <a:endParaRPr lang="en-US" sz="1250" dirty="0"/>
          </a:p>
        </p:txBody>
      </p:sp>
      <p:sp>
        <p:nvSpPr>
          <p:cNvPr id="25" name="Shape 23"/>
          <p:cNvSpPr/>
          <p:nvPr/>
        </p:nvSpPr>
        <p:spPr>
          <a:xfrm>
            <a:off x="6172200" y="1234440"/>
            <a:ext cx="2697480" cy="301752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6" name="Text 24"/>
          <p:cNvSpPr/>
          <p:nvPr/>
        </p:nvSpPr>
        <p:spPr>
          <a:xfrm>
            <a:off x="6263640" y="1261872"/>
            <a:ext cx="2514600" cy="411480"/>
          </a:xfrm>
          <a:prstGeom prst="rect">
            <a:avLst/>
          </a:prstGeom>
          <a:noFill/>
          <a:ln/>
        </p:spPr>
        <p:txBody>
          <a:bodyPr wrap="square" lIns="0" tIns="0" rIns="0" bIns="0" rtlCol="0" anchor="ctr"/>
          <a:lstStyle/>
          <a:p>
            <a:pPr marL="0" indent="0">
              <a:buNone/>
            </a:pPr>
            <a:r>
              <a:rPr lang="en-US" sz="1500" b="1" dirty="0">
                <a:solidFill>
                  <a:srgbClr val="EF4444"/>
                </a:solidFill>
                <a:latin typeface="Calibri" pitchFamily="34" charset="0"/>
                <a:ea typeface="Calibri" pitchFamily="34" charset="-122"/>
                <a:cs typeface="Calibri" pitchFamily="34" charset="-120"/>
              </a:rPr>
              <a:t>CONS</a:t>
            </a:r>
            <a:endParaRPr lang="en-US" sz="1500" dirty="0"/>
          </a:p>
        </p:txBody>
      </p:sp>
      <p:sp>
        <p:nvSpPr>
          <p:cNvPr id="27" name="Text 25"/>
          <p:cNvSpPr/>
          <p:nvPr/>
        </p:nvSpPr>
        <p:spPr>
          <a:xfrm>
            <a:off x="6263640" y="1719072"/>
            <a:ext cx="2514600"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Hard to scale individual parts</a:t>
            </a:r>
            <a:endParaRPr lang="en-US" sz="1250" dirty="0"/>
          </a:p>
        </p:txBody>
      </p:sp>
      <p:sp>
        <p:nvSpPr>
          <p:cNvPr id="28" name="Text 26"/>
          <p:cNvSpPr/>
          <p:nvPr/>
        </p:nvSpPr>
        <p:spPr>
          <a:xfrm>
            <a:off x="6263640" y="2267712"/>
            <a:ext cx="2514600"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One bug can crash everything</a:t>
            </a:r>
            <a:endParaRPr lang="en-US" sz="1250" dirty="0"/>
          </a:p>
        </p:txBody>
      </p:sp>
      <p:sp>
        <p:nvSpPr>
          <p:cNvPr id="29" name="Text 27"/>
          <p:cNvSpPr/>
          <p:nvPr/>
        </p:nvSpPr>
        <p:spPr>
          <a:xfrm>
            <a:off x="6263640" y="2816352"/>
            <a:ext cx="2514600"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Slow deployments as app grows</a:t>
            </a:r>
            <a:endParaRPr lang="en-US" sz="1250" dirty="0"/>
          </a:p>
        </p:txBody>
      </p:sp>
      <p:sp>
        <p:nvSpPr>
          <p:cNvPr id="30" name="Shape 28"/>
          <p:cNvSpPr/>
          <p:nvPr/>
        </p:nvSpPr>
        <p:spPr>
          <a:xfrm>
            <a:off x="274320" y="4434840"/>
            <a:ext cx="8595360" cy="59436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1" name="Text 29"/>
          <p:cNvSpPr/>
          <p:nvPr/>
        </p:nvSpPr>
        <p:spPr>
          <a:xfrm>
            <a:off x="411480" y="4462272"/>
            <a:ext cx="8321040" cy="5029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 Analogy: A Swiss Army knife — one tool with everything inside. Great when starting, tricky to upgrade a single blade without risking the whole knife.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Microservices Architecture</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03 · Server Design Pattern #2</a:t>
            </a:r>
            <a:endParaRPr lang="en-US" sz="1400" dirty="0"/>
          </a:p>
        </p:txBody>
      </p:sp>
      <p:sp>
        <p:nvSpPr>
          <p:cNvPr id="5" name="Shape 3"/>
          <p:cNvSpPr/>
          <p:nvPr/>
        </p:nvSpPr>
        <p:spPr>
          <a:xfrm>
            <a:off x="3017520" y="1234440"/>
            <a:ext cx="3108960" cy="594360"/>
          </a:xfrm>
          <a:prstGeom prst="rect">
            <a:avLst/>
          </a:prstGeom>
          <a:solidFill>
            <a:srgbClr val="0A1628"/>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3017520" y="1234440"/>
            <a:ext cx="3108960" cy="54864"/>
          </a:xfrm>
          <a:prstGeom prst="rect">
            <a:avLst/>
          </a:prstGeom>
          <a:solidFill>
            <a:srgbClr val="00D4FF"/>
          </a:solidFill>
          <a:ln w="12700">
            <a:solidFill>
              <a:srgbClr val="00D4FF"/>
            </a:solidFill>
            <a:prstDash val="solid"/>
          </a:ln>
        </p:spPr>
      </p:sp>
      <p:sp>
        <p:nvSpPr>
          <p:cNvPr id="7" name="Text 5"/>
          <p:cNvSpPr/>
          <p:nvPr/>
        </p:nvSpPr>
        <p:spPr>
          <a:xfrm>
            <a:off x="3017520" y="1289304"/>
            <a:ext cx="3108960" cy="484632"/>
          </a:xfrm>
          <a:prstGeom prst="rect">
            <a:avLst/>
          </a:prstGeom>
          <a:noFill/>
          <a:ln/>
        </p:spPr>
        <p:txBody>
          <a:bodyPr wrap="square" lIns="0" tIns="0" rIns="0" bIns="0" rtlCol="0" anchor="ctr"/>
          <a:lstStyle/>
          <a:p>
            <a:pPr marL="0" indent="0" algn="ctr">
              <a:buNone/>
            </a:pPr>
            <a:r>
              <a:rPr lang="en-US" sz="1400" b="1" dirty="0">
                <a:solidFill>
                  <a:srgbClr val="00D4FF"/>
                </a:solidFill>
                <a:latin typeface="Calibri" pitchFamily="34" charset="0"/>
                <a:ea typeface="Calibri" pitchFamily="34" charset="-122"/>
                <a:cs typeface="Calibri" pitchFamily="34" charset="-120"/>
              </a:rPr>
              <a:t>🔀  API GATEWAY</a:t>
            </a:r>
            <a:endParaRPr lang="en-US" sz="1400" dirty="0"/>
          </a:p>
        </p:txBody>
      </p:sp>
      <p:sp>
        <p:nvSpPr>
          <p:cNvPr id="8" name="Shape 6"/>
          <p:cNvSpPr/>
          <p:nvPr/>
        </p:nvSpPr>
        <p:spPr>
          <a:xfrm>
            <a:off x="274320" y="2057400"/>
            <a:ext cx="1463040" cy="10058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9" name="Shape 7"/>
          <p:cNvSpPr/>
          <p:nvPr/>
        </p:nvSpPr>
        <p:spPr>
          <a:xfrm>
            <a:off x="274320" y="2057400"/>
            <a:ext cx="1463040" cy="54864"/>
          </a:xfrm>
          <a:prstGeom prst="rect">
            <a:avLst/>
          </a:prstGeom>
          <a:solidFill>
            <a:srgbClr val="0EA5E9"/>
          </a:solidFill>
          <a:ln w="12700">
            <a:solidFill>
              <a:srgbClr val="0EA5E9"/>
            </a:solidFill>
            <a:prstDash val="solid"/>
          </a:ln>
        </p:spPr>
      </p:sp>
      <p:sp>
        <p:nvSpPr>
          <p:cNvPr id="10" name="Text 8"/>
          <p:cNvSpPr/>
          <p:nvPr/>
        </p:nvSpPr>
        <p:spPr>
          <a:xfrm>
            <a:off x="274320" y="2148840"/>
            <a:ext cx="1463040" cy="850392"/>
          </a:xfrm>
          <a:prstGeom prst="rect">
            <a:avLst/>
          </a:prstGeom>
          <a:noFill/>
          <a:ln/>
        </p:spPr>
        <p:txBody>
          <a:bodyPr wrap="square" lIns="0" tIns="0" rIns="0" bIns="0" rtlCol="0" anchor="ctr"/>
          <a:lstStyle/>
          <a:p>
            <a:pPr marL="0" indent="0" algn="ctr">
              <a:buNone/>
            </a:pPr>
            <a:r>
              <a:rPr lang="en-US" sz="1250" b="1" dirty="0">
                <a:solidFill>
                  <a:srgbClr val="0EA5E9"/>
                </a:solidFill>
                <a:latin typeface="Calibri" pitchFamily="34" charset="0"/>
                <a:ea typeface="Calibri" pitchFamily="34" charset="-122"/>
                <a:cs typeface="Calibri" pitchFamily="34" charset="-120"/>
              </a:rPr>
              <a:t>Auth</a:t>
            </a:r>
            <a:endParaRPr lang="en-US" sz="1250" dirty="0"/>
          </a:p>
          <a:p>
            <a:pPr marL="0" indent="0" algn="ctr">
              <a:buNone/>
            </a:pPr>
            <a:r>
              <a:rPr lang="en-US" sz="1250" b="1" dirty="0">
                <a:solidFill>
                  <a:srgbClr val="0EA5E9"/>
                </a:solidFill>
                <a:latin typeface="Calibri" pitchFamily="34" charset="0"/>
                <a:ea typeface="Calibri" pitchFamily="34" charset="-122"/>
                <a:cs typeface="Calibri" pitchFamily="34" charset="-120"/>
              </a:rPr>
              <a:t>Service</a:t>
            </a:r>
            <a:endParaRPr lang="en-US" sz="1250" dirty="0"/>
          </a:p>
        </p:txBody>
      </p:sp>
      <p:sp>
        <p:nvSpPr>
          <p:cNvPr id="11" name="Shape 9"/>
          <p:cNvSpPr/>
          <p:nvPr/>
        </p:nvSpPr>
        <p:spPr>
          <a:xfrm>
            <a:off x="1005840" y="2011680"/>
            <a:ext cx="0" cy="18288"/>
          </a:xfrm>
          <a:prstGeom prst="line">
            <a:avLst/>
          </a:prstGeom>
          <a:noFill/>
          <a:ln w="19050">
            <a:solidFill>
              <a:srgbClr val="0EA5E9"/>
            </a:solidFill>
            <a:prstDash val="solid"/>
          </a:ln>
        </p:spPr>
      </p:sp>
      <p:sp>
        <p:nvSpPr>
          <p:cNvPr id="12" name="Shape 10"/>
          <p:cNvSpPr/>
          <p:nvPr/>
        </p:nvSpPr>
        <p:spPr>
          <a:xfrm>
            <a:off x="1874520" y="2057400"/>
            <a:ext cx="1463040" cy="10058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3" name="Shape 11"/>
          <p:cNvSpPr/>
          <p:nvPr/>
        </p:nvSpPr>
        <p:spPr>
          <a:xfrm>
            <a:off x="1874520" y="2057400"/>
            <a:ext cx="1463040" cy="54864"/>
          </a:xfrm>
          <a:prstGeom prst="rect">
            <a:avLst/>
          </a:prstGeom>
          <a:solidFill>
            <a:srgbClr val="00D4FF"/>
          </a:solidFill>
          <a:ln w="12700">
            <a:solidFill>
              <a:srgbClr val="00D4FF"/>
            </a:solidFill>
            <a:prstDash val="solid"/>
          </a:ln>
        </p:spPr>
      </p:sp>
      <p:sp>
        <p:nvSpPr>
          <p:cNvPr id="14" name="Text 12"/>
          <p:cNvSpPr/>
          <p:nvPr/>
        </p:nvSpPr>
        <p:spPr>
          <a:xfrm>
            <a:off x="1874520" y="2148840"/>
            <a:ext cx="1463040" cy="850392"/>
          </a:xfrm>
          <a:prstGeom prst="rect">
            <a:avLst/>
          </a:prstGeom>
          <a:noFill/>
          <a:ln/>
        </p:spPr>
        <p:txBody>
          <a:bodyPr wrap="square" lIns="0" tIns="0" rIns="0" bIns="0" rtlCol="0" anchor="ctr"/>
          <a:lstStyle/>
          <a:p>
            <a:pPr marL="0" indent="0" algn="ctr">
              <a:buNone/>
            </a:pPr>
            <a:r>
              <a:rPr lang="en-US" sz="1250" b="1" dirty="0">
                <a:solidFill>
                  <a:srgbClr val="00D4FF"/>
                </a:solidFill>
                <a:latin typeface="Calibri" pitchFamily="34" charset="0"/>
                <a:ea typeface="Calibri" pitchFamily="34" charset="-122"/>
                <a:cs typeface="Calibri" pitchFamily="34" charset="-120"/>
              </a:rPr>
              <a:t>User</a:t>
            </a:r>
            <a:endParaRPr lang="en-US" sz="1250" dirty="0"/>
          </a:p>
          <a:p>
            <a:pPr marL="0" indent="0" algn="ctr">
              <a:buNone/>
            </a:pPr>
            <a:r>
              <a:rPr lang="en-US" sz="1250" b="1" dirty="0">
                <a:solidFill>
                  <a:srgbClr val="00D4FF"/>
                </a:solidFill>
                <a:latin typeface="Calibri" pitchFamily="34" charset="0"/>
                <a:ea typeface="Calibri" pitchFamily="34" charset="-122"/>
                <a:cs typeface="Calibri" pitchFamily="34" charset="-120"/>
              </a:rPr>
              <a:t>Service</a:t>
            </a:r>
            <a:endParaRPr lang="en-US" sz="1250" dirty="0"/>
          </a:p>
        </p:txBody>
      </p:sp>
      <p:sp>
        <p:nvSpPr>
          <p:cNvPr id="15" name="Shape 13"/>
          <p:cNvSpPr/>
          <p:nvPr/>
        </p:nvSpPr>
        <p:spPr>
          <a:xfrm>
            <a:off x="2606040" y="2011680"/>
            <a:ext cx="0" cy="18288"/>
          </a:xfrm>
          <a:prstGeom prst="line">
            <a:avLst/>
          </a:prstGeom>
          <a:noFill/>
          <a:ln w="19050">
            <a:solidFill>
              <a:srgbClr val="00D4FF"/>
            </a:solidFill>
            <a:prstDash val="solid"/>
          </a:ln>
        </p:spPr>
      </p:sp>
      <p:sp>
        <p:nvSpPr>
          <p:cNvPr id="16" name="Shape 14"/>
          <p:cNvSpPr/>
          <p:nvPr/>
        </p:nvSpPr>
        <p:spPr>
          <a:xfrm>
            <a:off x="3474720" y="2057400"/>
            <a:ext cx="1463040" cy="10058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7" name="Shape 15"/>
          <p:cNvSpPr/>
          <p:nvPr/>
        </p:nvSpPr>
        <p:spPr>
          <a:xfrm>
            <a:off x="3474720" y="2057400"/>
            <a:ext cx="1463040" cy="54864"/>
          </a:xfrm>
          <a:prstGeom prst="rect">
            <a:avLst/>
          </a:prstGeom>
          <a:solidFill>
            <a:srgbClr val="7C3AED"/>
          </a:solidFill>
          <a:ln w="12700">
            <a:solidFill>
              <a:srgbClr val="7C3AED"/>
            </a:solidFill>
            <a:prstDash val="solid"/>
          </a:ln>
        </p:spPr>
      </p:sp>
      <p:sp>
        <p:nvSpPr>
          <p:cNvPr id="18" name="Text 16"/>
          <p:cNvSpPr/>
          <p:nvPr/>
        </p:nvSpPr>
        <p:spPr>
          <a:xfrm>
            <a:off x="3474720" y="2148840"/>
            <a:ext cx="1463040" cy="850392"/>
          </a:xfrm>
          <a:prstGeom prst="rect">
            <a:avLst/>
          </a:prstGeom>
          <a:noFill/>
          <a:ln/>
        </p:spPr>
        <p:txBody>
          <a:bodyPr wrap="square" lIns="0" tIns="0" rIns="0" bIns="0" rtlCol="0" anchor="ctr"/>
          <a:lstStyle/>
          <a:p>
            <a:pPr marL="0" indent="0" algn="ctr">
              <a:buNone/>
            </a:pPr>
            <a:r>
              <a:rPr lang="en-US" sz="1250" b="1" dirty="0">
                <a:solidFill>
                  <a:srgbClr val="7C3AED"/>
                </a:solidFill>
                <a:latin typeface="Calibri" pitchFamily="34" charset="0"/>
                <a:ea typeface="Calibri" pitchFamily="34" charset="-122"/>
                <a:cs typeface="Calibri" pitchFamily="34" charset="-120"/>
              </a:rPr>
              <a:t>Order</a:t>
            </a:r>
            <a:endParaRPr lang="en-US" sz="1250" dirty="0"/>
          </a:p>
          <a:p>
            <a:pPr marL="0" indent="0" algn="ctr">
              <a:buNone/>
            </a:pPr>
            <a:r>
              <a:rPr lang="en-US" sz="1250" b="1" dirty="0">
                <a:solidFill>
                  <a:srgbClr val="7C3AED"/>
                </a:solidFill>
                <a:latin typeface="Calibri" pitchFamily="34" charset="0"/>
                <a:ea typeface="Calibri" pitchFamily="34" charset="-122"/>
                <a:cs typeface="Calibri" pitchFamily="34" charset="-120"/>
              </a:rPr>
              <a:t>Service</a:t>
            </a:r>
            <a:endParaRPr lang="en-US" sz="1250" dirty="0"/>
          </a:p>
        </p:txBody>
      </p:sp>
      <p:sp>
        <p:nvSpPr>
          <p:cNvPr id="19" name="Shape 17"/>
          <p:cNvSpPr/>
          <p:nvPr/>
        </p:nvSpPr>
        <p:spPr>
          <a:xfrm>
            <a:off x="4206240" y="2011680"/>
            <a:ext cx="0" cy="18288"/>
          </a:xfrm>
          <a:prstGeom prst="line">
            <a:avLst/>
          </a:prstGeom>
          <a:noFill/>
          <a:ln w="19050">
            <a:solidFill>
              <a:srgbClr val="7C3AED"/>
            </a:solidFill>
            <a:prstDash val="solid"/>
          </a:ln>
        </p:spPr>
      </p:sp>
      <p:sp>
        <p:nvSpPr>
          <p:cNvPr id="20" name="Shape 18"/>
          <p:cNvSpPr/>
          <p:nvPr/>
        </p:nvSpPr>
        <p:spPr>
          <a:xfrm>
            <a:off x="5074920" y="2057400"/>
            <a:ext cx="1463040" cy="10058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1" name="Shape 19"/>
          <p:cNvSpPr/>
          <p:nvPr/>
        </p:nvSpPr>
        <p:spPr>
          <a:xfrm>
            <a:off x="5074920" y="2057400"/>
            <a:ext cx="1463040" cy="54864"/>
          </a:xfrm>
          <a:prstGeom prst="rect">
            <a:avLst/>
          </a:prstGeom>
          <a:solidFill>
            <a:srgbClr val="F59E0B"/>
          </a:solidFill>
          <a:ln w="12700">
            <a:solidFill>
              <a:srgbClr val="F59E0B"/>
            </a:solidFill>
            <a:prstDash val="solid"/>
          </a:ln>
        </p:spPr>
      </p:sp>
      <p:sp>
        <p:nvSpPr>
          <p:cNvPr id="22" name="Text 20"/>
          <p:cNvSpPr/>
          <p:nvPr/>
        </p:nvSpPr>
        <p:spPr>
          <a:xfrm>
            <a:off x="5074920" y="2148840"/>
            <a:ext cx="1463040" cy="850392"/>
          </a:xfrm>
          <a:prstGeom prst="rect">
            <a:avLst/>
          </a:prstGeom>
          <a:noFill/>
          <a:ln/>
        </p:spPr>
        <p:txBody>
          <a:bodyPr wrap="square" lIns="0" tIns="0" rIns="0" bIns="0" rtlCol="0" anchor="ctr"/>
          <a:lstStyle/>
          <a:p>
            <a:pPr marL="0" indent="0" algn="ctr">
              <a:buNone/>
            </a:pPr>
            <a:r>
              <a:rPr lang="en-US" sz="1250" b="1" dirty="0">
                <a:solidFill>
                  <a:srgbClr val="F59E0B"/>
                </a:solidFill>
                <a:latin typeface="Calibri" pitchFamily="34" charset="0"/>
                <a:ea typeface="Calibri" pitchFamily="34" charset="-122"/>
                <a:cs typeface="Calibri" pitchFamily="34" charset="-120"/>
              </a:rPr>
              <a:t>Payment</a:t>
            </a:r>
            <a:endParaRPr lang="en-US" sz="1250" dirty="0"/>
          </a:p>
          <a:p>
            <a:pPr marL="0" indent="0" algn="ctr">
              <a:buNone/>
            </a:pPr>
            <a:r>
              <a:rPr lang="en-US" sz="1250" b="1" dirty="0">
                <a:solidFill>
                  <a:srgbClr val="F59E0B"/>
                </a:solidFill>
                <a:latin typeface="Calibri" pitchFamily="34" charset="0"/>
                <a:ea typeface="Calibri" pitchFamily="34" charset="-122"/>
                <a:cs typeface="Calibri" pitchFamily="34" charset="-120"/>
              </a:rPr>
              <a:t>Service</a:t>
            </a:r>
            <a:endParaRPr lang="en-US" sz="1250" dirty="0"/>
          </a:p>
        </p:txBody>
      </p:sp>
      <p:sp>
        <p:nvSpPr>
          <p:cNvPr id="23" name="Shape 21"/>
          <p:cNvSpPr/>
          <p:nvPr/>
        </p:nvSpPr>
        <p:spPr>
          <a:xfrm>
            <a:off x="5806440" y="2011680"/>
            <a:ext cx="0" cy="18288"/>
          </a:xfrm>
          <a:prstGeom prst="line">
            <a:avLst/>
          </a:prstGeom>
          <a:noFill/>
          <a:ln w="19050">
            <a:solidFill>
              <a:srgbClr val="F59E0B"/>
            </a:solidFill>
            <a:prstDash val="solid"/>
          </a:ln>
        </p:spPr>
      </p:sp>
      <p:sp>
        <p:nvSpPr>
          <p:cNvPr id="24" name="Shape 22"/>
          <p:cNvSpPr/>
          <p:nvPr/>
        </p:nvSpPr>
        <p:spPr>
          <a:xfrm>
            <a:off x="6675120" y="2057400"/>
            <a:ext cx="1463040" cy="10058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5" name="Shape 23"/>
          <p:cNvSpPr/>
          <p:nvPr/>
        </p:nvSpPr>
        <p:spPr>
          <a:xfrm>
            <a:off x="6675120" y="2057400"/>
            <a:ext cx="1463040" cy="54864"/>
          </a:xfrm>
          <a:prstGeom prst="rect">
            <a:avLst/>
          </a:prstGeom>
          <a:solidFill>
            <a:srgbClr val="10B981"/>
          </a:solidFill>
          <a:ln w="12700">
            <a:solidFill>
              <a:srgbClr val="10B981"/>
            </a:solidFill>
            <a:prstDash val="solid"/>
          </a:ln>
        </p:spPr>
      </p:sp>
      <p:sp>
        <p:nvSpPr>
          <p:cNvPr id="26" name="Text 24"/>
          <p:cNvSpPr/>
          <p:nvPr/>
        </p:nvSpPr>
        <p:spPr>
          <a:xfrm>
            <a:off x="6675120" y="2148840"/>
            <a:ext cx="1463040" cy="850392"/>
          </a:xfrm>
          <a:prstGeom prst="rect">
            <a:avLst/>
          </a:prstGeom>
          <a:noFill/>
          <a:ln/>
        </p:spPr>
        <p:txBody>
          <a:bodyPr wrap="square" lIns="0" tIns="0" rIns="0" bIns="0" rtlCol="0" anchor="ctr"/>
          <a:lstStyle/>
          <a:p>
            <a:pPr marL="0" indent="0" algn="ctr">
              <a:buNone/>
            </a:pPr>
            <a:r>
              <a:rPr lang="en-US" sz="1250" b="1" dirty="0">
                <a:solidFill>
                  <a:srgbClr val="10B981"/>
                </a:solidFill>
                <a:latin typeface="Calibri" pitchFamily="34" charset="0"/>
                <a:ea typeface="Calibri" pitchFamily="34" charset="-122"/>
                <a:cs typeface="Calibri" pitchFamily="34" charset="-120"/>
              </a:rPr>
              <a:t>Email</a:t>
            </a:r>
            <a:endParaRPr lang="en-US" sz="1250" dirty="0"/>
          </a:p>
          <a:p>
            <a:pPr marL="0" indent="0" algn="ctr">
              <a:buNone/>
            </a:pPr>
            <a:r>
              <a:rPr lang="en-US" sz="1250" b="1" dirty="0">
                <a:solidFill>
                  <a:srgbClr val="10B981"/>
                </a:solidFill>
                <a:latin typeface="Calibri" pitchFamily="34" charset="0"/>
                <a:ea typeface="Calibri" pitchFamily="34" charset="-122"/>
                <a:cs typeface="Calibri" pitchFamily="34" charset="-120"/>
              </a:rPr>
              <a:t>Service</a:t>
            </a:r>
            <a:endParaRPr lang="en-US" sz="1250" dirty="0"/>
          </a:p>
        </p:txBody>
      </p:sp>
      <p:sp>
        <p:nvSpPr>
          <p:cNvPr id="27" name="Shape 25"/>
          <p:cNvSpPr/>
          <p:nvPr/>
        </p:nvSpPr>
        <p:spPr>
          <a:xfrm>
            <a:off x="7406640" y="2011680"/>
            <a:ext cx="0" cy="18288"/>
          </a:xfrm>
          <a:prstGeom prst="line">
            <a:avLst/>
          </a:prstGeom>
          <a:noFill/>
          <a:ln w="19050">
            <a:solidFill>
              <a:srgbClr val="10B981"/>
            </a:solidFill>
            <a:prstDash val="solid"/>
          </a:ln>
        </p:spPr>
      </p:sp>
      <p:sp>
        <p:nvSpPr>
          <p:cNvPr id="28" name="Shape 26"/>
          <p:cNvSpPr/>
          <p:nvPr/>
        </p:nvSpPr>
        <p:spPr>
          <a:xfrm>
            <a:off x="502920" y="3200400"/>
            <a:ext cx="1005840" cy="384048"/>
          </a:xfrm>
          <a:prstGeom prst="rect">
            <a:avLst/>
          </a:prstGeom>
          <a:solidFill>
            <a:srgbClr val="0A1628"/>
          </a:solidFill>
          <a:ln w="12700">
            <a:solidFill>
              <a:srgbClr val="0EA5E9"/>
            </a:solidFill>
            <a:prstDash val="solid"/>
          </a:ln>
        </p:spPr>
      </p:sp>
      <p:sp>
        <p:nvSpPr>
          <p:cNvPr id="29" name="Text 27"/>
          <p:cNvSpPr/>
          <p:nvPr/>
        </p:nvSpPr>
        <p:spPr>
          <a:xfrm>
            <a:off x="502920" y="3200400"/>
            <a:ext cx="1005840" cy="384048"/>
          </a:xfrm>
          <a:prstGeom prst="rect">
            <a:avLst/>
          </a:prstGeom>
          <a:noFill/>
          <a:ln/>
        </p:spPr>
        <p:txBody>
          <a:bodyPr wrap="square" lIns="0" tIns="0" rIns="0" bIns="0" rtlCol="0" anchor="ctr"/>
          <a:lstStyle/>
          <a:p>
            <a:pPr marL="0" indent="0" algn="ctr">
              <a:buNone/>
            </a:pPr>
            <a:r>
              <a:rPr lang="en-US" sz="1100" dirty="0">
                <a:solidFill>
                  <a:srgbClr val="0EA5E9"/>
                </a:solidFill>
                <a:latin typeface="Calibri" pitchFamily="34" charset="0"/>
                <a:ea typeface="Calibri" pitchFamily="34" charset="-122"/>
                <a:cs typeface="Calibri" pitchFamily="34" charset="-120"/>
              </a:rPr>
              <a:t>🗄️ DB</a:t>
            </a:r>
            <a:endParaRPr lang="en-US" sz="1100" dirty="0"/>
          </a:p>
        </p:txBody>
      </p:sp>
      <p:sp>
        <p:nvSpPr>
          <p:cNvPr id="30" name="Shape 28"/>
          <p:cNvSpPr/>
          <p:nvPr/>
        </p:nvSpPr>
        <p:spPr>
          <a:xfrm>
            <a:off x="1005840" y="3081528"/>
            <a:ext cx="0" cy="91440"/>
          </a:xfrm>
          <a:prstGeom prst="line">
            <a:avLst/>
          </a:prstGeom>
          <a:noFill/>
          <a:ln w="19050">
            <a:solidFill>
              <a:srgbClr val="0EA5E9"/>
            </a:solidFill>
            <a:prstDash val="solid"/>
          </a:ln>
        </p:spPr>
      </p:sp>
      <p:sp>
        <p:nvSpPr>
          <p:cNvPr id="31" name="Shape 29"/>
          <p:cNvSpPr/>
          <p:nvPr/>
        </p:nvSpPr>
        <p:spPr>
          <a:xfrm>
            <a:off x="2103120" y="3200400"/>
            <a:ext cx="1005840" cy="384048"/>
          </a:xfrm>
          <a:prstGeom prst="rect">
            <a:avLst/>
          </a:prstGeom>
          <a:solidFill>
            <a:srgbClr val="0A1628"/>
          </a:solidFill>
          <a:ln w="12700">
            <a:solidFill>
              <a:srgbClr val="00D4FF"/>
            </a:solidFill>
            <a:prstDash val="solid"/>
          </a:ln>
        </p:spPr>
      </p:sp>
      <p:sp>
        <p:nvSpPr>
          <p:cNvPr id="32" name="Text 30"/>
          <p:cNvSpPr/>
          <p:nvPr/>
        </p:nvSpPr>
        <p:spPr>
          <a:xfrm>
            <a:off x="2103120" y="3200400"/>
            <a:ext cx="1005840" cy="384048"/>
          </a:xfrm>
          <a:prstGeom prst="rect">
            <a:avLst/>
          </a:prstGeom>
          <a:noFill/>
          <a:ln/>
        </p:spPr>
        <p:txBody>
          <a:bodyPr wrap="square" lIns="0" tIns="0" rIns="0" bIns="0" rtlCol="0" anchor="ctr"/>
          <a:lstStyle/>
          <a:p>
            <a:pPr marL="0" indent="0" algn="ctr">
              <a:buNone/>
            </a:pPr>
            <a:r>
              <a:rPr lang="en-US" sz="1100" dirty="0">
                <a:solidFill>
                  <a:srgbClr val="00D4FF"/>
                </a:solidFill>
                <a:latin typeface="Calibri" pitchFamily="34" charset="0"/>
                <a:ea typeface="Calibri" pitchFamily="34" charset="-122"/>
                <a:cs typeface="Calibri" pitchFamily="34" charset="-120"/>
              </a:rPr>
              <a:t>🗄️ DB</a:t>
            </a:r>
            <a:endParaRPr lang="en-US" sz="1100" dirty="0"/>
          </a:p>
        </p:txBody>
      </p:sp>
      <p:sp>
        <p:nvSpPr>
          <p:cNvPr id="33" name="Shape 31"/>
          <p:cNvSpPr/>
          <p:nvPr/>
        </p:nvSpPr>
        <p:spPr>
          <a:xfrm>
            <a:off x="2606040" y="3081528"/>
            <a:ext cx="0" cy="91440"/>
          </a:xfrm>
          <a:prstGeom prst="line">
            <a:avLst/>
          </a:prstGeom>
          <a:noFill/>
          <a:ln w="19050">
            <a:solidFill>
              <a:srgbClr val="00D4FF"/>
            </a:solidFill>
            <a:prstDash val="solid"/>
          </a:ln>
        </p:spPr>
      </p:sp>
      <p:sp>
        <p:nvSpPr>
          <p:cNvPr id="34" name="Shape 32"/>
          <p:cNvSpPr/>
          <p:nvPr/>
        </p:nvSpPr>
        <p:spPr>
          <a:xfrm>
            <a:off x="3703320" y="3200400"/>
            <a:ext cx="1005840" cy="384048"/>
          </a:xfrm>
          <a:prstGeom prst="rect">
            <a:avLst/>
          </a:prstGeom>
          <a:solidFill>
            <a:srgbClr val="0A1628"/>
          </a:solidFill>
          <a:ln w="12700">
            <a:solidFill>
              <a:srgbClr val="7C3AED"/>
            </a:solidFill>
            <a:prstDash val="solid"/>
          </a:ln>
        </p:spPr>
      </p:sp>
      <p:sp>
        <p:nvSpPr>
          <p:cNvPr id="35" name="Text 33"/>
          <p:cNvSpPr/>
          <p:nvPr/>
        </p:nvSpPr>
        <p:spPr>
          <a:xfrm>
            <a:off x="3703320" y="3200400"/>
            <a:ext cx="1005840" cy="384048"/>
          </a:xfrm>
          <a:prstGeom prst="rect">
            <a:avLst/>
          </a:prstGeom>
          <a:noFill/>
          <a:ln/>
        </p:spPr>
        <p:txBody>
          <a:bodyPr wrap="square" lIns="0" tIns="0" rIns="0" bIns="0" rtlCol="0" anchor="ctr"/>
          <a:lstStyle/>
          <a:p>
            <a:pPr marL="0" indent="0" algn="ctr">
              <a:buNone/>
            </a:pPr>
            <a:r>
              <a:rPr lang="en-US" sz="1100" dirty="0">
                <a:solidFill>
                  <a:srgbClr val="7C3AED"/>
                </a:solidFill>
                <a:latin typeface="Calibri" pitchFamily="34" charset="0"/>
                <a:ea typeface="Calibri" pitchFamily="34" charset="-122"/>
                <a:cs typeface="Calibri" pitchFamily="34" charset="-120"/>
              </a:rPr>
              <a:t>🗄️ DB</a:t>
            </a:r>
            <a:endParaRPr lang="en-US" sz="1100" dirty="0"/>
          </a:p>
        </p:txBody>
      </p:sp>
      <p:sp>
        <p:nvSpPr>
          <p:cNvPr id="36" name="Shape 34"/>
          <p:cNvSpPr/>
          <p:nvPr/>
        </p:nvSpPr>
        <p:spPr>
          <a:xfrm>
            <a:off x="4206240" y="3081528"/>
            <a:ext cx="0" cy="91440"/>
          </a:xfrm>
          <a:prstGeom prst="line">
            <a:avLst/>
          </a:prstGeom>
          <a:noFill/>
          <a:ln w="19050">
            <a:solidFill>
              <a:srgbClr val="7C3AED"/>
            </a:solidFill>
            <a:prstDash val="solid"/>
          </a:ln>
        </p:spPr>
      </p:sp>
      <p:sp>
        <p:nvSpPr>
          <p:cNvPr id="37" name="Shape 35"/>
          <p:cNvSpPr/>
          <p:nvPr/>
        </p:nvSpPr>
        <p:spPr>
          <a:xfrm>
            <a:off x="5303520" y="3200400"/>
            <a:ext cx="1005840" cy="384048"/>
          </a:xfrm>
          <a:prstGeom prst="rect">
            <a:avLst/>
          </a:prstGeom>
          <a:solidFill>
            <a:srgbClr val="0A1628"/>
          </a:solidFill>
          <a:ln w="12700">
            <a:solidFill>
              <a:srgbClr val="F59E0B"/>
            </a:solidFill>
            <a:prstDash val="solid"/>
          </a:ln>
        </p:spPr>
      </p:sp>
      <p:sp>
        <p:nvSpPr>
          <p:cNvPr id="38" name="Text 36"/>
          <p:cNvSpPr/>
          <p:nvPr/>
        </p:nvSpPr>
        <p:spPr>
          <a:xfrm>
            <a:off x="5303520" y="3200400"/>
            <a:ext cx="1005840" cy="384048"/>
          </a:xfrm>
          <a:prstGeom prst="rect">
            <a:avLst/>
          </a:prstGeom>
          <a:noFill/>
          <a:ln/>
        </p:spPr>
        <p:txBody>
          <a:bodyPr wrap="square" lIns="0" tIns="0" rIns="0" bIns="0" rtlCol="0" anchor="ctr"/>
          <a:lstStyle/>
          <a:p>
            <a:pPr marL="0" indent="0" algn="ctr">
              <a:buNone/>
            </a:pPr>
            <a:r>
              <a:rPr lang="en-US" sz="1100" dirty="0">
                <a:solidFill>
                  <a:srgbClr val="F59E0B"/>
                </a:solidFill>
                <a:latin typeface="Calibri" pitchFamily="34" charset="0"/>
                <a:ea typeface="Calibri" pitchFamily="34" charset="-122"/>
                <a:cs typeface="Calibri" pitchFamily="34" charset="-120"/>
              </a:rPr>
              <a:t>🗄️ DB</a:t>
            </a:r>
            <a:endParaRPr lang="en-US" sz="1100" dirty="0"/>
          </a:p>
        </p:txBody>
      </p:sp>
      <p:sp>
        <p:nvSpPr>
          <p:cNvPr id="39" name="Shape 37"/>
          <p:cNvSpPr/>
          <p:nvPr/>
        </p:nvSpPr>
        <p:spPr>
          <a:xfrm>
            <a:off x="5806440" y="3081528"/>
            <a:ext cx="0" cy="91440"/>
          </a:xfrm>
          <a:prstGeom prst="line">
            <a:avLst/>
          </a:prstGeom>
          <a:noFill/>
          <a:ln w="19050">
            <a:solidFill>
              <a:srgbClr val="F59E0B"/>
            </a:solidFill>
            <a:prstDash val="solid"/>
          </a:ln>
        </p:spPr>
      </p:sp>
      <p:sp>
        <p:nvSpPr>
          <p:cNvPr id="40" name="Shape 38"/>
          <p:cNvSpPr/>
          <p:nvPr/>
        </p:nvSpPr>
        <p:spPr>
          <a:xfrm>
            <a:off x="6903720" y="3200400"/>
            <a:ext cx="1005840" cy="384048"/>
          </a:xfrm>
          <a:prstGeom prst="rect">
            <a:avLst/>
          </a:prstGeom>
          <a:solidFill>
            <a:srgbClr val="0A1628"/>
          </a:solidFill>
          <a:ln w="12700">
            <a:solidFill>
              <a:srgbClr val="10B981"/>
            </a:solidFill>
            <a:prstDash val="solid"/>
          </a:ln>
        </p:spPr>
      </p:sp>
      <p:sp>
        <p:nvSpPr>
          <p:cNvPr id="41" name="Text 39"/>
          <p:cNvSpPr/>
          <p:nvPr/>
        </p:nvSpPr>
        <p:spPr>
          <a:xfrm>
            <a:off x="6903720" y="3200400"/>
            <a:ext cx="1005840" cy="384048"/>
          </a:xfrm>
          <a:prstGeom prst="rect">
            <a:avLst/>
          </a:prstGeom>
          <a:noFill/>
          <a:ln/>
        </p:spPr>
        <p:txBody>
          <a:bodyPr wrap="square" lIns="0" tIns="0" rIns="0" bIns="0" rtlCol="0" anchor="ctr"/>
          <a:lstStyle/>
          <a:p>
            <a:pPr marL="0" indent="0" algn="ctr">
              <a:buNone/>
            </a:pPr>
            <a:r>
              <a:rPr lang="en-US" sz="1100" dirty="0">
                <a:solidFill>
                  <a:srgbClr val="10B981"/>
                </a:solidFill>
                <a:latin typeface="Calibri" pitchFamily="34" charset="0"/>
                <a:ea typeface="Calibri" pitchFamily="34" charset="-122"/>
                <a:cs typeface="Calibri" pitchFamily="34" charset="-120"/>
              </a:rPr>
              <a:t>🗄️ DB</a:t>
            </a:r>
            <a:endParaRPr lang="en-US" sz="1100" dirty="0"/>
          </a:p>
        </p:txBody>
      </p:sp>
      <p:sp>
        <p:nvSpPr>
          <p:cNvPr id="42" name="Shape 40"/>
          <p:cNvSpPr/>
          <p:nvPr/>
        </p:nvSpPr>
        <p:spPr>
          <a:xfrm>
            <a:off x="7406640" y="3081528"/>
            <a:ext cx="0" cy="91440"/>
          </a:xfrm>
          <a:prstGeom prst="line">
            <a:avLst/>
          </a:prstGeom>
          <a:noFill/>
          <a:ln w="19050">
            <a:solidFill>
              <a:srgbClr val="10B981"/>
            </a:solidFill>
            <a:prstDash val="solid"/>
          </a:ln>
        </p:spPr>
      </p:sp>
      <p:sp>
        <p:nvSpPr>
          <p:cNvPr id="43" name="Shape 41"/>
          <p:cNvSpPr/>
          <p:nvPr/>
        </p:nvSpPr>
        <p:spPr>
          <a:xfrm>
            <a:off x="274320" y="3749040"/>
            <a:ext cx="4206240" cy="126187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44" name="Text 42"/>
          <p:cNvSpPr/>
          <p:nvPr/>
        </p:nvSpPr>
        <p:spPr>
          <a:xfrm>
            <a:off x="365760" y="3794760"/>
            <a:ext cx="4023360" cy="32004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PROS</a:t>
            </a:r>
            <a:endParaRPr lang="en-US" sz="1400" dirty="0"/>
          </a:p>
        </p:txBody>
      </p:sp>
      <p:sp>
        <p:nvSpPr>
          <p:cNvPr id="45" name="Text 43"/>
          <p:cNvSpPr/>
          <p:nvPr/>
        </p:nvSpPr>
        <p:spPr>
          <a:xfrm>
            <a:off x="365760" y="4133088"/>
            <a:ext cx="402336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Each service scales independently</a:t>
            </a:r>
            <a:endParaRPr lang="en-US" sz="1200" dirty="0"/>
          </a:p>
        </p:txBody>
      </p:sp>
      <p:sp>
        <p:nvSpPr>
          <p:cNvPr id="46" name="Text 44"/>
          <p:cNvSpPr/>
          <p:nvPr/>
        </p:nvSpPr>
        <p:spPr>
          <a:xfrm>
            <a:off x="365760" y="4407408"/>
            <a:ext cx="402336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One service fails ≠ all fail</a:t>
            </a:r>
            <a:endParaRPr lang="en-US" sz="1200" dirty="0"/>
          </a:p>
        </p:txBody>
      </p:sp>
      <p:sp>
        <p:nvSpPr>
          <p:cNvPr id="47" name="Text 45"/>
          <p:cNvSpPr/>
          <p:nvPr/>
        </p:nvSpPr>
        <p:spPr>
          <a:xfrm>
            <a:off x="365760" y="4681728"/>
            <a:ext cx="402336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Different tech per service</a:t>
            </a:r>
            <a:endParaRPr lang="en-US" sz="1200" dirty="0"/>
          </a:p>
        </p:txBody>
      </p:sp>
      <p:sp>
        <p:nvSpPr>
          <p:cNvPr id="48" name="Shape 46"/>
          <p:cNvSpPr/>
          <p:nvPr/>
        </p:nvSpPr>
        <p:spPr>
          <a:xfrm>
            <a:off x="4663440" y="3749040"/>
            <a:ext cx="4206240" cy="126187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49" name="Text 47"/>
          <p:cNvSpPr/>
          <p:nvPr/>
        </p:nvSpPr>
        <p:spPr>
          <a:xfrm>
            <a:off x="4754880" y="3794760"/>
            <a:ext cx="4023360" cy="32004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CHALLENGES</a:t>
            </a:r>
            <a:endParaRPr lang="en-US" sz="1400" dirty="0"/>
          </a:p>
        </p:txBody>
      </p:sp>
      <p:sp>
        <p:nvSpPr>
          <p:cNvPr id="50" name="Text 48"/>
          <p:cNvSpPr/>
          <p:nvPr/>
        </p:nvSpPr>
        <p:spPr>
          <a:xfrm>
            <a:off x="4754880" y="4133088"/>
            <a:ext cx="402336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More complex to manage</a:t>
            </a:r>
            <a:endParaRPr lang="en-US" sz="1200" dirty="0"/>
          </a:p>
        </p:txBody>
      </p:sp>
      <p:sp>
        <p:nvSpPr>
          <p:cNvPr id="51" name="Text 49"/>
          <p:cNvSpPr/>
          <p:nvPr/>
        </p:nvSpPr>
        <p:spPr>
          <a:xfrm>
            <a:off x="4754880" y="4407408"/>
            <a:ext cx="402336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Network overhead</a:t>
            </a:r>
            <a:endParaRPr lang="en-US" sz="1200" dirty="0"/>
          </a:p>
        </p:txBody>
      </p:sp>
      <p:sp>
        <p:nvSpPr>
          <p:cNvPr id="52" name="Text 50"/>
          <p:cNvSpPr/>
          <p:nvPr/>
        </p:nvSpPr>
        <p:spPr>
          <a:xfrm>
            <a:off x="4754880" y="4681728"/>
            <a:ext cx="402336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Needs DevOps maturity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Load Balancing</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03 · Handling High Traffic</a:t>
            </a:r>
            <a:endParaRPr lang="en-US" sz="1400" dirty="0"/>
          </a:p>
        </p:txBody>
      </p:sp>
      <p:sp>
        <p:nvSpPr>
          <p:cNvPr id="5" name="Text 3"/>
          <p:cNvSpPr/>
          <p:nvPr/>
        </p:nvSpPr>
        <p:spPr>
          <a:xfrm>
            <a:off x="91440" y="1463040"/>
            <a:ext cx="457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566928" y="1463040"/>
            <a:ext cx="457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1042416" y="1463040"/>
            <a:ext cx="457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1517904" y="1463040"/>
            <a:ext cx="457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1993392" y="1463040"/>
            <a:ext cx="457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0" y="1920240"/>
            <a:ext cx="2651760"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Thousands of Users</a:t>
            </a:r>
            <a:endParaRPr lang="en-US" sz="1100" dirty="0"/>
          </a:p>
        </p:txBody>
      </p:sp>
      <p:sp>
        <p:nvSpPr>
          <p:cNvPr id="11" name="Shape 9"/>
          <p:cNvSpPr/>
          <p:nvPr/>
        </p:nvSpPr>
        <p:spPr>
          <a:xfrm>
            <a:off x="2697480" y="1783080"/>
            <a:ext cx="685800" cy="0"/>
          </a:xfrm>
          <a:prstGeom prst="line">
            <a:avLst/>
          </a:prstGeom>
          <a:noFill/>
          <a:ln w="25400">
            <a:solidFill>
              <a:srgbClr val="00D4FF"/>
            </a:solidFill>
            <a:prstDash val="solid"/>
            <a:tailEnd type="none"/>
          </a:ln>
        </p:spPr>
      </p:sp>
      <p:sp>
        <p:nvSpPr>
          <p:cNvPr id="12" name="Shape 10"/>
          <p:cNvSpPr/>
          <p:nvPr/>
        </p:nvSpPr>
        <p:spPr>
          <a:xfrm>
            <a:off x="3401568" y="1417320"/>
            <a:ext cx="2331720" cy="777240"/>
          </a:xfrm>
          <a:prstGeom prst="rect">
            <a:avLst/>
          </a:prstGeom>
          <a:solidFill>
            <a:srgbClr val="0A1628"/>
          </a:solidFill>
          <a:ln w="12700">
            <a:solidFill>
              <a:srgbClr val="1E3A5F"/>
            </a:solidFill>
            <a:prstDash val="solid"/>
          </a:ln>
          <a:effectLst>
            <a:outerShdw blurRad="101600" dist="38100" dir="8100000" algn="bl" rotWithShape="0">
              <a:srgbClr val="000000">
                <a:alpha val="25000"/>
              </a:srgbClr>
            </a:outerShdw>
          </a:effectLst>
        </p:spPr>
      </p:sp>
      <p:sp>
        <p:nvSpPr>
          <p:cNvPr id="13" name="Shape 11"/>
          <p:cNvSpPr/>
          <p:nvPr/>
        </p:nvSpPr>
        <p:spPr>
          <a:xfrm>
            <a:off x="3401568" y="1417320"/>
            <a:ext cx="2331720" cy="64008"/>
          </a:xfrm>
          <a:prstGeom prst="rect">
            <a:avLst/>
          </a:prstGeom>
          <a:solidFill>
            <a:srgbClr val="00D4FF"/>
          </a:solidFill>
          <a:ln w="12700">
            <a:solidFill>
              <a:srgbClr val="00D4FF"/>
            </a:solidFill>
            <a:prstDash val="solid"/>
          </a:ln>
        </p:spPr>
      </p:sp>
      <p:sp>
        <p:nvSpPr>
          <p:cNvPr id="14" name="Text 12"/>
          <p:cNvSpPr/>
          <p:nvPr/>
        </p:nvSpPr>
        <p:spPr>
          <a:xfrm>
            <a:off x="3401568" y="1481328"/>
            <a:ext cx="2331720" cy="640080"/>
          </a:xfrm>
          <a:prstGeom prst="rect">
            <a:avLst/>
          </a:prstGeom>
          <a:noFill/>
          <a:ln/>
        </p:spPr>
        <p:txBody>
          <a:bodyPr wrap="square" lIns="0" tIns="0" rIns="0" bIns="0" rtlCol="0" anchor="ctr"/>
          <a:lstStyle/>
          <a:p>
            <a:pPr marL="0" indent="0" algn="ctr">
              <a:buNone/>
            </a:pPr>
            <a:r>
              <a:rPr lang="en-US" sz="1400" b="1" dirty="0">
                <a:solidFill>
                  <a:srgbClr val="00D4FF"/>
                </a:solidFill>
                <a:latin typeface="Calibri" pitchFamily="34" charset="0"/>
                <a:ea typeface="Calibri" pitchFamily="34" charset="-122"/>
                <a:cs typeface="Calibri" pitchFamily="34" charset="-120"/>
              </a:rPr>
              <a:t>⚖️  LOAD BALANCER</a:t>
            </a:r>
            <a:endParaRPr lang="en-US" sz="1400" dirty="0"/>
          </a:p>
        </p:txBody>
      </p:sp>
      <p:sp>
        <p:nvSpPr>
          <p:cNvPr id="15" name="Shape 13"/>
          <p:cNvSpPr/>
          <p:nvPr/>
        </p:nvSpPr>
        <p:spPr>
          <a:xfrm>
            <a:off x="5760720" y="1801368"/>
            <a:ext cx="457200" cy="0"/>
          </a:xfrm>
          <a:prstGeom prst="line">
            <a:avLst/>
          </a:prstGeom>
          <a:noFill/>
          <a:ln w="19050">
            <a:solidFill>
              <a:srgbClr val="0EA5E9"/>
            </a:solidFill>
            <a:prstDash val="solid"/>
            <a:tailEnd type="none"/>
          </a:ln>
        </p:spPr>
      </p:sp>
      <p:sp>
        <p:nvSpPr>
          <p:cNvPr id="16" name="Shape 14"/>
          <p:cNvSpPr/>
          <p:nvPr/>
        </p:nvSpPr>
        <p:spPr>
          <a:xfrm>
            <a:off x="6236208" y="1188720"/>
            <a:ext cx="2103120" cy="658368"/>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7" name="Shape 15"/>
          <p:cNvSpPr/>
          <p:nvPr/>
        </p:nvSpPr>
        <p:spPr>
          <a:xfrm>
            <a:off x="6236208" y="1188720"/>
            <a:ext cx="2103120" cy="54864"/>
          </a:xfrm>
          <a:prstGeom prst="rect">
            <a:avLst/>
          </a:prstGeom>
          <a:solidFill>
            <a:srgbClr val="0EA5E9"/>
          </a:solidFill>
          <a:ln w="12700">
            <a:solidFill>
              <a:srgbClr val="0EA5E9"/>
            </a:solidFill>
            <a:prstDash val="solid"/>
          </a:ln>
        </p:spPr>
      </p:sp>
      <p:sp>
        <p:nvSpPr>
          <p:cNvPr id="18" name="Text 16"/>
          <p:cNvSpPr/>
          <p:nvPr/>
        </p:nvSpPr>
        <p:spPr>
          <a:xfrm>
            <a:off x="6263640" y="1280160"/>
            <a:ext cx="2011680" cy="502920"/>
          </a:xfrm>
          <a:prstGeom prst="rect">
            <a:avLst/>
          </a:prstGeom>
          <a:noFill/>
          <a:ln/>
        </p:spPr>
        <p:txBody>
          <a:bodyPr wrap="square" lIns="0" tIns="0" rIns="0" bIns="0" rtlCol="0" anchor="ctr"/>
          <a:lstStyle/>
          <a:p>
            <a:pPr marL="0" indent="0" algn="ctr">
              <a:buNone/>
            </a:pPr>
            <a:r>
              <a:rPr lang="en-US" sz="1300" dirty="0">
                <a:solidFill>
                  <a:srgbClr val="0EA5E9"/>
                </a:solidFill>
                <a:latin typeface="Calibri" pitchFamily="34" charset="0"/>
                <a:ea typeface="Calibri" pitchFamily="34" charset="-122"/>
                <a:cs typeface="Calibri" pitchFamily="34" charset="-120"/>
              </a:rPr>
              <a:t>🖧 Server Instance</a:t>
            </a:r>
            <a:endParaRPr lang="en-US" sz="1300" dirty="0"/>
          </a:p>
        </p:txBody>
      </p:sp>
      <p:sp>
        <p:nvSpPr>
          <p:cNvPr id="19" name="Shape 17"/>
          <p:cNvSpPr/>
          <p:nvPr/>
        </p:nvSpPr>
        <p:spPr>
          <a:xfrm>
            <a:off x="5760720" y="1801368"/>
            <a:ext cx="457200" cy="438912"/>
          </a:xfrm>
          <a:prstGeom prst="line">
            <a:avLst/>
          </a:prstGeom>
          <a:noFill/>
          <a:ln w="19050">
            <a:solidFill>
              <a:srgbClr val="10B981"/>
            </a:solidFill>
            <a:prstDash val="solid"/>
            <a:tailEnd type="none"/>
          </a:ln>
        </p:spPr>
      </p:sp>
      <p:sp>
        <p:nvSpPr>
          <p:cNvPr id="20" name="Shape 18"/>
          <p:cNvSpPr/>
          <p:nvPr/>
        </p:nvSpPr>
        <p:spPr>
          <a:xfrm>
            <a:off x="6236208" y="1920240"/>
            <a:ext cx="2103120" cy="658368"/>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1" name="Shape 19"/>
          <p:cNvSpPr/>
          <p:nvPr/>
        </p:nvSpPr>
        <p:spPr>
          <a:xfrm>
            <a:off x="6236208" y="1920240"/>
            <a:ext cx="2103120" cy="54864"/>
          </a:xfrm>
          <a:prstGeom prst="rect">
            <a:avLst/>
          </a:prstGeom>
          <a:solidFill>
            <a:srgbClr val="10B981"/>
          </a:solidFill>
          <a:ln w="12700">
            <a:solidFill>
              <a:srgbClr val="10B981"/>
            </a:solidFill>
            <a:prstDash val="solid"/>
          </a:ln>
        </p:spPr>
      </p:sp>
      <p:sp>
        <p:nvSpPr>
          <p:cNvPr id="22" name="Text 20"/>
          <p:cNvSpPr/>
          <p:nvPr/>
        </p:nvSpPr>
        <p:spPr>
          <a:xfrm>
            <a:off x="6263640" y="2011680"/>
            <a:ext cx="2011680" cy="502920"/>
          </a:xfrm>
          <a:prstGeom prst="rect">
            <a:avLst/>
          </a:prstGeom>
          <a:noFill/>
          <a:ln/>
        </p:spPr>
        <p:txBody>
          <a:bodyPr wrap="square" lIns="0" tIns="0" rIns="0" bIns="0" rtlCol="0" anchor="ctr"/>
          <a:lstStyle/>
          <a:p>
            <a:pPr marL="0" indent="0" algn="ctr">
              <a:buNone/>
            </a:pPr>
            <a:r>
              <a:rPr lang="en-US" sz="1300" dirty="0">
                <a:solidFill>
                  <a:srgbClr val="10B981"/>
                </a:solidFill>
                <a:latin typeface="Calibri" pitchFamily="34" charset="0"/>
                <a:ea typeface="Calibri" pitchFamily="34" charset="-122"/>
                <a:cs typeface="Calibri" pitchFamily="34" charset="-120"/>
              </a:rPr>
              <a:t>🖧 Server Instance</a:t>
            </a:r>
            <a:endParaRPr lang="en-US" sz="1300" dirty="0"/>
          </a:p>
        </p:txBody>
      </p:sp>
      <p:sp>
        <p:nvSpPr>
          <p:cNvPr id="23" name="Shape 21"/>
          <p:cNvSpPr/>
          <p:nvPr/>
        </p:nvSpPr>
        <p:spPr>
          <a:xfrm>
            <a:off x="5760720" y="1801368"/>
            <a:ext cx="457200" cy="1170432"/>
          </a:xfrm>
          <a:prstGeom prst="line">
            <a:avLst/>
          </a:prstGeom>
          <a:noFill/>
          <a:ln w="19050">
            <a:solidFill>
              <a:srgbClr val="7C3AED"/>
            </a:solidFill>
            <a:prstDash val="solid"/>
            <a:tailEnd type="none"/>
          </a:ln>
        </p:spPr>
      </p:sp>
      <p:sp>
        <p:nvSpPr>
          <p:cNvPr id="24" name="Shape 22"/>
          <p:cNvSpPr/>
          <p:nvPr/>
        </p:nvSpPr>
        <p:spPr>
          <a:xfrm>
            <a:off x="6236208" y="2651760"/>
            <a:ext cx="2103120" cy="658368"/>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5" name="Shape 23"/>
          <p:cNvSpPr/>
          <p:nvPr/>
        </p:nvSpPr>
        <p:spPr>
          <a:xfrm>
            <a:off x="6236208" y="2651760"/>
            <a:ext cx="2103120" cy="54864"/>
          </a:xfrm>
          <a:prstGeom prst="rect">
            <a:avLst/>
          </a:prstGeom>
          <a:solidFill>
            <a:srgbClr val="7C3AED"/>
          </a:solidFill>
          <a:ln w="12700">
            <a:solidFill>
              <a:srgbClr val="7C3AED"/>
            </a:solidFill>
            <a:prstDash val="solid"/>
          </a:ln>
        </p:spPr>
      </p:sp>
      <p:sp>
        <p:nvSpPr>
          <p:cNvPr id="26" name="Text 24"/>
          <p:cNvSpPr/>
          <p:nvPr/>
        </p:nvSpPr>
        <p:spPr>
          <a:xfrm>
            <a:off x="6263640" y="2743200"/>
            <a:ext cx="2011680" cy="502920"/>
          </a:xfrm>
          <a:prstGeom prst="rect">
            <a:avLst/>
          </a:prstGeom>
          <a:noFill/>
          <a:ln/>
        </p:spPr>
        <p:txBody>
          <a:bodyPr wrap="square" lIns="0" tIns="0" rIns="0" bIns="0" rtlCol="0" anchor="ctr"/>
          <a:lstStyle/>
          <a:p>
            <a:pPr marL="0" indent="0" algn="ctr">
              <a:buNone/>
            </a:pPr>
            <a:r>
              <a:rPr lang="en-US" sz="1300" dirty="0">
                <a:solidFill>
                  <a:srgbClr val="7C3AED"/>
                </a:solidFill>
                <a:latin typeface="Calibri" pitchFamily="34" charset="0"/>
                <a:ea typeface="Calibri" pitchFamily="34" charset="-122"/>
                <a:cs typeface="Calibri" pitchFamily="34" charset="-120"/>
              </a:rPr>
              <a:t>🖧 Server Instance</a:t>
            </a:r>
            <a:endParaRPr lang="en-US" sz="1300" dirty="0"/>
          </a:p>
        </p:txBody>
      </p:sp>
      <p:sp>
        <p:nvSpPr>
          <p:cNvPr id="27" name="Shape 25"/>
          <p:cNvSpPr/>
          <p:nvPr/>
        </p:nvSpPr>
        <p:spPr>
          <a:xfrm>
            <a:off x="320040" y="3246120"/>
            <a:ext cx="8503920" cy="4572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8" name="Shape 26"/>
          <p:cNvSpPr/>
          <p:nvPr/>
        </p:nvSpPr>
        <p:spPr>
          <a:xfrm>
            <a:off x="384048" y="3291840"/>
            <a:ext cx="201168" cy="201168"/>
          </a:xfrm>
          <a:prstGeom prst="ellipse">
            <a:avLst/>
          </a:prstGeom>
          <a:solidFill>
            <a:srgbClr val="00D4FF"/>
          </a:solidFill>
          <a:ln w="12700">
            <a:solidFill>
              <a:srgbClr val="00D4FF"/>
            </a:solidFill>
            <a:prstDash val="solid"/>
          </a:ln>
        </p:spPr>
      </p:sp>
      <p:sp>
        <p:nvSpPr>
          <p:cNvPr id="29" name="Text 27"/>
          <p:cNvSpPr/>
          <p:nvPr/>
        </p:nvSpPr>
        <p:spPr>
          <a:xfrm>
            <a:off x="685800" y="3264408"/>
            <a:ext cx="2011680" cy="384048"/>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Round Robin</a:t>
            </a:r>
            <a:endParaRPr lang="en-US" sz="1300" dirty="0"/>
          </a:p>
        </p:txBody>
      </p:sp>
      <p:sp>
        <p:nvSpPr>
          <p:cNvPr id="30" name="Text 28"/>
          <p:cNvSpPr/>
          <p:nvPr/>
        </p:nvSpPr>
        <p:spPr>
          <a:xfrm>
            <a:off x="2697480" y="3264408"/>
            <a:ext cx="594360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Request goes to next server in rotation</a:t>
            </a:r>
            <a:endParaRPr lang="en-US" sz="1300" dirty="0"/>
          </a:p>
        </p:txBody>
      </p:sp>
      <p:sp>
        <p:nvSpPr>
          <p:cNvPr id="31" name="Shape 29"/>
          <p:cNvSpPr/>
          <p:nvPr/>
        </p:nvSpPr>
        <p:spPr>
          <a:xfrm>
            <a:off x="320040" y="3749040"/>
            <a:ext cx="8503920" cy="45720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2" name="Shape 30"/>
          <p:cNvSpPr/>
          <p:nvPr/>
        </p:nvSpPr>
        <p:spPr>
          <a:xfrm>
            <a:off x="384048" y="3794760"/>
            <a:ext cx="201168" cy="201168"/>
          </a:xfrm>
          <a:prstGeom prst="ellipse">
            <a:avLst/>
          </a:prstGeom>
          <a:solidFill>
            <a:srgbClr val="00D4FF"/>
          </a:solidFill>
          <a:ln w="12700">
            <a:solidFill>
              <a:srgbClr val="00D4FF"/>
            </a:solidFill>
            <a:prstDash val="solid"/>
          </a:ln>
        </p:spPr>
      </p:sp>
      <p:sp>
        <p:nvSpPr>
          <p:cNvPr id="33" name="Text 31"/>
          <p:cNvSpPr/>
          <p:nvPr/>
        </p:nvSpPr>
        <p:spPr>
          <a:xfrm>
            <a:off x="685800" y="3767328"/>
            <a:ext cx="2011680" cy="384048"/>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Least Connections</a:t>
            </a:r>
            <a:endParaRPr lang="en-US" sz="1300" dirty="0"/>
          </a:p>
        </p:txBody>
      </p:sp>
      <p:sp>
        <p:nvSpPr>
          <p:cNvPr id="34" name="Text 32"/>
          <p:cNvSpPr/>
          <p:nvPr/>
        </p:nvSpPr>
        <p:spPr>
          <a:xfrm>
            <a:off x="2697480" y="3767328"/>
            <a:ext cx="594360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Routes to server with fewest active users</a:t>
            </a:r>
            <a:endParaRPr lang="en-US" sz="1300" dirty="0"/>
          </a:p>
        </p:txBody>
      </p:sp>
      <p:sp>
        <p:nvSpPr>
          <p:cNvPr id="35" name="Shape 33"/>
          <p:cNvSpPr/>
          <p:nvPr/>
        </p:nvSpPr>
        <p:spPr>
          <a:xfrm>
            <a:off x="320040" y="4251960"/>
            <a:ext cx="8503920" cy="45720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6" name="Shape 34"/>
          <p:cNvSpPr/>
          <p:nvPr/>
        </p:nvSpPr>
        <p:spPr>
          <a:xfrm>
            <a:off x="384048" y="4297680"/>
            <a:ext cx="201168" cy="201168"/>
          </a:xfrm>
          <a:prstGeom prst="ellipse">
            <a:avLst/>
          </a:prstGeom>
          <a:solidFill>
            <a:srgbClr val="00D4FF"/>
          </a:solidFill>
          <a:ln w="12700">
            <a:solidFill>
              <a:srgbClr val="00D4FF"/>
            </a:solidFill>
            <a:prstDash val="solid"/>
          </a:ln>
        </p:spPr>
      </p:sp>
      <p:sp>
        <p:nvSpPr>
          <p:cNvPr id="37" name="Text 35"/>
          <p:cNvSpPr/>
          <p:nvPr/>
        </p:nvSpPr>
        <p:spPr>
          <a:xfrm>
            <a:off x="685800" y="4270248"/>
            <a:ext cx="2011680" cy="384048"/>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Health Checks</a:t>
            </a:r>
            <a:endParaRPr lang="en-US" sz="1300" dirty="0"/>
          </a:p>
        </p:txBody>
      </p:sp>
      <p:sp>
        <p:nvSpPr>
          <p:cNvPr id="38" name="Text 36"/>
          <p:cNvSpPr/>
          <p:nvPr/>
        </p:nvSpPr>
        <p:spPr>
          <a:xfrm>
            <a:off x="2697480" y="4270248"/>
            <a:ext cx="594360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Removes unhealthy servers automatically</a:t>
            </a:r>
            <a:endParaRPr lang="en-US" sz="1300" dirty="0"/>
          </a:p>
        </p:txBody>
      </p:sp>
      <p:sp>
        <p:nvSpPr>
          <p:cNvPr id="39" name="Text 37"/>
          <p:cNvSpPr/>
          <p:nvPr/>
        </p:nvSpPr>
        <p:spPr>
          <a:xfrm>
            <a:off x="320040" y="4709160"/>
            <a:ext cx="8503920" cy="32004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 Analogy: Like a traffic cop who directs cars to open lanes. Ensures no single server gets overwhelmed.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is an API?</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04 · REST API Concepts</a:t>
            </a:r>
            <a:endParaRPr lang="en-US" sz="1400" dirty="0"/>
          </a:p>
        </p:txBody>
      </p:sp>
      <p:sp>
        <p:nvSpPr>
          <p:cNvPr id="5" name="Shape 3"/>
          <p:cNvSpPr/>
          <p:nvPr/>
        </p:nvSpPr>
        <p:spPr>
          <a:xfrm>
            <a:off x="3108960" y="1234440"/>
            <a:ext cx="2926080" cy="1325880"/>
          </a:xfrm>
          <a:prstGeom prst="rect">
            <a:avLst/>
          </a:prstGeom>
          <a:solidFill>
            <a:srgbClr val="0A1628"/>
          </a:solidFill>
          <a:ln w="12700">
            <a:solidFill>
              <a:srgbClr val="1E3A5F"/>
            </a:solidFill>
            <a:prstDash val="solid"/>
          </a:ln>
          <a:effectLst>
            <a:outerShdw blurRad="101600" dist="38100" dir="8100000" algn="bl" rotWithShape="0">
              <a:srgbClr val="000000">
                <a:alpha val="25000"/>
              </a:srgbClr>
            </a:outerShdw>
          </a:effectLst>
        </p:spPr>
      </p:sp>
      <p:sp>
        <p:nvSpPr>
          <p:cNvPr id="6" name="Text 4"/>
          <p:cNvSpPr/>
          <p:nvPr/>
        </p:nvSpPr>
        <p:spPr>
          <a:xfrm>
            <a:off x="3200400" y="1298448"/>
            <a:ext cx="822960" cy="548640"/>
          </a:xfrm>
          <a:prstGeom prst="rect">
            <a:avLst/>
          </a:prstGeom>
          <a:noFill/>
          <a:ln/>
        </p:spPr>
        <p:txBody>
          <a:bodyPr wrap="square" lIns="0" tIns="0" rIns="0" bIns="0" rtlCol="0" anchor="ctr"/>
          <a:lstStyle/>
          <a:p>
            <a:pPr marL="0" indent="0" algn="ctr">
              <a:buNone/>
            </a:pPr>
            <a:r>
              <a:rPr lang="en-US" sz="3200" b="1" dirty="0">
                <a:solidFill>
                  <a:srgbClr val="00D4FF"/>
                </a:solidFill>
                <a:latin typeface="Calibri" pitchFamily="34" charset="0"/>
                <a:ea typeface="Calibri" pitchFamily="34" charset="-122"/>
                <a:cs typeface="Calibri" pitchFamily="34" charset="-120"/>
              </a:rPr>
              <a:t>A</a:t>
            </a:r>
            <a:endParaRPr lang="en-US" sz="3200" dirty="0"/>
          </a:p>
        </p:txBody>
      </p:sp>
      <p:sp>
        <p:nvSpPr>
          <p:cNvPr id="7" name="Text 5"/>
          <p:cNvSpPr/>
          <p:nvPr/>
        </p:nvSpPr>
        <p:spPr>
          <a:xfrm>
            <a:off x="3200400" y="1828800"/>
            <a:ext cx="822960" cy="54864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Application</a:t>
            </a:r>
            <a:endParaRPr lang="en-US" sz="1100" dirty="0"/>
          </a:p>
        </p:txBody>
      </p:sp>
      <p:sp>
        <p:nvSpPr>
          <p:cNvPr id="8" name="Text 6"/>
          <p:cNvSpPr/>
          <p:nvPr/>
        </p:nvSpPr>
        <p:spPr>
          <a:xfrm>
            <a:off x="4160520" y="1298448"/>
            <a:ext cx="822960" cy="548640"/>
          </a:xfrm>
          <a:prstGeom prst="rect">
            <a:avLst/>
          </a:prstGeom>
          <a:noFill/>
          <a:ln/>
        </p:spPr>
        <p:txBody>
          <a:bodyPr wrap="square" lIns="0" tIns="0" rIns="0" bIns="0" rtlCol="0" anchor="ctr"/>
          <a:lstStyle/>
          <a:p>
            <a:pPr marL="0" indent="0" algn="ctr">
              <a:buNone/>
            </a:pPr>
            <a:r>
              <a:rPr lang="en-US" sz="3200" b="1" dirty="0">
                <a:solidFill>
                  <a:srgbClr val="00D4FF"/>
                </a:solidFill>
                <a:latin typeface="Calibri" pitchFamily="34" charset="0"/>
                <a:ea typeface="Calibri" pitchFamily="34" charset="-122"/>
                <a:cs typeface="Calibri" pitchFamily="34" charset="-120"/>
              </a:rPr>
              <a:t>P</a:t>
            </a:r>
            <a:endParaRPr lang="en-US" sz="3200" dirty="0"/>
          </a:p>
        </p:txBody>
      </p:sp>
      <p:sp>
        <p:nvSpPr>
          <p:cNvPr id="9" name="Text 7"/>
          <p:cNvSpPr/>
          <p:nvPr/>
        </p:nvSpPr>
        <p:spPr>
          <a:xfrm>
            <a:off x="4160520" y="1828800"/>
            <a:ext cx="822960" cy="54864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Programming</a:t>
            </a:r>
            <a:endParaRPr lang="en-US" sz="1100" dirty="0"/>
          </a:p>
        </p:txBody>
      </p:sp>
      <p:sp>
        <p:nvSpPr>
          <p:cNvPr id="10" name="Text 8"/>
          <p:cNvSpPr/>
          <p:nvPr/>
        </p:nvSpPr>
        <p:spPr>
          <a:xfrm>
            <a:off x="5120640" y="1298448"/>
            <a:ext cx="822960" cy="548640"/>
          </a:xfrm>
          <a:prstGeom prst="rect">
            <a:avLst/>
          </a:prstGeom>
          <a:noFill/>
          <a:ln/>
        </p:spPr>
        <p:txBody>
          <a:bodyPr wrap="square" lIns="0" tIns="0" rIns="0" bIns="0" rtlCol="0" anchor="ctr"/>
          <a:lstStyle/>
          <a:p>
            <a:pPr marL="0" indent="0" algn="ctr">
              <a:buNone/>
            </a:pPr>
            <a:r>
              <a:rPr lang="en-US" sz="3200" b="1" dirty="0">
                <a:solidFill>
                  <a:srgbClr val="00D4FF"/>
                </a:solidFill>
                <a:latin typeface="Calibri" pitchFamily="34" charset="0"/>
                <a:ea typeface="Calibri" pitchFamily="34" charset="-122"/>
                <a:cs typeface="Calibri" pitchFamily="34" charset="-120"/>
              </a:rPr>
              <a:t>I</a:t>
            </a:r>
            <a:endParaRPr lang="en-US" sz="3200" dirty="0"/>
          </a:p>
        </p:txBody>
      </p:sp>
      <p:sp>
        <p:nvSpPr>
          <p:cNvPr id="11" name="Text 9"/>
          <p:cNvSpPr/>
          <p:nvPr/>
        </p:nvSpPr>
        <p:spPr>
          <a:xfrm>
            <a:off x="5120640" y="1828800"/>
            <a:ext cx="822960" cy="54864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Interface</a:t>
            </a:r>
            <a:endParaRPr lang="en-US" sz="1100" dirty="0"/>
          </a:p>
        </p:txBody>
      </p:sp>
      <p:sp>
        <p:nvSpPr>
          <p:cNvPr id="12" name="Shape 10"/>
          <p:cNvSpPr/>
          <p:nvPr/>
        </p:nvSpPr>
        <p:spPr>
          <a:xfrm>
            <a:off x="320040" y="2743200"/>
            <a:ext cx="2743200" cy="15544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3" name="Text 11"/>
          <p:cNvSpPr/>
          <p:nvPr/>
        </p:nvSpPr>
        <p:spPr>
          <a:xfrm>
            <a:off x="320040" y="2834640"/>
            <a:ext cx="2743200" cy="5029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365760" y="3337560"/>
            <a:ext cx="2651760" cy="347472"/>
          </a:xfrm>
          <a:prstGeom prst="rect">
            <a:avLst/>
          </a:prstGeom>
          <a:noFill/>
          <a:ln/>
        </p:spPr>
        <p:txBody>
          <a:bodyPr wrap="square" lIns="0" tIns="0" rIns="0" bIns="0" rtlCol="0" anchor="ctr"/>
          <a:lstStyle/>
          <a:p>
            <a:pPr marL="0" indent="0" algn="ctr">
              <a:buNone/>
            </a:pPr>
            <a:r>
              <a:rPr lang="en-US" sz="1400" b="1" dirty="0">
                <a:solidFill>
                  <a:srgbClr val="00D4FF"/>
                </a:solidFill>
                <a:latin typeface="Calibri" pitchFamily="34" charset="0"/>
                <a:ea typeface="Calibri" pitchFamily="34" charset="-122"/>
                <a:cs typeface="Calibri" pitchFamily="34" charset="-120"/>
              </a:rPr>
              <a:t>Restaurant Menu</a:t>
            </a:r>
            <a:endParaRPr lang="en-US" sz="1400" dirty="0"/>
          </a:p>
        </p:txBody>
      </p:sp>
      <p:sp>
        <p:nvSpPr>
          <p:cNvPr id="15" name="Text 13"/>
          <p:cNvSpPr/>
          <p:nvPr/>
        </p:nvSpPr>
        <p:spPr>
          <a:xfrm>
            <a:off x="365760" y="3675888"/>
            <a:ext cx="2651760"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You (app) look at the menu (API docs)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and place an order (request)</a:t>
            </a:r>
            <a:endParaRPr lang="en-US" sz="1200" dirty="0"/>
          </a:p>
        </p:txBody>
      </p:sp>
      <p:sp>
        <p:nvSpPr>
          <p:cNvPr id="16" name="Shape 14"/>
          <p:cNvSpPr/>
          <p:nvPr/>
        </p:nvSpPr>
        <p:spPr>
          <a:xfrm>
            <a:off x="3264408" y="2743200"/>
            <a:ext cx="2743200" cy="15544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7" name="Text 15"/>
          <p:cNvSpPr/>
          <p:nvPr/>
        </p:nvSpPr>
        <p:spPr>
          <a:xfrm>
            <a:off x="3264408" y="2834640"/>
            <a:ext cx="2743200" cy="5029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3310128" y="3337560"/>
            <a:ext cx="2651760" cy="347472"/>
          </a:xfrm>
          <a:prstGeom prst="rect">
            <a:avLst/>
          </a:prstGeom>
          <a:noFill/>
          <a:ln/>
        </p:spPr>
        <p:txBody>
          <a:bodyPr wrap="square" lIns="0" tIns="0" rIns="0" bIns="0" rtlCol="0" anchor="ctr"/>
          <a:lstStyle/>
          <a:p>
            <a:pPr marL="0" indent="0" algn="ctr">
              <a:buNone/>
            </a:pPr>
            <a:r>
              <a:rPr lang="en-US" sz="1400" b="1" dirty="0">
                <a:solidFill>
                  <a:srgbClr val="00D4FF"/>
                </a:solidFill>
                <a:latin typeface="Calibri" pitchFamily="34" charset="0"/>
                <a:ea typeface="Calibri" pitchFamily="34" charset="-122"/>
                <a:cs typeface="Calibri" pitchFamily="34" charset="-120"/>
              </a:rPr>
              <a:t>Power Socket</a:t>
            </a:r>
            <a:endParaRPr lang="en-US" sz="1400" dirty="0"/>
          </a:p>
        </p:txBody>
      </p:sp>
      <p:sp>
        <p:nvSpPr>
          <p:cNvPr id="19" name="Text 17"/>
          <p:cNvSpPr/>
          <p:nvPr/>
        </p:nvSpPr>
        <p:spPr>
          <a:xfrm>
            <a:off x="3310128" y="3675888"/>
            <a:ext cx="2651760"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You plug in any device.</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API is the standard interface between apps</a:t>
            </a:r>
            <a:endParaRPr lang="en-US" sz="1200" dirty="0"/>
          </a:p>
        </p:txBody>
      </p:sp>
      <p:sp>
        <p:nvSpPr>
          <p:cNvPr id="20" name="Shape 18"/>
          <p:cNvSpPr/>
          <p:nvPr/>
        </p:nvSpPr>
        <p:spPr>
          <a:xfrm>
            <a:off x="6208776" y="2743200"/>
            <a:ext cx="2743200" cy="15544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1" name="Text 19"/>
          <p:cNvSpPr/>
          <p:nvPr/>
        </p:nvSpPr>
        <p:spPr>
          <a:xfrm>
            <a:off x="6208776" y="2834640"/>
            <a:ext cx="2743200" cy="5029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2" name="Text 20"/>
          <p:cNvSpPr/>
          <p:nvPr/>
        </p:nvSpPr>
        <p:spPr>
          <a:xfrm>
            <a:off x="6254496" y="3337560"/>
            <a:ext cx="2651760" cy="347472"/>
          </a:xfrm>
          <a:prstGeom prst="rect">
            <a:avLst/>
          </a:prstGeom>
          <a:noFill/>
          <a:ln/>
        </p:spPr>
        <p:txBody>
          <a:bodyPr wrap="square" lIns="0" tIns="0" rIns="0" bIns="0" rtlCol="0" anchor="ctr"/>
          <a:lstStyle/>
          <a:p>
            <a:pPr marL="0" indent="0" algn="ctr">
              <a:buNone/>
            </a:pPr>
            <a:r>
              <a:rPr lang="en-US" sz="1400" b="1" dirty="0">
                <a:solidFill>
                  <a:srgbClr val="00D4FF"/>
                </a:solidFill>
                <a:latin typeface="Calibri" pitchFamily="34" charset="0"/>
                <a:ea typeface="Calibri" pitchFamily="34" charset="-122"/>
                <a:cs typeface="Calibri" pitchFamily="34" charset="-120"/>
              </a:rPr>
              <a:t>App on your Phone</a:t>
            </a:r>
            <a:endParaRPr lang="en-US" sz="1400" dirty="0"/>
          </a:p>
        </p:txBody>
      </p:sp>
      <p:sp>
        <p:nvSpPr>
          <p:cNvPr id="23" name="Text 21"/>
          <p:cNvSpPr/>
          <p:nvPr/>
        </p:nvSpPr>
        <p:spPr>
          <a:xfrm>
            <a:off x="6254496" y="3675888"/>
            <a:ext cx="2651760"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Zomato uses Restaurant API to get menus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and Razorpay API for payments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REST API Concepts</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04 · HTTP Methods &amp; Structure</a:t>
            </a:r>
            <a:endParaRPr lang="en-US" sz="1400" dirty="0"/>
          </a:p>
        </p:txBody>
      </p:sp>
      <p:sp>
        <p:nvSpPr>
          <p:cNvPr id="5" name="Shape 3"/>
          <p:cNvSpPr/>
          <p:nvPr/>
        </p:nvSpPr>
        <p:spPr>
          <a:xfrm>
            <a:off x="274320" y="1234440"/>
            <a:ext cx="1417320" cy="310896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6" name="Text 4"/>
          <p:cNvSpPr/>
          <p:nvPr/>
        </p:nvSpPr>
        <p:spPr>
          <a:xfrm>
            <a:off x="274320" y="1261872"/>
            <a:ext cx="1417320" cy="713232"/>
          </a:xfrm>
          <a:prstGeom prst="rect">
            <a:avLst/>
          </a:prstGeom>
          <a:noFill/>
          <a:ln/>
        </p:spPr>
        <p:txBody>
          <a:bodyPr wrap="square" lIns="0" tIns="0" rIns="0" bIns="0" rtlCol="0" anchor="ctr"/>
          <a:lstStyle/>
          <a:p>
            <a:pPr marL="0" indent="0" algn="ctr">
              <a:buNone/>
            </a:pPr>
            <a:r>
              <a:rPr lang="en-US" sz="3400" b="1" dirty="0">
                <a:solidFill>
                  <a:srgbClr val="0EA5E9"/>
                </a:solidFill>
                <a:latin typeface="Calibri" pitchFamily="34" charset="0"/>
                <a:ea typeface="Calibri" pitchFamily="34" charset="-122"/>
                <a:cs typeface="Calibri" pitchFamily="34" charset="-120"/>
              </a:rPr>
              <a:t>R</a:t>
            </a:r>
            <a:endParaRPr lang="en-US" sz="3400" dirty="0"/>
          </a:p>
        </p:txBody>
      </p:sp>
      <p:sp>
        <p:nvSpPr>
          <p:cNvPr id="7" name="Text 5"/>
          <p:cNvSpPr/>
          <p:nvPr/>
        </p:nvSpPr>
        <p:spPr>
          <a:xfrm>
            <a:off x="274320" y="2029968"/>
            <a:ext cx="1417320" cy="713232"/>
          </a:xfrm>
          <a:prstGeom prst="rect">
            <a:avLst/>
          </a:prstGeom>
          <a:noFill/>
          <a:ln/>
        </p:spPr>
        <p:txBody>
          <a:bodyPr wrap="square" lIns="0" tIns="0" rIns="0" bIns="0" rtlCol="0" anchor="ctr"/>
          <a:lstStyle/>
          <a:p>
            <a:pPr marL="0" indent="0" algn="ctr">
              <a:buNone/>
            </a:pPr>
            <a:r>
              <a:rPr lang="en-US" sz="3400" b="1" dirty="0">
                <a:solidFill>
                  <a:srgbClr val="00D4FF"/>
                </a:solidFill>
                <a:latin typeface="Calibri" pitchFamily="34" charset="0"/>
                <a:ea typeface="Calibri" pitchFamily="34" charset="-122"/>
                <a:cs typeface="Calibri" pitchFamily="34" charset="-120"/>
              </a:rPr>
              <a:t>E</a:t>
            </a:r>
            <a:endParaRPr lang="en-US" sz="3400" dirty="0"/>
          </a:p>
        </p:txBody>
      </p:sp>
      <p:sp>
        <p:nvSpPr>
          <p:cNvPr id="8" name="Text 6"/>
          <p:cNvSpPr/>
          <p:nvPr/>
        </p:nvSpPr>
        <p:spPr>
          <a:xfrm>
            <a:off x="274320" y="2798064"/>
            <a:ext cx="1417320" cy="713232"/>
          </a:xfrm>
          <a:prstGeom prst="rect">
            <a:avLst/>
          </a:prstGeom>
          <a:noFill/>
          <a:ln/>
        </p:spPr>
        <p:txBody>
          <a:bodyPr wrap="square" lIns="0" tIns="0" rIns="0" bIns="0" rtlCol="0" anchor="ctr"/>
          <a:lstStyle/>
          <a:p>
            <a:pPr marL="0" indent="0" algn="ctr">
              <a:buNone/>
            </a:pPr>
            <a:r>
              <a:rPr lang="en-US" sz="3400" b="1" dirty="0">
                <a:solidFill>
                  <a:srgbClr val="7C3AED"/>
                </a:solidFill>
                <a:latin typeface="Calibri" pitchFamily="34" charset="0"/>
                <a:ea typeface="Calibri" pitchFamily="34" charset="-122"/>
                <a:cs typeface="Calibri" pitchFamily="34" charset="-120"/>
              </a:rPr>
              <a:t>S</a:t>
            </a:r>
            <a:endParaRPr lang="en-US" sz="3400" dirty="0"/>
          </a:p>
        </p:txBody>
      </p:sp>
      <p:sp>
        <p:nvSpPr>
          <p:cNvPr id="9" name="Text 7"/>
          <p:cNvSpPr/>
          <p:nvPr/>
        </p:nvSpPr>
        <p:spPr>
          <a:xfrm>
            <a:off x="274320" y="3566160"/>
            <a:ext cx="1417320" cy="713232"/>
          </a:xfrm>
          <a:prstGeom prst="rect">
            <a:avLst/>
          </a:prstGeom>
          <a:noFill/>
          <a:ln/>
        </p:spPr>
        <p:txBody>
          <a:bodyPr wrap="square" lIns="0" tIns="0" rIns="0" bIns="0" rtlCol="0" anchor="ctr"/>
          <a:lstStyle/>
          <a:p>
            <a:pPr marL="0" indent="0" algn="ctr">
              <a:buNone/>
            </a:pPr>
            <a:r>
              <a:rPr lang="en-US" sz="3400" b="1" dirty="0">
                <a:solidFill>
                  <a:srgbClr val="10B981"/>
                </a:solidFill>
                <a:latin typeface="Calibri" pitchFamily="34" charset="0"/>
                <a:ea typeface="Calibri" pitchFamily="34" charset="-122"/>
                <a:cs typeface="Calibri" pitchFamily="34" charset="-120"/>
              </a:rPr>
              <a:t>T</a:t>
            </a:r>
            <a:endParaRPr lang="en-US" sz="3400" dirty="0"/>
          </a:p>
        </p:txBody>
      </p:sp>
      <p:sp>
        <p:nvSpPr>
          <p:cNvPr id="10" name="Shape 8"/>
          <p:cNvSpPr/>
          <p:nvPr/>
        </p:nvSpPr>
        <p:spPr>
          <a:xfrm>
            <a:off x="1828800" y="1261872"/>
            <a:ext cx="6995160" cy="658368"/>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1" name="Text 9"/>
          <p:cNvSpPr/>
          <p:nvPr/>
        </p:nvSpPr>
        <p:spPr>
          <a:xfrm>
            <a:off x="1920240" y="1298448"/>
            <a:ext cx="2926080" cy="274320"/>
          </a:xfrm>
          <a:prstGeom prst="rect">
            <a:avLst/>
          </a:prstGeom>
          <a:noFill/>
          <a:ln/>
        </p:spPr>
        <p:txBody>
          <a:bodyPr wrap="square" lIns="0" tIns="0" rIns="0" bIns="0" rtlCol="0" anchor="ctr"/>
          <a:lstStyle/>
          <a:p>
            <a:pPr marL="0" indent="0">
              <a:buNone/>
            </a:pPr>
            <a:r>
              <a:rPr lang="en-US" sz="1400" b="1" dirty="0">
                <a:solidFill>
                  <a:srgbClr val="0EA5E9"/>
                </a:solidFill>
                <a:latin typeface="Calibri" pitchFamily="34" charset="0"/>
                <a:ea typeface="Calibri" pitchFamily="34" charset="-122"/>
                <a:cs typeface="Calibri" pitchFamily="34" charset="-120"/>
              </a:rPr>
              <a:t>Representational</a:t>
            </a:r>
            <a:endParaRPr lang="en-US" sz="1400" dirty="0"/>
          </a:p>
        </p:txBody>
      </p:sp>
      <p:sp>
        <p:nvSpPr>
          <p:cNvPr id="12" name="Text 10"/>
          <p:cNvSpPr/>
          <p:nvPr/>
        </p:nvSpPr>
        <p:spPr>
          <a:xfrm>
            <a:off x="1920240" y="1572768"/>
            <a:ext cx="676656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Data is represented as resources</a:t>
            </a:r>
            <a:endParaRPr lang="en-US" sz="1250" dirty="0"/>
          </a:p>
        </p:txBody>
      </p:sp>
      <p:sp>
        <p:nvSpPr>
          <p:cNvPr id="13" name="Shape 11"/>
          <p:cNvSpPr/>
          <p:nvPr/>
        </p:nvSpPr>
        <p:spPr>
          <a:xfrm>
            <a:off x="1828800" y="2029968"/>
            <a:ext cx="6995160" cy="658368"/>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4" name="Text 12"/>
          <p:cNvSpPr/>
          <p:nvPr/>
        </p:nvSpPr>
        <p:spPr>
          <a:xfrm>
            <a:off x="1920240" y="2066544"/>
            <a:ext cx="2926080" cy="274320"/>
          </a:xfrm>
          <a:prstGeom prst="rect">
            <a:avLst/>
          </a:prstGeom>
          <a:noFill/>
          <a:ln/>
        </p:spPr>
        <p:txBody>
          <a:bodyPr wrap="square" lIns="0" tIns="0" rIns="0" bIns="0"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State</a:t>
            </a:r>
            <a:endParaRPr lang="en-US" sz="1400" dirty="0"/>
          </a:p>
        </p:txBody>
      </p:sp>
      <p:sp>
        <p:nvSpPr>
          <p:cNvPr id="15" name="Text 13"/>
          <p:cNvSpPr/>
          <p:nvPr/>
        </p:nvSpPr>
        <p:spPr>
          <a:xfrm>
            <a:off x="1920240" y="2340864"/>
            <a:ext cx="676656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Transfers the state of resources</a:t>
            </a:r>
            <a:endParaRPr lang="en-US" sz="1250" dirty="0"/>
          </a:p>
        </p:txBody>
      </p:sp>
      <p:sp>
        <p:nvSpPr>
          <p:cNvPr id="16" name="Shape 14"/>
          <p:cNvSpPr/>
          <p:nvPr/>
        </p:nvSpPr>
        <p:spPr>
          <a:xfrm>
            <a:off x="1828800" y="2798064"/>
            <a:ext cx="6995160" cy="658368"/>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7" name="Text 15"/>
          <p:cNvSpPr/>
          <p:nvPr/>
        </p:nvSpPr>
        <p:spPr>
          <a:xfrm>
            <a:off x="1920240" y="2834640"/>
            <a:ext cx="2926080" cy="274320"/>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Transfer</a:t>
            </a:r>
            <a:endParaRPr lang="en-US" sz="1400" dirty="0"/>
          </a:p>
        </p:txBody>
      </p:sp>
      <p:sp>
        <p:nvSpPr>
          <p:cNvPr id="18" name="Text 16"/>
          <p:cNvSpPr/>
          <p:nvPr/>
        </p:nvSpPr>
        <p:spPr>
          <a:xfrm>
            <a:off x="1920240" y="3108960"/>
            <a:ext cx="676656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Over standard HTTP protocol</a:t>
            </a:r>
            <a:endParaRPr lang="en-US" sz="1250" dirty="0"/>
          </a:p>
        </p:txBody>
      </p:sp>
      <p:sp>
        <p:nvSpPr>
          <p:cNvPr id="19" name="Shape 17"/>
          <p:cNvSpPr/>
          <p:nvPr/>
        </p:nvSpPr>
        <p:spPr>
          <a:xfrm>
            <a:off x="1828800" y="3566160"/>
            <a:ext cx="6995160" cy="658368"/>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0" name="Text 18"/>
          <p:cNvSpPr/>
          <p:nvPr/>
        </p:nvSpPr>
        <p:spPr>
          <a:xfrm>
            <a:off x="1920240" y="3602736"/>
            <a:ext cx="2926080" cy="27432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(Architecture)</a:t>
            </a:r>
            <a:endParaRPr lang="en-US" sz="1400" dirty="0"/>
          </a:p>
        </p:txBody>
      </p:sp>
      <p:sp>
        <p:nvSpPr>
          <p:cNvPr id="21" name="Text 19"/>
          <p:cNvSpPr/>
          <p:nvPr/>
        </p:nvSpPr>
        <p:spPr>
          <a:xfrm>
            <a:off x="1920240" y="3877056"/>
            <a:ext cx="676656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A design style, not a standard</a:t>
            </a:r>
            <a:endParaRPr lang="en-US" sz="1250" dirty="0"/>
          </a:p>
        </p:txBody>
      </p:sp>
      <p:sp>
        <p:nvSpPr>
          <p:cNvPr id="22" name="Shape 20"/>
          <p:cNvSpPr/>
          <p:nvPr/>
        </p:nvSpPr>
        <p:spPr>
          <a:xfrm>
            <a:off x="274320" y="4462272"/>
            <a:ext cx="8549640" cy="566928"/>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23" name="Shape 21"/>
          <p:cNvSpPr/>
          <p:nvPr/>
        </p:nvSpPr>
        <p:spPr>
          <a:xfrm>
            <a:off x="274320" y="4462272"/>
            <a:ext cx="64008" cy="566928"/>
          </a:xfrm>
          <a:prstGeom prst="rect">
            <a:avLst/>
          </a:prstGeom>
          <a:solidFill>
            <a:srgbClr val="00D4FF"/>
          </a:solidFill>
          <a:ln w="12700">
            <a:solidFill>
              <a:srgbClr val="00D4FF"/>
            </a:solidFill>
            <a:prstDash val="solid"/>
          </a:ln>
        </p:spPr>
      </p:sp>
      <p:sp>
        <p:nvSpPr>
          <p:cNvPr id="24" name="Text 22"/>
          <p:cNvSpPr/>
          <p:nvPr/>
        </p:nvSpPr>
        <p:spPr>
          <a:xfrm>
            <a:off x="438912" y="4489704"/>
            <a:ext cx="8229600"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REST Key Principles: Stateless requests  ·  Uniform URL structure  ·  Uses HTTP verbs  ·  Returns JSON/XML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HTTP Methods</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04 · The Four Core Operations (CRUD)</a:t>
            </a:r>
            <a:endParaRPr lang="en-US" sz="1400" dirty="0"/>
          </a:p>
        </p:txBody>
      </p:sp>
      <p:sp>
        <p:nvSpPr>
          <p:cNvPr id="5" name="Shape 3"/>
          <p:cNvSpPr/>
          <p:nvPr/>
        </p:nvSpPr>
        <p:spPr>
          <a:xfrm>
            <a:off x="274320" y="1261872"/>
            <a:ext cx="8595360" cy="80467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274320" y="1261872"/>
            <a:ext cx="1097280" cy="804672"/>
          </a:xfrm>
          <a:prstGeom prst="rect">
            <a:avLst/>
          </a:prstGeom>
          <a:solidFill>
            <a:srgbClr val="10B981"/>
          </a:solidFill>
          <a:ln w="12700">
            <a:solidFill>
              <a:srgbClr val="10B981"/>
            </a:solidFill>
            <a:prstDash val="solid"/>
          </a:ln>
        </p:spPr>
      </p:sp>
      <p:sp>
        <p:nvSpPr>
          <p:cNvPr id="7" name="Text 5"/>
          <p:cNvSpPr/>
          <p:nvPr/>
        </p:nvSpPr>
        <p:spPr>
          <a:xfrm>
            <a:off x="274320" y="1261872"/>
            <a:ext cx="1097280" cy="804672"/>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GET</a:t>
            </a:r>
            <a:endParaRPr lang="en-US" sz="1600" dirty="0"/>
          </a:p>
        </p:txBody>
      </p:sp>
      <p:sp>
        <p:nvSpPr>
          <p:cNvPr id="8" name="Text 6"/>
          <p:cNvSpPr/>
          <p:nvPr/>
        </p:nvSpPr>
        <p:spPr>
          <a:xfrm>
            <a:off x="1463040" y="1298448"/>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9" name="Text 7"/>
          <p:cNvSpPr/>
          <p:nvPr/>
        </p:nvSpPr>
        <p:spPr>
          <a:xfrm>
            <a:off x="1938528" y="1307592"/>
            <a:ext cx="1280160" cy="320040"/>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READ</a:t>
            </a:r>
            <a:endParaRPr lang="en-US" sz="1300" dirty="0"/>
          </a:p>
        </p:txBody>
      </p:sp>
      <p:sp>
        <p:nvSpPr>
          <p:cNvPr id="10" name="Text 8"/>
          <p:cNvSpPr/>
          <p:nvPr/>
        </p:nvSpPr>
        <p:spPr>
          <a:xfrm>
            <a:off x="1938528" y="1609344"/>
            <a:ext cx="27432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Retrieve data from server</a:t>
            </a:r>
            <a:endParaRPr lang="en-US" sz="1200" dirty="0"/>
          </a:p>
        </p:txBody>
      </p:sp>
      <p:sp>
        <p:nvSpPr>
          <p:cNvPr id="11" name="Shape 9"/>
          <p:cNvSpPr/>
          <p:nvPr/>
        </p:nvSpPr>
        <p:spPr>
          <a:xfrm>
            <a:off x="4754880" y="1353312"/>
            <a:ext cx="4023360" cy="594360"/>
          </a:xfrm>
          <a:prstGeom prst="roundRect">
            <a:avLst>
              <a:gd name="adj" fmla="val 9231"/>
            </a:avLst>
          </a:prstGeom>
          <a:solidFill>
            <a:srgbClr val="0A1628"/>
          </a:solidFill>
          <a:ln w="12700">
            <a:solidFill>
              <a:srgbClr val="10B981"/>
            </a:solidFill>
            <a:prstDash val="solid"/>
          </a:ln>
        </p:spPr>
      </p:sp>
      <p:sp>
        <p:nvSpPr>
          <p:cNvPr id="12" name="Text 10"/>
          <p:cNvSpPr/>
          <p:nvPr/>
        </p:nvSpPr>
        <p:spPr>
          <a:xfrm>
            <a:off x="4846320" y="1371600"/>
            <a:ext cx="3840480" cy="594360"/>
          </a:xfrm>
          <a:prstGeom prst="rect">
            <a:avLst/>
          </a:prstGeom>
          <a:noFill/>
          <a:ln/>
        </p:spPr>
        <p:txBody>
          <a:bodyPr wrap="square" lIns="0" tIns="0" rIns="0" bIns="0" rtlCol="0" anchor="ctr"/>
          <a:lstStyle/>
          <a:p>
            <a:pPr marL="0" indent="0">
              <a:buNone/>
            </a:pPr>
            <a:r>
              <a:rPr lang="en-US" sz="1150" dirty="0">
                <a:solidFill>
                  <a:srgbClr val="10B981"/>
                </a:solidFill>
                <a:latin typeface="Consolas" pitchFamily="34" charset="0"/>
                <a:ea typeface="Consolas" pitchFamily="34" charset="-122"/>
                <a:cs typeface="Consolas" pitchFamily="34" charset="-120"/>
              </a:rPr>
              <a:t>GET /api/users/123 → Returns user info</a:t>
            </a:r>
            <a:endParaRPr lang="en-US" sz="1150" dirty="0"/>
          </a:p>
        </p:txBody>
      </p:sp>
      <p:sp>
        <p:nvSpPr>
          <p:cNvPr id="13" name="Shape 11"/>
          <p:cNvSpPr/>
          <p:nvPr/>
        </p:nvSpPr>
        <p:spPr>
          <a:xfrm>
            <a:off x="274320" y="2157984"/>
            <a:ext cx="8595360" cy="804672"/>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14" name="Shape 12"/>
          <p:cNvSpPr/>
          <p:nvPr/>
        </p:nvSpPr>
        <p:spPr>
          <a:xfrm>
            <a:off x="274320" y="2157984"/>
            <a:ext cx="1097280" cy="804672"/>
          </a:xfrm>
          <a:prstGeom prst="rect">
            <a:avLst/>
          </a:prstGeom>
          <a:solidFill>
            <a:srgbClr val="00D4FF"/>
          </a:solidFill>
          <a:ln w="12700">
            <a:solidFill>
              <a:srgbClr val="00D4FF"/>
            </a:solidFill>
            <a:prstDash val="solid"/>
          </a:ln>
        </p:spPr>
      </p:sp>
      <p:sp>
        <p:nvSpPr>
          <p:cNvPr id="15" name="Text 13"/>
          <p:cNvSpPr/>
          <p:nvPr/>
        </p:nvSpPr>
        <p:spPr>
          <a:xfrm>
            <a:off x="274320" y="2157984"/>
            <a:ext cx="1097280" cy="804672"/>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POST</a:t>
            </a:r>
            <a:endParaRPr lang="en-US" sz="1600" dirty="0"/>
          </a:p>
        </p:txBody>
      </p:sp>
      <p:sp>
        <p:nvSpPr>
          <p:cNvPr id="16" name="Text 14"/>
          <p:cNvSpPr/>
          <p:nvPr/>
        </p:nvSpPr>
        <p:spPr>
          <a:xfrm>
            <a:off x="1463040" y="2194560"/>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7" name="Text 15"/>
          <p:cNvSpPr/>
          <p:nvPr/>
        </p:nvSpPr>
        <p:spPr>
          <a:xfrm>
            <a:off x="1938528" y="2203704"/>
            <a:ext cx="1280160" cy="320040"/>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CREATE</a:t>
            </a:r>
            <a:endParaRPr lang="en-US" sz="1300" dirty="0"/>
          </a:p>
        </p:txBody>
      </p:sp>
      <p:sp>
        <p:nvSpPr>
          <p:cNvPr id="18" name="Text 16"/>
          <p:cNvSpPr/>
          <p:nvPr/>
        </p:nvSpPr>
        <p:spPr>
          <a:xfrm>
            <a:off x="1938528" y="2505456"/>
            <a:ext cx="27432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Send new data to server</a:t>
            </a:r>
            <a:endParaRPr lang="en-US" sz="1200" dirty="0"/>
          </a:p>
        </p:txBody>
      </p:sp>
      <p:sp>
        <p:nvSpPr>
          <p:cNvPr id="19" name="Shape 17"/>
          <p:cNvSpPr/>
          <p:nvPr/>
        </p:nvSpPr>
        <p:spPr>
          <a:xfrm>
            <a:off x="4754880" y="2249424"/>
            <a:ext cx="4023360" cy="594360"/>
          </a:xfrm>
          <a:prstGeom prst="roundRect">
            <a:avLst>
              <a:gd name="adj" fmla="val 9231"/>
            </a:avLst>
          </a:prstGeom>
          <a:solidFill>
            <a:srgbClr val="0A1628"/>
          </a:solidFill>
          <a:ln w="12700">
            <a:solidFill>
              <a:srgbClr val="00D4FF"/>
            </a:solidFill>
            <a:prstDash val="solid"/>
          </a:ln>
        </p:spPr>
      </p:sp>
      <p:sp>
        <p:nvSpPr>
          <p:cNvPr id="20" name="Text 18"/>
          <p:cNvSpPr/>
          <p:nvPr/>
        </p:nvSpPr>
        <p:spPr>
          <a:xfrm>
            <a:off x="4846320" y="2267712"/>
            <a:ext cx="3840480" cy="594360"/>
          </a:xfrm>
          <a:prstGeom prst="rect">
            <a:avLst/>
          </a:prstGeom>
          <a:noFill/>
          <a:ln/>
        </p:spPr>
        <p:txBody>
          <a:bodyPr wrap="square" lIns="0" tIns="0" rIns="0" bIns="0" rtlCol="0" anchor="ctr"/>
          <a:lstStyle/>
          <a:p>
            <a:pPr marL="0" indent="0">
              <a:buNone/>
            </a:pPr>
            <a:r>
              <a:rPr lang="en-US" sz="1150" dirty="0">
                <a:solidFill>
                  <a:srgbClr val="00D4FF"/>
                </a:solidFill>
                <a:latin typeface="Consolas" pitchFamily="34" charset="0"/>
                <a:ea typeface="Consolas" pitchFamily="34" charset="-122"/>
                <a:cs typeface="Consolas" pitchFamily="34" charset="-120"/>
              </a:rPr>
              <a:t>POST /api/users → Creates a new user</a:t>
            </a:r>
            <a:endParaRPr lang="en-US" sz="1150" dirty="0"/>
          </a:p>
        </p:txBody>
      </p:sp>
      <p:sp>
        <p:nvSpPr>
          <p:cNvPr id="21" name="Shape 19"/>
          <p:cNvSpPr/>
          <p:nvPr/>
        </p:nvSpPr>
        <p:spPr>
          <a:xfrm>
            <a:off x="274320" y="3054096"/>
            <a:ext cx="8595360" cy="80467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2" name="Shape 20"/>
          <p:cNvSpPr/>
          <p:nvPr/>
        </p:nvSpPr>
        <p:spPr>
          <a:xfrm>
            <a:off x="274320" y="3054096"/>
            <a:ext cx="1097280" cy="804672"/>
          </a:xfrm>
          <a:prstGeom prst="rect">
            <a:avLst/>
          </a:prstGeom>
          <a:solidFill>
            <a:srgbClr val="F59E0B"/>
          </a:solidFill>
          <a:ln w="12700">
            <a:solidFill>
              <a:srgbClr val="F59E0B"/>
            </a:solidFill>
            <a:prstDash val="solid"/>
          </a:ln>
        </p:spPr>
      </p:sp>
      <p:sp>
        <p:nvSpPr>
          <p:cNvPr id="23" name="Text 21"/>
          <p:cNvSpPr/>
          <p:nvPr/>
        </p:nvSpPr>
        <p:spPr>
          <a:xfrm>
            <a:off x="274320" y="3054096"/>
            <a:ext cx="1097280" cy="804672"/>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PUT</a:t>
            </a:r>
            <a:endParaRPr lang="en-US" sz="1600" dirty="0"/>
          </a:p>
        </p:txBody>
      </p:sp>
      <p:sp>
        <p:nvSpPr>
          <p:cNvPr id="24" name="Text 22"/>
          <p:cNvSpPr/>
          <p:nvPr/>
        </p:nvSpPr>
        <p:spPr>
          <a:xfrm>
            <a:off x="1463040" y="3090672"/>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5" name="Text 23"/>
          <p:cNvSpPr/>
          <p:nvPr/>
        </p:nvSpPr>
        <p:spPr>
          <a:xfrm>
            <a:off x="1938528" y="3099816"/>
            <a:ext cx="1280160" cy="32004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UPDATE</a:t>
            </a:r>
            <a:endParaRPr lang="en-US" sz="1300" dirty="0"/>
          </a:p>
        </p:txBody>
      </p:sp>
      <p:sp>
        <p:nvSpPr>
          <p:cNvPr id="26" name="Text 24"/>
          <p:cNvSpPr/>
          <p:nvPr/>
        </p:nvSpPr>
        <p:spPr>
          <a:xfrm>
            <a:off x="1938528" y="3401568"/>
            <a:ext cx="27432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Update existing data</a:t>
            </a:r>
            <a:endParaRPr lang="en-US" sz="1200" dirty="0"/>
          </a:p>
        </p:txBody>
      </p:sp>
      <p:sp>
        <p:nvSpPr>
          <p:cNvPr id="27" name="Shape 25"/>
          <p:cNvSpPr/>
          <p:nvPr/>
        </p:nvSpPr>
        <p:spPr>
          <a:xfrm>
            <a:off x="4754880" y="3145536"/>
            <a:ext cx="4023360" cy="594360"/>
          </a:xfrm>
          <a:prstGeom prst="roundRect">
            <a:avLst>
              <a:gd name="adj" fmla="val 9231"/>
            </a:avLst>
          </a:prstGeom>
          <a:solidFill>
            <a:srgbClr val="0A1628"/>
          </a:solidFill>
          <a:ln w="12700">
            <a:solidFill>
              <a:srgbClr val="F59E0B"/>
            </a:solidFill>
            <a:prstDash val="solid"/>
          </a:ln>
        </p:spPr>
      </p:sp>
      <p:sp>
        <p:nvSpPr>
          <p:cNvPr id="28" name="Text 26"/>
          <p:cNvSpPr/>
          <p:nvPr/>
        </p:nvSpPr>
        <p:spPr>
          <a:xfrm>
            <a:off x="4846320" y="3163824"/>
            <a:ext cx="3840480" cy="594360"/>
          </a:xfrm>
          <a:prstGeom prst="rect">
            <a:avLst/>
          </a:prstGeom>
          <a:noFill/>
          <a:ln/>
        </p:spPr>
        <p:txBody>
          <a:bodyPr wrap="square" lIns="0" tIns="0" rIns="0" bIns="0" rtlCol="0" anchor="ctr"/>
          <a:lstStyle/>
          <a:p>
            <a:pPr marL="0" indent="0">
              <a:buNone/>
            </a:pPr>
            <a:r>
              <a:rPr lang="en-US" sz="1150" dirty="0">
                <a:solidFill>
                  <a:srgbClr val="F59E0B"/>
                </a:solidFill>
                <a:latin typeface="Consolas" pitchFamily="34" charset="0"/>
                <a:ea typeface="Consolas" pitchFamily="34" charset="-122"/>
                <a:cs typeface="Consolas" pitchFamily="34" charset="-120"/>
              </a:rPr>
              <a:t>PUT /api/users/123 → Updates user 123</a:t>
            </a:r>
            <a:endParaRPr lang="en-US" sz="1150" dirty="0"/>
          </a:p>
        </p:txBody>
      </p:sp>
      <p:sp>
        <p:nvSpPr>
          <p:cNvPr id="29" name="Shape 27"/>
          <p:cNvSpPr/>
          <p:nvPr/>
        </p:nvSpPr>
        <p:spPr>
          <a:xfrm>
            <a:off x="274320" y="3950208"/>
            <a:ext cx="8595360" cy="804672"/>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0" name="Shape 28"/>
          <p:cNvSpPr/>
          <p:nvPr/>
        </p:nvSpPr>
        <p:spPr>
          <a:xfrm>
            <a:off x="274320" y="3950208"/>
            <a:ext cx="1097280" cy="804672"/>
          </a:xfrm>
          <a:prstGeom prst="rect">
            <a:avLst/>
          </a:prstGeom>
          <a:solidFill>
            <a:srgbClr val="EF4444"/>
          </a:solidFill>
          <a:ln w="12700">
            <a:solidFill>
              <a:srgbClr val="EF4444"/>
            </a:solidFill>
            <a:prstDash val="solid"/>
          </a:ln>
        </p:spPr>
      </p:sp>
      <p:sp>
        <p:nvSpPr>
          <p:cNvPr id="31" name="Text 29"/>
          <p:cNvSpPr/>
          <p:nvPr/>
        </p:nvSpPr>
        <p:spPr>
          <a:xfrm>
            <a:off x="274320" y="3950208"/>
            <a:ext cx="1097280" cy="804672"/>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DELETE</a:t>
            </a:r>
            <a:endParaRPr lang="en-US" sz="1600" dirty="0"/>
          </a:p>
        </p:txBody>
      </p:sp>
      <p:sp>
        <p:nvSpPr>
          <p:cNvPr id="32" name="Text 30"/>
          <p:cNvSpPr/>
          <p:nvPr/>
        </p:nvSpPr>
        <p:spPr>
          <a:xfrm>
            <a:off x="1463040" y="3986784"/>
            <a:ext cx="457200" cy="36576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3" name="Text 31"/>
          <p:cNvSpPr/>
          <p:nvPr/>
        </p:nvSpPr>
        <p:spPr>
          <a:xfrm>
            <a:off x="1938528" y="3995928"/>
            <a:ext cx="1280160" cy="320040"/>
          </a:xfrm>
          <a:prstGeom prst="rect">
            <a:avLst/>
          </a:prstGeom>
          <a:noFill/>
          <a:ln/>
        </p:spPr>
        <p:txBody>
          <a:bodyPr wrap="square" lIns="0" tIns="0" rIns="0" bIns="0"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DELETE</a:t>
            </a:r>
            <a:endParaRPr lang="en-US" sz="1300" dirty="0"/>
          </a:p>
        </p:txBody>
      </p:sp>
      <p:sp>
        <p:nvSpPr>
          <p:cNvPr id="34" name="Text 32"/>
          <p:cNvSpPr/>
          <p:nvPr/>
        </p:nvSpPr>
        <p:spPr>
          <a:xfrm>
            <a:off x="1938528" y="4297680"/>
            <a:ext cx="27432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Remove data from server</a:t>
            </a:r>
            <a:endParaRPr lang="en-US" sz="1200" dirty="0"/>
          </a:p>
        </p:txBody>
      </p:sp>
      <p:sp>
        <p:nvSpPr>
          <p:cNvPr id="35" name="Shape 33"/>
          <p:cNvSpPr/>
          <p:nvPr/>
        </p:nvSpPr>
        <p:spPr>
          <a:xfrm>
            <a:off x="4754880" y="4041648"/>
            <a:ext cx="4023360" cy="594360"/>
          </a:xfrm>
          <a:prstGeom prst="roundRect">
            <a:avLst>
              <a:gd name="adj" fmla="val 9231"/>
            </a:avLst>
          </a:prstGeom>
          <a:solidFill>
            <a:srgbClr val="0A1628"/>
          </a:solidFill>
          <a:ln w="12700">
            <a:solidFill>
              <a:srgbClr val="EF4444"/>
            </a:solidFill>
            <a:prstDash val="solid"/>
          </a:ln>
        </p:spPr>
      </p:sp>
      <p:sp>
        <p:nvSpPr>
          <p:cNvPr id="36" name="Text 34"/>
          <p:cNvSpPr/>
          <p:nvPr/>
        </p:nvSpPr>
        <p:spPr>
          <a:xfrm>
            <a:off x="4846320" y="4059936"/>
            <a:ext cx="3840480" cy="594360"/>
          </a:xfrm>
          <a:prstGeom prst="rect">
            <a:avLst/>
          </a:prstGeom>
          <a:noFill/>
          <a:ln/>
        </p:spPr>
        <p:txBody>
          <a:bodyPr wrap="square" lIns="0" tIns="0" rIns="0" bIns="0" rtlCol="0" anchor="ctr"/>
          <a:lstStyle/>
          <a:p>
            <a:pPr marL="0" indent="0">
              <a:buNone/>
            </a:pPr>
            <a:r>
              <a:rPr lang="en-US" sz="1150" dirty="0">
                <a:solidFill>
                  <a:srgbClr val="EF4444"/>
                </a:solidFill>
                <a:latin typeface="Consolas" pitchFamily="34" charset="0"/>
                <a:ea typeface="Consolas" pitchFamily="34" charset="-122"/>
                <a:cs typeface="Consolas" pitchFamily="34" charset="-120"/>
              </a:rPr>
              <a:t>DELETE /api/users/123 → Removes user</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HTTP Status Codes</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04 · How Servers Communicate Back</a:t>
            </a:r>
            <a:endParaRPr lang="en-US" sz="1400" dirty="0"/>
          </a:p>
        </p:txBody>
      </p:sp>
      <p:sp>
        <p:nvSpPr>
          <p:cNvPr id="5" name="Shape 3"/>
          <p:cNvSpPr/>
          <p:nvPr/>
        </p:nvSpPr>
        <p:spPr>
          <a:xfrm>
            <a:off x="274320" y="1261872"/>
            <a:ext cx="4206240" cy="171907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274320" y="1261872"/>
            <a:ext cx="4206240" cy="64008"/>
          </a:xfrm>
          <a:prstGeom prst="rect">
            <a:avLst/>
          </a:prstGeom>
          <a:solidFill>
            <a:srgbClr val="10B981"/>
          </a:solidFill>
          <a:ln w="12700">
            <a:solidFill>
              <a:srgbClr val="10B981"/>
            </a:solidFill>
            <a:prstDash val="solid"/>
          </a:ln>
        </p:spPr>
      </p:sp>
      <p:sp>
        <p:nvSpPr>
          <p:cNvPr id="7" name="Text 5"/>
          <p:cNvSpPr/>
          <p:nvPr/>
        </p:nvSpPr>
        <p:spPr>
          <a:xfrm>
            <a:off x="365760" y="1371600"/>
            <a:ext cx="4023360" cy="365760"/>
          </a:xfrm>
          <a:prstGeom prst="rect">
            <a:avLst/>
          </a:prstGeom>
          <a:noFill/>
          <a:ln/>
        </p:spPr>
        <p:txBody>
          <a:bodyPr wrap="square" lIns="0" tIns="0" rIns="0" bIns="0" rtlCol="0" anchor="ctr"/>
          <a:lstStyle/>
          <a:p>
            <a:pPr marL="0" indent="0">
              <a:buNone/>
            </a:pPr>
            <a:r>
              <a:rPr lang="en-US" sz="1500" b="1" dirty="0">
                <a:solidFill>
                  <a:srgbClr val="10B981"/>
                </a:solidFill>
                <a:latin typeface="Calibri" pitchFamily="34" charset="0"/>
                <a:ea typeface="Calibri" pitchFamily="34" charset="-122"/>
                <a:cs typeface="Calibri" pitchFamily="34" charset="-120"/>
              </a:rPr>
              <a:t>✅  2xx — SUCCESS</a:t>
            </a:r>
            <a:endParaRPr lang="en-US" sz="1500" dirty="0"/>
          </a:p>
        </p:txBody>
      </p:sp>
      <p:sp>
        <p:nvSpPr>
          <p:cNvPr id="8" name="Shape 6"/>
          <p:cNvSpPr/>
          <p:nvPr/>
        </p:nvSpPr>
        <p:spPr>
          <a:xfrm>
            <a:off x="411480" y="1828800"/>
            <a:ext cx="128016" cy="128016"/>
          </a:xfrm>
          <a:prstGeom prst="ellipse">
            <a:avLst/>
          </a:prstGeom>
          <a:solidFill>
            <a:srgbClr val="10B981"/>
          </a:solidFill>
          <a:ln w="12700">
            <a:solidFill>
              <a:srgbClr val="10B981"/>
            </a:solidFill>
            <a:prstDash val="solid"/>
          </a:ln>
        </p:spPr>
      </p:sp>
      <p:sp>
        <p:nvSpPr>
          <p:cNvPr id="9" name="Text 7"/>
          <p:cNvSpPr/>
          <p:nvPr/>
        </p:nvSpPr>
        <p:spPr>
          <a:xfrm>
            <a:off x="621792" y="1792224"/>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200 OK — Request succeeded</a:t>
            </a:r>
            <a:endParaRPr lang="en-US" sz="1200" dirty="0"/>
          </a:p>
        </p:txBody>
      </p:sp>
      <p:sp>
        <p:nvSpPr>
          <p:cNvPr id="10" name="Shape 8"/>
          <p:cNvSpPr/>
          <p:nvPr/>
        </p:nvSpPr>
        <p:spPr>
          <a:xfrm>
            <a:off x="411480" y="2185416"/>
            <a:ext cx="128016" cy="128016"/>
          </a:xfrm>
          <a:prstGeom prst="ellipse">
            <a:avLst/>
          </a:prstGeom>
          <a:solidFill>
            <a:srgbClr val="10B981"/>
          </a:solidFill>
          <a:ln w="12700">
            <a:solidFill>
              <a:srgbClr val="10B981"/>
            </a:solidFill>
            <a:prstDash val="solid"/>
          </a:ln>
        </p:spPr>
      </p:sp>
      <p:sp>
        <p:nvSpPr>
          <p:cNvPr id="11" name="Text 9"/>
          <p:cNvSpPr/>
          <p:nvPr/>
        </p:nvSpPr>
        <p:spPr>
          <a:xfrm>
            <a:off x="621792" y="2148840"/>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201 Created — Resource made</a:t>
            </a:r>
            <a:endParaRPr lang="en-US" sz="1200" dirty="0"/>
          </a:p>
        </p:txBody>
      </p:sp>
      <p:sp>
        <p:nvSpPr>
          <p:cNvPr id="12" name="Shape 10"/>
          <p:cNvSpPr/>
          <p:nvPr/>
        </p:nvSpPr>
        <p:spPr>
          <a:xfrm>
            <a:off x="411480" y="2542032"/>
            <a:ext cx="128016" cy="128016"/>
          </a:xfrm>
          <a:prstGeom prst="ellipse">
            <a:avLst/>
          </a:prstGeom>
          <a:solidFill>
            <a:srgbClr val="10B981"/>
          </a:solidFill>
          <a:ln w="12700">
            <a:solidFill>
              <a:srgbClr val="10B981"/>
            </a:solidFill>
            <a:prstDash val="solid"/>
          </a:ln>
        </p:spPr>
      </p:sp>
      <p:sp>
        <p:nvSpPr>
          <p:cNvPr id="13" name="Text 11"/>
          <p:cNvSpPr/>
          <p:nvPr/>
        </p:nvSpPr>
        <p:spPr>
          <a:xfrm>
            <a:off x="621792" y="2505456"/>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204 No Content — Done, nothing to return</a:t>
            </a:r>
            <a:endParaRPr lang="en-US" sz="1200" dirty="0"/>
          </a:p>
        </p:txBody>
      </p:sp>
      <p:sp>
        <p:nvSpPr>
          <p:cNvPr id="14" name="Shape 12"/>
          <p:cNvSpPr/>
          <p:nvPr/>
        </p:nvSpPr>
        <p:spPr>
          <a:xfrm>
            <a:off x="4736592" y="1261872"/>
            <a:ext cx="4206240" cy="171907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5" name="Shape 13"/>
          <p:cNvSpPr/>
          <p:nvPr/>
        </p:nvSpPr>
        <p:spPr>
          <a:xfrm>
            <a:off x="4736592" y="1261872"/>
            <a:ext cx="4206240" cy="64008"/>
          </a:xfrm>
          <a:prstGeom prst="rect">
            <a:avLst/>
          </a:prstGeom>
          <a:solidFill>
            <a:srgbClr val="0EA5E9"/>
          </a:solidFill>
          <a:ln w="12700">
            <a:solidFill>
              <a:srgbClr val="0EA5E9"/>
            </a:solidFill>
            <a:prstDash val="solid"/>
          </a:ln>
        </p:spPr>
      </p:sp>
      <p:sp>
        <p:nvSpPr>
          <p:cNvPr id="16" name="Text 14"/>
          <p:cNvSpPr/>
          <p:nvPr/>
        </p:nvSpPr>
        <p:spPr>
          <a:xfrm>
            <a:off x="4828032" y="1371600"/>
            <a:ext cx="4023360" cy="365760"/>
          </a:xfrm>
          <a:prstGeom prst="rect">
            <a:avLst/>
          </a:prstGeom>
          <a:noFill/>
          <a:ln/>
        </p:spPr>
        <p:txBody>
          <a:bodyPr wrap="square" lIns="0" tIns="0" rIns="0" bIns="0" rtlCol="0" anchor="ctr"/>
          <a:lstStyle/>
          <a:p>
            <a:pPr marL="0" indent="0">
              <a:buNone/>
            </a:pPr>
            <a:r>
              <a:rPr lang="en-US" sz="1500" b="1" dirty="0">
                <a:solidFill>
                  <a:srgbClr val="0EA5E9"/>
                </a:solidFill>
                <a:latin typeface="Calibri" pitchFamily="34" charset="0"/>
                <a:ea typeface="Calibri" pitchFamily="34" charset="-122"/>
                <a:cs typeface="Calibri" pitchFamily="34" charset="-120"/>
              </a:rPr>
              <a:t>🔀  3xx — REDIRECT</a:t>
            </a:r>
            <a:endParaRPr lang="en-US" sz="1500" dirty="0"/>
          </a:p>
        </p:txBody>
      </p:sp>
      <p:sp>
        <p:nvSpPr>
          <p:cNvPr id="17" name="Shape 15"/>
          <p:cNvSpPr/>
          <p:nvPr/>
        </p:nvSpPr>
        <p:spPr>
          <a:xfrm>
            <a:off x="4873752" y="1828800"/>
            <a:ext cx="128016" cy="128016"/>
          </a:xfrm>
          <a:prstGeom prst="ellipse">
            <a:avLst/>
          </a:prstGeom>
          <a:solidFill>
            <a:srgbClr val="0EA5E9"/>
          </a:solidFill>
          <a:ln w="12700">
            <a:solidFill>
              <a:srgbClr val="0EA5E9"/>
            </a:solidFill>
            <a:prstDash val="solid"/>
          </a:ln>
        </p:spPr>
      </p:sp>
      <p:sp>
        <p:nvSpPr>
          <p:cNvPr id="18" name="Text 16"/>
          <p:cNvSpPr/>
          <p:nvPr/>
        </p:nvSpPr>
        <p:spPr>
          <a:xfrm>
            <a:off x="5084064" y="1792224"/>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301 Moved Permanently</a:t>
            </a:r>
            <a:endParaRPr lang="en-US" sz="1200" dirty="0"/>
          </a:p>
        </p:txBody>
      </p:sp>
      <p:sp>
        <p:nvSpPr>
          <p:cNvPr id="19" name="Shape 17"/>
          <p:cNvSpPr/>
          <p:nvPr/>
        </p:nvSpPr>
        <p:spPr>
          <a:xfrm>
            <a:off x="4873752" y="2185416"/>
            <a:ext cx="128016" cy="128016"/>
          </a:xfrm>
          <a:prstGeom prst="ellipse">
            <a:avLst/>
          </a:prstGeom>
          <a:solidFill>
            <a:srgbClr val="0EA5E9"/>
          </a:solidFill>
          <a:ln w="12700">
            <a:solidFill>
              <a:srgbClr val="0EA5E9"/>
            </a:solidFill>
            <a:prstDash val="solid"/>
          </a:ln>
        </p:spPr>
      </p:sp>
      <p:sp>
        <p:nvSpPr>
          <p:cNvPr id="20" name="Text 18"/>
          <p:cNvSpPr/>
          <p:nvPr/>
        </p:nvSpPr>
        <p:spPr>
          <a:xfrm>
            <a:off x="5084064" y="2148840"/>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302 Found (Temporary redirect)</a:t>
            </a:r>
            <a:endParaRPr lang="en-US" sz="1200" dirty="0"/>
          </a:p>
        </p:txBody>
      </p:sp>
      <p:sp>
        <p:nvSpPr>
          <p:cNvPr id="21" name="Shape 19"/>
          <p:cNvSpPr/>
          <p:nvPr/>
        </p:nvSpPr>
        <p:spPr>
          <a:xfrm>
            <a:off x="4873752" y="2542032"/>
            <a:ext cx="128016" cy="128016"/>
          </a:xfrm>
          <a:prstGeom prst="ellipse">
            <a:avLst/>
          </a:prstGeom>
          <a:solidFill>
            <a:srgbClr val="0EA5E9"/>
          </a:solidFill>
          <a:ln w="12700">
            <a:solidFill>
              <a:srgbClr val="0EA5E9"/>
            </a:solidFill>
            <a:prstDash val="solid"/>
          </a:ln>
        </p:spPr>
      </p:sp>
      <p:sp>
        <p:nvSpPr>
          <p:cNvPr id="22" name="Text 20"/>
          <p:cNvSpPr/>
          <p:nvPr/>
        </p:nvSpPr>
        <p:spPr>
          <a:xfrm>
            <a:off x="5084064" y="2505456"/>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304 Not Modified — Use cache</a:t>
            </a:r>
            <a:endParaRPr lang="en-US" sz="1200" dirty="0"/>
          </a:p>
        </p:txBody>
      </p:sp>
      <p:sp>
        <p:nvSpPr>
          <p:cNvPr id="23" name="Shape 21"/>
          <p:cNvSpPr/>
          <p:nvPr/>
        </p:nvSpPr>
        <p:spPr>
          <a:xfrm>
            <a:off x="274320" y="3136392"/>
            <a:ext cx="4206240" cy="171907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4" name="Shape 22"/>
          <p:cNvSpPr/>
          <p:nvPr/>
        </p:nvSpPr>
        <p:spPr>
          <a:xfrm>
            <a:off x="274320" y="3136392"/>
            <a:ext cx="4206240" cy="64008"/>
          </a:xfrm>
          <a:prstGeom prst="rect">
            <a:avLst/>
          </a:prstGeom>
          <a:solidFill>
            <a:srgbClr val="F59E0B"/>
          </a:solidFill>
          <a:ln w="12700">
            <a:solidFill>
              <a:srgbClr val="F59E0B"/>
            </a:solidFill>
            <a:prstDash val="solid"/>
          </a:ln>
        </p:spPr>
      </p:sp>
      <p:sp>
        <p:nvSpPr>
          <p:cNvPr id="25" name="Text 23"/>
          <p:cNvSpPr/>
          <p:nvPr/>
        </p:nvSpPr>
        <p:spPr>
          <a:xfrm>
            <a:off x="365760" y="3246120"/>
            <a:ext cx="4023360" cy="365760"/>
          </a:xfrm>
          <a:prstGeom prst="rect">
            <a:avLst/>
          </a:prstGeom>
          <a:noFill/>
          <a:ln/>
        </p:spPr>
        <p:txBody>
          <a:bodyPr wrap="square" lIns="0" tIns="0" rIns="0" bIns="0" rtlCol="0" anchor="ctr"/>
          <a:lstStyle/>
          <a:p>
            <a:pPr marL="0" indent="0">
              <a:buNone/>
            </a:pPr>
            <a:r>
              <a:rPr lang="en-US" sz="1500" b="1" dirty="0">
                <a:solidFill>
                  <a:srgbClr val="F59E0B"/>
                </a:solidFill>
                <a:latin typeface="Calibri" pitchFamily="34" charset="0"/>
                <a:ea typeface="Calibri" pitchFamily="34" charset="-122"/>
                <a:cs typeface="Calibri" pitchFamily="34" charset="-120"/>
              </a:rPr>
              <a:t>⚠️  4xx — CLIENT ERROR</a:t>
            </a:r>
            <a:endParaRPr lang="en-US" sz="1500" dirty="0"/>
          </a:p>
        </p:txBody>
      </p:sp>
      <p:sp>
        <p:nvSpPr>
          <p:cNvPr id="26" name="Shape 24"/>
          <p:cNvSpPr/>
          <p:nvPr/>
        </p:nvSpPr>
        <p:spPr>
          <a:xfrm>
            <a:off x="411480" y="3703320"/>
            <a:ext cx="128016" cy="128016"/>
          </a:xfrm>
          <a:prstGeom prst="ellipse">
            <a:avLst/>
          </a:prstGeom>
          <a:solidFill>
            <a:srgbClr val="F59E0B"/>
          </a:solidFill>
          <a:ln w="12700">
            <a:solidFill>
              <a:srgbClr val="F59E0B"/>
            </a:solidFill>
            <a:prstDash val="solid"/>
          </a:ln>
        </p:spPr>
      </p:sp>
      <p:sp>
        <p:nvSpPr>
          <p:cNvPr id="27" name="Text 25"/>
          <p:cNvSpPr/>
          <p:nvPr/>
        </p:nvSpPr>
        <p:spPr>
          <a:xfrm>
            <a:off x="621792" y="3666744"/>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400 Bad Request — Wrong input</a:t>
            </a:r>
            <a:endParaRPr lang="en-US" sz="1200" dirty="0"/>
          </a:p>
        </p:txBody>
      </p:sp>
      <p:sp>
        <p:nvSpPr>
          <p:cNvPr id="28" name="Shape 26"/>
          <p:cNvSpPr/>
          <p:nvPr/>
        </p:nvSpPr>
        <p:spPr>
          <a:xfrm>
            <a:off x="411480" y="4059936"/>
            <a:ext cx="128016" cy="128016"/>
          </a:xfrm>
          <a:prstGeom prst="ellipse">
            <a:avLst/>
          </a:prstGeom>
          <a:solidFill>
            <a:srgbClr val="F59E0B"/>
          </a:solidFill>
          <a:ln w="12700">
            <a:solidFill>
              <a:srgbClr val="F59E0B"/>
            </a:solidFill>
            <a:prstDash val="solid"/>
          </a:ln>
        </p:spPr>
      </p:sp>
      <p:sp>
        <p:nvSpPr>
          <p:cNvPr id="29" name="Text 27"/>
          <p:cNvSpPr/>
          <p:nvPr/>
        </p:nvSpPr>
        <p:spPr>
          <a:xfrm>
            <a:off x="621792" y="4023360"/>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401 Unauthorised — Login first</a:t>
            </a:r>
            <a:endParaRPr lang="en-US" sz="1200" dirty="0"/>
          </a:p>
        </p:txBody>
      </p:sp>
      <p:sp>
        <p:nvSpPr>
          <p:cNvPr id="30" name="Shape 28"/>
          <p:cNvSpPr/>
          <p:nvPr/>
        </p:nvSpPr>
        <p:spPr>
          <a:xfrm>
            <a:off x="411480" y="4416552"/>
            <a:ext cx="128016" cy="128016"/>
          </a:xfrm>
          <a:prstGeom prst="ellipse">
            <a:avLst/>
          </a:prstGeom>
          <a:solidFill>
            <a:srgbClr val="F59E0B"/>
          </a:solidFill>
          <a:ln w="12700">
            <a:solidFill>
              <a:srgbClr val="F59E0B"/>
            </a:solidFill>
            <a:prstDash val="solid"/>
          </a:ln>
        </p:spPr>
      </p:sp>
      <p:sp>
        <p:nvSpPr>
          <p:cNvPr id="31" name="Text 29"/>
          <p:cNvSpPr/>
          <p:nvPr/>
        </p:nvSpPr>
        <p:spPr>
          <a:xfrm>
            <a:off x="621792" y="4379976"/>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404 Not Found — Page doesn't exist</a:t>
            </a:r>
            <a:endParaRPr lang="en-US" sz="1200" dirty="0"/>
          </a:p>
        </p:txBody>
      </p:sp>
      <p:sp>
        <p:nvSpPr>
          <p:cNvPr id="32" name="Shape 30"/>
          <p:cNvSpPr/>
          <p:nvPr/>
        </p:nvSpPr>
        <p:spPr>
          <a:xfrm>
            <a:off x="4736592" y="3136392"/>
            <a:ext cx="4206240" cy="171907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3" name="Shape 31"/>
          <p:cNvSpPr/>
          <p:nvPr/>
        </p:nvSpPr>
        <p:spPr>
          <a:xfrm>
            <a:off x="4736592" y="3136392"/>
            <a:ext cx="4206240" cy="64008"/>
          </a:xfrm>
          <a:prstGeom prst="rect">
            <a:avLst/>
          </a:prstGeom>
          <a:solidFill>
            <a:srgbClr val="EF4444"/>
          </a:solidFill>
          <a:ln w="12700">
            <a:solidFill>
              <a:srgbClr val="EF4444"/>
            </a:solidFill>
            <a:prstDash val="solid"/>
          </a:ln>
        </p:spPr>
      </p:sp>
      <p:sp>
        <p:nvSpPr>
          <p:cNvPr id="34" name="Text 32"/>
          <p:cNvSpPr/>
          <p:nvPr/>
        </p:nvSpPr>
        <p:spPr>
          <a:xfrm>
            <a:off x="4828032" y="3246120"/>
            <a:ext cx="4023360" cy="365760"/>
          </a:xfrm>
          <a:prstGeom prst="rect">
            <a:avLst/>
          </a:prstGeom>
          <a:noFill/>
          <a:ln/>
        </p:spPr>
        <p:txBody>
          <a:bodyPr wrap="square" lIns="0" tIns="0" rIns="0" bIns="0" rtlCol="0" anchor="ctr"/>
          <a:lstStyle/>
          <a:p>
            <a:pPr marL="0" indent="0">
              <a:buNone/>
            </a:pPr>
            <a:r>
              <a:rPr lang="en-US" sz="1500" b="1" dirty="0">
                <a:solidFill>
                  <a:srgbClr val="EF4444"/>
                </a:solidFill>
                <a:latin typeface="Calibri" pitchFamily="34" charset="0"/>
                <a:ea typeface="Calibri" pitchFamily="34" charset="-122"/>
                <a:cs typeface="Calibri" pitchFamily="34" charset="-120"/>
              </a:rPr>
              <a:t>❌  5xx — SERVER ERROR</a:t>
            </a:r>
            <a:endParaRPr lang="en-US" sz="1500" dirty="0"/>
          </a:p>
        </p:txBody>
      </p:sp>
      <p:sp>
        <p:nvSpPr>
          <p:cNvPr id="35" name="Shape 33"/>
          <p:cNvSpPr/>
          <p:nvPr/>
        </p:nvSpPr>
        <p:spPr>
          <a:xfrm>
            <a:off x="4873752" y="3703320"/>
            <a:ext cx="128016" cy="128016"/>
          </a:xfrm>
          <a:prstGeom prst="ellipse">
            <a:avLst/>
          </a:prstGeom>
          <a:solidFill>
            <a:srgbClr val="EF4444"/>
          </a:solidFill>
          <a:ln w="12700">
            <a:solidFill>
              <a:srgbClr val="EF4444"/>
            </a:solidFill>
            <a:prstDash val="solid"/>
          </a:ln>
        </p:spPr>
      </p:sp>
      <p:sp>
        <p:nvSpPr>
          <p:cNvPr id="36" name="Text 34"/>
          <p:cNvSpPr/>
          <p:nvPr/>
        </p:nvSpPr>
        <p:spPr>
          <a:xfrm>
            <a:off x="5084064" y="3666744"/>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500 Internal Server Error</a:t>
            </a:r>
            <a:endParaRPr lang="en-US" sz="1200" dirty="0"/>
          </a:p>
        </p:txBody>
      </p:sp>
      <p:sp>
        <p:nvSpPr>
          <p:cNvPr id="37" name="Shape 35"/>
          <p:cNvSpPr/>
          <p:nvPr/>
        </p:nvSpPr>
        <p:spPr>
          <a:xfrm>
            <a:off x="4873752" y="4059936"/>
            <a:ext cx="128016" cy="128016"/>
          </a:xfrm>
          <a:prstGeom prst="ellipse">
            <a:avLst/>
          </a:prstGeom>
          <a:solidFill>
            <a:srgbClr val="EF4444"/>
          </a:solidFill>
          <a:ln w="12700">
            <a:solidFill>
              <a:srgbClr val="EF4444"/>
            </a:solidFill>
            <a:prstDash val="solid"/>
          </a:ln>
        </p:spPr>
      </p:sp>
      <p:sp>
        <p:nvSpPr>
          <p:cNvPr id="38" name="Text 36"/>
          <p:cNvSpPr/>
          <p:nvPr/>
        </p:nvSpPr>
        <p:spPr>
          <a:xfrm>
            <a:off x="5084064" y="4023360"/>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502 Bad Gateway</a:t>
            </a:r>
            <a:endParaRPr lang="en-US" sz="1200" dirty="0"/>
          </a:p>
        </p:txBody>
      </p:sp>
      <p:sp>
        <p:nvSpPr>
          <p:cNvPr id="39" name="Shape 37"/>
          <p:cNvSpPr/>
          <p:nvPr/>
        </p:nvSpPr>
        <p:spPr>
          <a:xfrm>
            <a:off x="4873752" y="4416552"/>
            <a:ext cx="128016" cy="128016"/>
          </a:xfrm>
          <a:prstGeom prst="ellipse">
            <a:avLst/>
          </a:prstGeom>
          <a:solidFill>
            <a:srgbClr val="EF4444"/>
          </a:solidFill>
          <a:ln w="12700">
            <a:solidFill>
              <a:srgbClr val="EF4444"/>
            </a:solidFill>
            <a:prstDash val="solid"/>
          </a:ln>
        </p:spPr>
      </p:sp>
      <p:sp>
        <p:nvSpPr>
          <p:cNvPr id="40" name="Text 38"/>
          <p:cNvSpPr/>
          <p:nvPr/>
        </p:nvSpPr>
        <p:spPr>
          <a:xfrm>
            <a:off x="5084064" y="4379976"/>
            <a:ext cx="374904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503 Service Unavailable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How API Calls Work</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05 · Frontend → Backend → Database Flow</a:t>
            </a:r>
            <a:endParaRPr lang="en-US" sz="1400" dirty="0"/>
          </a:p>
        </p:txBody>
      </p:sp>
      <p:sp>
        <p:nvSpPr>
          <p:cNvPr id="5" name="Shape 3"/>
          <p:cNvSpPr/>
          <p:nvPr/>
        </p:nvSpPr>
        <p:spPr>
          <a:xfrm>
            <a:off x="274320" y="1234440"/>
            <a:ext cx="2103120" cy="20116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274320" y="1234440"/>
            <a:ext cx="2103120" cy="64008"/>
          </a:xfrm>
          <a:prstGeom prst="rect">
            <a:avLst/>
          </a:prstGeom>
          <a:solidFill>
            <a:srgbClr val="0EA5E9"/>
          </a:solidFill>
          <a:ln w="12700">
            <a:solidFill>
              <a:srgbClr val="0EA5E9"/>
            </a:solidFill>
            <a:prstDash val="solid"/>
          </a:ln>
        </p:spPr>
      </p:sp>
      <p:sp>
        <p:nvSpPr>
          <p:cNvPr id="7" name="Text 5"/>
          <p:cNvSpPr/>
          <p:nvPr/>
        </p:nvSpPr>
        <p:spPr>
          <a:xfrm>
            <a:off x="274320" y="1371600"/>
            <a:ext cx="2103120" cy="59436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8" name="Text 6"/>
          <p:cNvSpPr/>
          <p:nvPr/>
        </p:nvSpPr>
        <p:spPr>
          <a:xfrm>
            <a:off x="274320" y="1938528"/>
            <a:ext cx="2103120" cy="365760"/>
          </a:xfrm>
          <a:prstGeom prst="rect">
            <a:avLst/>
          </a:prstGeom>
          <a:noFill/>
          <a:ln/>
        </p:spPr>
        <p:txBody>
          <a:bodyPr wrap="square" lIns="0" tIns="0" rIns="0" bIns="0" rtlCol="0" anchor="ctr"/>
          <a:lstStyle/>
          <a:p>
            <a:pPr marL="0" indent="0" algn="ctr">
              <a:buNone/>
            </a:pPr>
            <a:r>
              <a:rPr lang="en-US" sz="1500" b="1" dirty="0">
                <a:solidFill>
                  <a:srgbClr val="0EA5E9"/>
                </a:solidFill>
                <a:latin typeface="Calibri" pitchFamily="34" charset="0"/>
                <a:ea typeface="Calibri" pitchFamily="34" charset="-122"/>
                <a:cs typeface="Calibri" pitchFamily="34" charset="-120"/>
              </a:rPr>
              <a:t>FRONTEND</a:t>
            </a:r>
            <a:endParaRPr lang="en-US" sz="1500" dirty="0"/>
          </a:p>
        </p:txBody>
      </p:sp>
      <p:sp>
        <p:nvSpPr>
          <p:cNvPr id="9" name="Text 7"/>
          <p:cNvSpPr/>
          <p:nvPr/>
        </p:nvSpPr>
        <p:spPr>
          <a:xfrm>
            <a:off x="274320" y="2304288"/>
            <a:ext cx="2103120" cy="320040"/>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Browser / Mobile</a:t>
            </a:r>
            <a:endParaRPr lang="en-US" sz="1200" dirty="0"/>
          </a:p>
        </p:txBody>
      </p:sp>
      <p:sp>
        <p:nvSpPr>
          <p:cNvPr id="10" name="Shape 8"/>
          <p:cNvSpPr/>
          <p:nvPr/>
        </p:nvSpPr>
        <p:spPr>
          <a:xfrm>
            <a:off x="3474720" y="1234440"/>
            <a:ext cx="2103120" cy="20116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1" name="Shape 9"/>
          <p:cNvSpPr/>
          <p:nvPr/>
        </p:nvSpPr>
        <p:spPr>
          <a:xfrm>
            <a:off x="3474720" y="1234440"/>
            <a:ext cx="2103120" cy="64008"/>
          </a:xfrm>
          <a:prstGeom prst="rect">
            <a:avLst/>
          </a:prstGeom>
          <a:solidFill>
            <a:srgbClr val="7C3AED"/>
          </a:solidFill>
          <a:ln w="12700">
            <a:solidFill>
              <a:srgbClr val="7C3AED"/>
            </a:solidFill>
            <a:prstDash val="solid"/>
          </a:ln>
        </p:spPr>
      </p:sp>
      <p:sp>
        <p:nvSpPr>
          <p:cNvPr id="12" name="Text 10"/>
          <p:cNvSpPr/>
          <p:nvPr/>
        </p:nvSpPr>
        <p:spPr>
          <a:xfrm>
            <a:off x="3474720" y="1371600"/>
            <a:ext cx="2103120" cy="59436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3474720" y="1938528"/>
            <a:ext cx="2103120" cy="365760"/>
          </a:xfrm>
          <a:prstGeom prst="rect">
            <a:avLst/>
          </a:prstGeom>
          <a:noFill/>
          <a:ln/>
        </p:spPr>
        <p:txBody>
          <a:bodyPr wrap="square" lIns="0" tIns="0" rIns="0" bIns="0" rtlCol="0" anchor="ctr"/>
          <a:lstStyle/>
          <a:p>
            <a:pPr marL="0" indent="0" algn="ctr">
              <a:buNone/>
            </a:pPr>
            <a:r>
              <a:rPr lang="en-US" sz="1500" b="1" dirty="0">
                <a:solidFill>
                  <a:srgbClr val="7C3AED"/>
                </a:solidFill>
                <a:latin typeface="Calibri" pitchFamily="34" charset="0"/>
                <a:ea typeface="Calibri" pitchFamily="34" charset="-122"/>
                <a:cs typeface="Calibri" pitchFamily="34" charset="-120"/>
              </a:rPr>
              <a:t>BACKEND</a:t>
            </a:r>
            <a:endParaRPr lang="en-US" sz="1500" dirty="0"/>
          </a:p>
        </p:txBody>
      </p:sp>
      <p:sp>
        <p:nvSpPr>
          <p:cNvPr id="14" name="Text 12"/>
          <p:cNvSpPr/>
          <p:nvPr/>
        </p:nvSpPr>
        <p:spPr>
          <a:xfrm>
            <a:off x="3474720" y="2304288"/>
            <a:ext cx="2103120" cy="320040"/>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Java Spring Boot</a:t>
            </a:r>
            <a:endParaRPr lang="en-US" sz="1200" dirty="0"/>
          </a:p>
        </p:txBody>
      </p:sp>
      <p:sp>
        <p:nvSpPr>
          <p:cNvPr id="15" name="Shape 13"/>
          <p:cNvSpPr/>
          <p:nvPr/>
        </p:nvSpPr>
        <p:spPr>
          <a:xfrm>
            <a:off x="6675120" y="1234440"/>
            <a:ext cx="2103120" cy="20116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6" name="Shape 14"/>
          <p:cNvSpPr/>
          <p:nvPr/>
        </p:nvSpPr>
        <p:spPr>
          <a:xfrm>
            <a:off x="6675120" y="1234440"/>
            <a:ext cx="2103120" cy="64008"/>
          </a:xfrm>
          <a:prstGeom prst="rect">
            <a:avLst/>
          </a:prstGeom>
          <a:solidFill>
            <a:srgbClr val="10B981"/>
          </a:solidFill>
          <a:ln w="12700">
            <a:solidFill>
              <a:srgbClr val="10B981"/>
            </a:solidFill>
            <a:prstDash val="solid"/>
          </a:ln>
        </p:spPr>
      </p:sp>
      <p:sp>
        <p:nvSpPr>
          <p:cNvPr id="17" name="Text 15"/>
          <p:cNvSpPr/>
          <p:nvPr/>
        </p:nvSpPr>
        <p:spPr>
          <a:xfrm>
            <a:off x="6675120" y="1371600"/>
            <a:ext cx="2103120" cy="59436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8" name="Text 16"/>
          <p:cNvSpPr/>
          <p:nvPr/>
        </p:nvSpPr>
        <p:spPr>
          <a:xfrm>
            <a:off x="6675120" y="1938528"/>
            <a:ext cx="2103120" cy="365760"/>
          </a:xfrm>
          <a:prstGeom prst="rect">
            <a:avLst/>
          </a:prstGeom>
          <a:noFill/>
          <a:ln/>
        </p:spPr>
        <p:txBody>
          <a:bodyPr wrap="square" lIns="0" tIns="0" rIns="0" bIns="0" rtlCol="0" anchor="ctr"/>
          <a:lstStyle/>
          <a:p>
            <a:pPr marL="0" indent="0" algn="ctr">
              <a:buNone/>
            </a:pPr>
            <a:r>
              <a:rPr lang="en-US" sz="1500" b="1" dirty="0">
                <a:solidFill>
                  <a:srgbClr val="10B981"/>
                </a:solidFill>
                <a:latin typeface="Calibri" pitchFamily="34" charset="0"/>
                <a:ea typeface="Calibri" pitchFamily="34" charset="-122"/>
                <a:cs typeface="Calibri" pitchFamily="34" charset="-120"/>
              </a:rPr>
              <a:t>DATABASE</a:t>
            </a:r>
            <a:endParaRPr lang="en-US" sz="1500" dirty="0"/>
          </a:p>
        </p:txBody>
      </p:sp>
      <p:sp>
        <p:nvSpPr>
          <p:cNvPr id="19" name="Text 17"/>
          <p:cNvSpPr/>
          <p:nvPr/>
        </p:nvSpPr>
        <p:spPr>
          <a:xfrm>
            <a:off x="6675120" y="2304288"/>
            <a:ext cx="2103120" cy="320040"/>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MySQL / PostgreSQL</a:t>
            </a:r>
            <a:endParaRPr lang="en-US" sz="1200" dirty="0"/>
          </a:p>
        </p:txBody>
      </p:sp>
      <p:sp>
        <p:nvSpPr>
          <p:cNvPr id="20" name="Shape 18"/>
          <p:cNvSpPr/>
          <p:nvPr/>
        </p:nvSpPr>
        <p:spPr>
          <a:xfrm>
            <a:off x="2423160" y="2212848"/>
            <a:ext cx="1024128" cy="0"/>
          </a:xfrm>
          <a:prstGeom prst="line">
            <a:avLst/>
          </a:prstGeom>
          <a:noFill/>
          <a:ln w="31750">
            <a:solidFill>
              <a:srgbClr val="00D4FF"/>
            </a:solidFill>
            <a:prstDash val="solid"/>
            <a:tailEnd type="none"/>
          </a:ln>
        </p:spPr>
      </p:sp>
      <p:sp>
        <p:nvSpPr>
          <p:cNvPr id="21" name="Text 19"/>
          <p:cNvSpPr/>
          <p:nvPr/>
        </p:nvSpPr>
        <p:spPr>
          <a:xfrm>
            <a:off x="2450592" y="1901952"/>
            <a:ext cx="1005840" cy="384048"/>
          </a:xfrm>
          <a:prstGeom prst="rect">
            <a:avLst/>
          </a:prstGeom>
          <a:noFill/>
          <a:ln/>
        </p:spPr>
        <p:txBody>
          <a:bodyPr wrap="square" lIns="0" tIns="0" rIns="0" bIns="0" rtlCol="0" anchor="ctr"/>
          <a:lstStyle/>
          <a:p>
            <a:pPr marL="0" indent="0" algn="ctr">
              <a:buNone/>
            </a:pPr>
            <a:r>
              <a:rPr lang="en-US" sz="1000" dirty="0">
                <a:solidFill>
                  <a:srgbClr val="00D4FF"/>
                </a:solidFill>
                <a:latin typeface="Calibri" pitchFamily="34" charset="0"/>
                <a:ea typeface="Calibri" pitchFamily="34" charset="-122"/>
                <a:cs typeface="Calibri" pitchFamily="34" charset="-120"/>
              </a:rPr>
              <a:t>HTTP</a:t>
            </a:r>
            <a:endParaRPr lang="en-US" sz="1000" dirty="0"/>
          </a:p>
          <a:p>
            <a:pPr marL="0" indent="0" algn="ctr">
              <a:buNone/>
            </a:pPr>
            <a:r>
              <a:rPr lang="en-US" sz="1000" dirty="0">
                <a:solidFill>
                  <a:srgbClr val="00D4FF"/>
                </a:solidFill>
                <a:latin typeface="Calibri" pitchFamily="34" charset="0"/>
                <a:ea typeface="Calibri" pitchFamily="34" charset="-122"/>
                <a:cs typeface="Calibri" pitchFamily="34" charset="-120"/>
              </a:rPr>
              <a:t>Request</a:t>
            </a:r>
            <a:endParaRPr lang="en-US" sz="1000" dirty="0"/>
          </a:p>
        </p:txBody>
      </p:sp>
      <p:sp>
        <p:nvSpPr>
          <p:cNvPr id="22" name="Shape 20"/>
          <p:cNvSpPr/>
          <p:nvPr/>
        </p:nvSpPr>
        <p:spPr>
          <a:xfrm>
            <a:off x="5623560" y="2212848"/>
            <a:ext cx="1024128" cy="0"/>
          </a:xfrm>
          <a:prstGeom prst="line">
            <a:avLst/>
          </a:prstGeom>
          <a:noFill/>
          <a:ln w="31750">
            <a:solidFill>
              <a:srgbClr val="00D4FF"/>
            </a:solidFill>
            <a:prstDash val="solid"/>
            <a:tailEnd type="none"/>
          </a:ln>
        </p:spPr>
      </p:sp>
      <p:sp>
        <p:nvSpPr>
          <p:cNvPr id="23" name="Text 21"/>
          <p:cNvSpPr/>
          <p:nvPr/>
        </p:nvSpPr>
        <p:spPr>
          <a:xfrm>
            <a:off x="5650992" y="1901952"/>
            <a:ext cx="1005840" cy="384048"/>
          </a:xfrm>
          <a:prstGeom prst="rect">
            <a:avLst/>
          </a:prstGeom>
          <a:noFill/>
          <a:ln/>
        </p:spPr>
        <p:txBody>
          <a:bodyPr wrap="square" lIns="0" tIns="0" rIns="0" bIns="0" rtlCol="0" anchor="ctr"/>
          <a:lstStyle/>
          <a:p>
            <a:pPr marL="0" indent="0" algn="ctr">
              <a:buNone/>
            </a:pPr>
            <a:r>
              <a:rPr lang="en-US" sz="1000" dirty="0">
                <a:solidFill>
                  <a:srgbClr val="00D4FF"/>
                </a:solidFill>
                <a:latin typeface="Calibri" pitchFamily="34" charset="0"/>
                <a:ea typeface="Calibri" pitchFamily="34" charset="-122"/>
                <a:cs typeface="Calibri" pitchFamily="34" charset="-120"/>
              </a:rPr>
              <a:t>SQL</a:t>
            </a:r>
            <a:endParaRPr lang="en-US" sz="1000" dirty="0"/>
          </a:p>
          <a:p>
            <a:pPr marL="0" indent="0" algn="ctr">
              <a:buNone/>
            </a:pPr>
            <a:r>
              <a:rPr lang="en-US" sz="1000" dirty="0">
                <a:solidFill>
                  <a:srgbClr val="00D4FF"/>
                </a:solidFill>
                <a:latin typeface="Calibri" pitchFamily="34" charset="0"/>
                <a:ea typeface="Calibri" pitchFamily="34" charset="-122"/>
                <a:cs typeface="Calibri" pitchFamily="34" charset="-120"/>
              </a:rPr>
              <a:t>Query</a:t>
            </a:r>
            <a:endParaRPr lang="en-US" sz="1000" dirty="0"/>
          </a:p>
        </p:txBody>
      </p:sp>
      <p:sp>
        <p:nvSpPr>
          <p:cNvPr id="24" name="Shape 22"/>
          <p:cNvSpPr/>
          <p:nvPr/>
        </p:nvSpPr>
        <p:spPr>
          <a:xfrm>
            <a:off x="3447288" y="2514600"/>
            <a:ext cx="0" cy="0"/>
          </a:xfrm>
          <a:prstGeom prst="line">
            <a:avLst/>
          </a:prstGeom>
          <a:noFill/>
          <a:ln w="25400">
            <a:solidFill>
              <a:srgbClr val="10B981"/>
            </a:solidFill>
            <a:prstDash val="solid"/>
            <a:tailEnd type="none"/>
          </a:ln>
        </p:spPr>
      </p:sp>
      <p:sp>
        <p:nvSpPr>
          <p:cNvPr id="25" name="Text 23"/>
          <p:cNvSpPr/>
          <p:nvPr/>
        </p:nvSpPr>
        <p:spPr>
          <a:xfrm>
            <a:off x="2450592" y="2542032"/>
            <a:ext cx="1005840" cy="292608"/>
          </a:xfrm>
          <a:prstGeom prst="rect">
            <a:avLst/>
          </a:prstGeom>
          <a:noFill/>
          <a:ln/>
        </p:spPr>
        <p:txBody>
          <a:bodyPr wrap="square" lIns="0" tIns="0" rIns="0" bIns="0"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JSON</a:t>
            </a:r>
            <a:endParaRPr lang="en-US" sz="1000" dirty="0"/>
          </a:p>
        </p:txBody>
      </p:sp>
      <p:sp>
        <p:nvSpPr>
          <p:cNvPr id="26" name="Shape 24"/>
          <p:cNvSpPr/>
          <p:nvPr/>
        </p:nvSpPr>
        <p:spPr>
          <a:xfrm>
            <a:off x="6647688" y="2514600"/>
            <a:ext cx="0" cy="0"/>
          </a:xfrm>
          <a:prstGeom prst="line">
            <a:avLst/>
          </a:prstGeom>
          <a:noFill/>
          <a:ln w="25400">
            <a:solidFill>
              <a:srgbClr val="10B981"/>
            </a:solidFill>
            <a:prstDash val="solid"/>
            <a:tailEnd type="none"/>
          </a:ln>
        </p:spPr>
      </p:sp>
      <p:sp>
        <p:nvSpPr>
          <p:cNvPr id="27" name="Text 25"/>
          <p:cNvSpPr/>
          <p:nvPr/>
        </p:nvSpPr>
        <p:spPr>
          <a:xfrm>
            <a:off x="5650992" y="2542032"/>
            <a:ext cx="1005840" cy="292608"/>
          </a:xfrm>
          <a:prstGeom prst="rect">
            <a:avLst/>
          </a:prstGeom>
          <a:noFill/>
          <a:ln/>
        </p:spPr>
        <p:txBody>
          <a:bodyPr wrap="square" lIns="0" tIns="0" rIns="0" bIns="0"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Result</a:t>
            </a:r>
            <a:endParaRPr lang="en-US" sz="1000" dirty="0"/>
          </a:p>
        </p:txBody>
      </p:sp>
      <p:sp>
        <p:nvSpPr>
          <p:cNvPr id="28" name="Shape 26"/>
          <p:cNvSpPr/>
          <p:nvPr/>
        </p:nvSpPr>
        <p:spPr>
          <a:xfrm>
            <a:off x="274320" y="3429000"/>
            <a:ext cx="4114800" cy="1536192"/>
          </a:xfrm>
          <a:prstGeom prst="rect">
            <a:avLst/>
          </a:prstGeom>
          <a:solidFill>
            <a:srgbClr val="0A1628"/>
          </a:solidFill>
          <a:ln w="12700">
            <a:solidFill>
              <a:srgbClr val="1E3A5F"/>
            </a:solidFill>
            <a:prstDash val="solid"/>
          </a:ln>
          <a:effectLst>
            <a:outerShdw blurRad="101600" dist="38100" dir="8100000" algn="bl" rotWithShape="0">
              <a:srgbClr val="000000">
                <a:alpha val="25000"/>
              </a:srgbClr>
            </a:outerShdw>
          </a:effectLst>
        </p:spPr>
      </p:sp>
      <p:sp>
        <p:nvSpPr>
          <p:cNvPr id="29" name="Text 27"/>
          <p:cNvSpPr/>
          <p:nvPr/>
        </p:nvSpPr>
        <p:spPr>
          <a:xfrm>
            <a:off x="365760" y="3474720"/>
            <a:ext cx="2286000" cy="347472"/>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REQUEST</a:t>
            </a:r>
            <a:endParaRPr lang="en-US" sz="1300" dirty="0"/>
          </a:p>
        </p:txBody>
      </p:sp>
      <p:sp>
        <p:nvSpPr>
          <p:cNvPr id="30" name="Text 28"/>
          <p:cNvSpPr/>
          <p:nvPr/>
        </p:nvSpPr>
        <p:spPr>
          <a:xfrm>
            <a:off x="365760" y="3840480"/>
            <a:ext cx="3931920" cy="1005840"/>
          </a:xfrm>
          <a:prstGeom prst="rect">
            <a:avLst/>
          </a:prstGeom>
          <a:noFill/>
          <a:ln/>
        </p:spPr>
        <p:txBody>
          <a:bodyPr wrap="square" lIns="0" tIns="0" rIns="0" bIns="0" rtlCol="0" anchor="ctr"/>
          <a:lstStyle/>
          <a:p>
            <a:pPr marL="0" indent="0">
              <a:buNone/>
            </a:pPr>
            <a:r>
              <a:rPr lang="en-US" sz="1150" dirty="0">
                <a:solidFill>
                  <a:srgbClr val="00D4FF"/>
                </a:solidFill>
                <a:latin typeface="Consolas" pitchFamily="34" charset="0"/>
                <a:ea typeface="Consolas" pitchFamily="34" charset="-122"/>
                <a:cs typeface="Consolas" pitchFamily="34" charset="-120"/>
              </a:rPr>
              <a:t>POST /api/login</a:t>
            </a:r>
            <a:endParaRPr lang="en-US" sz="1150" dirty="0"/>
          </a:p>
          <a:p>
            <a:pPr marL="0" indent="0">
              <a:buNone/>
            </a:pPr>
            <a:r>
              <a:rPr lang="en-US" sz="1150" dirty="0">
                <a:solidFill>
                  <a:srgbClr val="00D4FF"/>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00D4FF"/>
                </a:solidFill>
                <a:latin typeface="Consolas" pitchFamily="34" charset="0"/>
                <a:ea typeface="Consolas" pitchFamily="34" charset="-122"/>
                <a:cs typeface="Consolas" pitchFamily="34" charset="-120"/>
              </a:rPr>
              <a:t>  "email": "you@gmail.com",</a:t>
            </a:r>
            <a:endParaRPr lang="en-US" sz="1150" dirty="0"/>
          </a:p>
          <a:p>
            <a:pPr marL="0" indent="0">
              <a:buNone/>
            </a:pPr>
            <a:r>
              <a:rPr lang="en-US" sz="1150" dirty="0">
                <a:solidFill>
                  <a:srgbClr val="00D4FF"/>
                </a:solidFill>
                <a:latin typeface="Consolas" pitchFamily="34" charset="0"/>
                <a:ea typeface="Consolas" pitchFamily="34" charset="-122"/>
                <a:cs typeface="Consolas" pitchFamily="34" charset="-120"/>
              </a:rPr>
              <a:t>  "password": "secret123"</a:t>
            </a:r>
            <a:endParaRPr lang="en-US" sz="1150" dirty="0"/>
          </a:p>
          <a:p>
            <a:pPr marL="0" indent="0">
              <a:buNone/>
            </a:pPr>
            <a:r>
              <a:rPr lang="en-US" sz="1150" dirty="0">
                <a:solidFill>
                  <a:srgbClr val="00D4FF"/>
                </a:solidFill>
                <a:latin typeface="Consolas" pitchFamily="34" charset="0"/>
                <a:ea typeface="Consolas" pitchFamily="34" charset="-122"/>
                <a:cs typeface="Consolas" pitchFamily="34" charset="-120"/>
              </a:rPr>
              <a:t>}</a:t>
            </a:r>
            <a:endParaRPr lang="en-US" sz="1150" dirty="0"/>
          </a:p>
        </p:txBody>
      </p:sp>
      <p:sp>
        <p:nvSpPr>
          <p:cNvPr id="31" name="Shape 29"/>
          <p:cNvSpPr/>
          <p:nvPr/>
        </p:nvSpPr>
        <p:spPr>
          <a:xfrm>
            <a:off x="4754880" y="3429000"/>
            <a:ext cx="4114800" cy="1536192"/>
          </a:xfrm>
          <a:prstGeom prst="rect">
            <a:avLst/>
          </a:prstGeom>
          <a:solidFill>
            <a:srgbClr val="0A1628"/>
          </a:solidFill>
          <a:ln w="12700">
            <a:solidFill>
              <a:srgbClr val="1E3A5F"/>
            </a:solidFill>
            <a:prstDash val="solid"/>
          </a:ln>
          <a:effectLst>
            <a:outerShdw blurRad="101600" dist="38100" dir="8100000" algn="bl" rotWithShape="0">
              <a:srgbClr val="000000">
                <a:alpha val="25000"/>
              </a:srgbClr>
            </a:outerShdw>
          </a:effectLst>
        </p:spPr>
      </p:sp>
      <p:sp>
        <p:nvSpPr>
          <p:cNvPr id="32" name="Text 30"/>
          <p:cNvSpPr/>
          <p:nvPr/>
        </p:nvSpPr>
        <p:spPr>
          <a:xfrm>
            <a:off x="4846320" y="3474720"/>
            <a:ext cx="2286000" cy="347472"/>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  RESPONSE</a:t>
            </a:r>
            <a:endParaRPr lang="en-US" sz="1300" dirty="0"/>
          </a:p>
        </p:txBody>
      </p:sp>
      <p:sp>
        <p:nvSpPr>
          <p:cNvPr id="33" name="Text 31"/>
          <p:cNvSpPr/>
          <p:nvPr/>
        </p:nvSpPr>
        <p:spPr>
          <a:xfrm>
            <a:off x="4846320" y="3840480"/>
            <a:ext cx="3931920" cy="1005840"/>
          </a:xfrm>
          <a:prstGeom prst="rect">
            <a:avLst/>
          </a:prstGeom>
          <a:noFill/>
          <a:ln/>
        </p:spPr>
        <p:txBody>
          <a:bodyPr wrap="square" lIns="0" tIns="0" rIns="0" bIns="0" rtlCol="0" anchor="ctr"/>
          <a:lstStyle/>
          <a:p>
            <a:pPr marL="0" indent="0">
              <a:buNone/>
            </a:pPr>
            <a:r>
              <a:rPr lang="en-US" sz="1150" dirty="0">
                <a:solidFill>
                  <a:srgbClr val="10B981"/>
                </a:solidFill>
                <a:latin typeface="Consolas" pitchFamily="34" charset="0"/>
                <a:ea typeface="Consolas" pitchFamily="34" charset="-122"/>
                <a:cs typeface="Consolas" pitchFamily="34" charset="-120"/>
              </a:rPr>
              <a:t>HTTP 200 OK</a:t>
            </a:r>
            <a:endParaRPr lang="en-US" sz="1150" dirty="0"/>
          </a:p>
          <a:p>
            <a:pPr marL="0" indent="0">
              <a:buNone/>
            </a:pPr>
            <a:r>
              <a:rPr lang="en-US" sz="1150" dirty="0">
                <a:solidFill>
                  <a:srgbClr val="10B981"/>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10B981"/>
                </a:solidFill>
                <a:latin typeface="Consolas" pitchFamily="34" charset="0"/>
                <a:ea typeface="Consolas" pitchFamily="34" charset="-122"/>
                <a:cs typeface="Consolas" pitchFamily="34" charset="-120"/>
              </a:rPr>
              <a:t>  "token": "eyJhbGc...",</a:t>
            </a:r>
            <a:endParaRPr lang="en-US" sz="1150" dirty="0"/>
          </a:p>
          <a:p>
            <a:pPr marL="0" indent="0">
              <a:buNone/>
            </a:pPr>
            <a:r>
              <a:rPr lang="en-US" sz="1150" dirty="0">
                <a:solidFill>
                  <a:srgbClr val="10B981"/>
                </a:solidFill>
                <a:latin typeface="Consolas" pitchFamily="34" charset="0"/>
                <a:ea typeface="Consolas" pitchFamily="34" charset="-122"/>
                <a:cs typeface="Consolas" pitchFamily="34" charset="-120"/>
              </a:rPr>
              <a:t>  "userId": 42</a:t>
            </a:r>
            <a:endParaRPr lang="en-US" sz="1150" dirty="0"/>
          </a:p>
          <a:p>
            <a:pPr marL="0" indent="0">
              <a:buNone/>
            </a:pPr>
            <a:r>
              <a:rPr lang="en-US" sz="1150" dirty="0">
                <a:solidFill>
                  <a:srgbClr val="10B981"/>
                </a:solidFill>
                <a:latin typeface="Consolas" pitchFamily="34" charset="0"/>
                <a:ea typeface="Consolas" pitchFamily="34" charset="-122"/>
                <a:cs typeface="Consolas" pitchFamily="34" charset="-120"/>
              </a:rPr>
              <a: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Frontend Technologies</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06 · HTML · CSS · JavaScript</a:t>
            </a:r>
            <a:endParaRPr lang="en-US" sz="1400" dirty="0"/>
          </a:p>
        </p:txBody>
      </p:sp>
      <p:sp>
        <p:nvSpPr>
          <p:cNvPr id="5" name="Shape 3"/>
          <p:cNvSpPr/>
          <p:nvPr/>
        </p:nvSpPr>
        <p:spPr>
          <a:xfrm>
            <a:off x="6217920" y="3200400"/>
            <a:ext cx="2560320" cy="502920"/>
          </a:xfrm>
          <a:prstGeom prst="rect">
            <a:avLst/>
          </a:prstGeom>
          <a:solidFill>
            <a:srgbClr val="7C3AED"/>
          </a:solidFill>
          <a:ln w="12700">
            <a:solidFill>
              <a:srgbClr val="7C3AED"/>
            </a:solidFill>
            <a:prstDash val="solid"/>
          </a:ln>
        </p:spPr>
      </p:sp>
      <p:sp>
        <p:nvSpPr>
          <p:cNvPr id="6" name="Text 4"/>
          <p:cNvSpPr/>
          <p:nvPr/>
        </p:nvSpPr>
        <p:spPr>
          <a:xfrm>
            <a:off x="6217920" y="3200400"/>
            <a:ext cx="2560320" cy="50292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JavaScript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(Logic/Behaviour)</a:t>
            </a:r>
            <a:endParaRPr lang="en-US" sz="1050" dirty="0"/>
          </a:p>
        </p:txBody>
      </p:sp>
      <p:sp>
        <p:nvSpPr>
          <p:cNvPr id="7" name="Shape 5"/>
          <p:cNvSpPr/>
          <p:nvPr/>
        </p:nvSpPr>
        <p:spPr>
          <a:xfrm>
            <a:off x="6217920" y="2286000"/>
            <a:ext cx="2560320" cy="868680"/>
          </a:xfrm>
          <a:prstGeom prst="rect">
            <a:avLst/>
          </a:prstGeom>
          <a:solidFill>
            <a:srgbClr val="0EA5E9"/>
          </a:solidFill>
          <a:ln w="12700">
            <a:solidFill>
              <a:srgbClr val="0EA5E9"/>
            </a:solidFill>
            <a:prstDash val="solid"/>
          </a:ln>
        </p:spPr>
      </p:sp>
      <p:sp>
        <p:nvSpPr>
          <p:cNvPr id="8" name="Text 6"/>
          <p:cNvSpPr/>
          <p:nvPr/>
        </p:nvSpPr>
        <p:spPr>
          <a:xfrm>
            <a:off x="6217920" y="2286000"/>
            <a:ext cx="2560320" cy="86868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CSS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(Design/Styling)</a:t>
            </a:r>
            <a:endParaRPr lang="en-US" sz="1050" dirty="0"/>
          </a:p>
        </p:txBody>
      </p:sp>
      <p:sp>
        <p:nvSpPr>
          <p:cNvPr id="9" name="Shape 7"/>
          <p:cNvSpPr/>
          <p:nvPr/>
        </p:nvSpPr>
        <p:spPr>
          <a:xfrm>
            <a:off x="6217920" y="1371600"/>
            <a:ext cx="2560320" cy="868680"/>
          </a:xfrm>
          <a:prstGeom prst="rect">
            <a:avLst/>
          </a:prstGeom>
          <a:solidFill>
            <a:srgbClr val="10B981"/>
          </a:solidFill>
          <a:ln w="12700">
            <a:solidFill>
              <a:srgbClr val="10B981"/>
            </a:solidFill>
            <a:prstDash val="solid"/>
          </a:ln>
        </p:spPr>
      </p:sp>
      <p:sp>
        <p:nvSpPr>
          <p:cNvPr id="10" name="Text 8"/>
          <p:cNvSpPr/>
          <p:nvPr/>
        </p:nvSpPr>
        <p:spPr>
          <a:xfrm>
            <a:off x="6217920" y="1371600"/>
            <a:ext cx="2560320" cy="86868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HTML</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(Structure)</a:t>
            </a:r>
            <a:endParaRPr lang="en-US" sz="1050" dirty="0"/>
          </a:p>
        </p:txBody>
      </p:sp>
      <p:sp>
        <p:nvSpPr>
          <p:cNvPr id="11" name="Text 9"/>
          <p:cNvSpPr/>
          <p:nvPr/>
        </p:nvSpPr>
        <p:spPr>
          <a:xfrm>
            <a:off x="6217920" y="1143000"/>
            <a:ext cx="2560320" cy="22860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 THE WEB PAGE</a:t>
            </a:r>
            <a:endParaRPr lang="en-US" sz="1100" dirty="0"/>
          </a:p>
        </p:txBody>
      </p:sp>
      <p:sp>
        <p:nvSpPr>
          <p:cNvPr id="12" name="Shape 10"/>
          <p:cNvSpPr/>
          <p:nvPr/>
        </p:nvSpPr>
        <p:spPr>
          <a:xfrm>
            <a:off x="274320" y="1234440"/>
            <a:ext cx="1828800" cy="32918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3" name="Shape 11"/>
          <p:cNvSpPr/>
          <p:nvPr/>
        </p:nvSpPr>
        <p:spPr>
          <a:xfrm>
            <a:off x="274320" y="1234440"/>
            <a:ext cx="1828800" cy="64008"/>
          </a:xfrm>
          <a:prstGeom prst="rect">
            <a:avLst/>
          </a:prstGeom>
          <a:solidFill>
            <a:srgbClr val="10B981"/>
          </a:solidFill>
          <a:ln w="12700">
            <a:solidFill>
              <a:srgbClr val="10B981"/>
            </a:solidFill>
            <a:prstDash val="solid"/>
          </a:ln>
        </p:spPr>
      </p:sp>
      <p:sp>
        <p:nvSpPr>
          <p:cNvPr id="14" name="Text 12"/>
          <p:cNvSpPr/>
          <p:nvPr/>
        </p:nvSpPr>
        <p:spPr>
          <a:xfrm>
            <a:off x="274320" y="1325880"/>
            <a:ext cx="182880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5" name="Text 13"/>
          <p:cNvSpPr/>
          <p:nvPr/>
        </p:nvSpPr>
        <p:spPr>
          <a:xfrm>
            <a:off x="274320" y="1810512"/>
            <a:ext cx="1828800" cy="347472"/>
          </a:xfrm>
          <a:prstGeom prst="rect">
            <a:avLst/>
          </a:prstGeom>
          <a:noFill/>
          <a:ln/>
        </p:spPr>
        <p:txBody>
          <a:bodyPr wrap="square" lIns="0" tIns="0" rIns="0" bIns="0" rtlCol="0" anchor="ctr"/>
          <a:lstStyle/>
          <a:p>
            <a:pPr marL="0" indent="0" algn="ctr">
              <a:buNone/>
            </a:pPr>
            <a:r>
              <a:rPr lang="en-US" sz="1600" b="1" dirty="0">
                <a:solidFill>
                  <a:srgbClr val="10B981"/>
                </a:solidFill>
                <a:latin typeface="Calibri" pitchFamily="34" charset="0"/>
                <a:ea typeface="Calibri" pitchFamily="34" charset="-122"/>
                <a:cs typeface="Calibri" pitchFamily="34" charset="-120"/>
              </a:rPr>
              <a:t>HTML</a:t>
            </a:r>
            <a:endParaRPr lang="en-US" sz="1600" dirty="0"/>
          </a:p>
        </p:txBody>
      </p:sp>
      <p:sp>
        <p:nvSpPr>
          <p:cNvPr id="16" name="Text 14"/>
          <p:cNvSpPr/>
          <p:nvPr/>
        </p:nvSpPr>
        <p:spPr>
          <a:xfrm>
            <a:off x="274320" y="2148840"/>
            <a:ext cx="1828800" cy="34747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HyperText Markup Language</a:t>
            </a:r>
            <a:endParaRPr lang="en-US" sz="950" dirty="0"/>
          </a:p>
        </p:txBody>
      </p:sp>
      <p:sp>
        <p:nvSpPr>
          <p:cNvPr id="17" name="Shape 15"/>
          <p:cNvSpPr/>
          <p:nvPr/>
        </p:nvSpPr>
        <p:spPr>
          <a:xfrm>
            <a:off x="365760" y="2560320"/>
            <a:ext cx="118872" cy="118872"/>
          </a:xfrm>
          <a:prstGeom prst="ellipse">
            <a:avLst/>
          </a:prstGeom>
          <a:solidFill>
            <a:srgbClr val="10B981"/>
          </a:solidFill>
          <a:ln w="12700">
            <a:solidFill>
              <a:srgbClr val="10B981"/>
            </a:solidFill>
            <a:prstDash val="solid"/>
          </a:ln>
        </p:spPr>
      </p:sp>
      <p:sp>
        <p:nvSpPr>
          <p:cNvPr id="18" name="Text 16"/>
          <p:cNvSpPr/>
          <p:nvPr/>
        </p:nvSpPr>
        <p:spPr>
          <a:xfrm>
            <a:off x="548640" y="2532888"/>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Defines page structure</a:t>
            </a:r>
            <a:endParaRPr lang="en-US" sz="1100" dirty="0"/>
          </a:p>
        </p:txBody>
      </p:sp>
      <p:sp>
        <p:nvSpPr>
          <p:cNvPr id="19" name="Shape 17"/>
          <p:cNvSpPr/>
          <p:nvPr/>
        </p:nvSpPr>
        <p:spPr>
          <a:xfrm>
            <a:off x="365760" y="2907792"/>
            <a:ext cx="118872" cy="118872"/>
          </a:xfrm>
          <a:prstGeom prst="ellipse">
            <a:avLst/>
          </a:prstGeom>
          <a:solidFill>
            <a:srgbClr val="10B981"/>
          </a:solidFill>
          <a:ln w="12700">
            <a:solidFill>
              <a:srgbClr val="10B981"/>
            </a:solidFill>
            <a:prstDash val="solid"/>
          </a:ln>
        </p:spPr>
      </p:sp>
      <p:sp>
        <p:nvSpPr>
          <p:cNvPr id="20" name="Text 18"/>
          <p:cNvSpPr/>
          <p:nvPr/>
        </p:nvSpPr>
        <p:spPr>
          <a:xfrm>
            <a:off x="548640" y="2880360"/>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Tags: &lt;h1&gt;, &lt;p&gt;, &lt;button&gt;</a:t>
            </a:r>
            <a:endParaRPr lang="en-US" sz="1100" dirty="0"/>
          </a:p>
        </p:txBody>
      </p:sp>
      <p:sp>
        <p:nvSpPr>
          <p:cNvPr id="21" name="Shape 19"/>
          <p:cNvSpPr/>
          <p:nvPr/>
        </p:nvSpPr>
        <p:spPr>
          <a:xfrm>
            <a:off x="365760" y="3255264"/>
            <a:ext cx="118872" cy="118872"/>
          </a:xfrm>
          <a:prstGeom prst="ellipse">
            <a:avLst/>
          </a:prstGeom>
          <a:solidFill>
            <a:srgbClr val="10B981"/>
          </a:solidFill>
          <a:ln w="12700">
            <a:solidFill>
              <a:srgbClr val="10B981"/>
            </a:solidFill>
            <a:prstDash val="solid"/>
          </a:ln>
        </p:spPr>
      </p:sp>
      <p:sp>
        <p:nvSpPr>
          <p:cNvPr id="22" name="Text 20"/>
          <p:cNvSpPr/>
          <p:nvPr/>
        </p:nvSpPr>
        <p:spPr>
          <a:xfrm>
            <a:off x="548640" y="3227832"/>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Skeleton of the webpage</a:t>
            </a:r>
            <a:endParaRPr lang="en-US" sz="1100" dirty="0"/>
          </a:p>
        </p:txBody>
      </p:sp>
      <p:sp>
        <p:nvSpPr>
          <p:cNvPr id="23" name="Shape 21"/>
          <p:cNvSpPr/>
          <p:nvPr/>
        </p:nvSpPr>
        <p:spPr>
          <a:xfrm>
            <a:off x="320040" y="3611880"/>
            <a:ext cx="1737360" cy="347472"/>
          </a:xfrm>
          <a:prstGeom prst="rect">
            <a:avLst/>
          </a:prstGeom>
          <a:solidFill>
            <a:srgbClr val="0A1628"/>
          </a:solidFill>
          <a:ln w="12700">
            <a:solidFill>
              <a:srgbClr val="10B981"/>
            </a:solidFill>
            <a:prstDash val="solid"/>
          </a:ln>
        </p:spPr>
      </p:sp>
      <p:sp>
        <p:nvSpPr>
          <p:cNvPr id="24" name="Text 22"/>
          <p:cNvSpPr/>
          <p:nvPr/>
        </p:nvSpPr>
        <p:spPr>
          <a:xfrm>
            <a:off x="320040" y="3611880"/>
            <a:ext cx="1737360" cy="347472"/>
          </a:xfrm>
          <a:prstGeom prst="rect">
            <a:avLst/>
          </a:prstGeom>
          <a:noFill/>
          <a:ln/>
        </p:spPr>
        <p:txBody>
          <a:bodyPr wrap="square" lIns="0" tIns="0" rIns="0" bIns="0" rtlCol="0" anchor="ctr"/>
          <a:lstStyle/>
          <a:p>
            <a:pPr marL="0" indent="0" algn="ctr">
              <a:buNone/>
            </a:pPr>
            <a:r>
              <a:rPr lang="en-US" sz="1000" dirty="0">
                <a:solidFill>
                  <a:srgbClr val="10B981"/>
                </a:solidFill>
                <a:latin typeface="Consolas" pitchFamily="34" charset="0"/>
                <a:ea typeface="Consolas" pitchFamily="34" charset="-122"/>
                <a:cs typeface="Consolas" pitchFamily="34" charset="-120"/>
              </a:rPr>
              <a:t>&lt;button&gt;Click Me&lt;/button&gt;</a:t>
            </a:r>
            <a:endParaRPr lang="en-US" sz="1000" dirty="0"/>
          </a:p>
        </p:txBody>
      </p:sp>
      <p:sp>
        <p:nvSpPr>
          <p:cNvPr id="25" name="Shape 23"/>
          <p:cNvSpPr/>
          <p:nvPr/>
        </p:nvSpPr>
        <p:spPr>
          <a:xfrm>
            <a:off x="2240280" y="1234440"/>
            <a:ext cx="1828800" cy="32918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6" name="Shape 24"/>
          <p:cNvSpPr/>
          <p:nvPr/>
        </p:nvSpPr>
        <p:spPr>
          <a:xfrm>
            <a:off x="2240280" y="1234440"/>
            <a:ext cx="1828800" cy="64008"/>
          </a:xfrm>
          <a:prstGeom prst="rect">
            <a:avLst/>
          </a:prstGeom>
          <a:solidFill>
            <a:srgbClr val="0EA5E9"/>
          </a:solidFill>
          <a:ln w="12700">
            <a:solidFill>
              <a:srgbClr val="0EA5E9"/>
            </a:solidFill>
            <a:prstDash val="solid"/>
          </a:ln>
        </p:spPr>
      </p:sp>
      <p:sp>
        <p:nvSpPr>
          <p:cNvPr id="27" name="Text 25"/>
          <p:cNvSpPr/>
          <p:nvPr/>
        </p:nvSpPr>
        <p:spPr>
          <a:xfrm>
            <a:off x="2240280" y="1325880"/>
            <a:ext cx="182880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8" name="Text 26"/>
          <p:cNvSpPr/>
          <p:nvPr/>
        </p:nvSpPr>
        <p:spPr>
          <a:xfrm>
            <a:off x="2240280" y="1810512"/>
            <a:ext cx="1828800" cy="347472"/>
          </a:xfrm>
          <a:prstGeom prst="rect">
            <a:avLst/>
          </a:prstGeom>
          <a:noFill/>
          <a:ln/>
        </p:spPr>
        <p:txBody>
          <a:bodyPr wrap="square" lIns="0" tIns="0" rIns="0" bIns="0" rtlCol="0" anchor="ctr"/>
          <a:lstStyle/>
          <a:p>
            <a:pPr marL="0" indent="0" algn="ctr">
              <a:buNone/>
            </a:pPr>
            <a:r>
              <a:rPr lang="en-US" sz="1600" b="1" dirty="0">
                <a:solidFill>
                  <a:srgbClr val="0EA5E9"/>
                </a:solidFill>
                <a:latin typeface="Calibri" pitchFamily="34" charset="0"/>
                <a:ea typeface="Calibri" pitchFamily="34" charset="-122"/>
                <a:cs typeface="Calibri" pitchFamily="34" charset="-120"/>
              </a:rPr>
              <a:t>CSS</a:t>
            </a:r>
            <a:endParaRPr lang="en-US" sz="1600" dirty="0"/>
          </a:p>
        </p:txBody>
      </p:sp>
      <p:sp>
        <p:nvSpPr>
          <p:cNvPr id="29" name="Text 27"/>
          <p:cNvSpPr/>
          <p:nvPr/>
        </p:nvSpPr>
        <p:spPr>
          <a:xfrm>
            <a:off x="2240280" y="2148840"/>
            <a:ext cx="1828800" cy="34747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Cascading Style Sheets</a:t>
            </a:r>
            <a:endParaRPr lang="en-US" sz="950" dirty="0"/>
          </a:p>
        </p:txBody>
      </p:sp>
      <p:sp>
        <p:nvSpPr>
          <p:cNvPr id="30" name="Shape 28"/>
          <p:cNvSpPr/>
          <p:nvPr/>
        </p:nvSpPr>
        <p:spPr>
          <a:xfrm>
            <a:off x="2331720" y="2560320"/>
            <a:ext cx="118872" cy="118872"/>
          </a:xfrm>
          <a:prstGeom prst="ellipse">
            <a:avLst/>
          </a:prstGeom>
          <a:solidFill>
            <a:srgbClr val="0EA5E9"/>
          </a:solidFill>
          <a:ln w="12700">
            <a:solidFill>
              <a:srgbClr val="0EA5E9"/>
            </a:solidFill>
            <a:prstDash val="solid"/>
          </a:ln>
        </p:spPr>
      </p:sp>
      <p:sp>
        <p:nvSpPr>
          <p:cNvPr id="31" name="Text 29"/>
          <p:cNvSpPr/>
          <p:nvPr/>
        </p:nvSpPr>
        <p:spPr>
          <a:xfrm>
            <a:off x="2514600" y="2532888"/>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Handles all visual styling</a:t>
            </a:r>
            <a:endParaRPr lang="en-US" sz="1100" dirty="0"/>
          </a:p>
        </p:txBody>
      </p:sp>
      <p:sp>
        <p:nvSpPr>
          <p:cNvPr id="32" name="Shape 30"/>
          <p:cNvSpPr/>
          <p:nvPr/>
        </p:nvSpPr>
        <p:spPr>
          <a:xfrm>
            <a:off x="2331720" y="2907792"/>
            <a:ext cx="118872" cy="118872"/>
          </a:xfrm>
          <a:prstGeom prst="ellipse">
            <a:avLst/>
          </a:prstGeom>
          <a:solidFill>
            <a:srgbClr val="0EA5E9"/>
          </a:solidFill>
          <a:ln w="12700">
            <a:solidFill>
              <a:srgbClr val="0EA5E9"/>
            </a:solidFill>
            <a:prstDash val="solid"/>
          </a:ln>
        </p:spPr>
      </p:sp>
      <p:sp>
        <p:nvSpPr>
          <p:cNvPr id="33" name="Text 31"/>
          <p:cNvSpPr/>
          <p:nvPr/>
        </p:nvSpPr>
        <p:spPr>
          <a:xfrm>
            <a:off x="2514600" y="2880360"/>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Colors, fonts, layout, spacing</a:t>
            </a:r>
            <a:endParaRPr lang="en-US" sz="1100" dirty="0"/>
          </a:p>
        </p:txBody>
      </p:sp>
      <p:sp>
        <p:nvSpPr>
          <p:cNvPr id="34" name="Shape 32"/>
          <p:cNvSpPr/>
          <p:nvPr/>
        </p:nvSpPr>
        <p:spPr>
          <a:xfrm>
            <a:off x="2331720" y="3255264"/>
            <a:ext cx="118872" cy="118872"/>
          </a:xfrm>
          <a:prstGeom prst="ellipse">
            <a:avLst/>
          </a:prstGeom>
          <a:solidFill>
            <a:srgbClr val="0EA5E9"/>
          </a:solidFill>
          <a:ln w="12700">
            <a:solidFill>
              <a:srgbClr val="0EA5E9"/>
            </a:solidFill>
            <a:prstDash val="solid"/>
          </a:ln>
        </p:spPr>
      </p:sp>
      <p:sp>
        <p:nvSpPr>
          <p:cNvPr id="35" name="Text 33"/>
          <p:cNvSpPr/>
          <p:nvPr/>
        </p:nvSpPr>
        <p:spPr>
          <a:xfrm>
            <a:off x="2514600" y="3227832"/>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Makes pages beautiful</a:t>
            </a:r>
            <a:endParaRPr lang="en-US" sz="1100" dirty="0"/>
          </a:p>
        </p:txBody>
      </p:sp>
      <p:sp>
        <p:nvSpPr>
          <p:cNvPr id="36" name="Shape 34"/>
          <p:cNvSpPr/>
          <p:nvPr/>
        </p:nvSpPr>
        <p:spPr>
          <a:xfrm>
            <a:off x="2286000" y="3611880"/>
            <a:ext cx="1737360" cy="347472"/>
          </a:xfrm>
          <a:prstGeom prst="rect">
            <a:avLst/>
          </a:prstGeom>
          <a:solidFill>
            <a:srgbClr val="0A1628"/>
          </a:solidFill>
          <a:ln w="12700">
            <a:solidFill>
              <a:srgbClr val="0EA5E9"/>
            </a:solidFill>
            <a:prstDash val="solid"/>
          </a:ln>
        </p:spPr>
      </p:sp>
      <p:sp>
        <p:nvSpPr>
          <p:cNvPr id="37" name="Text 35"/>
          <p:cNvSpPr/>
          <p:nvPr/>
        </p:nvSpPr>
        <p:spPr>
          <a:xfrm>
            <a:off x="2286000" y="3611880"/>
            <a:ext cx="1737360" cy="347472"/>
          </a:xfrm>
          <a:prstGeom prst="rect">
            <a:avLst/>
          </a:prstGeom>
          <a:noFill/>
          <a:ln/>
        </p:spPr>
        <p:txBody>
          <a:bodyPr wrap="square" lIns="0" tIns="0" rIns="0" bIns="0" rtlCol="0" anchor="ctr"/>
          <a:lstStyle/>
          <a:p>
            <a:pPr marL="0" indent="0" algn="ctr">
              <a:buNone/>
            </a:pPr>
            <a:r>
              <a:rPr lang="en-US" sz="1000" dirty="0">
                <a:solidFill>
                  <a:srgbClr val="0EA5E9"/>
                </a:solidFill>
                <a:latin typeface="Consolas" pitchFamily="34" charset="0"/>
                <a:ea typeface="Consolas" pitchFamily="34" charset="-122"/>
                <a:cs typeface="Consolas" pitchFamily="34" charset="-120"/>
              </a:rPr>
              <a:t>button { color: blue; }</a:t>
            </a:r>
            <a:endParaRPr lang="en-US" sz="1000" dirty="0"/>
          </a:p>
        </p:txBody>
      </p:sp>
      <p:sp>
        <p:nvSpPr>
          <p:cNvPr id="38" name="Shape 36"/>
          <p:cNvSpPr/>
          <p:nvPr/>
        </p:nvSpPr>
        <p:spPr>
          <a:xfrm>
            <a:off x="4206240" y="1234440"/>
            <a:ext cx="1828800" cy="32918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9" name="Shape 37"/>
          <p:cNvSpPr/>
          <p:nvPr/>
        </p:nvSpPr>
        <p:spPr>
          <a:xfrm>
            <a:off x="4206240" y="1234440"/>
            <a:ext cx="1828800" cy="64008"/>
          </a:xfrm>
          <a:prstGeom prst="rect">
            <a:avLst/>
          </a:prstGeom>
          <a:solidFill>
            <a:srgbClr val="7C3AED"/>
          </a:solidFill>
          <a:ln w="12700">
            <a:solidFill>
              <a:srgbClr val="7C3AED"/>
            </a:solidFill>
            <a:prstDash val="solid"/>
          </a:ln>
        </p:spPr>
      </p:sp>
      <p:sp>
        <p:nvSpPr>
          <p:cNvPr id="40" name="Text 38"/>
          <p:cNvSpPr/>
          <p:nvPr/>
        </p:nvSpPr>
        <p:spPr>
          <a:xfrm>
            <a:off x="4206240" y="1325880"/>
            <a:ext cx="182880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41" name="Text 39"/>
          <p:cNvSpPr/>
          <p:nvPr/>
        </p:nvSpPr>
        <p:spPr>
          <a:xfrm>
            <a:off x="4206240" y="1810512"/>
            <a:ext cx="1828800" cy="347472"/>
          </a:xfrm>
          <a:prstGeom prst="rect">
            <a:avLst/>
          </a:prstGeom>
          <a:noFill/>
          <a:ln/>
        </p:spPr>
        <p:txBody>
          <a:bodyPr wrap="square" lIns="0" tIns="0" rIns="0" bIns="0" rtlCol="0" anchor="ctr"/>
          <a:lstStyle/>
          <a:p>
            <a:pPr marL="0" indent="0" algn="ctr">
              <a:buNone/>
            </a:pPr>
            <a:r>
              <a:rPr lang="en-US" sz="1600" b="1" dirty="0">
                <a:solidFill>
                  <a:srgbClr val="7C3AED"/>
                </a:solidFill>
                <a:latin typeface="Calibri" pitchFamily="34" charset="0"/>
                <a:ea typeface="Calibri" pitchFamily="34" charset="-122"/>
                <a:cs typeface="Calibri" pitchFamily="34" charset="-120"/>
              </a:rPr>
              <a:t>JavaScript</a:t>
            </a:r>
            <a:endParaRPr lang="en-US" sz="1600" dirty="0"/>
          </a:p>
        </p:txBody>
      </p:sp>
      <p:sp>
        <p:nvSpPr>
          <p:cNvPr id="42" name="Text 40"/>
          <p:cNvSpPr/>
          <p:nvPr/>
        </p:nvSpPr>
        <p:spPr>
          <a:xfrm>
            <a:off x="4206240" y="2148840"/>
            <a:ext cx="1828800" cy="34747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Dynamic Scripting Language</a:t>
            </a:r>
            <a:endParaRPr lang="en-US" sz="950" dirty="0"/>
          </a:p>
        </p:txBody>
      </p:sp>
      <p:sp>
        <p:nvSpPr>
          <p:cNvPr id="43" name="Shape 41"/>
          <p:cNvSpPr/>
          <p:nvPr/>
        </p:nvSpPr>
        <p:spPr>
          <a:xfrm>
            <a:off x="4297680" y="2560320"/>
            <a:ext cx="118872" cy="118872"/>
          </a:xfrm>
          <a:prstGeom prst="ellipse">
            <a:avLst/>
          </a:prstGeom>
          <a:solidFill>
            <a:srgbClr val="7C3AED"/>
          </a:solidFill>
          <a:ln w="12700">
            <a:solidFill>
              <a:srgbClr val="7C3AED"/>
            </a:solidFill>
            <a:prstDash val="solid"/>
          </a:ln>
        </p:spPr>
      </p:sp>
      <p:sp>
        <p:nvSpPr>
          <p:cNvPr id="44" name="Text 42"/>
          <p:cNvSpPr/>
          <p:nvPr/>
        </p:nvSpPr>
        <p:spPr>
          <a:xfrm>
            <a:off x="4480560" y="2532888"/>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Adds interactivity &amp; logic</a:t>
            </a:r>
            <a:endParaRPr lang="en-US" sz="1100" dirty="0"/>
          </a:p>
        </p:txBody>
      </p:sp>
      <p:sp>
        <p:nvSpPr>
          <p:cNvPr id="45" name="Shape 43"/>
          <p:cNvSpPr/>
          <p:nvPr/>
        </p:nvSpPr>
        <p:spPr>
          <a:xfrm>
            <a:off x="4297680" y="2907792"/>
            <a:ext cx="118872" cy="118872"/>
          </a:xfrm>
          <a:prstGeom prst="ellipse">
            <a:avLst/>
          </a:prstGeom>
          <a:solidFill>
            <a:srgbClr val="7C3AED"/>
          </a:solidFill>
          <a:ln w="12700">
            <a:solidFill>
              <a:srgbClr val="7C3AED"/>
            </a:solidFill>
            <a:prstDash val="solid"/>
          </a:ln>
        </p:spPr>
      </p:sp>
      <p:sp>
        <p:nvSpPr>
          <p:cNvPr id="46" name="Text 44"/>
          <p:cNvSpPr/>
          <p:nvPr/>
        </p:nvSpPr>
        <p:spPr>
          <a:xfrm>
            <a:off x="4480560" y="2880360"/>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Handles clicks, API calls</a:t>
            </a:r>
            <a:endParaRPr lang="en-US" sz="1100" dirty="0"/>
          </a:p>
        </p:txBody>
      </p:sp>
      <p:sp>
        <p:nvSpPr>
          <p:cNvPr id="47" name="Shape 45"/>
          <p:cNvSpPr/>
          <p:nvPr/>
        </p:nvSpPr>
        <p:spPr>
          <a:xfrm>
            <a:off x="4297680" y="3255264"/>
            <a:ext cx="118872" cy="118872"/>
          </a:xfrm>
          <a:prstGeom prst="ellipse">
            <a:avLst/>
          </a:prstGeom>
          <a:solidFill>
            <a:srgbClr val="7C3AED"/>
          </a:solidFill>
          <a:ln w="12700">
            <a:solidFill>
              <a:srgbClr val="7C3AED"/>
            </a:solidFill>
            <a:prstDash val="solid"/>
          </a:ln>
        </p:spPr>
      </p:sp>
      <p:sp>
        <p:nvSpPr>
          <p:cNvPr id="48" name="Text 46"/>
          <p:cNvSpPr/>
          <p:nvPr/>
        </p:nvSpPr>
        <p:spPr>
          <a:xfrm>
            <a:off x="4480560" y="3227832"/>
            <a:ext cx="146304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Makes pages come alive</a:t>
            </a:r>
            <a:endParaRPr lang="en-US" sz="1100" dirty="0"/>
          </a:p>
        </p:txBody>
      </p:sp>
      <p:sp>
        <p:nvSpPr>
          <p:cNvPr id="49" name="Shape 47"/>
          <p:cNvSpPr/>
          <p:nvPr/>
        </p:nvSpPr>
        <p:spPr>
          <a:xfrm>
            <a:off x="4251960" y="3611880"/>
            <a:ext cx="1737360" cy="347472"/>
          </a:xfrm>
          <a:prstGeom prst="rect">
            <a:avLst/>
          </a:prstGeom>
          <a:solidFill>
            <a:srgbClr val="0A1628"/>
          </a:solidFill>
          <a:ln w="12700">
            <a:solidFill>
              <a:srgbClr val="7C3AED"/>
            </a:solidFill>
            <a:prstDash val="solid"/>
          </a:ln>
        </p:spPr>
      </p:sp>
      <p:sp>
        <p:nvSpPr>
          <p:cNvPr id="50" name="Text 48"/>
          <p:cNvSpPr/>
          <p:nvPr/>
        </p:nvSpPr>
        <p:spPr>
          <a:xfrm>
            <a:off x="4251960" y="3611880"/>
            <a:ext cx="1737360" cy="347472"/>
          </a:xfrm>
          <a:prstGeom prst="rect">
            <a:avLst/>
          </a:prstGeom>
          <a:noFill/>
          <a:ln/>
        </p:spPr>
        <p:txBody>
          <a:bodyPr wrap="square" lIns="0" tIns="0" rIns="0" bIns="0" rtlCol="0" anchor="ctr"/>
          <a:lstStyle/>
          <a:p>
            <a:pPr marL="0" indent="0" algn="ctr">
              <a:buNone/>
            </a:pPr>
            <a:r>
              <a:rPr lang="en-US" sz="1000" dirty="0">
                <a:solidFill>
                  <a:srgbClr val="7C3AED"/>
                </a:solidFill>
                <a:latin typeface="Consolas" pitchFamily="34" charset="0"/>
                <a:ea typeface="Consolas" pitchFamily="34" charset="-122"/>
                <a:cs typeface="Consolas" pitchFamily="34" charset="-120"/>
              </a:rPr>
              <a:t>btn.onclick = fetchData;</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Full System Architecture</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07 · Putting It All Together</a:t>
            </a:r>
            <a:endParaRPr lang="en-US" sz="1400" dirty="0"/>
          </a:p>
        </p:txBody>
      </p:sp>
      <p:sp>
        <p:nvSpPr>
          <p:cNvPr id="5" name="Text 3"/>
          <p:cNvSpPr/>
          <p:nvPr/>
        </p:nvSpPr>
        <p:spPr>
          <a:xfrm>
            <a:off x="91440" y="1417320"/>
            <a:ext cx="731520" cy="7315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Text 4"/>
          <p:cNvSpPr/>
          <p:nvPr/>
        </p:nvSpPr>
        <p:spPr>
          <a:xfrm>
            <a:off x="0" y="2103120"/>
            <a:ext cx="9144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User</a:t>
            </a:r>
            <a:endParaRPr lang="en-US" sz="1100" dirty="0"/>
          </a:p>
        </p:txBody>
      </p:sp>
      <p:sp>
        <p:nvSpPr>
          <p:cNvPr id="7" name="Shape 5"/>
          <p:cNvSpPr/>
          <p:nvPr/>
        </p:nvSpPr>
        <p:spPr>
          <a:xfrm>
            <a:off x="914400" y="1417320"/>
            <a:ext cx="146304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8" name="Shape 6"/>
          <p:cNvSpPr/>
          <p:nvPr/>
        </p:nvSpPr>
        <p:spPr>
          <a:xfrm>
            <a:off x="914400" y="1417320"/>
            <a:ext cx="1463040" cy="64008"/>
          </a:xfrm>
          <a:prstGeom prst="rect">
            <a:avLst/>
          </a:prstGeom>
          <a:solidFill>
            <a:srgbClr val="0EA5E9"/>
          </a:solidFill>
          <a:ln w="12700">
            <a:solidFill>
              <a:srgbClr val="0EA5E9"/>
            </a:solidFill>
            <a:prstDash val="solid"/>
          </a:ln>
        </p:spPr>
      </p:sp>
      <p:sp>
        <p:nvSpPr>
          <p:cNvPr id="9" name="Text 7"/>
          <p:cNvSpPr/>
          <p:nvPr/>
        </p:nvSpPr>
        <p:spPr>
          <a:xfrm>
            <a:off x="914400" y="1481328"/>
            <a:ext cx="1463040" cy="658368"/>
          </a:xfrm>
          <a:prstGeom prst="rect">
            <a:avLst/>
          </a:prstGeom>
          <a:noFill/>
          <a:ln/>
        </p:spPr>
        <p:txBody>
          <a:bodyPr wrap="square" lIns="0" tIns="0" rIns="0" bIns="0" rtlCol="0" anchor="ctr"/>
          <a:lstStyle/>
          <a:p>
            <a:pPr marL="0" indent="0" algn="ctr">
              <a:buNone/>
            </a:pPr>
            <a:r>
              <a:rPr lang="en-US" sz="1150" dirty="0">
                <a:solidFill>
                  <a:srgbClr val="0EA5E9"/>
                </a:solidFill>
                <a:latin typeface="Calibri" pitchFamily="34" charset="0"/>
                <a:ea typeface="Calibri" pitchFamily="34" charset="-122"/>
                <a:cs typeface="Calibri" pitchFamily="34" charset="-120"/>
              </a:rPr>
              <a:t>🖥️</a:t>
            </a:r>
            <a:endParaRPr lang="en-US" sz="1150" dirty="0"/>
          </a:p>
          <a:p>
            <a:pPr marL="0" indent="0" algn="ctr">
              <a:buNone/>
            </a:pPr>
            <a:r>
              <a:rPr lang="en-US" sz="1150" dirty="0">
                <a:solidFill>
                  <a:srgbClr val="0EA5E9"/>
                </a:solidFill>
                <a:latin typeface="Calibri" pitchFamily="34" charset="0"/>
                <a:ea typeface="Calibri" pitchFamily="34" charset="-122"/>
                <a:cs typeface="Calibri" pitchFamily="34" charset="-120"/>
              </a:rPr>
              <a:t>Browser</a:t>
            </a:r>
            <a:endParaRPr lang="en-US" sz="1150" dirty="0"/>
          </a:p>
        </p:txBody>
      </p:sp>
      <p:sp>
        <p:nvSpPr>
          <p:cNvPr id="10" name="Shape 8"/>
          <p:cNvSpPr/>
          <p:nvPr/>
        </p:nvSpPr>
        <p:spPr>
          <a:xfrm>
            <a:off x="2404872" y="1801368"/>
            <a:ext cx="347472" cy="0"/>
          </a:xfrm>
          <a:prstGeom prst="line">
            <a:avLst/>
          </a:prstGeom>
          <a:noFill/>
          <a:ln w="25400">
            <a:solidFill>
              <a:srgbClr val="00D4FF"/>
            </a:solidFill>
            <a:prstDash val="solid"/>
            <a:tailEnd type="none"/>
          </a:ln>
        </p:spPr>
      </p:sp>
      <p:sp>
        <p:nvSpPr>
          <p:cNvPr id="11" name="Shape 9"/>
          <p:cNvSpPr/>
          <p:nvPr/>
        </p:nvSpPr>
        <p:spPr>
          <a:xfrm>
            <a:off x="2770632" y="1417320"/>
            <a:ext cx="128016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2" name="Shape 10"/>
          <p:cNvSpPr/>
          <p:nvPr/>
        </p:nvSpPr>
        <p:spPr>
          <a:xfrm>
            <a:off x="2770632" y="1417320"/>
            <a:ext cx="1280160" cy="64008"/>
          </a:xfrm>
          <a:prstGeom prst="rect">
            <a:avLst/>
          </a:prstGeom>
          <a:solidFill>
            <a:srgbClr val="F59E0B"/>
          </a:solidFill>
          <a:ln w="12700">
            <a:solidFill>
              <a:srgbClr val="F59E0B"/>
            </a:solidFill>
            <a:prstDash val="solid"/>
          </a:ln>
        </p:spPr>
      </p:sp>
      <p:sp>
        <p:nvSpPr>
          <p:cNvPr id="13" name="Text 11"/>
          <p:cNvSpPr/>
          <p:nvPr/>
        </p:nvSpPr>
        <p:spPr>
          <a:xfrm>
            <a:off x="2770632" y="1481328"/>
            <a:ext cx="1280160" cy="658368"/>
          </a:xfrm>
          <a:prstGeom prst="rect">
            <a:avLst/>
          </a:prstGeom>
          <a:noFill/>
          <a:ln/>
        </p:spPr>
        <p:txBody>
          <a:bodyPr wrap="square" lIns="0" tIns="0" rIns="0" bIns="0" rtlCol="0" anchor="ctr"/>
          <a:lstStyle/>
          <a:p>
            <a:pPr marL="0" indent="0" algn="ctr">
              <a:buNone/>
            </a:pPr>
            <a:r>
              <a:rPr lang="en-US" sz="1150" dirty="0">
                <a:solidFill>
                  <a:srgbClr val="F59E0B"/>
                </a:solidFill>
                <a:latin typeface="Calibri" pitchFamily="34" charset="0"/>
                <a:ea typeface="Calibri" pitchFamily="34" charset="-122"/>
                <a:cs typeface="Calibri" pitchFamily="34" charset="-120"/>
              </a:rPr>
              <a:t>☁️</a:t>
            </a:r>
            <a:endParaRPr lang="en-US" sz="1150" dirty="0"/>
          </a:p>
          <a:p>
            <a:pPr marL="0" indent="0" algn="ctr">
              <a:buNone/>
            </a:pPr>
            <a:r>
              <a:rPr lang="en-US" sz="1150" dirty="0">
                <a:solidFill>
                  <a:srgbClr val="F59E0B"/>
                </a:solidFill>
                <a:latin typeface="Calibri" pitchFamily="34" charset="0"/>
                <a:ea typeface="Calibri" pitchFamily="34" charset="-122"/>
                <a:cs typeface="Calibri" pitchFamily="34" charset="-120"/>
              </a:rPr>
              <a:t>CDN</a:t>
            </a:r>
            <a:endParaRPr lang="en-US" sz="1150" dirty="0"/>
          </a:p>
        </p:txBody>
      </p:sp>
      <p:sp>
        <p:nvSpPr>
          <p:cNvPr id="14" name="Shape 12"/>
          <p:cNvSpPr/>
          <p:nvPr/>
        </p:nvSpPr>
        <p:spPr>
          <a:xfrm>
            <a:off x="4078224" y="1801368"/>
            <a:ext cx="310896" cy="0"/>
          </a:xfrm>
          <a:prstGeom prst="line">
            <a:avLst/>
          </a:prstGeom>
          <a:noFill/>
          <a:ln w="25400">
            <a:solidFill>
              <a:srgbClr val="00D4FF"/>
            </a:solidFill>
            <a:prstDash val="solid"/>
            <a:tailEnd type="none"/>
          </a:ln>
        </p:spPr>
      </p:sp>
      <p:sp>
        <p:nvSpPr>
          <p:cNvPr id="15" name="Shape 13"/>
          <p:cNvSpPr/>
          <p:nvPr/>
        </p:nvSpPr>
        <p:spPr>
          <a:xfrm>
            <a:off x="4407408" y="1417320"/>
            <a:ext cx="137160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6" name="Shape 14"/>
          <p:cNvSpPr/>
          <p:nvPr/>
        </p:nvSpPr>
        <p:spPr>
          <a:xfrm>
            <a:off x="4407408" y="1417320"/>
            <a:ext cx="1371600" cy="64008"/>
          </a:xfrm>
          <a:prstGeom prst="rect">
            <a:avLst/>
          </a:prstGeom>
          <a:solidFill>
            <a:srgbClr val="00D4FF"/>
          </a:solidFill>
          <a:ln w="12700">
            <a:solidFill>
              <a:srgbClr val="00D4FF"/>
            </a:solidFill>
            <a:prstDash val="solid"/>
          </a:ln>
        </p:spPr>
      </p:sp>
      <p:sp>
        <p:nvSpPr>
          <p:cNvPr id="17" name="Text 15"/>
          <p:cNvSpPr/>
          <p:nvPr/>
        </p:nvSpPr>
        <p:spPr>
          <a:xfrm>
            <a:off x="4407408" y="1481328"/>
            <a:ext cx="1371600" cy="658368"/>
          </a:xfrm>
          <a:prstGeom prst="rect">
            <a:avLst/>
          </a:prstGeom>
          <a:noFill/>
          <a:ln/>
        </p:spPr>
        <p:txBody>
          <a:bodyPr wrap="square" lIns="0" tIns="0" rIns="0" bIns="0" rtlCol="0" anchor="ctr"/>
          <a:lstStyle/>
          <a:p>
            <a:pPr marL="0" indent="0" algn="ctr">
              <a:buNone/>
            </a:pPr>
            <a:r>
              <a:rPr lang="en-US" sz="1100" dirty="0">
                <a:solidFill>
                  <a:srgbClr val="00D4FF"/>
                </a:solidFill>
                <a:latin typeface="Calibri" pitchFamily="34" charset="0"/>
                <a:ea typeface="Calibri" pitchFamily="34" charset="-122"/>
                <a:cs typeface="Calibri" pitchFamily="34" charset="-120"/>
              </a:rPr>
              <a:t>⚖️</a:t>
            </a:r>
            <a:endParaRPr lang="en-US" sz="1100" dirty="0"/>
          </a:p>
          <a:p>
            <a:pPr marL="0" indent="0" algn="ctr">
              <a:buNone/>
            </a:pPr>
            <a:r>
              <a:rPr lang="en-US" sz="1100" dirty="0">
                <a:solidFill>
                  <a:srgbClr val="00D4FF"/>
                </a:solidFill>
                <a:latin typeface="Calibri" pitchFamily="34" charset="0"/>
                <a:ea typeface="Calibri" pitchFamily="34" charset="-122"/>
                <a:cs typeface="Calibri" pitchFamily="34" charset="-120"/>
              </a:rPr>
              <a:t>Load Balancer</a:t>
            </a:r>
            <a:endParaRPr lang="en-US" sz="1100" dirty="0"/>
          </a:p>
        </p:txBody>
      </p:sp>
      <p:sp>
        <p:nvSpPr>
          <p:cNvPr id="18" name="Shape 16"/>
          <p:cNvSpPr/>
          <p:nvPr/>
        </p:nvSpPr>
        <p:spPr>
          <a:xfrm>
            <a:off x="5806440" y="1600200"/>
            <a:ext cx="164592" cy="0"/>
          </a:xfrm>
          <a:prstGeom prst="line">
            <a:avLst/>
          </a:prstGeom>
          <a:noFill/>
          <a:ln w="19050">
            <a:solidFill>
              <a:srgbClr val="00D4FF"/>
            </a:solidFill>
            <a:prstDash val="solid"/>
            <a:tailEnd type="none"/>
          </a:ln>
        </p:spPr>
      </p:sp>
      <p:sp>
        <p:nvSpPr>
          <p:cNvPr id="19" name="Shape 17"/>
          <p:cNvSpPr/>
          <p:nvPr/>
        </p:nvSpPr>
        <p:spPr>
          <a:xfrm>
            <a:off x="5989320" y="1188720"/>
            <a:ext cx="137160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0" name="Shape 18"/>
          <p:cNvSpPr/>
          <p:nvPr/>
        </p:nvSpPr>
        <p:spPr>
          <a:xfrm>
            <a:off x="5989320" y="1188720"/>
            <a:ext cx="1371600" cy="64008"/>
          </a:xfrm>
          <a:prstGeom prst="rect">
            <a:avLst/>
          </a:prstGeom>
          <a:solidFill>
            <a:srgbClr val="7C3AED"/>
          </a:solidFill>
          <a:ln w="12700">
            <a:solidFill>
              <a:srgbClr val="7C3AED"/>
            </a:solidFill>
            <a:prstDash val="solid"/>
          </a:ln>
        </p:spPr>
      </p:sp>
      <p:sp>
        <p:nvSpPr>
          <p:cNvPr id="21" name="Text 19"/>
          <p:cNvSpPr/>
          <p:nvPr/>
        </p:nvSpPr>
        <p:spPr>
          <a:xfrm>
            <a:off x="5989320" y="1298448"/>
            <a:ext cx="1371600" cy="594360"/>
          </a:xfrm>
          <a:prstGeom prst="rect">
            <a:avLst/>
          </a:prstGeom>
          <a:noFill/>
          <a:ln/>
        </p:spPr>
        <p:txBody>
          <a:bodyPr wrap="square" lIns="0" tIns="0" rIns="0" bIns="0" rtlCol="0" anchor="ctr"/>
          <a:lstStyle/>
          <a:p>
            <a:pPr marL="0" indent="0" algn="ctr">
              <a:buNone/>
            </a:pPr>
            <a:r>
              <a:rPr lang="en-US" sz="1100" dirty="0">
                <a:solidFill>
                  <a:srgbClr val="7C3AED"/>
                </a:solidFill>
                <a:latin typeface="Calibri" pitchFamily="34" charset="0"/>
                <a:ea typeface="Calibri" pitchFamily="34" charset="-122"/>
                <a:cs typeface="Calibri" pitchFamily="34" charset="-120"/>
              </a:rPr>
              <a:t>⚙️</a:t>
            </a:r>
            <a:endParaRPr lang="en-US" sz="1100" dirty="0"/>
          </a:p>
          <a:p>
            <a:pPr marL="0" indent="0" algn="ctr">
              <a:buNone/>
            </a:pPr>
            <a:r>
              <a:rPr lang="en-US" sz="1100" dirty="0">
                <a:solidFill>
                  <a:srgbClr val="7C3AED"/>
                </a:solidFill>
                <a:latin typeface="Calibri" pitchFamily="34" charset="0"/>
                <a:ea typeface="Calibri" pitchFamily="34" charset="-122"/>
                <a:cs typeface="Calibri" pitchFamily="34" charset="-120"/>
              </a:rPr>
              <a:t>App Server 1</a:t>
            </a:r>
            <a:endParaRPr lang="en-US" sz="1100" dirty="0"/>
          </a:p>
        </p:txBody>
      </p:sp>
      <p:sp>
        <p:nvSpPr>
          <p:cNvPr id="22" name="Shape 20"/>
          <p:cNvSpPr/>
          <p:nvPr/>
        </p:nvSpPr>
        <p:spPr>
          <a:xfrm>
            <a:off x="5806440" y="2496312"/>
            <a:ext cx="164592" cy="0"/>
          </a:xfrm>
          <a:prstGeom prst="line">
            <a:avLst/>
          </a:prstGeom>
          <a:noFill/>
          <a:ln w="19050">
            <a:solidFill>
              <a:srgbClr val="00D4FF"/>
            </a:solidFill>
            <a:prstDash val="solid"/>
            <a:tailEnd type="none"/>
          </a:ln>
        </p:spPr>
      </p:sp>
      <p:sp>
        <p:nvSpPr>
          <p:cNvPr id="23" name="Shape 21"/>
          <p:cNvSpPr/>
          <p:nvPr/>
        </p:nvSpPr>
        <p:spPr>
          <a:xfrm>
            <a:off x="5989320" y="2084832"/>
            <a:ext cx="1371600" cy="77724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4" name="Shape 22"/>
          <p:cNvSpPr/>
          <p:nvPr/>
        </p:nvSpPr>
        <p:spPr>
          <a:xfrm>
            <a:off x="5989320" y="2084832"/>
            <a:ext cx="1371600" cy="64008"/>
          </a:xfrm>
          <a:prstGeom prst="rect">
            <a:avLst/>
          </a:prstGeom>
          <a:solidFill>
            <a:srgbClr val="7C3AED"/>
          </a:solidFill>
          <a:ln w="12700">
            <a:solidFill>
              <a:srgbClr val="7C3AED"/>
            </a:solidFill>
            <a:prstDash val="solid"/>
          </a:ln>
        </p:spPr>
      </p:sp>
      <p:sp>
        <p:nvSpPr>
          <p:cNvPr id="25" name="Text 23"/>
          <p:cNvSpPr/>
          <p:nvPr/>
        </p:nvSpPr>
        <p:spPr>
          <a:xfrm>
            <a:off x="5989320" y="2194560"/>
            <a:ext cx="1371600" cy="594360"/>
          </a:xfrm>
          <a:prstGeom prst="rect">
            <a:avLst/>
          </a:prstGeom>
          <a:noFill/>
          <a:ln/>
        </p:spPr>
        <p:txBody>
          <a:bodyPr wrap="square" lIns="0" tIns="0" rIns="0" bIns="0" rtlCol="0" anchor="ctr"/>
          <a:lstStyle/>
          <a:p>
            <a:pPr marL="0" indent="0" algn="ctr">
              <a:buNone/>
            </a:pPr>
            <a:r>
              <a:rPr lang="en-US" sz="1100" dirty="0">
                <a:solidFill>
                  <a:srgbClr val="7C3AED"/>
                </a:solidFill>
                <a:latin typeface="Calibri" pitchFamily="34" charset="0"/>
                <a:ea typeface="Calibri" pitchFamily="34" charset="-122"/>
                <a:cs typeface="Calibri" pitchFamily="34" charset="-120"/>
              </a:rPr>
              <a:t>⚙️</a:t>
            </a:r>
            <a:endParaRPr lang="en-US" sz="1100" dirty="0"/>
          </a:p>
          <a:p>
            <a:pPr marL="0" indent="0" algn="ctr">
              <a:buNone/>
            </a:pPr>
            <a:r>
              <a:rPr lang="en-US" sz="1100" dirty="0">
                <a:solidFill>
                  <a:srgbClr val="7C3AED"/>
                </a:solidFill>
                <a:latin typeface="Calibri" pitchFamily="34" charset="0"/>
                <a:ea typeface="Calibri" pitchFamily="34" charset="-122"/>
                <a:cs typeface="Calibri" pitchFamily="34" charset="-120"/>
              </a:rPr>
              <a:t>App Server 2</a:t>
            </a:r>
            <a:endParaRPr lang="en-US" sz="1100" dirty="0"/>
          </a:p>
        </p:txBody>
      </p:sp>
      <p:sp>
        <p:nvSpPr>
          <p:cNvPr id="26" name="Shape 24"/>
          <p:cNvSpPr/>
          <p:nvPr/>
        </p:nvSpPr>
        <p:spPr>
          <a:xfrm>
            <a:off x="7388352" y="1600200"/>
            <a:ext cx="411480" cy="0"/>
          </a:xfrm>
          <a:prstGeom prst="line">
            <a:avLst/>
          </a:prstGeom>
          <a:noFill/>
          <a:ln w="19050">
            <a:solidFill>
              <a:srgbClr val="10B981"/>
            </a:solidFill>
            <a:prstDash val="solid"/>
            <a:tailEnd type="none"/>
          </a:ln>
        </p:spPr>
      </p:sp>
      <p:sp>
        <p:nvSpPr>
          <p:cNvPr id="27" name="Shape 25"/>
          <p:cNvSpPr/>
          <p:nvPr/>
        </p:nvSpPr>
        <p:spPr>
          <a:xfrm>
            <a:off x="7388352" y="2487168"/>
            <a:ext cx="411480" cy="0"/>
          </a:xfrm>
          <a:prstGeom prst="line">
            <a:avLst/>
          </a:prstGeom>
          <a:noFill/>
          <a:ln w="19050">
            <a:solidFill>
              <a:srgbClr val="10B981"/>
            </a:solidFill>
            <a:prstDash val="solid"/>
            <a:tailEnd type="none"/>
          </a:ln>
        </p:spPr>
      </p:sp>
      <p:sp>
        <p:nvSpPr>
          <p:cNvPr id="28" name="Shape 26"/>
          <p:cNvSpPr/>
          <p:nvPr/>
        </p:nvSpPr>
        <p:spPr>
          <a:xfrm>
            <a:off x="7818120" y="1691640"/>
            <a:ext cx="1280160" cy="8686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9" name="Shape 27"/>
          <p:cNvSpPr/>
          <p:nvPr/>
        </p:nvSpPr>
        <p:spPr>
          <a:xfrm>
            <a:off x="7818120" y="1691640"/>
            <a:ext cx="1280160" cy="64008"/>
          </a:xfrm>
          <a:prstGeom prst="rect">
            <a:avLst/>
          </a:prstGeom>
          <a:solidFill>
            <a:srgbClr val="10B981"/>
          </a:solidFill>
          <a:ln w="12700">
            <a:solidFill>
              <a:srgbClr val="10B981"/>
            </a:solidFill>
            <a:prstDash val="solid"/>
          </a:ln>
        </p:spPr>
      </p:sp>
      <p:sp>
        <p:nvSpPr>
          <p:cNvPr id="30" name="Text 28"/>
          <p:cNvSpPr/>
          <p:nvPr/>
        </p:nvSpPr>
        <p:spPr>
          <a:xfrm>
            <a:off x="7818120" y="1755648"/>
            <a:ext cx="1280160" cy="658368"/>
          </a:xfrm>
          <a:prstGeom prst="rect">
            <a:avLst/>
          </a:prstGeom>
          <a:noFill/>
          <a:ln/>
        </p:spPr>
        <p:txBody>
          <a:bodyPr wrap="square" lIns="0" tIns="0" rIns="0" bIns="0" rtlCol="0" anchor="ctr"/>
          <a:lstStyle/>
          <a:p>
            <a:pPr marL="0" indent="0" algn="ctr">
              <a:buNone/>
            </a:pPr>
            <a:r>
              <a:rPr lang="en-US" sz="1150" dirty="0">
                <a:solidFill>
                  <a:srgbClr val="10B981"/>
                </a:solidFill>
                <a:latin typeface="Calibri" pitchFamily="34" charset="0"/>
                <a:ea typeface="Calibri" pitchFamily="34" charset="-122"/>
                <a:cs typeface="Calibri" pitchFamily="34" charset="-120"/>
              </a:rPr>
              <a:t>🗄️</a:t>
            </a:r>
            <a:endParaRPr lang="en-US" sz="1150" dirty="0"/>
          </a:p>
          <a:p>
            <a:pPr marL="0" indent="0" algn="ctr">
              <a:buNone/>
            </a:pPr>
            <a:r>
              <a:rPr lang="en-US" sz="1150" dirty="0">
                <a:solidFill>
                  <a:srgbClr val="10B981"/>
                </a:solidFill>
                <a:latin typeface="Calibri" pitchFamily="34" charset="0"/>
                <a:ea typeface="Calibri" pitchFamily="34" charset="-122"/>
                <a:cs typeface="Calibri" pitchFamily="34" charset="-120"/>
              </a:rPr>
              <a:t>Database</a:t>
            </a:r>
            <a:endParaRPr lang="en-US" sz="1150" dirty="0"/>
          </a:p>
        </p:txBody>
      </p:sp>
      <p:sp>
        <p:nvSpPr>
          <p:cNvPr id="31" name="Shape 29"/>
          <p:cNvSpPr/>
          <p:nvPr/>
        </p:nvSpPr>
        <p:spPr>
          <a:xfrm>
            <a:off x="914400" y="3154680"/>
            <a:ext cx="1600200" cy="77724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2" name="Shape 30"/>
          <p:cNvSpPr/>
          <p:nvPr/>
        </p:nvSpPr>
        <p:spPr>
          <a:xfrm>
            <a:off x="914400" y="3154680"/>
            <a:ext cx="1600200" cy="54864"/>
          </a:xfrm>
          <a:prstGeom prst="rect">
            <a:avLst/>
          </a:prstGeom>
          <a:solidFill>
            <a:srgbClr val="F59E0B"/>
          </a:solidFill>
          <a:ln w="12700">
            <a:solidFill>
              <a:srgbClr val="F59E0B"/>
            </a:solidFill>
            <a:prstDash val="solid"/>
          </a:ln>
        </p:spPr>
      </p:sp>
      <p:sp>
        <p:nvSpPr>
          <p:cNvPr id="33" name="Text 31"/>
          <p:cNvSpPr/>
          <p:nvPr/>
        </p:nvSpPr>
        <p:spPr>
          <a:xfrm>
            <a:off x="914400" y="3246120"/>
            <a:ext cx="1600200" cy="621792"/>
          </a:xfrm>
          <a:prstGeom prst="rect">
            <a:avLst/>
          </a:prstGeom>
          <a:noFill/>
          <a:ln/>
        </p:spPr>
        <p:txBody>
          <a:bodyPr wrap="square" lIns="0" tIns="0" rIns="0" bIns="0" rtlCol="0" anchor="ctr"/>
          <a:lstStyle/>
          <a:p>
            <a:pPr marL="0" indent="0" algn="ctr">
              <a:buNone/>
            </a:pPr>
            <a:r>
              <a:rPr lang="en-US" sz="1150" dirty="0">
                <a:solidFill>
                  <a:srgbClr val="F59E0B"/>
                </a:solidFill>
                <a:latin typeface="Calibri" pitchFamily="34" charset="0"/>
                <a:ea typeface="Calibri" pitchFamily="34" charset="-122"/>
                <a:cs typeface="Calibri" pitchFamily="34" charset="-120"/>
              </a:rPr>
              <a:t>⚡</a:t>
            </a:r>
            <a:endParaRPr lang="en-US" sz="1150" dirty="0"/>
          </a:p>
          <a:p>
            <a:pPr marL="0" indent="0" algn="ctr">
              <a:buNone/>
            </a:pPr>
            <a:r>
              <a:rPr lang="en-US" sz="1150" dirty="0">
                <a:solidFill>
                  <a:srgbClr val="F59E0B"/>
                </a:solidFill>
                <a:latin typeface="Calibri" pitchFamily="34" charset="0"/>
                <a:ea typeface="Calibri" pitchFamily="34" charset="-122"/>
                <a:cs typeface="Calibri" pitchFamily="34" charset="-120"/>
              </a:rPr>
              <a:t>Cache (Redis)</a:t>
            </a:r>
            <a:endParaRPr lang="en-US" sz="1150" dirty="0"/>
          </a:p>
        </p:txBody>
      </p:sp>
      <p:sp>
        <p:nvSpPr>
          <p:cNvPr id="34" name="Shape 32"/>
          <p:cNvSpPr/>
          <p:nvPr/>
        </p:nvSpPr>
        <p:spPr>
          <a:xfrm>
            <a:off x="2743200" y="3154680"/>
            <a:ext cx="1600200" cy="77724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5" name="Shape 33"/>
          <p:cNvSpPr/>
          <p:nvPr/>
        </p:nvSpPr>
        <p:spPr>
          <a:xfrm>
            <a:off x="2743200" y="3154680"/>
            <a:ext cx="1600200" cy="54864"/>
          </a:xfrm>
          <a:prstGeom prst="rect">
            <a:avLst/>
          </a:prstGeom>
          <a:solidFill>
            <a:srgbClr val="7C3AED"/>
          </a:solidFill>
          <a:ln w="12700">
            <a:solidFill>
              <a:srgbClr val="7C3AED"/>
            </a:solidFill>
            <a:prstDash val="solid"/>
          </a:ln>
        </p:spPr>
      </p:sp>
      <p:sp>
        <p:nvSpPr>
          <p:cNvPr id="36" name="Text 34"/>
          <p:cNvSpPr/>
          <p:nvPr/>
        </p:nvSpPr>
        <p:spPr>
          <a:xfrm>
            <a:off x="2743200" y="3246120"/>
            <a:ext cx="1600200" cy="621792"/>
          </a:xfrm>
          <a:prstGeom prst="rect">
            <a:avLst/>
          </a:prstGeom>
          <a:noFill/>
          <a:ln/>
        </p:spPr>
        <p:txBody>
          <a:bodyPr wrap="square" lIns="0" tIns="0" rIns="0" bIns="0" rtlCol="0" anchor="ctr"/>
          <a:lstStyle/>
          <a:p>
            <a:pPr marL="0" indent="0" algn="ctr">
              <a:buNone/>
            </a:pPr>
            <a:r>
              <a:rPr lang="en-US" sz="1150" dirty="0">
                <a:solidFill>
                  <a:srgbClr val="7C3AED"/>
                </a:solidFill>
                <a:latin typeface="Calibri" pitchFamily="34" charset="0"/>
                <a:ea typeface="Calibri" pitchFamily="34" charset="-122"/>
                <a:cs typeface="Calibri" pitchFamily="34" charset="-120"/>
              </a:rPr>
              <a:t>📨</a:t>
            </a:r>
            <a:endParaRPr lang="en-US" sz="1150" dirty="0"/>
          </a:p>
          <a:p>
            <a:pPr marL="0" indent="0" algn="ctr">
              <a:buNone/>
            </a:pPr>
            <a:r>
              <a:rPr lang="en-US" sz="1150" dirty="0">
                <a:solidFill>
                  <a:srgbClr val="7C3AED"/>
                </a:solidFill>
                <a:latin typeface="Calibri" pitchFamily="34" charset="0"/>
                <a:ea typeface="Calibri" pitchFamily="34" charset="-122"/>
                <a:cs typeface="Calibri" pitchFamily="34" charset="-120"/>
              </a:rPr>
              <a:t>Message Queue</a:t>
            </a:r>
            <a:endParaRPr lang="en-US" sz="1150" dirty="0"/>
          </a:p>
        </p:txBody>
      </p:sp>
      <p:sp>
        <p:nvSpPr>
          <p:cNvPr id="37" name="Shape 35"/>
          <p:cNvSpPr/>
          <p:nvPr/>
        </p:nvSpPr>
        <p:spPr>
          <a:xfrm>
            <a:off x="4572000" y="3154680"/>
            <a:ext cx="1600200" cy="77724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8" name="Shape 36"/>
          <p:cNvSpPr/>
          <p:nvPr/>
        </p:nvSpPr>
        <p:spPr>
          <a:xfrm>
            <a:off x="4572000" y="3154680"/>
            <a:ext cx="1600200" cy="54864"/>
          </a:xfrm>
          <a:prstGeom prst="rect">
            <a:avLst/>
          </a:prstGeom>
          <a:solidFill>
            <a:srgbClr val="0EA5E9"/>
          </a:solidFill>
          <a:ln w="12700">
            <a:solidFill>
              <a:srgbClr val="0EA5E9"/>
            </a:solidFill>
            <a:prstDash val="solid"/>
          </a:ln>
        </p:spPr>
      </p:sp>
      <p:sp>
        <p:nvSpPr>
          <p:cNvPr id="39" name="Text 37"/>
          <p:cNvSpPr/>
          <p:nvPr/>
        </p:nvSpPr>
        <p:spPr>
          <a:xfrm>
            <a:off x="4572000" y="3246120"/>
            <a:ext cx="1600200" cy="621792"/>
          </a:xfrm>
          <a:prstGeom prst="rect">
            <a:avLst/>
          </a:prstGeom>
          <a:noFill/>
          <a:ln/>
        </p:spPr>
        <p:txBody>
          <a:bodyPr wrap="square" lIns="0" tIns="0" rIns="0" bIns="0" rtlCol="0" anchor="ctr"/>
          <a:lstStyle/>
          <a:p>
            <a:pPr marL="0" indent="0" algn="ctr">
              <a:buNone/>
            </a:pPr>
            <a:r>
              <a:rPr lang="en-US" sz="1150" dirty="0">
                <a:solidFill>
                  <a:srgbClr val="0EA5E9"/>
                </a:solidFill>
                <a:latin typeface="Calibri" pitchFamily="34" charset="0"/>
                <a:ea typeface="Calibri" pitchFamily="34" charset="-122"/>
                <a:cs typeface="Calibri" pitchFamily="34" charset="-120"/>
              </a:rPr>
              <a:t>📧</a:t>
            </a:r>
            <a:endParaRPr lang="en-US" sz="1150" dirty="0"/>
          </a:p>
          <a:p>
            <a:pPr marL="0" indent="0" algn="ctr">
              <a:buNone/>
            </a:pPr>
            <a:r>
              <a:rPr lang="en-US" sz="1150" dirty="0">
                <a:solidFill>
                  <a:srgbClr val="0EA5E9"/>
                </a:solidFill>
                <a:latin typeface="Calibri" pitchFamily="34" charset="0"/>
                <a:ea typeface="Calibri" pitchFamily="34" charset="-122"/>
                <a:cs typeface="Calibri" pitchFamily="34" charset="-120"/>
              </a:rPr>
              <a:t>Email Service</a:t>
            </a:r>
            <a:endParaRPr lang="en-US" sz="1150" dirty="0"/>
          </a:p>
        </p:txBody>
      </p:sp>
      <p:sp>
        <p:nvSpPr>
          <p:cNvPr id="40" name="Shape 38"/>
          <p:cNvSpPr/>
          <p:nvPr/>
        </p:nvSpPr>
        <p:spPr>
          <a:xfrm>
            <a:off x="6400800" y="3154680"/>
            <a:ext cx="1600200" cy="77724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41" name="Shape 39"/>
          <p:cNvSpPr/>
          <p:nvPr/>
        </p:nvSpPr>
        <p:spPr>
          <a:xfrm>
            <a:off x="6400800" y="3154680"/>
            <a:ext cx="1600200" cy="54864"/>
          </a:xfrm>
          <a:prstGeom prst="rect">
            <a:avLst/>
          </a:prstGeom>
          <a:solidFill>
            <a:srgbClr val="EF4444"/>
          </a:solidFill>
          <a:ln w="12700">
            <a:solidFill>
              <a:srgbClr val="EF4444"/>
            </a:solidFill>
            <a:prstDash val="solid"/>
          </a:ln>
        </p:spPr>
      </p:sp>
      <p:sp>
        <p:nvSpPr>
          <p:cNvPr id="42" name="Text 40"/>
          <p:cNvSpPr/>
          <p:nvPr/>
        </p:nvSpPr>
        <p:spPr>
          <a:xfrm>
            <a:off x="6400800" y="3246120"/>
            <a:ext cx="1600200" cy="621792"/>
          </a:xfrm>
          <a:prstGeom prst="rect">
            <a:avLst/>
          </a:prstGeom>
          <a:noFill/>
          <a:ln/>
        </p:spPr>
        <p:txBody>
          <a:bodyPr wrap="square" lIns="0" tIns="0" rIns="0" bIns="0" rtlCol="0" anchor="ctr"/>
          <a:lstStyle/>
          <a:p>
            <a:pPr marL="0" indent="0" algn="ctr">
              <a:buNone/>
            </a:pPr>
            <a:r>
              <a:rPr lang="en-US" sz="1150" dirty="0">
                <a:solidFill>
                  <a:srgbClr val="EF4444"/>
                </a:solidFill>
                <a:latin typeface="Calibri" pitchFamily="34" charset="0"/>
                <a:ea typeface="Calibri" pitchFamily="34" charset="-122"/>
                <a:cs typeface="Calibri" pitchFamily="34" charset="-120"/>
              </a:rPr>
              <a:t>📊</a:t>
            </a:r>
            <a:endParaRPr lang="en-US" sz="1150" dirty="0"/>
          </a:p>
          <a:p>
            <a:pPr marL="0" indent="0" algn="ctr">
              <a:buNone/>
            </a:pPr>
            <a:r>
              <a:rPr lang="en-US" sz="1150" dirty="0">
                <a:solidFill>
                  <a:srgbClr val="EF4444"/>
                </a:solidFill>
                <a:latin typeface="Calibri" pitchFamily="34" charset="0"/>
                <a:ea typeface="Calibri" pitchFamily="34" charset="-122"/>
                <a:cs typeface="Calibri" pitchFamily="34" charset="-120"/>
              </a:rPr>
              <a:t>Monitoring</a:t>
            </a:r>
            <a:endParaRPr lang="en-US" sz="1150" dirty="0"/>
          </a:p>
        </p:txBody>
      </p:sp>
      <p:sp>
        <p:nvSpPr>
          <p:cNvPr id="43" name="Text 41"/>
          <p:cNvSpPr/>
          <p:nvPr/>
        </p:nvSpPr>
        <p:spPr>
          <a:xfrm>
            <a:off x="0" y="4005072"/>
            <a:ext cx="9144000" cy="274320"/>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Supporting Services Layer</a:t>
            </a:r>
            <a:endParaRPr lang="en-US" sz="1200" dirty="0"/>
          </a:p>
        </p:txBody>
      </p:sp>
      <p:sp>
        <p:nvSpPr>
          <p:cNvPr id="44" name="Text 42"/>
          <p:cNvSpPr/>
          <p:nvPr/>
        </p:nvSpPr>
        <p:spPr>
          <a:xfrm>
            <a:off x="2468880" y="1207008"/>
            <a:ext cx="1828800" cy="1828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INTERNET</a:t>
            </a:r>
            <a:endParaRPr lang="en-US" sz="1000" dirty="0"/>
          </a:p>
        </p:txBody>
      </p:sp>
      <p:sp>
        <p:nvSpPr>
          <p:cNvPr id="45" name="Text 43"/>
          <p:cNvSpPr/>
          <p:nvPr/>
        </p:nvSpPr>
        <p:spPr>
          <a:xfrm>
            <a:off x="4206240" y="1207008"/>
            <a:ext cx="3840480" cy="1828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SERVER ZONE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End-to-End Request Flow</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07 · From URL to Your Screen</a:t>
            </a:r>
            <a:endParaRPr lang="en-US" sz="1400" dirty="0"/>
          </a:p>
        </p:txBody>
      </p:sp>
      <p:sp>
        <p:nvSpPr>
          <p:cNvPr id="5" name="Shape 3"/>
          <p:cNvSpPr/>
          <p:nvPr/>
        </p:nvSpPr>
        <p:spPr>
          <a:xfrm>
            <a:off x="274320" y="1261872"/>
            <a:ext cx="4206240" cy="75895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274320" y="1261872"/>
            <a:ext cx="502920" cy="758952"/>
          </a:xfrm>
          <a:prstGeom prst="rect">
            <a:avLst/>
          </a:prstGeom>
          <a:solidFill>
            <a:srgbClr val="0EA5E9"/>
          </a:solidFill>
          <a:ln w="12700">
            <a:solidFill>
              <a:srgbClr val="0EA5E9"/>
            </a:solidFill>
            <a:prstDash val="solid"/>
          </a:ln>
        </p:spPr>
      </p:sp>
      <p:sp>
        <p:nvSpPr>
          <p:cNvPr id="7" name="Text 5"/>
          <p:cNvSpPr/>
          <p:nvPr/>
        </p:nvSpPr>
        <p:spPr>
          <a:xfrm>
            <a:off x="274320" y="1261872"/>
            <a:ext cx="502920" cy="758952"/>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868680" y="1325880"/>
            <a:ext cx="3520440" cy="320040"/>
          </a:xfrm>
          <a:prstGeom prst="rect">
            <a:avLst/>
          </a:prstGeom>
          <a:noFill/>
          <a:ln/>
        </p:spPr>
        <p:txBody>
          <a:bodyPr wrap="square" lIns="0" tIns="0" rIns="0" bIns="0" rtlCol="0" anchor="ctr"/>
          <a:lstStyle/>
          <a:p>
            <a:pPr marL="0" indent="0">
              <a:buNone/>
            </a:pPr>
            <a:r>
              <a:rPr lang="en-US" sz="1350" b="1" dirty="0">
                <a:solidFill>
                  <a:srgbClr val="0EA5E9"/>
                </a:solidFill>
                <a:latin typeface="Calibri" pitchFamily="34" charset="0"/>
                <a:ea typeface="Calibri" pitchFamily="34" charset="-122"/>
                <a:cs typeface="Calibri" pitchFamily="34" charset="-120"/>
              </a:rPr>
              <a:t>User types URL</a:t>
            </a:r>
            <a:endParaRPr lang="en-US" sz="1350" dirty="0"/>
          </a:p>
        </p:txBody>
      </p:sp>
      <p:sp>
        <p:nvSpPr>
          <p:cNvPr id="9" name="Text 7"/>
          <p:cNvSpPr/>
          <p:nvPr/>
        </p:nvSpPr>
        <p:spPr>
          <a:xfrm>
            <a:off x="868680" y="1645920"/>
            <a:ext cx="352044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amazon.com/products</a:t>
            </a:r>
            <a:endParaRPr lang="en-US" sz="1200" dirty="0"/>
          </a:p>
        </p:txBody>
      </p:sp>
      <p:sp>
        <p:nvSpPr>
          <p:cNvPr id="10" name="Shape 8"/>
          <p:cNvSpPr/>
          <p:nvPr/>
        </p:nvSpPr>
        <p:spPr>
          <a:xfrm>
            <a:off x="502920" y="2048256"/>
            <a:ext cx="0" cy="91440"/>
          </a:xfrm>
          <a:prstGeom prst="line">
            <a:avLst/>
          </a:prstGeom>
          <a:noFill/>
          <a:ln w="19050">
            <a:solidFill>
              <a:srgbClr val="0EA5E9"/>
            </a:solidFill>
            <a:prstDash val="solid"/>
          </a:ln>
        </p:spPr>
      </p:sp>
      <p:sp>
        <p:nvSpPr>
          <p:cNvPr id="11" name="Shape 9"/>
          <p:cNvSpPr/>
          <p:nvPr/>
        </p:nvSpPr>
        <p:spPr>
          <a:xfrm>
            <a:off x="4709160" y="1261872"/>
            <a:ext cx="4206240" cy="75895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2" name="Shape 10"/>
          <p:cNvSpPr/>
          <p:nvPr/>
        </p:nvSpPr>
        <p:spPr>
          <a:xfrm>
            <a:off x="4709160" y="1261872"/>
            <a:ext cx="502920" cy="758952"/>
          </a:xfrm>
          <a:prstGeom prst="rect">
            <a:avLst/>
          </a:prstGeom>
          <a:solidFill>
            <a:srgbClr val="00D4FF"/>
          </a:solidFill>
          <a:ln w="12700">
            <a:solidFill>
              <a:srgbClr val="00D4FF"/>
            </a:solidFill>
            <a:prstDash val="solid"/>
          </a:ln>
        </p:spPr>
      </p:sp>
      <p:sp>
        <p:nvSpPr>
          <p:cNvPr id="13" name="Text 11"/>
          <p:cNvSpPr/>
          <p:nvPr/>
        </p:nvSpPr>
        <p:spPr>
          <a:xfrm>
            <a:off x="4709160" y="1261872"/>
            <a:ext cx="502920" cy="758952"/>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5303520" y="1325880"/>
            <a:ext cx="3520440" cy="320040"/>
          </a:xfrm>
          <a:prstGeom prst="rect">
            <a:avLst/>
          </a:prstGeom>
          <a:noFill/>
          <a:ln/>
        </p:spPr>
        <p:txBody>
          <a:bodyPr wrap="square" lIns="0" tIns="0" rIns="0" bIns="0" rtlCol="0" anchor="ctr"/>
          <a:lstStyle/>
          <a:p>
            <a:pPr marL="0" indent="0">
              <a:buNone/>
            </a:pPr>
            <a:r>
              <a:rPr lang="en-US" sz="1350" b="1" dirty="0">
                <a:solidFill>
                  <a:srgbClr val="00D4FF"/>
                </a:solidFill>
                <a:latin typeface="Calibri" pitchFamily="34" charset="0"/>
                <a:ea typeface="Calibri" pitchFamily="34" charset="-122"/>
                <a:cs typeface="Calibri" pitchFamily="34" charset="-120"/>
              </a:rPr>
              <a:t>DNS Lookup</a:t>
            </a:r>
            <a:endParaRPr lang="en-US" sz="1350" dirty="0"/>
          </a:p>
        </p:txBody>
      </p:sp>
      <p:sp>
        <p:nvSpPr>
          <p:cNvPr id="15" name="Text 13"/>
          <p:cNvSpPr/>
          <p:nvPr/>
        </p:nvSpPr>
        <p:spPr>
          <a:xfrm>
            <a:off x="5303520" y="1645920"/>
            <a:ext cx="352044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Resolves to 13.35.x.x</a:t>
            </a:r>
            <a:endParaRPr lang="en-US" sz="1200" dirty="0"/>
          </a:p>
        </p:txBody>
      </p:sp>
      <p:sp>
        <p:nvSpPr>
          <p:cNvPr id="16" name="Shape 14"/>
          <p:cNvSpPr/>
          <p:nvPr/>
        </p:nvSpPr>
        <p:spPr>
          <a:xfrm>
            <a:off x="274320" y="2157984"/>
            <a:ext cx="4206240" cy="75895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7" name="Shape 15"/>
          <p:cNvSpPr/>
          <p:nvPr/>
        </p:nvSpPr>
        <p:spPr>
          <a:xfrm>
            <a:off x="274320" y="2157984"/>
            <a:ext cx="502920" cy="758952"/>
          </a:xfrm>
          <a:prstGeom prst="rect">
            <a:avLst/>
          </a:prstGeom>
          <a:solidFill>
            <a:srgbClr val="7C3AED"/>
          </a:solidFill>
          <a:ln w="12700">
            <a:solidFill>
              <a:srgbClr val="7C3AED"/>
            </a:solidFill>
            <a:prstDash val="solid"/>
          </a:ln>
        </p:spPr>
      </p:sp>
      <p:sp>
        <p:nvSpPr>
          <p:cNvPr id="18" name="Text 16"/>
          <p:cNvSpPr/>
          <p:nvPr/>
        </p:nvSpPr>
        <p:spPr>
          <a:xfrm>
            <a:off x="274320" y="2157984"/>
            <a:ext cx="502920" cy="758952"/>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868680" y="2221992"/>
            <a:ext cx="3520440" cy="320040"/>
          </a:xfrm>
          <a:prstGeom prst="rect">
            <a:avLst/>
          </a:prstGeom>
          <a:noFill/>
          <a:ln/>
        </p:spPr>
        <p:txBody>
          <a:bodyPr wrap="square" lIns="0" tIns="0" rIns="0" bIns="0" rtlCol="0" anchor="ctr"/>
          <a:lstStyle/>
          <a:p>
            <a:pPr marL="0" indent="0">
              <a:buNone/>
            </a:pPr>
            <a:r>
              <a:rPr lang="en-US" sz="1350" b="1" dirty="0">
                <a:solidFill>
                  <a:srgbClr val="7C3AED"/>
                </a:solidFill>
                <a:latin typeface="Calibri" pitchFamily="34" charset="0"/>
                <a:ea typeface="Calibri" pitchFamily="34" charset="-122"/>
                <a:cs typeface="Calibri" pitchFamily="34" charset="-120"/>
              </a:rPr>
              <a:t>HTTP Request Sent</a:t>
            </a:r>
            <a:endParaRPr lang="en-US" sz="1350" dirty="0"/>
          </a:p>
        </p:txBody>
      </p:sp>
      <p:sp>
        <p:nvSpPr>
          <p:cNvPr id="20" name="Text 18"/>
          <p:cNvSpPr/>
          <p:nvPr/>
        </p:nvSpPr>
        <p:spPr>
          <a:xfrm>
            <a:off x="868680" y="2542032"/>
            <a:ext cx="352044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GET /products HTTP/1.1</a:t>
            </a:r>
            <a:endParaRPr lang="en-US" sz="1200" dirty="0"/>
          </a:p>
        </p:txBody>
      </p:sp>
      <p:sp>
        <p:nvSpPr>
          <p:cNvPr id="21" name="Shape 19"/>
          <p:cNvSpPr/>
          <p:nvPr/>
        </p:nvSpPr>
        <p:spPr>
          <a:xfrm>
            <a:off x="502920" y="2944368"/>
            <a:ext cx="0" cy="91440"/>
          </a:xfrm>
          <a:prstGeom prst="line">
            <a:avLst/>
          </a:prstGeom>
          <a:noFill/>
          <a:ln w="19050">
            <a:solidFill>
              <a:srgbClr val="7C3AED"/>
            </a:solidFill>
            <a:prstDash val="solid"/>
          </a:ln>
        </p:spPr>
      </p:sp>
      <p:sp>
        <p:nvSpPr>
          <p:cNvPr id="22" name="Shape 20"/>
          <p:cNvSpPr/>
          <p:nvPr/>
        </p:nvSpPr>
        <p:spPr>
          <a:xfrm>
            <a:off x="4709160" y="2157984"/>
            <a:ext cx="4206240" cy="75895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3" name="Shape 21"/>
          <p:cNvSpPr/>
          <p:nvPr/>
        </p:nvSpPr>
        <p:spPr>
          <a:xfrm>
            <a:off x="4709160" y="2157984"/>
            <a:ext cx="502920" cy="758952"/>
          </a:xfrm>
          <a:prstGeom prst="rect">
            <a:avLst/>
          </a:prstGeom>
          <a:solidFill>
            <a:srgbClr val="F59E0B"/>
          </a:solidFill>
          <a:ln w="12700">
            <a:solidFill>
              <a:srgbClr val="F59E0B"/>
            </a:solidFill>
            <a:prstDash val="solid"/>
          </a:ln>
        </p:spPr>
      </p:sp>
      <p:sp>
        <p:nvSpPr>
          <p:cNvPr id="24" name="Text 22"/>
          <p:cNvSpPr/>
          <p:nvPr/>
        </p:nvSpPr>
        <p:spPr>
          <a:xfrm>
            <a:off x="4709160" y="2157984"/>
            <a:ext cx="502920" cy="758952"/>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5303520" y="2221992"/>
            <a:ext cx="3520440" cy="320040"/>
          </a:xfrm>
          <a:prstGeom prst="rect">
            <a:avLst/>
          </a:prstGeom>
          <a:noFill/>
          <a:ln/>
        </p:spPr>
        <p:txBody>
          <a:bodyPr wrap="square" lIns="0" tIns="0" rIns="0" bIns="0" rtlCol="0" anchor="ctr"/>
          <a:lstStyle/>
          <a:p>
            <a:pPr marL="0" indent="0">
              <a:buNone/>
            </a:pPr>
            <a:r>
              <a:rPr lang="en-US" sz="1350" b="1" dirty="0">
                <a:solidFill>
                  <a:srgbClr val="F59E0B"/>
                </a:solidFill>
                <a:latin typeface="Calibri" pitchFamily="34" charset="0"/>
                <a:ea typeface="Calibri" pitchFamily="34" charset="-122"/>
                <a:cs typeface="Calibri" pitchFamily="34" charset="-120"/>
              </a:rPr>
              <a:t>Load Balancer Routes</a:t>
            </a:r>
            <a:endParaRPr lang="en-US" sz="1350" dirty="0"/>
          </a:p>
        </p:txBody>
      </p:sp>
      <p:sp>
        <p:nvSpPr>
          <p:cNvPr id="26" name="Text 24"/>
          <p:cNvSpPr/>
          <p:nvPr/>
        </p:nvSpPr>
        <p:spPr>
          <a:xfrm>
            <a:off x="5303520" y="2542032"/>
            <a:ext cx="352044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Picks least loaded server</a:t>
            </a:r>
            <a:endParaRPr lang="en-US" sz="1200" dirty="0"/>
          </a:p>
        </p:txBody>
      </p:sp>
      <p:sp>
        <p:nvSpPr>
          <p:cNvPr id="27" name="Shape 25"/>
          <p:cNvSpPr/>
          <p:nvPr/>
        </p:nvSpPr>
        <p:spPr>
          <a:xfrm>
            <a:off x="274320" y="3054096"/>
            <a:ext cx="4206240" cy="75895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8" name="Shape 26"/>
          <p:cNvSpPr/>
          <p:nvPr/>
        </p:nvSpPr>
        <p:spPr>
          <a:xfrm>
            <a:off x="274320" y="3054096"/>
            <a:ext cx="502920" cy="758952"/>
          </a:xfrm>
          <a:prstGeom prst="rect">
            <a:avLst/>
          </a:prstGeom>
          <a:solidFill>
            <a:srgbClr val="10B981"/>
          </a:solidFill>
          <a:ln w="12700">
            <a:solidFill>
              <a:srgbClr val="10B981"/>
            </a:solidFill>
            <a:prstDash val="solid"/>
          </a:ln>
        </p:spPr>
      </p:sp>
      <p:sp>
        <p:nvSpPr>
          <p:cNvPr id="29" name="Text 27"/>
          <p:cNvSpPr/>
          <p:nvPr/>
        </p:nvSpPr>
        <p:spPr>
          <a:xfrm>
            <a:off x="274320" y="3054096"/>
            <a:ext cx="502920" cy="758952"/>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5</a:t>
            </a:r>
            <a:endParaRPr lang="en-US" sz="1800" dirty="0"/>
          </a:p>
        </p:txBody>
      </p:sp>
      <p:sp>
        <p:nvSpPr>
          <p:cNvPr id="30" name="Text 28"/>
          <p:cNvSpPr/>
          <p:nvPr/>
        </p:nvSpPr>
        <p:spPr>
          <a:xfrm>
            <a:off x="868680" y="3118104"/>
            <a:ext cx="3520440" cy="320040"/>
          </a:xfrm>
          <a:prstGeom prst="rect">
            <a:avLst/>
          </a:prstGeom>
          <a:noFill/>
          <a:ln/>
        </p:spPr>
        <p:txBody>
          <a:bodyPr wrap="square" lIns="0" tIns="0" rIns="0" bIns="0" rtlCol="0" anchor="ctr"/>
          <a:lstStyle/>
          <a:p>
            <a:pPr marL="0" indent="0">
              <a:buNone/>
            </a:pPr>
            <a:r>
              <a:rPr lang="en-US" sz="1350" b="1" dirty="0">
                <a:solidFill>
                  <a:srgbClr val="10B981"/>
                </a:solidFill>
                <a:latin typeface="Calibri" pitchFamily="34" charset="0"/>
                <a:ea typeface="Calibri" pitchFamily="34" charset="-122"/>
                <a:cs typeface="Calibri" pitchFamily="34" charset="-120"/>
              </a:rPr>
              <a:t>App Server Runs Logic</a:t>
            </a:r>
            <a:endParaRPr lang="en-US" sz="1350" dirty="0"/>
          </a:p>
        </p:txBody>
      </p:sp>
      <p:sp>
        <p:nvSpPr>
          <p:cNvPr id="31" name="Text 29"/>
          <p:cNvSpPr/>
          <p:nvPr/>
        </p:nvSpPr>
        <p:spPr>
          <a:xfrm>
            <a:off x="868680" y="3438144"/>
            <a:ext cx="352044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Validates &amp; processes request</a:t>
            </a:r>
            <a:endParaRPr lang="en-US" sz="1200" dirty="0"/>
          </a:p>
        </p:txBody>
      </p:sp>
      <p:sp>
        <p:nvSpPr>
          <p:cNvPr id="32" name="Shape 30"/>
          <p:cNvSpPr/>
          <p:nvPr/>
        </p:nvSpPr>
        <p:spPr>
          <a:xfrm>
            <a:off x="502920" y="3840480"/>
            <a:ext cx="0" cy="91440"/>
          </a:xfrm>
          <a:prstGeom prst="line">
            <a:avLst/>
          </a:prstGeom>
          <a:noFill/>
          <a:ln w="19050">
            <a:solidFill>
              <a:srgbClr val="10B981"/>
            </a:solidFill>
            <a:prstDash val="solid"/>
          </a:ln>
        </p:spPr>
      </p:sp>
      <p:sp>
        <p:nvSpPr>
          <p:cNvPr id="33" name="Shape 31"/>
          <p:cNvSpPr/>
          <p:nvPr/>
        </p:nvSpPr>
        <p:spPr>
          <a:xfrm>
            <a:off x="4709160" y="3054096"/>
            <a:ext cx="4206240" cy="75895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4" name="Shape 32"/>
          <p:cNvSpPr/>
          <p:nvPr/>
        </p:nvSpPr>
        <p:spPr>
          <a:xfrm>
            <a:off x="4709160" y="3054096"/>
            <a:ext cx="502920" cy="758952"/>
          </a:xfrm>
          <a:prstGeom prst="rect">
            <a:avLst/>
          </a:prstGeom>
          <a:solidFill>
            <a:srgbClr val="EF4444"/>
          </a:solidFill>
          <a:ln w="12700">
            <a:solidFill>
              <a:srgbClr val="EF4444"/>
            </a:solidFill>
            <a:prstDash val="solid"/>
          </a:ln>
        </p:spPr>
      </p:sp>
      <p:sp>
        <p:nvSpPr>
          <p:cNvPr id="35" name="Text 33"/>
          <p:cNvSpPr/>
          <p:nvPr/>
        </p:nvSpPr>
        <p:spPr>
          <a:xfrm>
            <a:off x="4709160" y="3054096"/>
            <a:ext cx="502920" cy="758952"/>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6</a:t>
            </a:r>
            <a:endParaRPr lang="en-US" sz="1800" dirty="0"/>
          </a:p>
        </p:txBody>
      </p:sp>
      <p:sp>
        <p:nvSpPr>
          <p:cNvPr id="36" name="Text 34"/>
          <p:cNvSpPr/>
          <p:nvPr/>
        </p:nvSpPr>
        <p:spPr>
          <a:xfrm>
            <a:off x="5303520" y="3118104"/>
            <a:ext cx="3520440" cy="320040"/>
          </a:xfrm>
          <a:prstGeom prst="rect">
            <a:avLst/>
          </a:prstGeom>
          <a:noFill/>
          <a:ln/>
        </p:spPr>
        <p:txBody>
          <a:bodyPr wrap="square" lIns="0" tIns="0" rIns="0" bIns="0" rtlCol="0" anchor="ctr"/>
          <a:lstStyle/>
          <a:p>
            <a:pPr marL="0" indent="0">
              <a:buNone/>
            </a:pPr>
            <a:r>
              <a:rPr lang="en-US" sz="1350" b="1" dirty="0">
                <a:solidFill>
                  <a:srgbClr val="EF4444"/>
                </a:solidFill>
                <a:latin typeface="Calibri" pitchFamily="34" charset="0"/>
                <a:ea typeface="Calibri" pitchFamily="34" charset="-122"/>
                <a:cs typeface="Calibri" pitchFamily="34" charset="-120"/>
              </a:rPr>
              <a:t>Database Query</a:t>
            </a:r>
            <a:endParaRPr lang="en-US" sz="1350" dirty="0"/>
          </a:p>
        </p:txBody>
      </p:sp>
      <p:sp>
        <p:nvSpPr>
          <p:cNvPr id="37" name="Text 35"/>
          <p:cNvSpPr/>
          <p:nvPr/>
        </p:nvSpPr>
        <p:spPr>
          <a:xfrm>
            <a:off x="5303520" y="3438144"/>
            <a:ext cx="352044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SELECT * FROM products...</a:t>
            </a:r>
            <a:endParaRPr lang="en-US" sz="1200" dirty="0"/>
          </a:p>
        </p:txBody>
      </p:sp>
      <p:sp>
        <p:nvSpPr>
          <p:cNvPr id="38" name="Shape 36"/>
          <p:cNvSpPr/>
          <p:nvPr/>
        </p:nvSpPr>
        <p:spPr>
          <a:xfrm>
            <a:off x="274320" y="3950208"/>
            <a:ext cx="4206240" cy="75895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9" name="Shape 37"/>
          <p:cNvSpPr/>
          <p:nvPr/>
        </p:nvSpPr>
        <p:spPr>
          <a:xfrm>
            <a:off x="274320" y="3950208"/>
            <a:ext cx="502920" cy="758952"/>
          </a:xfrm>
          <a:prstGeom prst="rect">
            <a:avLst/>
          </a:prstGeom>
          <a:solidFill>
            <a:srgbClr val="0EA5E9"/>
          </a:solidFill>
          <a:ln w="12700">
            <a:solidFill>
              <a:srgbClr val="0EA5E9"/>
            </a:solidFill>
            <a:prstDash val="solid"/>
          </a:ln>
        </p:spPr>
      </p:sp>
      <p:sp>
        <p:nvSpPr>
          <p:cNvPr id="40" name="Text 38"/>
          <p:cNvSpPr/>
          <p:nvPr/>
        </p:nvSpPr>
        <p:spPr>
          <a:xfrm>
            <a:off x="274320" y="3950208"/>
            <a:ext cx="502920" cy="758952"/>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7</a:t>
            </a:r>
            <a:endParaRPr lang="en-US" sz="1800" dirty="0"/>
          </a:p>
        </p:txBody>
      </p:sp>
      <p:sp>
        <p:nvSpPr>
          <p:cNvPr id="41" name="Text 39"/>
          <p:cNvSpPr/>
          <p:nvPr/>
        </p:nvSpPr>
        <p:spPr>
          <a:xfrm>
            <a:off x="868680" y="4014216"/>
            <a:ext cx="3520440" cy="320040"/>
          </a:xfrm>
          <a:prstGeom prst="rect">
            <a:avLst/>
          </a:prstGeom>
          <a:noFill/>
          <a:ln/>
        </p:spPr>
        <p:txBody>
          <a:bodyPr wrap="square" lIns="0" tIns="0" rIns="0" bIns="0" rtlCol="0" anchor="ctr"/>
          <a:lstStyle/>
          <a:p>
            <a:pPr marL="0" indent="0">
              <a:buNone/>
            </a:pPr>
            <a:r>
              <a:rPr lang="en-US" sz="1350" b="1" dirty="0">
                <a:solidFill>
                  <a:srgbClr val="0EA5E9"/>
                </a:solidFill>
                <a:latin typeface="Calibri" pitchFamily="34" charset="0"/>
                <a:ea typeface="Calibri" pitchFamily="34" charset="-122"/>
                <a:cs typeface="Calibri" pitchFamily="34" charset="-120"/>
              </a:rPr>
              <a:t>JSON Response Built</a:t>
            </a:r>
            <a:endParaRPr lang="en-US" sz="1350" dirty="0"/>
          </a:p>
        </p:txBody>
      </p:sp>
      <p:sp>
        <p:nvSpPr>
          <p:cNvPr id="42" name="Text 40"/>
          <p:cNvSpPr/>
          <p:nvPr/>
        </p:nvSpPr>
        <p:spPr>
          <a:xfrm>
            <a:off x="868680" y="4334256"/>
            <a:ext cx="352044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Formats data as JSON payload</a:t>
            </a:r>
            <a:endParaRPr lang="en-US" sz="1200" dirty="0"/>
          </a:p>
        </p:txBody>
      </p:sp>
      <p:sp>
        <p:nvSpPr>
          <p:cNvPr id="43" name="Shape 41"/>
          <p:cNvSpPr/>
          <p:nvPr/>
        </p:nvSpPr>
        <p:spPr>
          <a:xfrm>
            <a:off x="4709160" y="3950208"/>
            <a:ext cx="4206240" cy="758952"/>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44" name="Shape 42"/>
          <p:cNvSpPr/>
          <p:nvPr/>
        </p:nvSpPr>
        <p:spPr>
          <a:xfrm>
            <a:off x="4709160" y="3950208"/>
            <a:ext cx="502920" cy="758952"/>
          </a:xfrm>
          <a:prstGeom prst="rect">
            <a:avLst/>
          </a:prstGeom>
          <a:solidFill>
            <a:srgbClr val="00D4FF"/>
          </a:solidFill>
          <a:ln w="12700">
            <a:solidFill>
              <a:srgbClr val="00D4FF"/>
            </a:solidFill>
            <a:prstDash val="solid"/>
          </a:ln>
        </p:spPr>
      </p:sp>
      <p:sp>
        <p:nvSpPr>
          <p:cNvPr id="45" name="Text 43"/>
          <p:cNvSpPr/>
          <p:nvPr/>
        </p:nvSpPr>
        <p:spPr>
          <a:xfrm>
            <a:off x="4709160" y="3950208"/>
            <a:ext cx="502920" cy="758952"/>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8</a:t>
            </a:r>
            <a:endParaRPr lang="en-US" sz="1800" dirty="0"/>
          </a:p>
        </p:txBody>
      </p:sp>
      <p:sp>
        <p:nvSpPr>
          <p:cNvPr id="46" name="Text 44"/>
          <p:cNvSpPr/>
          <p:nvPr/>
        </p:nvSpPr>
        <p:spPr>
          <a:xfrm>
            <a:off x="5303520" y="4014216"/>
            <a:ext cx="3520440" cy="320040"/>
          </a:xfrm>
          <a:prstGeom prst="rect">
            <a:avLst/>
          </a:prstGeom>
          <a:noFill/>
          <a:ln/>
        </p:spPr>
        <p:txBody>
          <a:bodyPr wrap="square" lIns="0" tIns="0" rIns="0" bIns="0" rtlCol="0" anchor="ctr"/>
          <a:lstStyle/>
          <a:p>
            <a:pPr marL="0" indent="0">
              <a:buNone/>
            </a:pPr>
            <a:r>
              <a:rPr lang="en-US" sz="1350" b="1" dirty="0">
                <a:solidFill>
                  <a:srgbClr val="00D4FF"/>
                </a:solidFill>
                <a:latin typeface="Calibri" pitchFamily="34" charset="0"/>
                <a:ea typeface="Calibri" pitchFamily="34" charset="-122"/>
                <a:cs typeface="Calibri" pitchFamily="34" charset="-120"/>
              </a:rPr>
              <a:t>Browser Renders Page</a:t>
            </a:r>
            <a:endParaRPr lang="en-US" sz="1350" dirty="0"/>
          </a:p>
        </p:txBody>
      </p:sp>
      <p:sp>
        <p:nvSpPr>
          <p:cNvPr id="47" name="Text 45"/>
          <p:cNvSpPr/>
          <p:nvPr/>
        </p:nvSpPr>
        <p:spPr>
          <a:xfrm>
            <a:off x="5303520" y="4334256"/>
            <a:ext cx="352044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HTML/CSS/JS paint the UI</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Live Example: Login Flow</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Section 08 · Step-by-Step Walkthrough</a:t>
            </a:r>
            <a:endParaRPr lang="en-US" sz="1400" dirty="0"/>
          </a:p>
        </p:txBody>
      </p:sp>
      <p:sp>
        <p:nvSpPr>
          <p:cNvPr id="5" name="Shape 3"/>
          <p:cNvSpPr/>
          <p:nvPr/>
        </p:nvSpPr>
        <p:spPr>
          <a:xfrm>
            <a:off x="274320" y="1280160"/>
            <a:ext cx="438912" cy="411480"/>
          </a:xfrm>
          <a:prstGeom prst="rect">
            <a:avLst/>
          </a:prstGeom>
          <a:solidFill>
            <a:srgbClr val="0EA5E9"/>
          </a:solidFill>
          <a:ln w="12700">
            <a:solidFill>
              <a:srgbClr val="0EA5E9"/>
            </a:solidFill>
            <a:prstDash val="solid"/>
          </a:ln>
        </p:spPr>
      </p:sp>
      <p:sp>
        <p:nvSpPr>
          <p:cNvPr id="6" name="Text 4"/>
          <p:cNvSpPr/>
          <p:nvPr/>
        </p:nvSpPr>
        <p:spPr>
          <a:xfrm>
            <a:off x="274320" y="1280160"/>
            <a:ext cx="438912" cy="411480"/>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777240" y="1280160"/>
            <a:ext cx="1371600" cy="411480"/>
          </a:xfrm>
          <a:prstGeom prst="roundRect">
            <a:avLst>
              <a:gd name="adj" fmla="val 11111"/>
            </a:avLst>
          </a:prstGeom>
          <a:solidFill>
            <a:srgbClr val="1E3A5F"/>
          </a:solidFill>
          <a:ln w="12700">
            <a:solidFill>
              <a:srgbClr val="0EA5E9"/>
            </a:solidFill>
            <a:prstDash val="solid"/>
          </a:ln>
        </p:spPr>
      </p:sp>
      <p:sp>
        <p:nvSpPr>
          <p:cNvPr id="8" name="Text 6"/>
          <p:cNvSpPr/>
          <p:nvPr/>
        </p:nvSpPr>
        <p:spPr>
          <a:xfrm>
            <a:off x="777240" y="1280160"/>
            <a:ext cx="1371600" cy="411480"/>
          </a:xfrm>
          <a:prstGeom prst="rect">
            <a:avLst/>
          </a:prstGeom>
          <a:noFill/>
          <a:ln/>
        </p:spPr>
        <p:txBody>
          <a:bodyPr wrap="square" lIns="0" tIns="0" rIns="0" bIns="0" rtlCol="0" anchor="ctr"/>
          <a:lstStyle/>
          <a:p>
            <a:pPr marL="0" indent="0" algn="ctr">
              <a:buNone/>
            </a:pPr>
            <a:r>
              <a:rPr lang="en-US" sz="1200" b="1" dirty="0">
                <a:solidFill>
                  <a:srgbClr val="0EA5E9"/>
                </a:solidFill>
                <a:latin typeface="Calibri" pitchFamily="34" charset="0"/>
                <a:ea typeface="Calibri" pitchFamily="34" charset="-122"/>
                <a:cs typeface="Calibri" pitchFamily="34" charset="-120"/>
              </a:rPr>
              <a:t>User</a:t>
            </a:r>
            <a:endParaRPr lang="en-US" sz="1200" dirty="0"/>
          </a:p>
        </p:txBody>
      </p:sp>
      <p:sp>
        <p:nvSpPr>
          <p:cNvPr id="9" name="Text 7"/>
          <p:cNvSpPr/>
          <p:nvPr/>
        </p:nvSpPr>
        <p:spPr>
          <a:xfrm>
            <a:off x="2286000" y="1298448"/>
            <a:ext cx="6492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Enters email + password in form</a:t>
            </a:r>
            <a:endParaRPr lang="en-US" sz="1300" dirty="0"/>
          </a:p>
        </p:txBody>
      </p:sp>
      <p:sp>
        <p:nvSpPr>
          <p:cNvPr id="10" name="Shape 8"/>
          <p:cNvSpPr/>
          <p:nvPr/>
        </p:nvSpPr>
        <p:spPr>
          <a:xfrm>
            <a:off x="493776" y="1709928"/>
            <a:ext cx="0" cy="64008"/>
          </a:xfrm>
          <a:prstGeom prst="line">
            <a:avLst/>
          </a:prstGeom>
          <a:noFill/>
          <a:ln w="19050">
            <a:solidFill>
              <a:srgbClr val="0EA5E9"/>
            </a:solidFill>
            <a:prstDash val="solid"/>
          </a:ln>
        </p:spPr>
      </p:sp>
      <p:sp>
        <p:nvSpPr>
          <p:cNvPr id="11" name="Shape 9"/>
          <p:cNvSpPr/>
          <p:nvPr/>
        </p:nvSpPr>
        <p:spPr>
          <a:xfrm>
            <a:off x="274320" y="1755648"/>
            <a:ext cx="438912" cy="411480"/>
          </a:xfrm>
          <a:prstGeom prst="rect">
            <a:avLst/>
          </a:prstGeom>
          <a:solidFill>
            <a:srgbClr val="00D4FF"/>
          </a:solidFill>
          <a:ln w="12700">
            <a:solidFill>
              <a:srgbClr val="00D4FF"/>
            </a:solidFill>
            <a:prstDash val="solid"/>
          </a:ln>
        </p:spPr>
      </p:sp>
      <p:sp>
        <p:nvSpPr>
          <p:cNvPr id="12" name="Text 10"/>
          <p:cNvSpPr/>
          <p:nvPr/>
        </p:nvSpPr>
        <p:spPr>
          <a:xfrm>
            <a:off x="274320" y="1755648"/>
            <a:ext cx="438912" cy="411480"/>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3" name="Shape 11"/>
          <p:cNvSpPr/>
          <p:nvPr/>
        </p:nvSpPr>
        <p:spPr>
          <a:xfrm>
            <a:off x="777240" y="1755648"/>
            <a:ext cx="1371600" cy="411480"/>
          </a:xfrm>
          <a:prstGeom prst="roundRect">
            <a:avLst>
              <a:gd name="adj" fmla="val 11111"/>
            </a:avLst>
          </a:prstGeom>
          <a:solidFill>
            <a:srgbClr val="1E3A5F"/>
          </a:solidFill>
          <a:ln w="12700">
            <a:solidFill>
              <a:srgbClr val="00D4FF"/>
            </a:solidFill>
            <a:prstDash val="solid"/>
          </a:ln>
        </p:spPr>
      </p:sp>
      <p:sp>
        <p:nvSpPr>
          <p:cNvPr id="14" name="Text 12"/>
          <p:cNvSpPr/>
          <p:nvPr/>
        </p:nvSpPr>
        <p:spPr>
          <a:xfrm>
            <a:off x="777240" y="1755648"/>
            <a:ext cx="1371600" cy="411480"/>
          </a:xfrm>
          <a:prstGeom prst="rect">
            <a:avLst/>
          </a:prstGeom>
          <a:noFill/>
          <a:ln/>
        </p:spPr>
        <p:txBody>
          <a:bodyPr wrap="square" lIns="0" tIns="0" rIns="0" bIns="0" rtlCol="0" anchor="ctr"/>
          <a:lstStyle/>
          <a:p>
            <a:pPr marL="0" indent="0" algn="ctr">
              <a:buNone/>
            </a:pPr>
            <a:r>
              <a:rPr lang="en-US" sz="1200" b="1" dirty="0">
                <a:solidFill>
                  <a:srgbClr val="00D4FF"/>
                </a:solidFill>
                <a:latin typeface="Calibri" pitchFamily="34" charset="0"/>
                <a:ea typeface="Calibri" pitchFamily="34" charset="-122"/>
                <a:cs typeface="Calibri" pitchFamily="34" charset="-120"/>
              </a:rPr>
              <a:t>Browser</a:t>
            </a:r>
            <a:endParaRPr lang="en-US" sz="1200" dirty="0"/>
          </a:p>
        </p:txBody>
      </p:sp>
      <p:sp>
        <p:nvSpPr>
          <p:cNvPr id="15" name="Text 13"/>
          <p:cNvSpPr/>
          <p:nvPr/>
        </p:nvSpPr>
        <p:spPr>
          <a:xfrm>
            <a:off x="2286000" y="1773936"/>
            <a:ext cx="6492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JS sends POST /api/login with JSON body</a:t>
            </a:r>
            <a:endParaRPr lang="en-US" sz="1300" dirty="0"/>
          </a:p>
        </p:txBody>
      </p:sp>
      <p:sp>
        <p:nvSpPr>
          <p:cNvPr id="16" name="Shape 14"/>
          <p:cNvSpPr/>
          <p:nvPr/>
        </p:nvSpPr>
        <p:spPr>
          <a:xfrm>
            <a:off x="493776" y="2185416"/>
            <a:ext cx="0" cy="64008"/>
          </a:xfrm>
          <a:prstGeom prst="line">
            <a:avLst/>
          </a:prstGeom>
          <a:noFill/>
          <a:ln w="19050">
            <a:solidFill>
              <a:srgbClr val="00D4FF"/>
            </a:solidFill>
            <a:prstDash val="solid"/>
          </a:ln>
        </p:spPr>
      </p:sp>
      <p:sp>
        <p:nvSpPr>
          <p:cNvPr id="17" name="Shape 15"/>
          <p:cNvSpPr/>
          <p:nvPr/>
        </p:nvSpPr>
        <p:spPr>
          <a:xfrm>
            <a:off x="274320" y="2231136"/>
            <a:ext cx="438912" cy="411480"/>
          </a:xfrm>
          <a:prstGeom prst="rect">
            <a:avLst/>
          </a:prstGeom>
          <a:solidFill>
            <a:srgbClr val="7C3AED"/>
          </a:solidFill>
          <a:ln w="12700">
            <a:solidFill>
              <a:srgbClr val="7C3AED"/>
            </a:solidFill>
            <a:prstDash val="solid"/>
          </a:ln>
        </p:spPr>
      </p:sp>
      <p:sp>
        <p:nvSpPr>
          <p:cNvPr id="18" name="Text 16"/>
          <p:cNvSpPr/>
          <p:nvPr/>
        </p:nvSpPr>
        <p:spPr>
          <a:xfrm>
            <a:off x="274320" y="2231136"/>
            <a:ext cx="438912" cy="411480"/>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19" name="Shape 17"/>
          <p:cNvSpPr/>
          <p:nvPr/>
        </p:nvSpPr>
        <p:spPr>
          <a:xfrm>
            <a:off x="777240" y="2231136"/>
            <a:ext cx="1371600" cy="411480"/>
          </a:xfrm>
          <a:prstGeom prst="roundRect">
            <a:avLst>
              <a:gd name="adj" fmla="val 11111"/>
            </a:avLst>
          </a:prstGeom>
          <a:solidFill>
            <a:srgbClr val="1E3A5F"/>
          </a:solidFill>
          <a:ln w="12700">
            <a:solidFill>
              <a:srgbClr val="7C3AED"/>
            </a:solidFill>
            <a:prstDash val="solid"/>
          </a:ln>
        </p:spPr>
      </p:sp>
      <p:sp>
        <p:nvSpPr>
          <p:cNvPr id="20" name="Text 18"/>
          <p:cNvSpPr/>
          <p:nvPr/>
        </p:nvSpPr>
        <p:spPr>
          <a:xfrm>
            <a:off x="777240" y="2231136"/>
            <a:ext cx="1371600" cy="411480"/>
          </a:xfrm>
          <a:prstGeom prst="rect">
            <a:avLst/>
          </a:prstGeom>
          <a:noFill/>
          <a:ln/>
        </p:spPr>
        <p:txBody>
          <a:bodyPr wrap="square" lIns="0" tIns="0" rIns="0" bIns="0" rtlCol="0" anchor="ctr"/>
          <a:lstStyle/>
          <a:p>
            <a:pPr marL="0" indent="0" algn="ctr">
              <a:buNone/>
            </a:pPr>
            <a:r>
              <a:rPr lang="en-US" sz="1200" b="1" dirty="0">
                <a:solidFill>
                  <a:srgbClr val="7C3AED"/>
                </a:solidFill>
                <a:latin typeface="Calibri" pitchFamily="34" charset="0"/>
                <a:ea typeface="Calibri" pitchFamily="34" charset="-122"/>
                <a:cs typeface="Calibri" pitchFamily="34" charset="-120"/>
              </a:rPr>
              <a:t>Server</a:t>
            </a:r>
            <a:endParaRPr lang="en-US" sz="1200" dirty="0"/>
          </a:p>
        </p:txBody>
      </p:sp>
      <p:sp>
        <p:nvSpPr>
          <p:cNvPr id="21" name="Text 19"/>
          <p:cNvSpPr/>
          <p:nvPr/>
        </p:nvSpPr>
        <p:spPr>
          <a:xfrm>
            <a:off x="2286000" y="2249424"/>
            <a:ext cx="6492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Receives request, validates input format</a:t>
            </a:r>
            <a:endParaRPr lang="en-US" sz="1300" dirty="0"/>
          </a:p>
        </p:txBody>
      </p:sp>
      <p:sp>
        <p:nvSpPr>
          <p:cNvPr id="22" name="Shape 20"/>
          <p:cNvSpPr/>
          <p:nvPr/>
        </p:nvSpPr>
        <p:spPr>
          <a:xfrm>
            <a:off x="493776" y="2660904"/>
            <a:ext cx="0" cy="64008"/>
          </a:xfrm>
          <a:prstGeom prst="line">
            <a:avLst/>
          </a:prstGeom>
          <a:noFill/>
          <a:ln w="19050">
            <a:solidFill>
              <a:srgbClr val="7C3AED"/>
            </a:solidFill>
            <a:prstDash val="solid"/>
          </a:ln>
        </p:spPr>
      </p:sp>
      <p:sp>
        <p:nvSpPr>
          <p:cNvPr id="23" name="Shape 21"/>
          <p:cNvSpPr/>
          <p:nvPr/>
        </p:nvSpPr>
        <p:spPr>
          <a:xfrm>
            <a:off x="274320" y="2706624"/>
            <a:ext cx="438912" cy="411480"/>
          </a:xfrm>
          <a:prstGeom prst="rect">
            <a:avLst/>
          </a:prstGeom>
          <a:solidFill>
            <a:srgbClr val="F59E0B"/>
          </a:solidFill>
          <a:ln w="12700">
            <a:solidFill>
              <a:srgbClr val="F59E0B"/>
            </a:solidFill>
            <a:prstDash val="solid"/>
          </a:ln>
        </p:spPr>
      </p:sp>
      <p:sp>
        <p:nvSpPr>
          <p:cNvPr id="24" name="Text 22"/>
          <p:cNvSpPr/>
          <p:nvPr/>
        </p:nvSpPr>
        <p:spPr>
          <a:xfrm>
            <a:off x="274320" y="2706624"/>
            <a:ext cx="438912" cy="411480"/>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25" name="Shape 23"/>
          <p:cNvSpPr/>
          <p:nvPr/>
        </p:nvSpPr>
        <p:spPr>
          <a:xfrm>
            <a:off x="777240" y="2706624"/>
            <a:ext cx="1371600" cy="411480"/>
          </a:xfrm>
          <a:prstGeom prst="roundRect">
            <a:avLst>
              <a:gd name="adj" fmla="val 11111"/>
            </a:avLst>
          </a:prstGeom>
          <a:solidFill>
            <a:srgbClr val="1E3A5F"/>
          </a:solidFill>
          <a:ln w="12700">
            <a:solidFill>
              <a:srgbClr val="F59E0B"/>
            </a:solidFill>
            <a:prstDash val="solid"/>
          </a:ln>
        </p:spPr>
      </p:sp>
      <p:sp>
        <p:nvSpPr>
          <p:cNvPr id="26" name="Text 24"/>
          <p:cNvSpPr/>
          <p:nvPr/>
        </p:nvSpPr>
        <p:spPr>
          <a:xfrm>
            <a:off x="777240" y="2706624"/>
            <a:ext cx="1371600" cy="411480"/>
          </a:xfrm>
          <a:prstGeom prst="rect">
            <a:avLst/>
          </a:prstGeom>
          <a:noFill/>
          <a:ln/>
        </p:spPr>
        <p:txBody>
          <a:bodyPr wrap="square" lIns="0" tIns="0" rIns="0" bIns="0"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Server</a:t>
            </a:r>
            <a:endParaRPr lang="en-US" sz="1200" dirty="0"/>
          </a:p>
        </p:txBody>
      </p:sp>
      <p:sp>
        <p:nvSpPr>
          <p:cNvPr id="27" name="Text 25"/>
          <p:cNvSpPr/>
          <p:nvPr/>
        </p:nvSpPr>
        <p:spPr>
          <a:xfrm>
            <a:off x="2286000" y="2724912"/>
            <a:ext cx="6492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Queries DB: SELECT * WHERE email=?</a:t>
            </a:r>
            <a:endParaRPr lang="en-US" sz="1300" dirty="0"/>
          </a:p>
        </p:txBody>
      </p:sp>
      <p:sp>
        <p:nvSpPr>
          <p:cNvPr id="28" name="Shape 26"/>
          <p:cNvSpPr/>
          <p:nvPr/>
        </p:nvSpPr>
        <p:spPr>
          <a:xfrm>
            <a:off x="493776" y="3136392"/>
            <a:ext cx="0" cy="64008"/>
          </a:xfrm>
          <a:prstGeom prst="line">
            <a:avLst/>
          </a:prstGeom>
          <a:noFill/>
          <a:ln w="19050">
            <a:solidFill>
              <a:srgbClr val="F59E0B"/>
            </a:solidFill>
            <a:prstDash val="solid"/>
          </a:ln>
        </p:spPr>
      </p:sp>
      <p:sp>
        <p:nvSpPr>
          <p:cNvPr id="29" name="Shape 27"/>
          <p:cNvSpPr/>
          <p:nvPr/>
        </p:nvSpPr>
        <p:spPr>
          <a:xfrm>
            <a:off x="274320" y="3182112"/>
            <a:ext cx="438912" cy="411480"/>
          </a:xfrm>
          <a:prstGeom prst="rect">
            <a:avLst/>
          </a:prstGeom>
          <a:solidFill>
            <a:srgbClr val="F59E0B"/>
          </a:solidFill>
          <a:ln w="12700">
            <a:solidFill>
              <a:srgbClr val="F59E0B"/>
            </a:solidFill>
            <a:prstDash val="solid"/>
          </a:ln>
        </p:spPr>
      </p:sp>
      <p:sp>
        <p:nvSpPr>
          <p:cNvPr id="30" name="Text 28"/>
          <p:cNvSpPr/>
          <p:nvPr/>
        </p:nvSpPr>
        <p:spPr>
          <a:xfrm>
            <a:off x="274320" y="3182112"/>
            <a:ext cx="438912" cy="411480"/>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31" name="Shape 29"/>
          <p:cNvSpPr/>
          <p:nvPr/>
        </p:nvSpPr>
        <p:spPr>
          <a:xfrm>
            <a:off x="777240" y="3182112"/>
            <a:ext cx="1371600" cy="411480"/>
          </a:xfrm>
          <a:prstGeom prst="roundRect">
            <a:avLst>
              <a:gd name="adj" fmla="val 11111"/>
            </a:avLst>
          </a:prstGeom>
          <a:solidFill>
            <a:srgbClr val="1E3A5F"/>
          </a:solidFill>
          <a:ln w="12700">
            <a:solidFill>
              <a:srgbClr val="F59E0B"/>
            </a:solidFill>
            <a:prstDash val="solid"/>
          </a:ln>
        </p:spPr>
      </p:sp>
      <p:sp>
        <p:nvSpPr>
          <p:cNvPr id="32" name="Text 30"/>
          <p:cNvSpPr/>
          <p:nvPr/>
        </p:nvSpPr>
        <p:spPr>
          <a:xfrm>
            <a:off x="777240" y="3182112"/>
            <a:ext cx="1371600" cy="411480"/>
          </a:xfrm>
          <a:prstGeom prst="rect">
            <a:avLst/>
          </a:prstGeom>
          <a:noFill/>
          <a:ln/>
        </p:spPr>
        <p:txBody>
          <a:bodyPr wrap="square" lIns="0" tIns="0" rIns="0" bIns="0"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Server</a:t>
            </a:r>
            <a:endParaRPr lang="en-US" sz="1200" dirty="0"/>
          </a:p>
        </p:txBody>
      </p:sp>
      <p:sp>
        <p:nvSpPr>
          <p:cNvPr id="33" name="Text 31"/>
          <p:cNvSpPr/>
          <p:nvPr/>
        </p:nvSpPr>
        <p:spPr>
          <a:xfrm>
            <a:off x="2286000" y="3200400"/>
            <a:ext cx="6492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Hashes password, compares to DB hash</a:t>
            </a:r>
            <a:endParaRPr lang="en-US" sz="1300" dirty="0"/>
          </a:p>
        </p:txBody>
      </p:sp>
      <p:sp>
        <p:nvSpPr>
          <p:cNvPr id="34" name="Shape 32"/>
          <p:cNvSpPr/>
          <p:nvPr/>
        </p:nvSpPr>
        <p:spPr>
          <a:xfrm>
            <a:off x="493776" y="3611880"/>
            <a:ext cx="0" cy="64008"/>
          </a:xfrm>
          <a:prstGeom prst="line">
            <a:avLst/>
          </a:prstGeom>
          <a:noFill/>
          <a:ln w="19050">
            <a:solidFill>
              <a:srgbClr val="F59E0B"/>
            </a:solidFill>
            <a:prstDash val="solid"/>
          </a:ln>
        </p:spPr>
      </p:sp>
      <p:sp>
        <p:nvSpPr>
          <p:cNvPr id="35" name="Shape 33"/>
          <p:cNvSpPr/>
          <p:nvPr/>
        </p:nvSpPr>
        <p:spPr>
          <a:xfrm>
            <a:off x="274320" y="3657600"/>
            <a:ext cx="438912" cy="411480"/>
          </a:xfrm>
          <a:prstGeom prst="rect">
            <a:avLst/>
          </a:prstGeom>
          <a:solidFill>
            <a:srgbClr val="10B981"/>
          </a:solidFill>
          <a:ln w="12700">
            <a:solidFill>
              <a:srgbClr val="10B981"/>
            </a:solidFill>
            <a:prstDash val="solid"/>
          </a:ln>
        </p:spPr>
      </p:sp>
      <p:sp>
        <p:nvSpPr>
          <p:cNvPr id="36" name="Text 34"/>
          <p:cNvSpPr/>
          <p:nvPr/>
        </p:nvSpPr>
        <p:spPr>
          <a:xfrm>
            <a:off x="274320" y="3657600"/>
            <a:ext cx="438912" cy="411480"/>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6</a:t>
            </a:r>
            <a:endParaRPr lang="en-US" sz="1400" dirty="0"/>
          </a:p>
        </p:txBody>
      </p:sp>
      <p:sp>
        <p:nvSpPr>
          <p:cNvPr id="37" name="Shape 35"/>
          <p:cNvSpPr/>
          <p:nvPr/>
        </p:nvSpPr>
        <p:spPr>
          <a:xfrm>
            <a:off x="777240" y="3657600"/>
            <a:ext cx="1371600" cy="411480"/>
          </a:xfrm>
          <a:prstGeom prst="roundRect">
            <a:avLst>
              <a:gd name="adj" fmla="val 11111"/>
            </a:avLst>
          </a:prstGeom>
          <a:solidFill>
            <a:srgbClr val="1E3A5F"/>
          </a:solidFill>
          <a:ln w="12700">
            <a:solidFill>
              <a:srgbClr val="10B981"/>
            </a:solidFill>
            <a:prstDash val="solid"/>
          </a:ln>
        </p:spPr>
      </p:sp>
      <p:sp>
        <p:nvSpPr>
          <p:cNvPr id="38" name="Text 36"/>
          <p:cNvSpPr/>
          <p:nvPr/>
        </p:nvSpPr>
        <p:spPr>
          <a:xfrm>
            <a:off x="777240" y="3657600"/>
            <a:ext cx="1371600" cy="411480"/>
          </a:xfrm>
          <a:prstGeom prst="rect">
            <a:avLst/>
          </a:prstGeom>
          <a:noFill/>
          <a:ln/>
        </p:spPr>
        <p:txBody>
          <a:bodyPr wrap="square" lIns="0" tIns="0" rIns="0" bIns="0"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Server</a:t>
            </a:r>
            <a:endParaRPr lang="en-US" sz="1200" dirty="0"/>
          </a:p>
        </p:txBody>
      </p:sp>
      <p:sp>
        <p:nvSpPr>
          <p:cNvPr id="39" name="Text 37"/>
          <p:cNvSpPr/>
          <p:nvPr/>
        </p:nvSpPr>
        <p:spPr>
          <a:xfrm>
            <a:off x="2286000" y="3675888"/>
            <a:ext cx="6492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Generates JWT token on success</a:t>
            </a:r>
            <a:endParaRPr lang="en-US" sz="1300" dirty="0"/>
          </a:p>
        </p:txBody>
      </p:sp>
      <p:sp>
        <p:nvSpPr>
          <p:cNvPr id="40" name="Shape 38"/>
          <p:cNvSpPr/>
          <p:nvPr/>
        </p:nvSpPr>
        <p:spPr>
          <a:xfrm>
            <a:off x="493776" y="4087368"/>
            <a:ext cx="0" cy="64008"/>
          </a:xfrm>
          <a:prstGeom prst="line">
            <a:avLst/>
          </a:prstGeom>
          <a:noFill/>
          <a:ln w="19050">
            <a:solidFill>
              <a:srgbClr val="10B981"/>
            </a:solidFill>
            <a:prstDash val="solid"/>
          </a:ln>
        </p:spPr>
      </p:sp>
      <p:sp>
        <p:nvSpPr>
          <p:cNvPr id="41" name="Shape 39"/>
          <p:cNvSpPr/>
          <p:nvPr/>
        </p:nvSpPr>
        <p:spPr>
          <a:xfrm>
            <a:off x="274320" y="4133088"/>
            <a:ext cx="438912" cy="411480"/>
          </a:xfrm>
          <a:prstGeom prst="rect">
            <a:avLst/>
          </a:prstGeom>
          <a:solidFill>
            <a:srgbClr val="10B981"/>
          </a:solidFill>
          <a:ln w="12700">
            <a:solidFill>
              <a:srgbClr val="10B981"/>
            </a:solidFill>
            <a:prstDash val="solid"/>
          </a:ln>
        </p:spPr>
      </p:sp>
      <p:sp>
        <p:nvSpPr>
          <p:cNvPr id="42" name="Text 40"/>
          <p:cNvSpPr/>
          <p:nvPr/>
        </p:nvSpPr>
        <p:spPr>
          <a:xfrm>
            <a:off x="274320" y="4133088"/>
            <a:ext cx="438912" cy="411480"/>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7</a:t>
            </a:r>
            <a:endParaRPr lang="en-US" sz="1400" dirty="0"/>
          </a:p>
        </p:txBody>
      </p:sp>
      <p:sp>
        <p:nvSpPr>
          <p:cNvPr id="43" name="Shape 41"/>
          <p:cNvSpPr/>
          <p:nvPr/>
        </p:nvSpPr>
        <p:spPr>
          <a:xfrm>
            <a:off x="777240" y="4133088"/>
            <a:ext cx="1371600" cy="411480"/>
          </a:xfrm>
          <a:prstGeom prst="roundRect">
            <a:avLst>
              <a:gd name="adj" fmla="val 11111"/>
            </a:avLst>
          </a:prstGeom>
          <a:solidFill>
            <a:srgbClr val="1E3A5F"/>
          </a:solidFill>
          <a:ln w="12700">
            <a:solidFill>
              <a:srgbClr val="10B981"/>
            </a:solidFill>
            <a:prstDash val="solid"/>
          </a:ln>
        </p:spPr>
      </p:sp>
      <p:sp>
        <p:nvSpPr>
          <p:cNvPr id="44" name="Text 42"/>
          <p:cNvSpPr/>
          <p:nvPr/>
        </p:nvSpPr>
        <p:spPr>
          <a:xfrm>
            <a:off x="777240" y="4133088"/>
            <a:ext cx="1371600" cy="411480"/>
          </a:xfrm>
          <a:prstGeom prst="rect">
            <a:avLst/>
          </a:prstGeom>
          <a:noFill/>
          <a:ln/>
        </p:spPr>
        <p:txBody>
          <a:bodyPr wrap="square" lIns="0" tIns="0" rIns="0" bIns="0"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Browser</a:t>
            </a:r>
            <a:endParaRPr lang="en-US" sz="1200" dirty="0"/>
          </a:p>
        </p:txBody>
      </p:sp>
      <p:sp>
        <p:nvSpPr>
          <p:cNvPr id="45" name="Text 43"/>
          <p:cNvSpPr/>
          <p:nvPr/>
        </p:nvSpPr>
        <p:spPr>
          <a:xfrm>
            <a:off x="2286000" y="4151376"/>
            <a:ext cx="6492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Stores token, redirects to Dashboard</a:t>
            </a:r>
            <a:endParaRPr lang="en-US" sz="1300" dirty="0"/>
          </a:p>
        </p:txBody>
      </p:sp>
      <p:sp>
        <p:nvSpPr>
          <p:cNvPr id="46" name="Shape 44"/>
          <p:cNvSpPr/>
          <p:nvPr/>
        </p:nvSpPr>
        <p:spPr>
          <a:xfrm>
            <a:off x="493776" y="4562856"/>
            <a:ext cx="0" cy="64008"/>
          </a:xfrm>
          <a:prstGeom prst="line">
            <a:avLst/>
          </a:prstGeom>
          <a:noFill/>
          <a:ln w="19050">
            <a:solidFill>
              <a:srgbClr val="10B981"/>
            </a:solidFill>
            <a:prstDash val="solid"/>
          </a:ln>
        </p:spPr>
      </p:sp>
      <p:sp>
        <p:nvSpPr>
          <p:cNvPr id="47" name="Shape 45"/>
          <p:cNvSpPr/>
          <p:nvPr/>
        </p:nvSpPr>
        <p:spPr>
          <a:xfrm>
            <a:off x="274320" y="4608576"/>
            <a:ext cx="438912" cy="411480"/>
          </a:xfrm>
          <a:prstGeom prst="rect">
            <a:avLst/>
          </a:prstGeom>
          <a:solidFill>
            <a:srgbClr val="0EA5E9"/>
          </a:solidFill>
          <a:ln w="12700">
            <a:solidFill>
              <a:srgbClr val="0EA5E9"/>
            </a:solidFill>
            <a:prstDash val="solid"/>
          </a:ln>
        </p:spPr>
      </p:sp>
      <p:sp>
        <p:nvSpPr>
          <p:cNvPr id="48" name="Text 46"/>
          <p:cNvSpPr/>
          <p:nvPr/>
        </p:nvSpPr>
        <p:spPr>
          <a:xfrm>
            <a:off x="274320" y="4608576"/>
            <a:ext cx="438912" cy="411480"/>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8</a:t>
            </a:r>
            <a:endParaRPr lang="en-US" sz="1400" dirty="0"/>
          </a:p>
        </p:txBody>
      </p:sp>
      <p:sp>
        <p:nvSpPr>
          <p:cNvPr id="49" name="Shape 47"/>
          <p:cNvSpPr/>
          <p:nvPr/>
        </p:nvSpPr>
        <p:spPr>
          <a:xfrm>
            <a:off x="777240" y="4608576"/>
            <a:ext cx="1371600" cy="411480"/>
          </a:xfrm>
          <a:prstGeom prst="roundRect">
            <a:avLst>
              <a:gd name="adj" fmla="val 11111"/>
            </a:avLst>
          </a:prstGeom>
          <a:solidFill>
            <a:srgbClr val="1E3A5F"/>
          </a:solidFill>
          <a:ln w="12700">
            <a:solidFill>
              <a:srgbClr val="0EA5E9"/>
            </a:solidFill>
            <a:prstDash val="solid"/>
          </a:ln>
        </p:spPr>
      </p:sp>
      <p:sp>
        <p:nvSpPr>
          <p:cNvPr id="50" name="Text 48"/>
          <p:cNvSpPr/>
          <p:nvPr/>
        </p:nvSpPr>
        <p:spPr>
          <a:xfrm>
            <a:off x="777240" y="4608576"/>
            <a:ext cx="1371600" cy="411480"/>
          </a:xfrm>
          <a:prstGeom prst="rect">
            <a:avLst/>
          </a:prstGeom>
          <a:noFill/>
          <a:ln/>
        </p:spPr>
        <p:txBody>
          <a:bodyPr wrap="square" lIns="0" tIns="0" rIns="0" bIns="0" rtlCol="0" anchor="ctr"/>
          <a:lstStyle/>
          <a:p>
            <a:pPr marL="0" indent="0" algn="ctr">
              <a:buNone/>
            </a:pPr>
            <a:r>
              <a:rPr lang="en-US" sz="1200" b="1" dirty="0">
                <a:solidFill>
                  <a:srgbClr val="0EA5E9"/>
                </a:solidFill>
                <a:latin typeface="Calibri" pitchFamily="34" charset="0"/>
                <a:ea typeface="Calibri" pitchFamily="34" charset="-122"/>
                <a:cs typeface="Calibri" pitchFamily="34" charset="-120"/>
              </a:rPr>
              <a:t>User</a:t>
            </a:r>
            <a:endParaRPr lang="en-US" sz="1200" dirty="0"/>
          </a:p>
        </p:txBody>
      </p:sp>
      <p:sp>
        <p:nvSpPr>
          <p:cNvPr id="51" name="Text 49"/>
          <p:cNvSpPr/>
          <p:nvPr/>
        </p:nvSpPr>
        <p:spPr>
          <a:xfrm>
            <a:off x="2286000" y="4626864"/>
            <a:ext cx="64922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Sees their personalised dashboard 🎉</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Quick Revision</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Key Concepts at a Glance</a:t>
            </a:r>
            <a:endParaRPr lang="en-US" sz="1400" dirty="0"/>
          </a:p>
        </p:txBody>
      </p:sp>
      <p:sp>
        <p:nvSpPr>
          <p:cNvPr id="5" name="Shape 3"/>
          <p:cNvSpPr/>
          <p:nvPr/>
        </p:nvSpPr>
        <p:spPr>
          <a:xfrm>
            <a:off x="274320" y="129844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274320" y="1298448"/>
            <a:ext cx="91440" cy="640080"/>
          </a:xfrm>
          <a:prstGeom prst="rect">
            <a:avLst/>
          </a:prstGeom>
          <a:solidFill>
            <a:srgbClr val="0EA5E9"/>
          </a:solidFill>
          <a:ln w="12700">
            <a:solidFill>
              <a:srgbClr val="0EA5E9"/>
            </a:solidFill>
            <a:prstDash val="solid"/>
          </a:ln>
        </p:spPr>
      </p:sp>
      <p:sp>
        <p:nvSpPr>
          <p:cNvPr id="7" name="Text 5"/>
          <p:cNvSpPr/>
          <p:nvPr/>
        </p:nvSpPr>
        <p:spPr>
          <a:xfrm>
            <a:off x="438912" y="1344168"/>
            <a:ext cx="1371600" cy="256032"/>
          </a:xfrm>
          <a:prstGeom prst="rect">
            <a:avLst/>
          </a:prstGeom>
          <a:noFill/>
          <a:ln/>
        </p:spPr>
        <p:txBody>
          <a:bodyPr wrap="square" lIns="0" tIns="0" rIns="0" bIns="0" rtlCol="0" anchor="ctr"/>
          <a:lstStyle/>
          <a:p>
            <a:pPr marL="0" indent="0">
              <a:buNone/>
            </a:pPr>
            <a:r>
              <a:rPr lang="en-US" sz="1300" b="1" dirty="0">
                <a:solidFill>
                  <a:srgbClr val="0EA5E9"/>
                </a:solidFill>
                <a:latin typeface="Calibri" pitchFamily="34" charset="0"/>
                <a:ea typeface="Calibri" pitchFamily="34" charset="-122"/>
                <a:cs typeface="Calibri" pitchFamily="34" charset="-120"/>
              </a:rPr>
              <a:t>Web App</a:t>
            </a:r>
            <a:endParaRPr lang="en-US" sz="1300" dirty="0"/>
          </a:p>
        </p:txBody>
      </p:sp>
      <p:sp>
        <p:nvSpPr>
          <p:cNvPr id="8" name="Text 6"/>
          <p:cNvSpPr/>
          <p:nvPr/>
        </p:nvSpPr>
        <p:spPr>
          <a:xfrm>
            <a:off x="438912" y="160020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Interactive software running in a browser</a:t>
            </a:r>
            <a:endParaRPr lang="en-US" sz="1150" dirty="0"/>
          </a:p>
        </p:txBody>
      </p:sp>
      <p:sp>
        <p:nvSpPr>
          <p:cNvPr id="9" name="Shape 7"/>
          <p:cNvSpPr/>
          <p:nvPr/>
        </p:nvSpPr>
        <p:spPr>
          <a:xfrm>
            <a:off x="4709160" y="129844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0" name="Shape 8"/>
          <p:cNvSpPr/>
          <p:nvPr/>
        </p:nvSpPr>
        <p:spPr>
          <a:xfrm>
            <a:off x="4709160" y="1298448"/>
            <a:ext cx="91440" cy="640080"/>
          </a:xfrm>
          <a:prstGeom prst="rect">
            <a:avLst/>
          </a:prstGeom>
          <a:solidFill>
            <a:srgbClr val="00D4FF"/>
          </a:solidFill>
          <a:ln w="12700">
            <a:solidFill>
              <a:srgbClr val="00D4FF"/>
            </a:solidFill>
            <a:prstDash val="solid"/>
          </a:ln>
        </p:spPr>
      </p:sp>
      <p:sp>
        <p:nvSpPr>
          <p:cNvPr id="11" name="Text 9"/>
          <p:cNvSpPr/>
          <p:nvPr/>
        </p:nvSpPr>
        <p:spPr>
          <a:xfrm>
            <a:off x="4873752" y="1344168"/>
            <a:ext cx="1371600" cy="256032"/>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Client-Server</a:t>
            </a:r>
            <a:endParaRPr lang="en-US" sz="1300" dirty="0"/>
          </a:p>
        </p:txBody>
      </p:sp>
      <p:sp>
        <p:nvSpPr>
          <p:cNvPr id="12" name="Text 10"/>
          <p:cNvSpPr/>
          <p:nvPr/>
        </p:nvSpPr>
        <p:spPr>
          <a:xfrm>
            <a:off x="4873752" y="160020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Client requests → Server responds</a:t>
            </a:r>
            <a:endParaRPr lang="en-US" sz="1150" dirty="0"/>
          </a:p>
        </p:txBody>
      </p:sp>
      <p:sp>
        <p:nvSpPr>
          <p:cNvPr id="13" name="Shape 11"/>
          <p:cNvSpPr/>
          <p:nvPr/>
        </p:nvSpPr>
        <p:spPr>
          <a:xfrm>
            <a:off x="274320" y="202996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4" name="Shape 12"/>
          <p:cNvSpPr/>
          <p:nvPr/>
        </p:nvSpPr>
        <p:spPr>
          <a:xfrm>
            <a:off x="274320" y="2029968"/>
            <a:ext cx="91440" cy="640080"/>
          </a:xfrm>
          <a:prstGeom prst="rect">
            <a:avLst/>
          </a:prstGeom>
          <a:solidFill>
            <a:srgbClr val="7C3AED"/>
          </a:solidFill>
          <a:ln w="12700">
            <a:solidFill>
              <a:srgbClr val="7C3AED"/>
            </a:solidFill>
            <a:prstDash val="solid"/>
          </a:ln>
        </p:spPr>
      </p:sp>
      <p:sp>
        <p:nvSpPr>
          <p:cNvPr id="15" name="Text 13"/>
          <p:cNvSpPr/>
          <p:nvPr/>
        </p:nvSpPr>
        <p:spPr>
          <a:xfrm>
            <a:off x="438912" y="2075688"/>
            <a:ext cx="1371600" cy="256032"/>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DNS</a:t>
            </a:r>
            <a:endParaRPr lang="en-US" sz="1300" dirty="0"/>
          </a:p>
        </p:txBody>
      </p:sp>
      <p:sp>
        <p:nvSpPr>
          <p:cNvPr id="16" name="Text 14"/>
          <p:cNvSpPr/>
          <p:nvPr/>
        </p:nvSpPr>
        <p:spPr>
          <a:xfrm>
            <a:off x="438912" y="233172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Translates domain name to IP address</a:t>
            </a:r>
            <a:endParaRPr lang="en-US" sz="1150" dirty="0"/>
          </a:p>
        </p:txBody>
      </p:sp>
      <p:sp>
        <p:nvSpPr>
          <p:cNvPr id="17" name="Shape 15"/>
          <p:cNvSpPr/>
          <p:nvPr/>
        </p:nvSpPr>
        <p:spPr>
          <a:xfrm>
            <a:off x="4709160" y="202996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8" name="Shape 16"/>
          <p:cNvSpPr/>
          <p:nvPr/>
        </p:nvSpPr>
        <p:spPr>
          <a:xfrm>
            <a:off x="4709160" y="2029968"/>
            <a:ext cx="91440" cy="640080"/>
          </a:xfrm>
          <a:prstGeom prst="rect">
            <a:avLst/>
          </a:prstGeom>
          <a:solidFill>
            <a:srgbClr val="F59E0B"/>
          </a:solidFill>
          <a:ln w="12700">
            <a:solidFill>
              <a:srgbClr val="F59E0B"/>
            </a:solidFill>
            <a:prstDash val="solid"/>
          </a:ln>
        </p:spPr>
      </p:sp>
      <p:sp>
        <p:nvSpPr>
          <p:cNvPr id="19" name="Text 17"/>
          <p:cNvSpPr/>
          <p:nvPr/>
        </p:nvSpPr>
        <p:spPr>
          <a:xfrm>
            <a:off x="4873752" y="2075688"/>
            <a:ext cx="1371600" cy="256032"/>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HTTP</a:t>
            </a:r>
            <a:endParaRPr lang="en-US" sz="1300" dirty="0"/>
          </a:p>
        </p:txBody>
      </p:sp>
      <p:sp>
        <p:nvSpPr>
          <p:cNvPr id="20" name="Text 18"/>
          <p:cNvSpPr/>
          <p:nvPr/>
        </p:nvSpPr>
        <p:spPr>
          <a:xfrm>
            <a:off x="4873752" y="233172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Protocol for browser-server communication</a:t>
            </a:r>
            <a:endParaRPr lang="en-US" sz="1150" dirty="0"/>
          </a:p>
        </p:txBody>
      </p:sp>
      <p:sp>
        <p:nvSpPr>
          <p:cNvPr id="21" name="Shape 19"/>
          <p:cNvSpPr/>
          <p:nvPr/>
        </p:nvSpPr>
        <p:spPr>
          <a:xfrm>
            <a:off x="274320" y="276148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2" name="Shape 20"/>
          <p:cNvSpPr/>
          <p:nvPr/>
        </p:nvSpPr>
        <p:spPr>
          <a:xfrm>
            <a:off x="274320" y="2761488"/>
            <a:ext cx="91440" cy="640080"/>
          </a:xfrm>
          <a:prstGeom prst="rect">
            <a:avLst/>
          </a:prstGeom>
          <a:solidFill>
            <a:srgbClr val="10B981"/>
          </a:solidFill>
          <a:ln w="12700">
            <a:solidFill>
              <a:srgbClr val="10B981"/>
            </a:solidFill>
            <a:prstDash val="solid"/>
          </a:ln>
        </p:spPr>
      </p:sp>
      <p:sp>
        <p:nvSpPr>
          <p:cNvPr id="23" name="Text 21"/>
          <p:cNvSpPr/>
          <p:nvPr/>
        </p:nvSpPr>
        <p:spPr>
          <a:xfrm>
            <a:off x="438912" y="2807208"/>
            <a:ext cx="1371600" cy="256032"/>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REST API</a:t>
            </a:r>
            <a:endParaRPr lang="en-US" sz="1300" dirty="0"/>
          </a:p>
        </p:txBody>
      </p:sp>
      <p:sp>
        <p:nvSpPr>
          <p:cNvPr id="24" name="Text 22"/>
          <p:cNvSpPr/>
          <p:nvPr/>
        </p:nvSpPr>
        <p:spPr>
          <a:xfrm>
            <a:off x="438912" y="306324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Standard interface using HTTP verbs (GET/POST/PUT/DEL)</a:t>
            </a:r>
            <a:endParaRPr lang="en-US" sz="1150" dirty="0"/>
          </a:p>
        </p:txBody>
      </p:sp>
      <p:sp>
        <p:nvSpPr>
          <p:cNvPr id="25" name="Shape 23"/>
          <p:cNvSpPr/>
          <p:nvPr/>
        </p:nvSpPr>
        <p:spPr>
          <a:xfrm>
            <a:off x="4709160" y="276148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6" name="Shape 24"/>
          <p:cNvSpPr/>
          <p:nvPr/>
        </p:nvSpPr>
        <p:spPr>
          <a:xfrm>
            <a:off x="4709160" y="2761488"/>
            <a:ext cx="91440" cy="640080"/>
          </a:xfrm>
          <a:prstGeom prst="rect">
            <a:avLst/>
          </a:prstGeom>
          <a:solidFill>
            <a:srgbClr val="EF4444"/>
          </a:solidFill>
          <a:ln w="12700">
            <a:solidFill>
              <a:srgbClr val="EF4444"/>
            </a:solidFill>
            <a:prstDash val="solid"/>
          </a:ln>
        </p:spPr>
      </p:sp>
      <p:sp>
        <p:nvSpPr>
          <p:cNvPr id="27" name="Text 25"/>
          <p:cNvSpPr/>
          <p:nvPr/>
        </p:nvSpPr>
        <p:spPr>
          <a:xfrm>
            <a:off x="4873752" y="2807208"/>
            <a:ext cx="1371600" cy="256032"/>
          </a:xfrm>
          <a:prstGeom prst="rect">
            <a:avLst/>
          </a:prstGeom>
          <a:noFill/>
          <a:ln/>
        </p:spPr>
        <p:txBody>
          <a:bodyPr wrap="square" lIns="0" tIns="0" rIns="0" bIns="0"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Monolith</a:t>
            </a:r>
            <a:endParaRPr lang="en-US" sz="1300" dirty="0"/>
          </a:p>
        </p:txBody>
      </p:sp>
      <p:sp>
        <p:nvSpPr>
          <p:cNvPr id="28" name="Text 26"/>
          <p:cNvSpPr/>
          <p:nvPr/>
        </p:nvSpPr>
        <p:spPr>
          <a:xfrm>
            <a:off x="4873752" y="306324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All modules in one deployable unit</a:t>
            </a:r>
            <a:endParaRPr lang="en-US" sz="1150" dirty="0"/>
          </a:p>
        </p:txBody>
      </p:sp>
      <p:sp>
        <p:nvSpPr>
          <p:cNvPr id="29" name="Shape 27"/>
          <p:cNvSpPr/>
          <p:nvPr/>
        </p:nvSpPr>
        <p:spPr>
          <a:xfrm>
            <a:off x="274320" y="349300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0" name="Shape 28"/>
          <p:cNvSpPr/>
          <p:nvPr/>
        </p:nvSpPr>
        <p:spPr>
          <a:xfrm>
            <a:off x="274320" y="3493008"/>
            <a:ext cx="91440" cy="640080"/>
          </a:xfrm>
          <a:prstGeom prst="rect">
            <a:avLst/>
          </a:prstGeom>
          <a:solidFill>
            <a:srgbClr val="0EA5E9"/>
          </a:solidFill>
          <a:ln w="12700">
            <a:solidFill>
              <a:srgbClr val="0EA5E9"/>
            </a:solidFill>
            <a:prstDash val="solid"/>
          </a:ln>
        </p:spPr>
      </p:sp>
      <p:sp>
        <p:nvSpPr>
          <p:cNvPr id="31" name="Text 29"/>
          <p:cNvSpPr/>
          <p:nvPr/>
        </p:nvSpPr>
        <p:spPr>
          <a:xfrm>
            <a:off x="438912" y="3538728"/>
            <a:ext cx="1371600" cy="256032"/>
          </a:xfrm>
          <a:prstGeom prst="rect">
            <a:avLst/>
          </a:prstGeom>
          <a:noFill/>
          <a:ln/>
        </p:spPr>
        <p:txBody>
          <a:bodyPr wrap="square" lIns="0" tIns="0" rIns="0" bIns="0" rtlCol="0" anchor="ctr"/>
          <a:lstStyle/>
          <a:p>
            <a:pPr marL="0" indent="0">
              <a:buNone/>
            </a:pPr>
            <a:r>
              <a:rPr lang="en-US" sz="1300" b="1" dirty="0">
                <a:solidFill>
                  <a:srgbClr val="0EA5E9"/>
                </a:solidFill>
                <a:latin typeface="Calibri" pitchFamily="34" charset="0"/>
                <a:ea typeface="Calibri" pitchFamily="34" charset="-122"/>
                <a:cs typeface="Calibri" pitchFamily="34" charset="-120"/>
              </a:rPr>
              <a:t>Microservices</a:t>
            </a:r>
            <a:endParaRPr lang="en-US" sz="1300" dirty="0"/>
          </a:p>
        </p:txBody>
      </p:sp>
      <p:sp>
        <p:nvSpPr>
          <p:cNvPr id="32" name="Text 30"/>
          <p:cNvSpPr/>
          <p:nvPr/>
        </p:nvSpPr>
        <p:spPr>
          <a:xfrm>
            <a:off x="438912" y="379476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Independent services, each with its own DB</a:t>
            </a:r>
            <a:endParaRPr lang="en-US" sz="1150" dirty="0"/>
          </a:p>
        </p:txBody>
      </p:sp>
      <p:sp>
        <p:nvSpPr>
          <p:cNvPr id="33" name="Shape 31"/>
          <p:cNvSpPr/>
          <p:nvPr/>
        </p:nvSpPr>
        <p:spPr>
          <a:xfrm>
            <a:off x="4709160" y="349300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4" name="Shape 32"/>
          <p:cNvSpPr/>
          <p:nvPr/>
        </p:nvSpPr>
        <p:spPr>
          <a:xfrm>
            <a:off x="4709160" y="3493008"/>
            <a:ext cx="91440" cy="640080"/>
          </a:xfrm>
          <a:prstGeom prst="rect">
            <a:avLst/>
          </a:prstGeom>
          <a:solidFill>
            <a:srgbClr val="00D4FF"/>
          </a:solidFill>
          <a:ln w="12700">
            <a:solidFill>
              <a:srgbClr val="00D4FF"/>
            </a:solidFill>
            <a:prstDash val="solid"/>
          </a:ln>
        </p:spPr>
      </p:sp>
      <p:sp>
        <p:nvSpPr>
          <p:cNvPr id="35" name="Text 33"/>
          <p:cNvSpPr/>
          <p:nvPr/>
        </p:nvSpPr>
        <p:spPr>
          <a:xfrm>
            <a:off x="4873752" y="3538728"/>
            <a:ext cx="1371600" cy="256032"/>
          </a:xfrm>
          <a:prstGeom prst="rect">
            <a:avLst/>
          </a:prstGeom>
          <a:noFill/>
          <a:ln/>
        </p:spPr>
        <p:txBody>
          <a:bodyPr wrap="square" lIns="0" tIns="0" rIns="0" bIns="0"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Load Balancer</a:t>
            </a:r>
            <a:endParaRPr lang="en-US" sz="1300" dirty="0"/>
          </a:p>
        </p:txBody>
      </p:sp>
      <p:sp>
        <p:nvSpPr>
          <p:cNvPr id="36" name="Text 34"/>
          <p:cNvSpPr/>
          <p:nvPr/>
        </p:nvSpPr>
        <p:spPr>
          <a:xfrm>
            <a:off x="4873752" y="379476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Distributes traffic across multiple servers</a:t>
            </a:r>
            <a:endParaRPr lang="en-US" sz="1150" dirty="0"/>
          </a:p>
        </p:txBody>
      </p:sp>
      <p:sp>
        <p:nvSpPr>
          <p:cNvPr id="37" name="Shape 35"/>
          <p:cNvSpPr/>
          <p:nvPr/>
        </p:nvSpPr>
        <p:spPr>
          <a:xfrm>
            <a:off x="274320" y="422452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38" name="Shape 36"/>
          <p:cNvSpPr/>
          <p:nvPr/>
        </p:nvSpPr>
        <p:spPr>
          <a:xfrm>
            <a:off x="274320" y="4224528"/>
            <a:ext cx="91440" cy="640080"/>
          </a:xfrm>
          <a:prstGeom prst="rect">
            <a:avLst/>
          </a:prstGeom>
          <a:solidFill>
            <a:srgbClr val="7C3AED"/>
          </a:solidFill>
          <a:ln w="12700">
            <a:solidFill>
              <a:srgbClr val="7C3AED"/>
            </a:solidFill>
            <a:prstDash val="solid"/>
          </a:ln>
        </p:spPr>
      </p:sp>
      <p:sp>
        <p:nvSpPr>
          <p:cNvPr id="39" name="Text 37"/>
          <p:cNvSpPr/>
          <p:nvPr/>
        </p:nvSpPr>
        <p:spPr>
          <a:xfrm>
            <a:off x="438912" y="4270248"/>
            <a:ext cx="1371600" cy="256032"/>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JSON</a:t>
            </a:r>
            <a:endParaRPr lang="en-US" sz="1300" dirty="0"/>
          </a:p>
        </p:txBody>
      </p:sp>
      <p:sp>
        <p:nvSpPr>
          <p:cNvPr id="40" name="Text 38"/>
          <p:cNvSpPr/>
          <p:nvPr/>
        </p:nvSpPr>
        <p:spPr>
          <a:xfrm>
            <a:off x="438912" y="452628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Lightweight data format for API communication</a:t>
            </a:r>
            <a:endParaRPr lang="en-US" sz="1150" dirty="0"/>
          </a:p>
        </p:txBody>
      </p:sp>
      <p:sp>
        <p:nvSpPr>
          <p:cNvPr id="41" name="Shape 39"/>
          <p:cNvSpPr/>
          <p:nvPr/>
        </p:nvSpPr>
        <p:spPr>
          <a:xfrm>
            <a:off x="4709160" y="4224528"/>
            <a:ext cx="4206240" cy="6400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42" name="Shape 40"/>
          <p:cNvSpPr/>
          <p:nvPr/>
        </p:nvSpPr>
        <p:spPr>
          <a:xfrm>
            <a:off x="4709160" y="4224528"/>
            <a:ext cx="91440" cy="640080"/>
          </a:xfrm>
          <a:prstGeom prst="rect">
            <a:avLst/>
          </a:prstGeom>
          <a:solidFill>
            <a:srgbClr val="F59E0B"/>
          </a:solidFill>
          <a:ln w="12700">
            <a:solidFill>
              <a:srgbClr val="F59E0B"/>
            </a:solidFill>
            <a:prstDash val="solid"/>
          </a:ln>
        </p:spPr>
      </p:sp>
      <p:sp>
        <p:nvSpPr>
          <p:cNvPr id="43" name="Text 41"/>
          <p:cNvSpPr/>
          <p:nvPr/>
        </p:nvSpPr>
        <p:spPr>
          <a:xfrm>
            <a:off x="4873752" y="4270248"/>
            <a:ext cx="1371600" cy="256032"/>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Status Codes</a:t>
            </a:r>
            <a:endParaRPr lang="en-US" sz="1300" dirty="0"/>
          </a:p>
        </p:txBody>
      </p:sp>
      <p:sp>
        <p:nvSpPr>
          <p:cNvPr id="44" name="Text 42"/>
          <p:cNvSpPr/>
          <p:nvPr/>
        </p:nvSpPr>
        <p:spPr>
          <a:xfrm>
            <a:off x="4873752" y="4526280"/>
            <a:ext cx="3913632"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200=OK, 404=Not Found, 500=Server Error</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to Learn Next</a:t>
            </a:r>
            <a:endParaRPr lang="en-US" sz="32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Your Learning Path Forward 🚀</a:t>
            </a:r>
            <a:endParaRPr lang="en-US" sz="1400" dirty="0"/>
          </a:p>
        </p:txBody>
      </p:sp>
      <p:sp>
        <p:nvSpPr>
          <p:cNvPr id="5" name="Shape 3"/>
          <p:cNvSpPr/>
          <p:nvPr/>
        </p:nvSpPr>
        <p:spPr>
          <a:xfrm>
            <a:off x="274320" y="1234440"/>
            <a:ext cx="2697480" cy="26974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6" name="Shape 4"/>
          <p:cNvSpPr/>
          <p:nvPr/>
        </p:nvSpPr>
        <p:spPr>
          <a:xfrm>
            <a:off x="274320" y="1234440"/>
            <a:ext cx="2697480" cy="64008"/>
          </a:xfrm>
          <a:prstGeom prst="rect">
            <a:avLst/>
          </a:prstGeom>
          <a:solidFill>
            <a:srgbClr val="10B981"/>
          </a:solidFill>
          <a:ln w="12700">
            <a:solidFill>
              <a:srgbClr val="10B981"/>
            </a:solidFill>
            <a:prstDash val="solid"/>
          </a:ln>
        </p:spPr>
      </p:sp>
      <p:sp>
        <p:nvSpPr>
          <p:cNvPr id="7" name="Text 5"/>
          <p:cNvSpPr/>
          <p:nvPr/>
        </p:nvSpPr>
        <p:spPr>
          <a:xfrm>
            <a:off x="274320" y="1353312"/>
            <a:ext cx="2697480" cy="59436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274320" y="1920240"/>
            <a:ext cx="2697480" cy="384048"/>
          </a:xfrm>
          <a:prstGeom prst="rect">
            <a:avLst/>
          </a:prstGeom>
          <a:noFill/>
          <a:ln/>
        </p:spPr>
        <p:txBody>
          <a:bodyPr wrap="square" lIns="0" tIns="0" rIns="0" bIns="0" rtlCol="0" anchor="ctr"/>
          <a:lstStyle/>
          <a:p>
            <a:pPr marL="0" indent="0" algn="ctr">
              <a:buNone/>
            </a:pPr>
            <a:r>
              <a:rPr lang="en-US" sz="1400" b="1" dirty="0">
                <a:solidFill>
                  <a:srgbClr val="10B981"/>
                </a:solidFill>
                <a:latin typeface="Calibri" pitchFamily="34" charset="0"/>
                <a:ea typeface="Calibri" pitchFamily="34" charset="-122"/>
                <a:cs typeface="Calibri" pitchFamily="34" charset="-120"/>
              </a:rPr>
              <a:t>BEGINNER</a:t>
            </a:r>
            <a:endParaRPr lang="en-US" sz="1400" dirty="0"/>
          </a:p>
        </p:txBody>
      </p:sp>
      <p:sp>
        <p:nvSpPr>
          <p:cNvPr id="9" name="Shape 7"/>
          <p:cNvSpPr/>
          <p:nvPr/>
        </p:nvSpPr>
        <p:spPr>
          <a:xfrm>
            <a:off x="475488" y="2404872"/>
            <a:ext cx="146304" cy="146304"/>
          </a:xfrm>
          <a:prstGeom prst="ellipse">
            <a:avLst/>
          </a:prstGeom>
          <a:solidFill>
            <a:srgbClr val="10B981"/>
          </a:solidFill>
          <a:ln w="12700">
            <a:solidFill>
              <a:srgbClr val="10B981"/>
            </a:solidFill>
            <a:prstDash val="solid"/>
          </a:ln>
        </p:spPr>
      </p:sp>
      <p:sp>
        <p:nvSpPr>
          <p:cNvPr id="10" name="Text 8"/>
          <p:cNvSpPr/>
          <p:nvPr/>
        </p:nvSpPr>
        <p:spPr>
          <a:xfrm>
            <a:off x="713232" y="23774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HTML, CSS, JavaScript basics</a:t>
            </a:r>
            <a:endParaRPr lang="en-US" sz="1200" dirty="0"/>
          </a:p>
        </p:txBody>
      </p:sp>
      <p:sp>
        <p:nvSpPr>
          <p:cNvPr id="11" name="Shape 9"/>
          <p:cNvSpPr/>
          <p:nvPr/>
        </p:nvSpPr>
        <p:spPr>
          <a:xfrm>
            <a:off x="475488" y="2862072"/>
            <a:ext cx="146304" cy="146304"/>
          </a:xfrm>
          <a:prstGeom prst="ellipse">
            <a:avLst/>
          </a:prstGeom>
          <a:solidFill>
            <a:srgbClr val="10B981"/>
          </a:solidFill>
          <a:ln w="12700">
            <a:solidFill>
              <a:srgbClr val="10B981"/>
            </a:solidFill>
            <a:prstDash val="solid"/>
          </a:ln>
        </p:spPr>
      </p:sp>
      <p:sp>
        <p:nvSpPr>
          <p:cNvPr id="12" name="Text 10"/>
          <p:cNvSpPr/>
          <p:nvPr/>
        </p:nvSpPr>
        <p:spPr>
          <a:xfrm>
            <a:off x="713232" y="28346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Git &amp; GitHub</a:t>
            </a:r>
            <a:endParaRPr lang="en-US" sz="1200" dirty="0"/>
          </a:p>
        </p:txBody>
      </p:sp>
      <p:sp>
        <p:nvSpPr>
          <p:cNvPr id="13" name="Shape 11"/>
          <p:cNvSpPr/>
          <p:nvPr/>
        </p:nvSpPr>
        <p:spPr>
          <a:xfrm>
            <a:off x="475488" y="3319272"/>
            <a:ext cx="146304" cy="146304"/>
          </a:xfrm>
          <a:prstGeom prst="ellipse">
            <a:avLst/>
          </a:prstGeom>
          <a:solidFill>
            <a:srgbClr val="10B981"/>
          </a:solidFill>
          <a:ln w="12700">
            <a:solidFill>
              <a:srgbClr val="10B981"/>
            </a:solidFill>
            <a:prstDash val="solid"/>
          </a:ln>
        </p:spPr>
      </p:sp>
      <p:sp>
        <p:nvSpPr>
          <p:cNvPr id="14" name="Text 12"/>
          <p:cNvSpPr/>
          <p:nvPr/>
        </p:nvSpPr>
        <p:spPr>
          <a:xfrm>
            <a:off x="713232" y="32918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Basic REST API with Postman</a:t>
            </a:r>
            <a:endParaRPr lang="en-US" sz="1200" dirty="0"/>
          </a:p>
        </p:txBody>
      </p:sp>
      <p:sp>
        <p:nvSpPr>
          <p:cNvPr id="15" name="Shape 13"/>
          <p:cNvSpPr/>
          <p:nvPr/>
        </p:nvSpPr>
        <p:spPr>
          <a:xfrm>
            <a:off x="3246120" y="1234440"/>
            <a:ext cx="2697480" cy="26974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16" name="Shape 14"/>
          <p:cNvSpPr/>
          <p:nvPr/>
        </p:nvSpPr>
        <p:spPr>
          <a:xfrm>
            <a:off x="3246120" y="1234440"/>
            <a:ext cx="2697480" cy="64008"/>
          </a:xfrm>
          <a:prstGeom prst="rect">
            <a:avLst/>
          </a:prstGeom>
          <a:solidFill>
            <a:srgbClr val="00D4FF"/>
          </a:solidFill>
          <a:ln w="12700">
            <a:solidFill>
              <a:srgbClr val="00D4FF"/>
            </a:solidFill>
            <a:prstDash val="solid"/>
          </a:ln>
        </p:spPr>
      </p:sp>
      <p:sp>
        <p:nvSpPr>
          <p:cNvPr id="17" name="Text 15"/>
          <p:cNvSpPr/>
          <p:nvPr/>
        </p:nvSpPr>
        <p:spPr>
          <a:xfrm>
            <a:off x="3246120" y="1353312"/>
            <a:ext cx="2697480" cy="59436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8" name="Text 16"/>
          <p:cNvSpPr/>
          <p:nvPr/>
        </p:nvSpPr>
        <p:spPr>
          <a:xfrm>
            <a:off x="3246120" y="1920240"/>
            <a:ext cx="2697480" cy="384048"/>
          </a:xfrm>
          <a:prstGeom prst="rect">
            <a:avLst/>
          </a:prstGeom>
          <a:noFill/>
          <a:ln/>
        </p:spPr>
        <p:txBody>
          <a:bodyPr wrap="square" lIns="0" tIns="0" rIns="0" bIns="0" rtlCol="0" anchor="ctr"/>
          <a:lstStyle/>
          <a:p>
            <a:pPr marL="0" indent="0" algn="ctr">
              <a:buNone/>
            </a:pPr>
            <a:r>
              <a:rPr lang="en-US" sz="1400" b="1" dirty="0">
                <a:solidFill>
                  <a:srgbClr val="00D4FF"/>
                </a:solidFill>
                <a:latin typeface="Calibri" pitchFamily="34" charset="0"/>
                <a:ea typeface="Calibri" pitchFamily="34" charset="-122"/>
                <a:cs typeface="Calibri" pitchFamily="34" charset="-120"/>
              </a:rPr>
              <a:t>INTERMEDIATE</a:t>
            </a:r>
            <a:endParaRPr lang="en-US" sz="1400" dirty="0"/>
          </a:p>
        </p:txBody>
      </p:sp>
      <p:sp>
        <p:nvSpPr>
          <p:cNvPr id="19" name="Shape 17"/>
          <p:cNvSpPr/>
          <p:nvPr/>
        </p:nvSpPr>
        <p:spPr>
          <a:xfrm>
            <a:off x="3447288" y="2404872"/>
            <a:ext cx="146304" cy="146304"/>
          </a:xfrm>
          <a:prstGeom prst="ellipse">
            <a:avLst/>
          </a:prstGeom>
          <a:solidFill>
            <a:srgbClr val="00D4FF"/>
          </a:solidFill>
          <a:ln w="12700">
            <a:solidFill>
              <a:srgbClr val="00D4FF"/>
            </a:solidFill>
            <a:prstDash val="solid"/>
          </a:ln>
        </p:spPr>
      </p:sp>
      <p:sp>
        <p:nvSpPr>
          <p:cNvPr id="20" name="Text 18"/>
          <p:cNvSpPr/>
          <p:nvPr/>
        </p:nvSpPr>
        <p:spPr>
          <a:xfrm>
            <a:off x="3685032" y="23774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Spring Boot / Node.js</a:t>
            </a:r>
            <a:endParaRPr lang="en-US" sz="1200" dirty="0"/>
          </a:p>
        </p:txBody>
      </p:sp>
      <p:sp>
        <p:nvSpPr>
          <p:cNvPr id="21" name="Shape 19"/>
          <p:cNvSpPr/>
          <p:nvPr/>
        </p:nvSpPr>
        <p:spPr>
          <a:xfrm>
            <a:off x="3447288" y="2862072"/>
            <a:ext cx="146304" cy="146304"/>
          </a:xfrm>
          <a:prstGeom prst="ellipse">
            <a:avLst/>
          </a:prstGeom>
          <a:solidFill>
            <a:srgbClr val="00D4FF"/>
          </a:solidFill>
          <a:ln w="12700">
            <a:solidFill>
              <a:srgbClr val="00D4FF"/>
            </a:solidFill>
            <a:prstDash val="solid"/>
          </a:ln>
        </p:spPr>
      </p:sp>
      <p:sp>
        <p:nvSpPr>
          <p:cNvPr id="22" name="Text 20"/>
          <p:cNvSpPr/>
          <p:nvPr/>
        </p:nvSpPr>
        <p:spPr>
          <a:xfrm>
            <a:off x="3685032" y="28346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SQL + NoSQL Databases</a:t>
            </a:r>
            <a:endParaRPr lang="en-US" sz="1200" dirty="0"/>
          </a:p>
        </p:txBody>
      </p:sp>
      <p:sp>
        <p:nvSpPr>
          <p:cNvPr id="23" name="Shape 21"/>
          <p:cNvSpPr/>
          <p:nvPr/>
        </p:nvSpPr>
        <p:spPr>
          <a:xfrm>
            <a:off x="3447288" y="3319272"/>
            <a:ext cx="146304" cy="146304"/>
          </a:xfrm>
          <a:prstGeom prst="ellipse">
            <a:avLst/>
          </a:prstGeom>
          <a:solidFill>
            <a:srgbClr val="00D4FF"/>
          </a:solidFill>
          <a:ln w="12700">
            <a:solidFill>
              <a:srgbClr val="00D4FF"/>
            </a:solidFill>
            <a:prstDash val="solid"/>
          </a:ln>
        </p:spPr>
      </p:sp>
      <p:sp>
        <p:nvSpPr>
          <p:cNvPr id="24" name="Text 22"/>
          <p:cNvSpPr/>
          <p:nvPr/>
        </p:nvSpPr>
        <p:spPr>
          <a:xfrm>
            <a:off x="3685032" y="32918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Authentication (JWT, OAuth)</a:t>
            </a:r>
            <a:endParaRPr lang="en-US" sz="1200" dirty="0"/>
          </a:p>
        </p:txBody>
      </p:sp>
      <p:sp>
        <p:nvSpPr>
          <p:cNvPr id="25" name="Shape 23"/>
          <p:cNvSpPr/>
          <p:nvPr/>
        </p:nvSpPr>
        <p:spPr>
          <a:xfrm>
            <a:off x="6217920" y="1234440"/>
            <a:ext cx="2697480" cy="2697480"/>
          </a:xfrm>
          <a:prstGeom prst="rect">
            <a:avLst/>
          </a:prstGeom>
          <a:solidFill>
            <a:srgbClr val="1E3A5F"/>
          </a:solidFill>
          <a:ln w="12700">
            <a:solidFill>
              <a:srgbClr val="1E3A5F"/>
            </a:solidFill>
            <a:prstDash val="solid"/>
          </a:ln>
          <a:effectLst>
            <a:outerShdw blurRad="101600" dist="38100" dir="8100000" algn="bl" rotWithShape="0">
              <a:srgbClr val="000000">
                <a:alpha val="25000"/>
              </a:srgbClr>
            </a:outerShdw>
          </a:effectLst>
        </p:spPr>
      </p:sp>
      <p:sp>
        <p:nvSpPr>
          <p:cNvPr id="26" name="Shape 24"/>
          <p:cNvSpPr/>
          <p:nvPr/>
        </p:nvSpPr>
        <p:spPr>
          <a:xfrm>
            <a:off x="6217920" y="1234440"/>
            <a:ext cx="2697480" cy="64008"/>
          </a:xfrm>
          <a:prstGeom prst="rect">
            <a:avLst/>
          </a:prstGeom>
          <a:solidFill>
            <a:srgbClr val="7C3AED"/>
          </a:solidFill>
          <a:ln w="12700">
            <a:solidFill>
              <a:srgbClr val="7C3AED"/>
            </a:solidFill>
            <a:prstDash val="solid"/>
          </a:ln>
        </p:spPr>
      </p:sp>
      <p:sp>
        <p:nvSpPr>
          <p:cNvPr id="27" name="Text 25"/>
          <p:cNvSpPr/>
          <p:nvPr/>
        </p:nvSpPr>
        <p:spPr>
          <a:xfrm>
            <a:off x="6217920" y="1353312"/>
            <a:ext cx="2697480" cy="59436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8" name="Text 26"/>
          <p:cNvSpPr/>
          <p:nvPr/>
        </p:nvSpPr>
        <p:spPr>
          <a:xfrm>
            <a:off x="6217920" y="1920240"/>
            <a:ext cx="2697480" cy="384048"/>
          </a:xfrm>
          <a:prstGeom prst="rect">
            <a:avLst/>
          </a:prstGeom>
          <a:noFill/>
          <a:ln/>
        </p:spPr>
        <p:txBody>
          <a:bodyPr wrap="square" lIns="0" tIns="0" rIns="0" bIns="0" rtlCol="0" anchor="ctr"/>
          <a:lstStyle/>
          <a:p>
            <a:pPr marL="0" indent="0" algn="ctr">
              <a:buNone/>
            </a:pPr>
            <a:r>
              <a:rPr lang="en-US" sz="1400" b="1" dirty="0">
                <a:solidFill>
                  <a:srgbClr val="7C3AED"/>
                </a:solidFill>
                <a:latin typeface="Calibri" pitchFamily="34" charset="0"/>
                <a:ea typeface="Calibri" pitchFamily="34" charset="-122"/>
                <a:cs typeface="Calibri" pitchFamily="34" charset="-120"/>
              </a:rPr>
              <a:t>ADVANCED</a:t>
            </a:r>
            <a:endParaRPr lang="en-US" sz="1400" dirty="0"/>
          </a:p>
        </p:txBody>
      </p:sp>
      <p:sp>
        <p:nvSpPr>
          <p:cNvPr id="29" name="Shape 27"/>
          <p:cNvSpPr/>
          <p:nvPr/>
        </p:nvSpPr>
        <p:spPr>
          <a:xfrm>
            <a:off x="6419088" y="2404872"/>
            <a:ext cx="146304" cy="146304"/>
          </a:xfrm>
          <a:prstGeom prst="ellipse">
            <a:avLst/>
          </a:prstGeom>
          <a:solidFill>
            <a:srgbClr val="7C3AED"/>
          </a:solidFill>
          <a:ln w="12700">
            <a:solidFill>
              <a:srgbClr val="7C3AED"/>
            </a:solidFill>
            <a:prstDash val="solid"/>
          </a:ln>
        </p:spPr>
      </p:sp>
      <p:sp>
        <p:nvSpPr>
          <p:cNvPr id="30" name="Text 28"/>
          <p:cNvSpPr/>
          <p:nvPr/>
        </p:nvSpPr>
        <p:spPr>
          <a:xfrm>
            <a:off x="6656832" y="23774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Docker &amp; Kubernetes</a:t>
            </a:r>
            <a:endParaRPr lang="en-US" sz="1200" dirty="0"/>
          </a:p>
        </p:txBody>
      </p:sp>
      <p:sp>
        <p:nvSpPr>
          <p:cNvPr id="31" name="Shape 29"/>
          <p:cNvSpPr/>
          <p:nvPr/>
        </p:nvSpPr>
        <p:spPr>
          <a:xfrm>
            <a:off x="6419088" y="2862072"/>
            <a:ext cx="146304" cy="146304"/>
          </a:xfrm>
          <a:prstGeom prst="ellipse">
            <a:avLst/>
          </a:prstGeom>
          <a:solidFill>
            <a:srgbClr val="7C3AED"/>
          </a:solidFill>
          <a:ln w="12700">
            <a:solidFill>
              <a:srgbClr val="7C3AED"/>
            </a:solidFill>
            <a:prstDash val="solid"/>
          </a:ln>
        </p:spPr>
      </p:sp>
      <p:sp>
        <p:nvSpPr>
          <p:cNvPr id="32" name="Text 30"/>
          <p:cNvSpPr/>
          <p:nvPr/>
        </p:nvSpPr>
        <p:spPr>
          <a:xfrm>
            <a:off x="6656832" y="28346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System Design patterns</a:t>
            </a:r>
            <a:endParaRPr lang="en-US" sz="1200" dirty="0"/>
          </a:p>
        </p:txBody>
      </p:sp>
      <p:sp>
        <p:nvSpPr>
          <p:cNvPr id="33" name="Shape 31"/>
          <p:cNvSpPr/>
          <p:nvPr/>
        </p:nvSpPr>
        <p:spPr>
          <a:xfrm>
            <a:off x="6419088" y="3319272"/>
            <a:ext cx="146304" cy="146304"/>
          </a:xfrm>
          <a:prstGeom prst="ellipse">
            <a:avLst/>
          </a:prstGeom>
          <a:solidFill>
            <a:srgbClr val="7C3AED"/>
          </a:solidFill>
          <a:ln w="12700">
            <a:solidFill>
              <a:srgbClr val="7C3AED"/>
            </a:solidFill>
            <a:prstDash val="solid"/>
          </a:ln>
        </p:spPr>
      </p:sp>
      <p:sp>
        <p:nvSpPr>
          <p:cNvPr id="34" name="Text 32"/>
          <p:cNvSpPr/>
          <p:nvPr/>
        </p:nvSpPr>
        <p:spPr>
          <a:xfrm>
            <a:off x="6656832" y="3291840"/>
            <a:ext cx="2176272"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CI/CD Pipelines</a:t>
            </a:r>
            <a:endParaRPr lang="en-US" sz="1200" dirty="0"/>
          </a:p>
        </p:txBody>
      </p:sp>
      <p:sp>
        <p:nvSpPr>
          <p:cNvPr id="35" name="Shape 33"/>
          <p:cNvSpPr/>
          <p:nvPr/>
        </p:nvSpPr>
        <p:spPr>
          <a:xfrm>
            <a:off x="274320" y="4069080"/>
            <a:ext cx="8549640" cy="502920"/>
          </a:xfrm>
          <a:prstGeom prst="rect">
            <a:avLst/>
          </a:prstGeom>
          <a:solidFill>
            <a:srgbClr val="172554"/>
          </a:solidFill>
          <a:ln w="12700">
            <a:solidFill>
              <a:srgbClr val="1E3A5F"/>
            </a:solidFill>
            <a:prstDash val="solid"/>
          </a:ln>
          <a:effectLst>
            <a:outerShdw blurRad="101600" dist="38100" dir="8100000" algn="bl" rotWithShape="0">
              <a:srgbClr val="000000">
                <a:alpha val="25000"/>
              </a:srgbClr>
            </a:outerShdw>
          </a:effectLst>
        </p:spPr>
      </p:sp>
      <p:sp>
        <p:nvSpPr>
          <p:cNvPr id="36" name="Shape 34"/>
          <p:cNvSpPr/>
          <p:nvPr/>
        </p:nvSpPr>
        <p:spPr>
          <a:xfrm>
            <a:off x="274320" y="4069080"/>
            <a:ext cx="64008" cy="502920"/>
          </a:xfrm>
          <a:prstGeom prst="rect">
            <a:avLst/>
          </a:prstGeom>
          <a:solidFill>
            <a:srgbClr val="00D4FF"/>
          </a:solidFill>
          <a:ln w="12700">
            <a:solidFill>
              <a:srgbClr val="00D4FF"/>
            </a:solidFill>
            <a:prstDash val="solid"/>
          </a:ln>
        </p:spPr>
      </p:sp>
      <p:sp>
        <p:nvSpPr>
          <p:cNvPr id="37" name="Text 35"/>
          <p:cNvSpPr/>
          <p:nvPr/>
        </p:nvSpPr>
        <p:spPr>
          <a:xfrm>
            <a:off x="411480" y="4096512"/>
            <a:ext cx="8321040" cy="43891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Free Resources:  MDN Web Docs  ·  Spring Boot Docs  ·  freeCodeCamp  ·  roadmap.sh  ·  YouTube (Telusko, CodeWithHarry)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2743200" y="-1371600"/>
            <a:ext cx="6400800" cy="6400800"/>
          </a:xfrm>
          <a:prstGeom prst="ellipse">
            <a:avLst/>
          </a:prstGeom>
          <a:solidFill>
            <a:srgbClr val="112240"/>
          </a:solidFill>
          <a:ln w="12700">
            <a:solidFill>
              <a:srgbClr val="1E3A5F"/>
            </a:solidFill>
            <a:prstDash val="solid"/>
          </a:ln>
        </p:spPr>
      </p:sp>
      <p:sp>
        <p:nvSpPr>
          <p:cNvPr id="3" name="Shape 1"/>
          <p:cNvSpPr/>
          <p:nvPr/>
        </p:nvSpPr>
        <p:spPr>
          <a:xfrm>
            <a:off x="3474720" y="-731520"/>
            <a:ext cx="4572000" cy="4572000"/>
          </a:xfrm>
          <a:prstGeom prst="ellipse">
            <a:avLst/>
          </a:prstGeom>
          <a:solidFill>
            <a:srgbClr val="1E3A5F"/>
          </a:solidFill>
          <a:ln w="6350">
            <a:solidFill>
              <a:srgbClr val="00D4FF"/>
            </a:solidFill>
            <a:prstDash val="solid"/>
          </a:ln>
        </p:spPr>
      </p:sp>
      <p:sp>
        <p:nvSpPr>
          <p:cNvPr id="4" name="Shape 2"/>
          <p:cNvSpPr/>
          <p:nvPr/>
        </p:nvSpPr>
        <p:spPr>
          <a:xfrm>
            <a:off x="0" y="0"/>
            <a:ext cx="9144000" cy="64008"/>
          </a:xfrm>
          <a:prstGeom prst="rect">
            <a:avLst/>
          </a:prstGeom>
          <a:solidFill>
            <a:srgbClr val="00D4FF"/>
          </a:solidFill>
          <a:ln w="12700">
            <a:solidFill>
              <a:srgbClr val="00D4FF"/>
            </a:solidFill>
            <a:prstDash val="solid"/>
          </a:ln>
        </p:spPr>
      </p:sp>
      <p:sp>
        <p:nvSpPr>
          <p:cNvPr id="5" name="Text 3"/>
          <p:cNvSpPr/>
          <p:nvPr/>
        </p:nvSpPr>
        <p:spPr>
          <a:xfrm>
            <a:off x="0" y="457200"/>
            <a:ext cx="9144000" cy="1097280"/>
          </a:xfrm>
          <a:prstGeom prst="rect">
            <a:avLst/>
          </a:prstGeom>
          <a:noFill/>
          <a:ln/>
        </p:spPr>
        <p:txBody>
          <a:bodyPr wrap="square" lIns="0" tIns="0" rIns="0" bIns="0" rtlCol="0" anchor="ctr"/>
          <a:lstStyle/>
          <a:p>
            <a:pPr marL="0" indent="0" algn="ctr">
              <a:buNone/>
            </a:pPr>
            <a:r>
              <a:rPr lang="en-US" sz="5500" dirty="0">
                <a:solidFill>
                  <a:srgbClr val="000000"/>
                </a:solidFill>
              </a:rPr>
              <a:t>🙋</a:t>
            </a:r>
            <a:endParaRPr lang="en-US" sz="5500" dirty="0"/>
          </a:p>
        </p:txBody>
      </p:sp>
      <p:sp>
        <p:nvSpPr>
          <p:cNvPr id="6" name="Text 4"/>
          <p:cNvSpPr/>
          <p:nvPr/>
        </p:nvSpPr>
        <p:spPr>
          <a:xfrm>
            <a:off x="457200" y="1508760"/>
            <a:ext cx="8229600" cy="777240"/>
          </a:xfrm>
          <a:prstGeom prst="rect">
            <a:avLst/>
          </a:prstGeom>
          <a:noFill/>
          <a:ln/>
        </p:spPr>
        <p:txBody>
          <a:bodyPr wrap="square" lIns="0" tIns="0" rIns="0" bIns="0"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Questions &amp; Discussion</a:t>
            </a:r>
            <a:endParaRPr lang="en-US" sz="3800" dirty="0"/>
          </a:p>
        </p:txBody>
      </p:sp>
      <p:sp>
        <p:nvSpPr>
          <p:cNvPr id="7" name="Text 5"/>
          <p:cNvSpPr/>
          <p:nvPr/>
        </p:nvSpPr>
        <p:spPr>
          <a:xfrm>
            <a:off x="914400" y="2286000"/>
            <a:ext cx="7315200" cy="411480"/>
          </a:xfrm>
          <a:prstGeom prst="rect">
            <a:avLst/>
          </a:prstGeom>
          <a:noFill/>
          <a:ln/>
        </p:spPr>
        <p:txBody>
          <a:bodyPr wrap="square" lIns="0" tIns="0" rIns="0" bIns="0" rtlCol="0" anchor="ctr"/>
          <a:lstStyle/>
          <a:p>
            <a:pPr marL="0" indent="0" algn="ctr">
              <a:buNone/>
            </a:pPr>
            <a:r>
              <a:rPr lang="en-US" sz="1700" i="1" dirty="0">
                <a:solidFill>
                  <a:srgbClr val="00D4FF"/>
                </a:solidFill>
                <a:latin typeface="Calibri" pitchFamily="34" charset="0"/>
                <a:ea typeface="Calibri" pitchFamily="34" charset="-122"/>
                <a:cs typeface="Calibri" pitchFamily="34" charset="-120"/>
              </a:rPr>
              <a:t>Ask anything — the only bad question is the one not asked!</a:t>
            </a:r>
            <a:endParaRPr lang="en-US" sz="1700" dirty="0"/>
          </a:p>
        </p:txBody>
      </p:sp>
      <p:sp>
        <p:nvSpPr>
          <p:cNvPr id="8" name="Shape 6"/>
          <p:cNvSpPr/>
          <p:nvPr/>
        </p:nvSpPr>
        <p:spPr>
          <a:xfrm>
            <a:off x="1371600" y="2852928"/>
            <a:ext cx="6400800" cy="420624"/>
          </a:xfrm>
          <a:prstGeom prst="roundRect">
            <a:avLst>
              <a:gd name="adj" fmla="val 17391"/>
            </a:avLst>
          </a:prstGeom>
          <a:solidFill>
            <a:srgbClr val="1E3A5F"/>
          </a:solidFill>
          <a:ln w="12700">
            <a:solidFill>
              <a:srgbClr val="00D4FF"/>
            </a:solidFill>
            <a:prstDash val="solid"/>
          </a:ln>
        </p:spPr>
      </p:sp>
      <p:sp>
        <p:nvSpPr>
          <p:cNvPr id="9" name="Text 7"/>
          <p:cNvSpPr/>
          <p:nvPr/>
        </p:nvSpPr>
        <p:spPr>
          <a:xfrm>
            <a:off x="1463040" y="2871216"/>
            <a:ext cx="621792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What part of today's session was most surprising?</a:t>
            </a:r>
            <a:endParaRPr lang="en-US" sz="1300" dirty="0"/>
          </a:p>
        </p:txBody>
      </p:sp>
      <p:sp>
        <p:nvSpPr>
          <p:cNvPr id="10" name="Shape 8"/>
          <p:cNvSpPr/>
          <p:nvPr/>
        </p:nvSpPr>
        <p:spPr>
          <a:xfrm>
            <a:off x="1371600" y="3346704"/>
            <a:ext cx="6400800" cy="420624"/>
          </a:xfrm>
          <a:prstGeom prst="roundRect">
            <a:avLst>
              <a:gd name="adj" fmla="val 17391"/>
            </a:avLst>
          </a:prstGeom>
          <a:solidFill>
            <a:srgbClr val="1E3A5F"/>
          </a:solidFill>
          <a:ln w="12700">
            <a:solidFill>
              <a:srgbClr val="00D4FF"/>
            </a:solidFill>
            <a:prstDash val="solid"/>
          </a:ln>
        </p:spPr>
      </p:sp>
      <p:sp>
        <p:nvSpPr>
          <p:cNvPr id="11" name="Text 9"/>
          <p:cNvSpPr/>
          <p:nvPr/>
        </p:nvSpPr>
        <p:spPr>
          <a:xfrm>
            <a:off x="1463040" y="3364992"/>
            <a:ext cx="621792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Can you now explain what happens when you type google.com?</a:t>
            </a:r>
            <a:endParaRPr lang="en-US" sz="1300" dirty="0"/>
          </a:p>
        </p:txBody>
      </p:sp>
      <p:sp>
        <p:nvSpPr>
          <p:cNvPr id="12" name="Shape 10"/>
          <p:cNvSpPr/>
          <p:nvPr/>
        </p:nvSpPr>
        <p:spPr>
          <a:xfrm>
            <a:off x="1371600" y="3840480"/>
            <a:ext cx="6400800" cy="420624"/>
          </a:xfrm>
          <a:prstGeom prst="roundRect">
            <a:avLst>
              <a:gd name="adj" fmla="val 17391"/>
            </a:avLst>
          </a:prstGeom>
          <a:solidFill>
            <a:srgbClr val="1E3A5F"/>
          </a:solidFill>
          <a:ln w="12700">
            <a:solidFill>
              <a:srgbClr val="00D4FF"/>
            </a:solidFill>
            <a:prstDash val="solid"/>
          </a:ln>
        </p:spPr>
      </p:sp>
      <p:sp>
        <p:nvSpPr>
          <p:cNvPr id="13" name="Text 11"/>
          <p:cNvSpPr/>
          <p:nvPr/>
        </p:nvSpPr>
        <p:spPr>
          <a:xfrm>
            <a:off x="1463040" y="3858768"/>
            <a:ext cx="621792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What's the difference between a monolith and microservices?</a:t>
            </a:r>
            <a:endParaRPr lang="en-US" sz="1300" dirty="0"/>
          </a:p>
        </p:txBody>
      </p:sp>
      <p:sp>
        <p:nvSpPr>
          <p:cNvPr id="14" name="Shape 12"/>
          <p:cNvSpPr/>
          <p:nvPr/>
        </p:nvSpPr>
        <p:spPr>
          <a:xfrm>
            <a:off x="0" y="4892040"/>
            <a:ext cx="9144000" cy="251460"/>
          </a:xfrm>
          <a:prstGeom prst="rect">
            <a:avLst/>
          </a:prstGeom>
          <a:solidFill>
            <a:srgbClr val="1E3A5F"/>
          </a:solidFill>
          <a:ln w="12700">
            <a:solidFill>
              <a:srgbClr val="1E3A5F"/>
            </a:solidFill>
            <a:prstDash val="solid"/>
          </a:ln>
        </p:spPr>
      </p:sp>
      <p:sp>
        <p:nvSpPr>
          <p:cNvPr id="15" name="Text 13"/>
          <p:cNvSpPr/>
          <p:nvPr/>
        </p:nvSpPr>
        <p:spPr>
          <a:xfrm>
            <a:off x="0" y="4892040"/>
            <a:ext cx="9144000" cy="251460"/>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Web Application Fundamentals  |  Beginner Track  |  Thank You!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149ECD4-711A-4A8C-A08C-A8BB6B0360A8}">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TotalTime>
  <Words>3087</Words>
  <Application>Microsoft Office PowerPoint</Application>
  <PresentationFormat>On-screen Show (16:9)</PresentationFormat>
  <Paragraphs>506</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Fundamentals &amp; Server Architecture</dc:title>
  <dc:subject>PptxGenJS Presentation</dc:subject>
  <dc:creator>Tech Education Series</dc:creator>
  <cp:lastModifiedBy>SANJIVE S</cp:lastModifiedBy>
  <cp:revision>2</cp:revision>
  <dcterms:created xsi:type="dcterms:W3CDTF">2026-04-21T14:44:55Z</dcterms:created>
  <dcterms:modified xsi:type="dcterms:W3CDTF">2026-04-26T03:30:28Z</dcterms:modified>
</cp:coreProperties>
</file>